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notesSlides/notesSlide8.xml" ContentType="application/vnd.openxmlformats-officedocument.presentationml.notesSlide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notesSlides/notesSlide11.xml" ContentType="application/vnd.openxmlformats-officedocument.presentationml.notesSlide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7" r:id="rId25"/>
    <p:sldId id="278" r:id="rId26"/>
    <p:sldId id="279" r:id="rId27"/>
    <p:sldId id="280" r:id="rId28"/>
    <p:sldId id="281" r:id="rId29"/>
    <p:sldId id="505" r:id="rId30"/>
    <p:sldId id="304" r:id="rId31"/>
    <p:sldId id="339" r:id="rId32"/>
    <p:sldId id="340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520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  <p:sldId id="321" r:id="rId51"/>
    <p:sldId id="322" r:id="rId52"/>
    <p:sldId id="323" r:id="rId53"/>
    <p:sldId id="324" r:id="rId54"/>
    <p:sldId id="325" r:id="rId55"/>
    <p:sldId id="554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522" r:id="rId65"/>
    <p:sldId id="334" r:id="rId66"/>
    <p:sldId id="335" r:id="rId67"/>
    <p:sldId id="336" r:id="rId68"/>
    <p:sldId id="337" r:id="rId69"/>
    <p:sldId id="528" r:id="rId70"/>
    <p:sldId id="529" r:id="rId71"/>
    <p:sldId id="530" r:id="rId72"/>
    <p:sldId id="531" r:id="rId73"/>
    <p:sldId id="532" r:id="rId74"/>
    <p:sldId id="541" r:id="rId75"/>
    <p:sldId id="534" r:id="rId76"/>
    <p:sldId id="535" r:id="rId77"/>
    <p:sldId id="538" r:id="rId78"/>
    <p:sldId id="537" r:id="rId79"/>
    <p:sldId id="536" r:id="rId80"/>
    <p:sldId id="539" r:id="rId81"/>
    <p:sldId id="540" r:id="rId82"/>
    <p:sldId id="543" r:id="rId83"/>
    <p:sldId id="283" r:id="rId84"/>
    <p:sldId id="284" r:id="rId85"/>
    <p:sldId id="285" r:id="rId86"/>
    <p:sldId id="286" r:id="rId87"/>
    <p:sldId id="287" r:id="rId88"/>
    <p:sldId id="288" r:id="rId89"/>
    <p:sldId id="289" r:id="rId90"/>
    <p:sldId id="506" r:id="rId91"/>
    <p:sldId id="507" r:id="rId92"/>
    <p:sldId id="508" r:id="rId93"/>
    <p:sldId id="509" r:id="rId94"/>
    <p:sldId id="555" r:id="rId95"/>
    <p:sldId id="510" r:id="rId96"/>
    <p:sldId id="511" r:id="rId97"/>
    <p:sldId id="513" r:id="rId98"/>
    <p:sldId id="514" r:id="rId99"/>
    <p:sldId id="512" r:id="rId100"/>
    <p:sldId id="523" r:id="rId101"/>
    <p:sldId id="524" r:id="rId102"/>
    <p:sldId id="526" r:id="rId103"/>
    <p:sldId id="527" r:id="rId104"/>
    <p:sldId id="525" r:id="rId105"/>
    <p:sldId id="544" r:id="rId106"/>
    <p:sldId id="545" r:id="rId107"/>
    <p:sldId id="546" r:id="rId108"/>
    <p:sldId id="547" r:id="rId109"/>
    <p:sldId id="548" r:id="rId110"/>
    <p:sldId id="549" r:id="rId111"/>
    <p:sldId id="550" r:id="rId112"/>
    <p:sldId id="551" r:id="rId113"/>
    <p:sldId id="552" r:id="rId114"/>
    <p:sldId id="553" r:id="rId115"/>
    <p:sldId id="556" r:id="rId116"/>
    <p:sldId id="557" r:id="rId117"/>
    <p:sldId id="558" r:id="rId118"/>
    <p:sldId id="559" r:id="rId119"/>
    <p:sldId id="560" r:id="rId120"/>
    <p:sldId id="290" r:id="rId121"/>
    <p:sldId id="291" r:id="rId122"/>
    <p:sldId id="292" r:id="rId123"/>
    <p:sldId id="293" r:id="rId124"/>
    <p:sldId id="294" r:id="rId125"/>
    <p:sldId id="295" r:id="rId126"/>
    <p:sldId id="296" r:id="rId127"/>
    <p:sldId id="297" r:id="rId128"/>
    <p:sldId id="298" r:id="rId129"/>
    <p:sldId id="299" r:id="rId130"/>
    <p:sldId id="300" r:id="rId131"/>
    <p:sldId id="301" r:id="rId132"/>
    <p:sldId id="302" r:id="rId133"/>
    <p:sldId id="303" r:id="rId134"/>
    <p:sldId id="515" r:id="rId135"/>
    <p:sldId id="516" r:id="rId136"/>
    <p:sldId id="517" r:id="rId137"/>
    <p:sldId id="518" r:id="rId138"/>
    <p:sldId id="519" r:id="rId139"/>
    <p:sldId id="521" r:id="rId1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6E4C"/>
    <a:srgbClr val="4272C6"/>
    <a:srgbClr val="F16529"/>
    <a:srgbClr val="AADFFF"/>
    <a:srgbClr val="D4FFFF"/>
    <a:srgbClr val="5555FF"/>
    <a:srgbClr val="00D4C2"/>
    <a:srgbClr val="5252A8"/>
    <a:srgbClr val="2965F1"/>
    <a:srgbClr val="DEAF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18" Type="http://schemas.openxmlformats.org/officeDocument/2006/relationships/slide" Target="slides/slide114.xml"/><Relationship Id="rId134" Type="http://schemas.openxmlformats.org/officeDocument/2006/relationships/slide" Target="slides/slide130.xml"/><Relationship Id="rId139" Type="http://schemas.openxmlformats.org/officeDocument/2006/relationships/slide" Target="slides/slide13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08" Type="http://schemas.openxmlformats.org/officeDocument/2006/relationships/slide" Target="slides/slide104.xml"/><Relationship Id="rId124" Type="http://schemas.openxmlformats.org/officeDocument/2006/relationships/slide" Target="slides/slide120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4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35" Type="http://schemas.openxmlformats.org/officeDocument/2006/relationships/slide" Target="slides/slide131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presProps" Target="presProps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0:37.02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702 102 24575,'0'-2'0,"-1"-1"0,1 1 0,-1 0 0,1-1 0,-1 1 0,0 0 0,0 0 0,0-1 0,-1 1 0,1 0 0,0 0 0,-1 0 0,1 0 0,-1 1 0,0-1 0,1 0 0,-1 1 0,0-1 0,0 1 0,0-1 0,0 1 0,-1 0 0,1 0 0,0 0 0,0 0 0,-1 1 0,1-1 0,0 0 0,-1 1 0,1 0 0,0-1 0,-4 1 0,-13-2 0,-1 1 0,0 0 0,-20 3 0,18-1 0,4-1 0,-35 2 0,0-3 0,1-2 0,-53-9 0,56 1 0,13 3 0,-1 1 0,0 2 0,-46-1 0,396 26 0,-309-19 0,155 2 0,-7 0 0,-144-2 0,0 0 0,0 1 0,-1 0 0,1 0 0,0 1 0,-1 0 0,1 0 0,-1 1 0,0 0 0,0 0 0,-1 1 0,1-1 0,9 11 0,-14-13 0,1 0 0,-1 1 0,-1-1 0,1 1 0,0-1 0,-1 1 0,1 0 0,-1-1 0,0 1 0,1 0 0,-2 0 0,1 0 0,0 0 0,0 0 0,-1 0 0,0 0 0,0 0 0,1 0 0,-2 0 0,1 0 0,0 0 0,-1 0 0,1 0 0,-1 0 0,0 0 0,0 0 0,0 0 0,0 0 0,-1 0 0,1-1 0,-1 1 0,0-1 0,0 1 0,1-1 0,-2 1 0,1-1 0,-4 3 0,-2 2 0,0 0 0,0 0 0,-1-1 0,0 0 0,-1-1 0,1 0 0,-1-1 0,0 1 0,0-2 0,0 0 0,0 0 0,-22 3 0,-6-3 0,0-1 0,-51-4 0,30 0 0,33 0 0,0 0 0,0-2 0,-36-11 0,111 14 0,-14-1 0,174 3-1365,-182-1-5461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0:50.855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1537 208 24575,'-9'-1'0,"0"0"0,0 0 0,-1-1 0,1 0 0,0-1 0,-14-6 0,17 6 0,-1 0 0,1 0 0,-1 1 0,0 0 0,1 1 0,-1-1 0,0 1 0,0 0 0,0 1 0,0 0 0,0 0 0,0 0 0,-10 3 0,-55 20 0,49-14 0,0-2 0,0 0 0,-44 5 0,-56-6 0,-141-11 0,193-2 0,0-4 0,0-3 0,1-3 0,-107-40 0,172 55 0,-41-11 0,44 12 0,1 1 0,-1-1 0,0 1 0,1 0 0,-1 0 0,1 0 0,-1 0 0,0 0 0,1 0 0,-1 0 0,1 0 0,-1 0 0,0 1 0,1-1 0,-1 1 0,1-1 0,-1 1 0,1 0 0,0-1 0,-1 1 0,1 0 0,0 0 0,-3 2 0,4-2 0,0-1 0,0 1 0,0 0 0,-1 0 0,1-1 0,0 1 0,0 0 0,0 0 0,1 0 0,-1-1 0,0 1 0,0 0 0,0-1 0,0 1 0,1 0 0,-1 0 0,0-1 0,1 1 0,-1 0 0,1-1 0,-1 1 0,0 0 0,1-1 0,-1 1 0,1-1 0,0 1 0,-1-1 0,1 1 0,-1-1 0,1 0 0,0 1 0,-1-1 0,1 0 0,0 1 0,0-1 0,-1 0 0,1 0 0,0 1 0,1-1 0,33 10 0,24-4 0,0-2 0,96-7 0,-32 0 0,689 3 0,-760-3 0,0-3 0,0-3 0,96-27 0,-18 3 0,-89 21 0,-33 9 0,0 0 0,0 0 0,1 0 0,-1 2 0,1-1 0,-1 1 0,1 0 0,0 0 0,14 2 0,-22-1 0,0 1 0,0-1 0,0 1 0,0-1 0,-1 1 0,1 0 0,0-1 0,0 1 0,-1 0 0,1 0 0,0-1 0,-1 1 0,1 0 0,-1 0 0,1 0 0,-1 0 0,1 0 0,-1 0 0,0 0 0,1 0 0,-1 0 0,0 0 0,0 0 0,0 0 0,1 0 0,-1 0 0,0 0 0,-1 0 0,1 0 0,0 0 0,0 0 0,0 0 0,-1 0 0,1 0 0,0 0 0,-1 0 0,1 0 0,-1 0 0,1 0 0,-2 1 0,-23 37 0,21-35 0,-1 0 0,1-1 0,-1 1 0,1-1 0,-1 0 0,0 0 0,0-1 0,-1 1 0,1-1 0,0 0 0,-1-1 0,-9 3 0,0-3 0,0 0 0,0 0 0,-19-3 0,22 1 0,0 0 0,0 1 0,0 1 0,0 0 0,0 0 0,-14 4 0,18 1 0,18 0 0,19 0 0,97 0 0,-84-6 0,83 12 0,-56-3 0,0-4 0,133-6 0,-71-2 0,-66 0 0,84-13 0,-92 11 0,105 3 0,-7 2 0,-128-3 0,0-1 0,42-13 0,-40 9 0,51-7 0,-24 11 0,-22 1 0,-1 0 0,58-15 0,-36 6 0,0 2 0,63-3 0,-21 2 0,-11 5 0,163 8 0,-64 20 0,-372-20 0,180-2 0,-6 0 0,-1 0 0,1 1 0,-1 0 0,1 1 0,-15 3 0,24-3 0,1-1 0,-1 0 0,1 1 0,0 0 0,-1 0 0,1 0 0,0 0 0,0 0 0,0 1 0,1-1 0,-1 1 0,1 0 0,-1 0 0,1 0 0,0 0 0,0 0 0,0 0 0,0 0 0,1 1 0,-1-1 0,1 1 0,-2 7 0,1-3 0,1-1 0,-1 1 0,0-1 0,-1 1 0,1-1 0,-1 0 0,-6 10 0,7-15 0,0 1 0,0-2 0,0 1 0,0 0 0,0 0 0,0 0 0,-1-1 0,1 0 0,0 1 0,-1-1 0,1 0 0,-1 0 0,0 0 0,1 0 0,-1-1 0,0 1 0,1-1 0,-1 1 0,0-1 0,0 0 0,1 0 0,-5-1 0,-42-3 0,-78-18 0,33 5 0,93 17 0,-60-12 0,58 11 0,-1 1 0,1-1 0,0 0 0,-1 0 0,1-1 0,0 1 0,0-1 0,0 1 0,0-1 0,0 0 0,1 0 0,-1 0 0,0-1 0,-3-3 0,6 4 0,0 1 0,-1 0 0,1-1 0,0 1 0,0-1 0,0 1 0,0-1 0,0 1 0,0-1 0,1 1 0,-1 0 0,0-1 0,1 1 0,-1-1 0,1 1 0,0 0 0,-1 0 0,1-1 0,0 1 0,0 0 0,0 0 0,0 0 0,0 0 0,0 0 0,0 0 0,0 0 0,0 0 0,0 0 0,0 0 0,2 0 0,41-23 0,-16 13 0,1 1 0,0 2 0,1 1 0,0 1 0,60-4 0,-46 5 0,56-14 0,-64 11 0,0 1 0,74-3 0,-9 8 0,-29 0 0,119 12 0,-159-2 0,-32-8 0,0 0 0,0 0 0,0 0 0,0 1 0,0-1 0,0 0 0,0 0 0,0 1 0,0-1 0,0 0 0,0 0 0,0 1 0,-1-1 0,1 0 0,0 0 0,0 1 0,0-1 0,0 0 0,0 0 0,-1 0 0,1 1 0,0-1 0,0 0 0,0 0 0,0 0 0,-1 0 0,1 0 0,0 1 0,0-1 0,-1 0 0,1 0 0,0 0 0,0 0 0,0 0 0,-1 0 0,1 0 0,0 0 0,0 0 0,-1 0 0,1 0 0,0 0 0,0 0 0,-1 0 0,1 0 0,0 0 0,0 0 0,-1 0 0,1 0 0,0 0 0,-61 7 0,53-6 0,-82 10 0,38-4 0,-54 0 0,79-4 0,1 1 0,-1 1 0,1 1 0,0 1 0,1 2 0,0 0 0,0 2 0,-25 15 0,33-18 0,6-2 0,1 0 0,-1-1 0,-1 0 0,1-1 0,-1 0 0,1-1 0,-1-1 0,0 0 0,-17 1 0,-68 9 0,-5 0 0,-133-13 0,1352 1 0,-2367 0 0,1201 2 0,-51 9 0,-39 3 0,-59-18 0,165 1 0,0-2 0,0-1 0,1-2 0,-32-11 0,17 1 0,0 2 0,-1 3 0,0 1 0,-1 3 0,-1 2 0,-93-2 0,-143 25 0,64-3 0,140-11 0,0 3 0,-93 19 0,40 7 0,64-12 0,-2-4 0,0-3 0,-112 5 0,-50 2 0,233-19 0,-21 2 0,0-1 0,0 0 0,0-2 0,-1-1 0,1-1 0,0-1 0,-32-9 0,-2-7 0,-89-43 0,105 51 0,37 11 0,0 1 0,0-1 0,0 0 0,0 0 0,0-1 0,0 1 0,0-1 0,0 0 0,1 0 0,-1 0 0,1 0 0,-1-1 0,1 1 0,0-1 0,0 0 0,0 0 0,0 0 0,-2-4 0,2 3 0,1-1 0,-1 1 0,0-1 0,0 1 0,0 0 0,0 0 0,-6-5 0,8 8 0,1 1 0,-1 0 0,1-1 0,-1 1 0,0 0 0,1-1 0,-1 1 0,0 0 0,1 0 0,-1 0 0,0-1 0,1 1 0,-1 0 0,0 0 0,1 0 0,-1 0 0,0 0 0,1 0 0,-1 0 0,0 1 0,0-1 0,1 0 0,-2 0 0,1 2 0,-1-1 0,1 0 0,-1 0 0,1 0 0,0 1 0,0-1 0,-1 0 0,1 1 0,0-1 0,0 1 0,1-1 0,-1 1 0,-1 2 0,-2 5 0,-1 2 0,0 1 0,0-1 0,-4 20 0,9-27 0,-1 1 0,1-1 0,0 1 0,0 0 0,0-1 0,1 1 0,-1-1 0,1 1 0,0 0 0,1-1 0,-1 0 0,4 9 0,3 5 0,14 29 0,-21-45 0,0 1 0,1-1 0,-1 0 0,1 0 0,-1 1 0,1-1 0,0 0 0,0-1 0,-1 1 0,2 0 0,-1 0 0,0-1 0,4 3 0,-5-4 0,0-1 0,0 1 0,-1 0 0,1-1 0,0 1 0,0-1 0,0 1 0,0 0 0,-1-1 0,1 0 0,0 1 0,0-1 0,-1 0 0,1 1 0,0-1 0,-1 0 0,1 1 0,-1-1 0,1 0 0,-1 0 0,1 0 0,-1 0 0,0 0 0,1 1 0,-1-1 0,0 0 0,0 0 0,0 0 0,1 0 0,-1 0 0,0 0 0,0 0 0,-1-1 0,5-39 0,-4 39 0,-1-190-1365,1 170-5461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34.2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0 24575,'0'66'0,"2"-1"0,3 1 0,14 63 0,-1-36 0,-3 0 0,3 185 0,-8-197 0,-7-66 0,-1-1 0,0 1 0,0-1 0,-2 1 0,0-1 0,-2 17 0,1-27 0,0 0 0,0 0 0,-1 0 0,1 0 0,-1 0 0,0-1 0,0 1 0,0-1 0,-1 0 0,1 1 0,-1-1 0,0 0 0,1 0 0,-2-1 0,1 1 0,0 0 0,0-1 0,-1 0 0,1 0 0,-1 0 0,0 0 0,1-1 0,-1 1 0,0-1 0,0 0 0,-7 1 0,1 0 0,-1 0 0,1-1 0,-1 0 0,0-1 0,1 0 0,-1 0 0,0-1 0,-16-4 0,0-3 0,-50-21 0,29 10 0,-28-4-1365,59 16-5461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37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2170 1 24575,'8'11'0,"-1"0"0,-1 0 0,0 1 0,0 0 0,-1 0 0,0 1 0,-1-1 0,-1 1 0,0 0 0,1 17 0,12 37 0,-3-30 0,-2 0 0,-1 0 0,-3 1 0,0 0 0,1 70 0,-10 536 0,1-613 0,-2-1 0,0 1 0,-3-1 0,-13 49 0,-52 114 0,47-138 0,3 2 0,2 1 0,-11 63 0,27-96 0,-2 0 0,0 0 0,-2-1 0,0 1 0,-2-2 0,-21 44 0,18-44 0,2 0 0,1 1 0,-12 47 0,13-42 0,-1 0 0,-17 37 0,11-39 0,-2-1 0,0-1 0,-2-1 0,-24 25 0,14-16 0,-28 41 0,33-37 0,10-19 0,1 2 0,0 0 0,2 0 0,1 1 0,-15 41 0,20-43 0,-83 327 0,42-159 0,-88 229 0,-102 167 0,206-514 0,9-26 0,-3 0 0,-1-2 0,-31 40 0,19-30 0,30-42 0,0 0 0,0-1 0,0 0 0,-1 0 0,-1-1 0,1 0 0,-1 0 0,-1-1 0,1 0 0,-1-1 0,0 0 0,0-1 0,-11 4 0,-13 1 0,0-1 0,-63 6 0,65-11 0,0 2 0,1 1 0,-51 16 0,59-12 0,1 1 0,0 0 0,1 2 0,0 1 0,1 0 0,1 1 0,-24 25 0,29-26 0,1 0 0,1 1 0,0 0 0,1 1 0,1 0 0,0 1 0,1 0 0,1 1 0,-11 33 0,7 8 0,2 1 0,-3 74 0,12-113 0,-11 71 0,6-51 0,-1 50 0,7-78 0,0 1 0,-1 0 0,0-1 0,-1 1 0,-1-1 0,0 0 0,-1 1 0,-11 23 0,10-25 0,1 1 0,0-1 0,1 0 0,0 1 0,0 0 0,2-1 0,0 1 0,0 21 0,4 7 0,9 52 0,-9-74 0,-27-38-1365,-1-3-5461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4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1 24575,'4'6'0,"-1"0"0,1 1 0,-1 0 0,0 0 0,-1 0 0,0 0 0,0 0 0,0 0 0,-1 1 0,0-1 0,-1 0 0,0 15 0,3 12 0,12 145 0,-8 241 0,-9-260 0,-11 276 0,0 50 0,11-460 0,0 0 0,-2 0 0,-11 41 0,-6 42 0,20-93 0,-30 467 0,29-456 0,-1 0 0,-2 0 0,0 0 0,-2 0 0,-17 44 0,10-32 0,-11 57 0,15-18-455,3 0 0,6 118 0,1-162-6371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45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1 24575,'0'981'0,"-4"-910"0,-3-1 0,-27 114 0,6-36 0,23-102 0,1 75 0,-2 24 0,-55 207 0,55-286 0,2 0 0,7 78 0,0-22 0,-5-43 0,0-44 0,1 0 0,2 1 0,7 48 0,-5-76 0,-1-1 0,1 0 0,1 1 0,-1-1 0,1-1 0,0 1 0,1 0 0,-1-1 0,11 10 0,0-1 0,0 0 0,25 17 0,-31-28 0,0 1 0,0-2 0,1 1 0,-1-2 0,1 1 0,0-1 0,0-1 0,0 1 0,0-2 0,0 1 0,0-2 0,15-1 0,6 1 0,61 2 0,-31 2 0,1-4 0,-1-2 0,115-20 0,-151 15 0,0-1 0,-1-1 0,26-14 0,-34 15 0,1 0 0,0 2 0,0 0 0,1 1 0,0 0 0,0 1 0,35-3 0,90 8 0,261 34 0,-266-19 0,369 71 0,-108-15 0,-293-57 0,193 0 0,432-19 0,-476 6 0,15 16 0,-157-6 0,289 33 0,-400-44 0,155 10 0,-40-4 0,-29 0 0,0 0 0,108 22 0,24 31 0,-179-50 0,79 6 0,-34-6 0,-21-3 0,96-4 0,-11-1 0,-146-1 0,1 0 0,-1 1 0,1-1 0,-1 1 0,1 0 0,-1 0 0,1 0 0,-1 1 0,0-1 0,0 1 0,0 0 0,0 1 0,0-1 0,0 1 0,0-1 0,-1 1 0,1 0 0,4 6 0,-4-3 0,-1 0 0,0 0 0,0 0 0,-1 0 0,0 1 0,0-1 0,0 1 0,-1-1 0,0 1 0,0 0 0,0 0 0,-1 7 0,-2 126 0,0-99 0,1 0 0,2 0 0,1 0 0,3 0 0,1 0 0,13 44 0,2-30 0,51 95 0,-18-40 0,-49-99 0,-1 0 0,0 0 0,-1 1 0,0-1 0,-1 1 0,-1 0 0,1 0 0,-2 15 0,-2 8 0,-9 51 0,-2 9 0,8 403 0,7-280 0,-3-204 0,1 0 0,1-1 0,0 1 0,1 0 0,1-1 0,0 1 0,0-1 0,1 1 0,1-1 0,1-1 0,-1 1 0,11 14 0,-12-19 0,1 0 0,-1 0 0,-1 1 0,0-1 0,0 1 0,-1 0 0,0-1 0,2 13 0,-1 76 0,0-16 0,2-37 0,2-1 0,3 1 0,1-2 0,2 0 0,2 0 0,1-1 0,3-1 0,30 49 0,-26-46 55,27 70-1,-10-20-1528,-33-78-5352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47.6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24575,'9'0'0,"7"0"0,9 0 0,5 0 0,7 0 0,4 0 0,5 5 0,3 0 0,1 9 0,-2 2 0,-7 3 0,0-3 0,-3-3 0,-9 0 0,-4-2 0,-7-3-8191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52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1 461 24575,'918'0'0,"-883"-2"0,57-10 0,-55 6 0,46-1 0,77 10 0,-86 0 0,142-13 0,18-35 0,-192 37 0,45-16 0,24-6 0,237-53 0,-264 69 0,144-7 0,88 20 0,-145 3 0,151 0 0,364-5 0,-473-9 0,51-1 0,1468 14 0,-1699-3 0,1-1 0,-1-2 0,33-9 0,56-8 0,105-6 0,24-2 0,-89 4 0,-44 4 0,-61 14 0,0 0 0,89-3 0,-2 10 0,134 4 0,-86 22 0,-107-13 0,94 3 0,-138-13 0,-1 2 0,1 2 0,-1 1 0,-1 3 0,0 0 0,0 3 0,-1 1 0,72 39 0,-80-34-55,-22-14-109,0 1 0,0-2 1,0 1-1,0-1 0,1 0 0,0-1 1,13 4-1,-3-4-6662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30.9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1091 24575,'-2'-139'0,"4"-154"0,2 252 0,18-72 0,-14 79 0,-1 0 0,-2-1 0,1-41 0,-9 17 0,2 41 0,-1 0 0,2-1 0,1 1 0,0 0 0,7-33 0,-7 48 0,1-1 0,-1 1 0,1-1 0,0 1 0,1-1 0,-1 1 0,0 0 0,1 0 0,0 0 0,0 1 0,0-1 0,0 1 0,0-1 0,0 1 0,1 0 0,-1 0 0,1 0 0,7-2 0,7-2 0,1 1 0,34-6 0,2-1 0,44-20-1365,-78 28-5461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32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437 671 24575,'-1'-39'0,"-10"-52"0,-2-28 0,13 30 0,2 57 0,-1 0 0,-2 0 0,-1 0 0,-2 1 0,-1-1 0,-14-47 0,17 75 0,0 0 0,-1 0 0,1 0 0,-1 0 0,0 0 0,0 1 0,0 0 0,0-1 0,-1 1 0,0 0 0,1 0 0,-1 1 0,0-1 0,0 1 0,0 0 0,-1 0 0,1 0 0,0 1 0,-1-1 0,1 1 0,-1 0 0,1 1 0,-1-1 0,0 1 0,1 0 0,-1 0 0,-5 0 0,-16 2 0,0 1 0,0 0 0,-39 12 0,57-13 0,4-1-63,-21 5-588,-44 17 0,45-12-6175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15:03:56.0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4446 24575,'-4'-5'0,"1"1"0,1-1 0,-1 0 0,0 1 0,1-1 0,0 0 0,0 0 0,1 0 0,-1-1 0,1 1 0,0 0 0,1-1 0,-1 1 0,2-11 0,-1-3 0,1 1 0,8-36 0,5-10 0,-2-1 0,5-118 0,-17 88 0,14-102 0,-3 60 0,-9-209 0,-5 155 0,0 11 0,6-196 0,4 316 0,24-98 0,-18 103 0,-2-1 0,4-70 0,-12 85 0,3 0 0,11-42 0,-7 36 0,5-49 0,33-314 0,-27 297 0,54-175 0,-53 226 0,-9 28 0,-1 0 0,9-54 0,-4-58 0,-13 93 0,3 0 0,1 1 0,18-58 0,-23 103 0,-1 0 0,1 0 0,1 1 0,-1-1 0,1 0 0,0 1 0,1 0 0,-1 0 0,1 0 0,0 1 0,1 0 0,-1 0 0,1 0 0,0 0 0,0 1 0,1 0 0,-1 1 0,1-1 0,0 1 0,11-3 0,9-1 0,-1 1 0,1 2 0,1 1 0,37 0 0,12-1 0,124-24 0,-109 13 0,170-5 0,1210 22 0,-863-2 0,-571-2 0,53-9 0,20-2 0,87 12-1365,-170 1-5461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56:10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24575,'4'0'0,"6"0"0,6-4 0,4-2 0,3 1 0,2 1 0,6 1 0,1 1 0,0 1 0,3 0 0,0 1 0,-2 0 0,-2 1 0,-2-1 0,-1 0 0,2-4 0,-3-2-8191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56:11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 24575,'0'-1'0,"1"0"0,-1 0 0,1 0 0,-1 0 0,1 0 0,0 0 0,-1 0 0,1 0 0,0 0 0,0 0 0,0 1 0,-1-1 0,1 0 0,0 1 0,0-1 0,0 0 0,0 1 0,0-1 0,0 1 0,0 0 0,0-1 0,0 1 0,0 0 0,1 0 0,-1-1 0,2 1 0,37-4 0,-35 3 0,19-1 0,-5 0 0,1 1 0,-1 0 0,31 4 0,-45-3 0,-1 1 0,0-1 0,1 1 0,-1 1 0,0-1 0,0 1 0,0-1 0,0 1 0,0 0 0,0 1 0,-1-1 0,1 1 0,0-1 0,-1 1 0,0 0 0,0 0 0,0 1 0,0-1 0,0 0 0,-1 1 0,3 5 0,-2-2 0,1 0 0,-2 0 0,1 0 0,-1 0 0,-1 0 0,1 0 0,-1 1 0,0-1 0,-1 0 0,1 1 0,-2-1 0,1 1 0,-1-1 0,-2 12 0,-2-4 0,-1-1 0,0 1 0,-1-1 0,0 0 0,-18 23 0,-29 52-1365,40-72-5461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56:13.5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76 24575,'1'-1'0,"-1"-1"0,1 0 0,-1 0 0,1 1 0,0-1 0,-1 0 0,1 1 0,0-1 0,0 1 0,0-1 0,0 1 0,0 0 0,1-1 0,-1 1 0,0 0 0,1 0 0,-1 0 0,1 0 0,-1 0 0,1 0 0,-1 0 0,1 0 0,0 1 0,-1-1 0,1 0 0,2 1 0,52-13 0,-43 11 0,61-10 0,1 3 0,134 2 0,-177 7-1365,-3 0-5461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56:14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1 24575,'3'0'0,"0"0"0,0 0 0,1 0 0,-1 1 0,0-1 0,0 1 0,0 0 0,0 0 0,-1 0 0,1 0 0,0 0 0,0 1 0,-1-1 0,1 1 0,0 0 0,-1-1 0,0 1 0,1 1 0,-1-1 0,0 0 0,0 0 0,0 1 0,-1-1 0,1 1 0,0 0 0,-1-1 0,0 1 0,0 0 0,0 0 0,0 0 0,0 0 0,0 0 0,-1 0 0,1 0 0,-1 4 0,1 2 0,-1-1 0,-1 0 0,1 1 0,-1-1 0,0 0 0,-1 0 0,0 0 0,-1 0 0,1 0 0,-1 0 0,-1-1 0,-4 9 0,-21 32-118,-52 74 367,72-111-436,0 0 0,-1 0 0,0-1 0,-1-1 0,0 1 0,-1-2 0,-22 14 0,8-10-6639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56:15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24575,'4'0'0,"6"0"0,5 0 0,9 0 0,5 0 0,6 0 0,1 0 0,-1 0 0,-2 0 0,-2 0 0,-3 0 0,-1 0 0,4 0 0,-1 0 0,1 0 0,-6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09:56:16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85 1 24575,'8'0'0,"8"4"0,1 6 0,-3 6 0,-3 4 0,-4 7 0,-8 0 0,-2 3 0,-7 1 0,-5 0 0,-4-2 0,-4 0 0,3-2 0,0-5 0,3-2 0,1-5 0,3-4-8191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40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24575,'0'15'0,"0"11"0,7 16 0,3 15 0,-1 5 0,-1 0 0,-3-4 0,-1-5 0,-3-4 0,0-3 0,-1-2 0,0-9-8191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05:42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1 207 24575,'17'0'0,"0"2"0,0 0 0,0 0 0,-1 2 0,1 0 0,26 10 0,-1 5 0,45 26 0,-16-6 0,-59-33 0,0 0 0,1-1 0,-1-1 0,1 0 0,0 0 0,20 2 0,-26-6 0,0 1 0,0-1 0,0-1 0,1 1 0,-1-1 0,0 0 0,0-1 0,0 0 0,-1 0 0,1 0 0,0-1 0,-1 0 0,12-7 0,13-14 0,-1-1 0,-1-2 0,-1-1 0,31-40 0,16-16 0,-29 35-1365,-9 8-5461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10:56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557 6566 24575,'-1'0'0,"0"0"0,-1 0 0,1 1 0,0-1 0,0 1 0,-1-1 0,1 1 0,0-1 0,0 1 0,0 0 0,0 0 0,0-1 0,0 1 0,0 0 0,0 0 0,0 0 0,1 0 0,-1 0 0,0 0 0,0 0 0,1 0 0,-2 3 0,-11 32 0,9-24 0,-16 44 0,2 0 0,3 0 0,2 2 0,-8 98 0,20-133 0,2-15 0,-1-1 0,0 0 0,-1 0 0,1 1 0,-2-1 0,1 0 0,-1 0 0,0 0 0,0 0 0,-1 0 0,-3 7 0,6-14 0,0 0 0,0 0 0,0 0 0,-1 1 0,1-1 0,0 0 0,0 0 0,0 0 0,0 0 0,0 0 0,0 0 0,-1 1 0,1-1 0,0 0 0,0 0 0,0 0 0,0 0 0,-1 0 0,1 0 0,0 0 0,0 0 0,0 0 0,0 0 0,-1 0 0,1 0 0,0 0 0,0 0 0,0 0 0,-1 0 0,1 0 0,0 0 0,0 0 0,0 0 0,0 0 0,-1 0 0,1 0 0,0 0 0,0 0 0,0 0 0,0-1 0,0 1 0,-1 0 0,1 0 0,0 0 0,0 0 0,0 0 0,0 0 0,0-1 0,0 1 0,-1 0 0,-5-15 0,1-15 0,-2-363 0,10 220 0,-3-1052 0,-21 923 0,-1 5 0,24-929 0,-4 1200 0,0 0 0,-2 0 0,-9-34 0,5 31 0,3-1 0,-3-33 0,7 27 0,-2 0 0,-1 1 0,-2-1 0,-1 1 0,-2 0 0,-1 1 0,-22-50 0,-10-22 0,-8-15 0,-51-114 0,92 208 0,1 1 0,2-1 0,0-1 0,2 1 0,-1-33 0,7-143 0,1 88 0,-4 1 0,4-107 0,1 191 0,15-52 0,-3 19 0,6-20 0,57-141 0,-22 71 0,-40 110 0,35-65 0,6-9 0,-12-16 0,-34 93 0,1 0 0,2 2 0,29-53 0,-24 57 0,2 0 0,2 1 0,0 1 0,49-47 0,-61 67 0,1 1 0,1 1 0,-1 0 0,2 0 0,-1 2 0,1 0 0,1 0 0,0 2 0,0 0 0,0 0 0,0 2 0,1 0 0,27-3 0,287 6 85,-159 4-1535,-135-3-5376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10:57.7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24575,'7'0'0,"10"0"0,16 7 0,17 17 0,15 5 0,10 11 0,0-1 0,-13 0 0,-32-6 0,-35-2 0,-24-7 0,-14-6 0,-7-7 0,-2-5 0,1-4 0,8-2-8191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10:59.1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0 229 24575,'7'-1'0,"0"0"0,0 0 0,-1-1 0,1 0 0,-1 0 0,1 0 0,-1-1 0,0 0 0,6-4 0,29-12 0,208-66 0,-215 74 0,2 1 0,-1 2 0,1 1 0,0 2 0,1 1 0,72 3 0,-86 1-170,-1-2-1,0 0 0,1-1 1,-1-2-1,-1 0 0,1-1 1,20-9-1,0-1-6655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13:11:00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150 0 24575,'15'1'0,"0"1"0,0 0 0,-1 1 0,1 0 0,-1 1 0,0 1 0,0 0 0,21 12 0,9 8 0,45 32 0,-79-50 0,8 5 0,-1 2 0,0-1 0,0 2 0,-2 0 0,26 33 0,-40-48 0,0 1 0,-1 0 0,1 0 0,-1 0 0,1 0 0,-1 0 0,1 0 0,-1 0 0,0 0 0,0-1 0,1 2 0,-1-1 0,0 0 0,0 0 0,0 0 0,0 0 0,0 0 0,0 0 0,0 0 0,0 0 0,-1 0 0,1 0 0,0 0 0,-1 0 0,1 0 0,-1 1 0,-1 0 0,0 1 0,0-1 0,0 0 0,0 0 0,0-1 0,0 1 0,-1 0 0,1-1 0,-1 1 0,-2 0 0,-12 5 0,-1 0 0,-28 6 0,28-8 0,-372 100-1365,334-89-5461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23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0 108 24575,'103'-10'0,"-19"1"0,376-48 0,-352 40 0,-21 8 0,0 4 0,101 7 0,-58 1 0,-71-3-1365,-12 0-5461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1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1 542 24575,'4'0'0,"101"0"0,127-16 0,-138 8 0,119 3 0,42-2 0,-205 4 0,-25 2 0,46-7 0,-63 6 0,0 0 0,0 0 0,-1-1 0,1 0 0,-1 0 0,1-1 0,-1 0 0,-1 0 0,14-11 0,63-54 60,151-95 0,107-32-1545,-297 173-5341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2.3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24575,'4'0'0,"6"5"0,6 0 0,4 1 0,3-1 0,2-2 0,1-1 0,0-1 0,1 3 0,3 2 0,7-1 0,0-1 0,3-1 0,-2-1 0,-2-1 0,-3-1 0,-3 0 0,-7 0-8191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3.7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24575,'-1'0'0,"1"1"0,-1-1 0,0 0 0,1 1 0,-1-1 0,0 1 0,1-1 0,-1 1 0,1-1 0,-1 1 0,0-1 0,1 1 0,-1-1 0,1 1 0,0 0 0,-1-1 0,1 1 0,0 0 0,-1-1 0,1 1 0,0 0 0,0 0 0,-1-1 0,1 1 0,0 0 0,0 0 0,0 0 0,0-1 0,0 1 0,0 0 0,0 0 0,0-1 0,1 1 0,-1 0 0,0 1 0,6 29 0,-6-30 0,6 16-65,0-1 0,1 0 0,1-1 0,0 1 0,1-2 0,0 1 0,2-1 0,0 0 0,0-1 0,1-1 0,1 0 0,0 0 0,0-1 0,1-1 0,0 0 0,1-1 0,1-1 0,-1 0 0,1-1 0,30 9 0,-19-9-6761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5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24575,'4'4'0,"6"2"0,5 8 0,5 1 0,3 4 0,2 2 0,5-3 0,-2 1 0,3-4 0,-4 1 0,1 1 0,6 3 0,1-3 0,-6 0 0,-3-2 0,-2-4 0,0-4 0,-5-3-8191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6.1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1 138 24575,'28'0'0,"1"0"0,-1-2 0,1-1 0,-1-1 0,0-2 0,31-9 0,-28 6 0,54-9 0,-59 14 0,-1-1 0,1-1 0,35-14 0,24-15-1365,-58 25-5461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8.5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1 652 24575,'0'-3'0,"1"0"0,-1 0 0,1 0 0,0 0 0,0 0 0,0 0 0,1 0 0,-1 1 0,1-1 0,0 0 0,-1 1 0,1-1 0,0 1 0,3-3 0,37-32 0,-33 29 0,128-122 0,-106 97 0,1 1 0,1 2 0,2 1 0,1 1 0,49-27 0,58-35 0,-87 52 0,-48 33 0,1 1 0,-1-1 0,1 1 0,0 1 0,0-1 0,0 2 0,0-1 0,1 1 0,-1 1 0,1-1 0,-1 2 0,1-1 0,-1 1 0,1 1 0,13 2 0,7 3 0,1 2 0,-1 2 0,40 18 0,-48-18 0,2 0 0,-1-2 0,1-1 0,0 0 0,1-2 0,30 3 0,-19-7 0,-7 1 0,1-2 0,-1 0 0,0-2 0,1-1 0,42-11 0,-60 8-10,0 0 0,0-1 0,-1-1 0,0 0 1,0-1-1,-1 0 0,0-1 0,0 0 0,9-12 0,12-12-1256,-3 7-5560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09:59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24575,'0'9'0,"0"7"0,4 0 0,6 7 0,6-1 0,0 1 0,-3-1 0,5 2 0,-1 1 0,-2-5 0,-5-1 0,-12-3 0,-6-5 0,-10-4 0,-3-4-8191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5T17:10:01.3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82 24575,'3'0'0,"0"0"0,1 0 0,-1 0 0,0 0 0,0 1 0,1-1 0,-1 1 0,0 0 0,0 0 0,0 0 0,0 1 0,0-1 0,0 1 0,0-1 0,0 1 0,-1 0 0,1 0 0,-1 0 0,1 1 0,-1-1 0,0 0 0,0 1 0,0 0 0,2 3 0,17 19 0,-12-17 0,0 0 0,0 0 0,18 10 0,-18-13 0,0 2 0,0-1 0,0 1 0,-1 0 0,9 10 0,-6-4 0,-7-9 0,1 1 0,-1 0 0,0 0 0,0 0 0,-1 1 0,0-1 0,0 1 0,4 9 0,-10-13 0,-6-8 0,-6-9 0,-1-4 0,2-2 0,0 1 0,1-2 0,2 0 0,0 0 0,-9-28 0,14 35-273,0-1 0,-1 2 0,0-1 0,-13-16 0,8 12-6553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6:16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732 32 24575,'758'0'0,"-799"14"0,-47 10 0,66-19 0,-31 6 0,0-2 0,-1-2 0,1-2 0,-69-3 0,99-6 0,-1 0 0,-44-15 0,48 13 0,0 0 0,0 1 0,-1 1 0,-31-2 0,9 5 0,0-2 0,0-1 0,-82-21 0,80 17 0,1 1 0,-1 3 0,0 1 0,-84 7 0,20-1 0,49-3-1365,35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6:17.7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482 439 24575,'0'-7'0,"-1"1"0,0 0 0,0 0 0,-1 0 0,0 0 0,0 0 0,0 1 0,-1-1 0,0 1 0,0-1 0,0 1 0,-5-5 0,-56-63 0,31 37 0,19 21-73,-21-27 174,-69-61 0,92 93-236,0 0-1,0 1 0,-1 0 0,-1 1 0,1 1 0,-1 0 0,0 1 1,-1 0-1,0 1 0,-27-5 0,17 7-6690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6:18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1 24575,'-51'46'0,"-76"54"0,-23 20 0,140-113-155,-1 1-1,1-1 1,-1 0-1,-1-1 1,0-1-1,-13 5 1,22-8-122,-12 4-6549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6:19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1 348 24575,'1'-2'0,"0"-1"0,1 1 0,-1-1 0,1 1 0,0-1 0,0 1 0,0 0 0,0 0 0,0 0 0,0 0 0,1 1 0,-1-1 0,5-2 0,3-3 0,19-15 0,58-33 0,-26 19 0,-2-4 0,-26 17 0,1 1 0,1 2 0,0 1 0,43-15 0,12 4-1365,-66 22-5461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6:20.8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24575,'4'0'0,"6"0"0,10 0 0,6 0 0,7 0 0,6 0 0,6 0 0,-1 0 0,-3 0 0,-9 5 0,-6 1 0,-2-1 0,-2 0 0,1-2 0,-5 3 0,0 1 0,-3-1-8191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6:21.6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24575,'31'34'0,"-1"1"0,26 40 0,-10-12 0,-25-35 0,-13-16 0,1 0 0,0 0 0,1 0 0,1-1 0,-1-1 0,2 0 0,-1 0 0,1-1 0,24 13 0,0-8-172,0-1 0,1-2 0,0-2-1,70 9 1,-89-15-332,17 3-6322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8:52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1 322 24575,'191'2'0,"205"-5"0,-383 2 0,0-1 0,0-1 0,0 0 0,0-1 0,-1 0 0,1-1 0,15-8 0,83-54 0,-67 39 0,-35 22 0,246-137 0,-192 110-1365,-48 24-5461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8:53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24575,'4'0'0,"10"0"0,12 4 0,9 2 0,4 4 0,-1 0 0,-2-1 0,-3-3 0,-8-2-8191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8:54.4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24575,'7'0'0,"0"0"0,0 0 0,0 0 0,0 1 0,0 1 0,-1-1 0,1 1 0,0 0 0,-1 0 0,1 1 0,-1 0 0,0 0 0,0 0 0,0 1 0,0 0 0,-1 0 0,0 0 0,1 1 0,-1 0 0,-1 0 0,1 0 0,5 10 0,-4-8 0,20 24 0,1-1 0,44 38 0,-62-62 0,1-1 0,-1 0 0,1-1 0,0 0 0,0-1 0,19 5 0,16 5 0,-21-4-1365,-1-2-5461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9:0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 0 24575,'15'1'0,"1"1"0,0 0 0,-1 1 0,1 0 0,-1 1 0,0 1 0,-1 1 0,1 0 0,-1 1 0,0 0 0,0 1 0,22 18 0,8 10 0,-2 2 0,47 54 0,-39-38 0,-48-52 0,1 1 0,-1-1 0,0 1 0,0-1 0,0 1 0,0 0 0,0 0 0,-1 0 0,1 0 0,-1 0 0,0 0 0,0 1 0,1 4 0,-2-6 0,0-1 0,0 1 0,-1 0 0,1-1 0,-1 1 0,1-1 0,-1 1 0,1-1 0,-1 1 0,0-1 0,0 1 0,0-1 0,0 0 0,0 1 0,0-1 0,0 0 0,0 0 0,-1 0 0,1 0 0,0 0 0,-1 0 0,1 0 0,-1 0 0,1-1 0,-1 1 0,1 0 0,-1-1 0,-3 1 0,-274 93 0,279-94 0,0 0 0,0 0 0,0 0 0,0 1 0,0-1 0,1 0 0,-1 0 0,0 0 0,0 0 0,0 0 0,0 0 0,0 0 0,0 0 0,0 1 0,0-1 0,0 0 0,0 0 0,0 0 0,0 0 0,0 0 0,0 0 0,0 1 0,0-1 0,0 0 0,0 0 0,0 0 0,0 0 0,0 0 0,0 0 0,0 0 0,0 1 0,0-1 0,0 0 0,0 0 0,0 0 0,-1 0 0,1 0 0,0 0 0,0 0 0,0 0 0,0 0 0,0 1 0,0-1 0,0 0 0,0 0 0,0 0 0,-1 0 0,1 0 0,0 0 0,0 0 0,0 0 0,0 0 0,0 0 0,0 0 0,0 0 0,-1 0 0,20 3 0,25 0 0,36-5 0,83 3 0,-162-1 0,0-1 0,1 1 0,-1 0 0,0 0 0,0 0 0,0 0 0,0 1 0,1-1 0,-1 0 0,0 0 0,0 1 0,0-1 0,0 1 0,0-1 0,0 1 0,0-1 0,0 1 0,0 0 0,0-1 0,0 1 0,0 0 0,0 0 0,0 0 0,-1 0 0,1 0 0,0-1 0,-1 1 0,1 1 0,-1-1 0,1 0 0,0 2 0,-1-1 0,-1 1 0,1-1 0,-1 1 0,0-1 0,0 0 0,0 1 0,0-1 0,0 0 0,0 0 0,0 0 0,-1 0 0,1 0 0,-4 4 0,-9 8 0,0 0 0,-26 18 0,-26 16 0,-92 50 0,144-91 17,-1 0 0,0-1 1,0-1-1,0-1 0,-1 0 0,-21 2 0,-95 1-1502,98-7-5341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39:01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24575,'72'3'0,"84"14"0,-88-12-19,104-4-1,-86-2-1306,-61 1-5500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51:13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2386 0 24575,'20'2'0,"0"1"0,0 1 0,-1 0 0,0 2 0,0 0 0,28 14 0,3-1 0,79 28 0,2-6 0,1-6 0,3-6 0,177 16 0,-307-45 0,1 1 0,-1-1 0,0 1 0,1 0 0,-1 0 0,0 0 0,0 1 0,0 0 0,0 0 0,0 0 0,6 5 0,-8-5 0,0 1 0,-1 1 0,1-1 0,-1 0 0,0 0 0,0 1 0,0-1 0,0 1 0,0 0 0,-1 0 0,0 0 0,1-1 0,-2 1 0,1 0 0,0 7 0,39 527 0,-35-384 0,12 945-682,-83-10 514,16-729 168,32-263 0,-50 149 0,54-209 47,-1-1 0,-35 58 1,46-85 31,0 0 1,1 1 0,0-1-1,0 1 1,1 0 0,0 0 0,1 0-1,0 19 1,-5 31-89,-20 60 9,-12 154 0,-19 92 0,54-352 0,-8 65 0,3 0 0,4 1 0,8 101 0,-1-43 0,0-54 0,-1-29 0,-2-1 0,-7 62 0,5-102 0,-1 1 0,0-1 0,0 0 0,-2 0 0,0 0 0,0 0 0,-1-1 0,-1 0 0,0 0 0,-1-1 0,0 0 0,-17 19 0,21-27 0,0-1 0,-1 0 0,1 0 0,0 0 0,-1-1 0,0 1 0,1-1 0,-1 0 0,0 0 0,0-1 0,0 0 0,0 0 0,-1 0 0,-7 0 0,-8 0 0,0-2 0,-29-3 0,17 0 0,-864-30 0,354 61 0,-355 9 0,819-34 0,-1-4 0,1-3 0,-111-22 0,179 24-227,0-1-1,0 1 1,1-2-1,-1 0 1,-12-7-1,12 5-6598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09T09:55:18.1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0 395 24575,'20'679'0,"-17"-615"0,-2-1 0,-2 0 0,-11 64 0,11-124 0,0 0 0,1 1 0,-1-1 0,1 1 0,0-1 0,0 1 0,0-1 0,0 1 0,1-1 0,-1 1 0,1-1 0,0 1 0,0-1 0,0 0 0,3 5 0,-2-6 0,0 0 0,0-1 0,0 1 0,1 0 0,-1-1 0,1 1 0,-1-1 0,1 0 0,0 0 0,-1 0 0,1 0 0,0 0 0,0-1 0,0 1 0,-1-1 0,1 0 0,0 0 0,0 0 0,5-1 0,33 5 0,1 1 0,-1 2 0,0 2 0,-1 2 0,54 22 0,17 3 0,418 84 15,10-40-200,1450 70-667,-1576-164 1874,313-5-1022,-495 21 0,622 0 0,-808-5 0,0-1 0,69-16 0,-4 0 0,352-14 0,9 35 0,-232 2 0,107 11 0,-176-5 0,-125-8 0,-1-3 0,1-1 0,-1-2 0,64-17 0,168-62 0,-178 50 0,170-35 0,-66 45 0,243 2 0,-278 17 0,-58 3 0,92-5 0,-165 4 0,0-2 0,0-2 0,51-16 0,-65 18 0,0 0 0,1 1 0,0 2 0,45 0 0,24-3 0,765-58 0,-818 62 0,94-7 0,-129 8 0,-1-1 0,1 0 0,-1 1 0,1-1 0,-1-1 0,1 1 0,-1 0 0,0-1 0,3-2 0,-5 4 0,0-1 0,0 0 0,0 0 0,0 1 0,0-1 0,-1 0 0,1 0 0,0 0 0,-1 0 0,1 0 0,-1 0 0,1 0 0,-1 0 0,1 0 0,-1 0 0,0-1 0,0 1 0,1 0 0,-1-2 0,-1-2 0,0 0 0,0-1 0,-1 1 0,0 0 0,0 0 0,0 0 0,0 0 0,-1 0 0,-4-6 0,-4-9 0,2 0 0,0-1 0,1 0 0,1 0 0,1 0 0,1-1 0,-3-39 0,3-160 0,6 144 0,-1 36 0,-1-42 0,3 0 0,4 1 0,18-89 0,24-136 0,-42 269-1365,0 10-5461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13.8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228 140 24575,'-14'256'0,"6"-158"0,8 173 0,3-233 0,6 56 0,-4 1 0,-10 131 0,-38 125 0,18-193 0,9-63 0,-42 191 0,3-20 0,46-205 0,2 0 0,3 89 0,11-61 0,33 156 0,-21-148 0,-11-34 0,-3 0 0,-7 127 0,-1-61 0,-10 33 0,-1-3 0,13-119 0,0-9 0,3 48 0,-1-73 0,-1 1 0,1-1 0,1 1 0,-1-1 0,1 0 0,0 0 0,0 0 0,1 0 0,0 0 0,0 0 0,0-1 0,1 1 0,6 6 0,-6-9 0,0 0 0,0 0 0,1 0 0,-1-1 0,1 0 0,0 0 0,-1 0 0,1 0 0,0-1 0,0 0 0,0 0 0,0 0 0,8 0 0,75-3 0,-51 0 0,50 0 0,294 0 0,-271 6 0,158 26 0,-171-13 0,0-4 0,1-4 0,141-6 0,-201-7 0,73-18 0,-78 14 0,0 1 0,0 2 0,45-2 0,75 10 0,123-5 0,-265 1 0,0-1 0,-1-1 0,1 0 0,-1-1 0,11-5 0,37-11 0,-31 16 0,0 1 0,0 1 0,0 2 0,0 0 0,27 4 0,138 30 0,-49-8 0,-65-18 0,114-4 0,-9-1 0,-145 1 0,0 3 0,57 17 0,-64-16 0,45 15 0,-54-14 0,1-2 0,1-1 0,-1-1 0,1 0 0,26 0 0,490-8 0,-386-6 0,269-50 0,-244 25 0,-165 31 0,1 0 0,-1-1 0,25-11 0,-26 10 0,0 0 0,0 1 0,0 0 0,25-3 0,97 8 0,-103 1 0,0-1 0,-1-2 0,59-8 0,-86 8 0,0 0 0,-1 0 0,1 0 0,0 0 0,-1-1 0,1 1 0,-1-1 0,1 0 0,-1 0 0,0-1 0,0 1 0,0-1 0,0 1 0,0-1 0,-1 0 0,1 0 0,-1 0 0,0 0 0,0-1 0,0 1 0,0-1 0,0 1 0,-1-1 0,0 1 0,1-1 0,-1 0 0,-1 0 0,1 0 0,-1 1 0,1-1 0,-1-5 0,-1-13 0,-1 0 0,0 0 0,-2 0 0,-9-34 0,-1-4 0,7 17 0,-2 1 0,-24-70 0,19 68 0,1-2 0,3 0 0,1 0 0,3-1 0,1 0 0,3-65 0,4-621 0,-3 406 0,4 277 0,2 0 0,18-78 0,-2 13 0,3 7 0,-16 78 0,-1 0 0,-2 0 0,3-44 0,-8-576 0,-2 292 0,1 345 0,0 1 0,-1 0 0,0 0 0,-1 0 0,0 1 0,-1-1 0,-1 1 0,1-1 0,-2 1 0,0 1 0,0-1 0,-14-17 0,-10-18 0,24 36 7,1-1 1,0-1-1,1 1 0,0-1 0,1 1 1,0-1-1,1 0 0,-2-15 0,2-12-222,4-48-1,0 38-783,-2 22-5827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15.0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12 24575,'0'-4'0,"4"-2"0,1 5 0,1 11 0,-2 8 0,-1 6 0,-1 6 0,-1 4 0,0-1 0,-1-1 0,-1 3 0,1-1 0,0-1 0,0-7-8191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15.1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27.74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24221,'5767'0'0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41.724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6106 130 24575,'1337'0'0,"-1289"-2"0,0-2 0,63-15 0,16-2 0,-76 16 0,1 1 0,0 3 0,69 8 0,-107-4 0,0 1 0,-1 0 0,0 1 0,0 0 0,0 1 0,23 15 0,-22-13 0,1 1 0,1-2 0,-1 0 0,20 5 0,3-5 0,1-2 0,0-2 0,0-1 0,67-6 0,-10 1 0,1147 2 0,-1212-1 0,1-2 0,-1-2 0,0 0 0,0-3 0,-1 0 0,57-26 0,40-13 0,-77 33 0,-20 4 0,0 2 0,1 1 0,0 2 0,0 1 0,43-2 0,1284 10 0,-1284 1 0,133 24 0,-71-6 0,65 3 0,268-2 0,565 20 0,-551-13 0,-393-26 0,-1-4 0,120-17 0,-86 7 0,242 11 0,-298 4 0,65 16 0,-72-11 0,101 6 0,-81-17 0,-39-1 0,0 3 0,65 7 0,-93-5 0,-1-1 0,0 1 0,0 1 0,0 0 0,-1 1 0,1 0 0,-1 1 0,0 0 0,-1 1 0,1 0 0,-1 0 0,16 17 0,-16-12 0,-1 0 0,0 0 0,-1 0 0,0 1 0,-1 0 0,-1 1 0,0 0 0,6 21 0,22 124 0,-24-107 0,-5-30 0,-1 1 0,-1-1 0,-1 1 0,-1-1 0,-3 33 0,2-50 0,-1 0 0,0 0 0,0 0 0,-1 0 0,1 0 0,-1 0 0,0-1 0,0 1 0,-1-1 0,1 1 0,-1-1 0,0 0 0,0 0 0,-1 0 0,1-1 0,-1 1 0,0-1 0,1 0 0,-2 0 0,1 0 0,0 0 0,-1-1 0,1 0 0,-1 0 0,1 0 0,-1 0 0,0-1 0,0 0 0,0 0 0,-8 1 0,-61 4 0,-1-3 0,-87-7 0,22-1 0,-81 7 0,-174-5 0,357-1 0,-67-17 0,67 12 0,-72-7 0,-363 13 0,234 6 0,-1394-3 0,1475-14 0,11 1 0,128 13 0,-48-1 0,-89-12 0,112 8 0,-57 0 0,66 5 0,0-1 0,0-2 0,-37-8 0,2-4 0,-97-8 0,-58-18 0,-108 33 0,95 7 0,211-2 0,1-1 0,0-2 0,0 0 0,1-1 0,-41-19 0,40 16 0,1 0 0,-1 2 0,-1 1 0,1 1 0,-33-4 0,-275 9 0,153 4 0,-102-1 0,-286-4 0,526-2 0,0-1 0,-46-12 0,46 8 0,-80-7 0,-164-8 0,-110-3 0,171 26 0,-139 3 0,329 2 0,0 2 0,0 1 0,0 2 0,-40 15 0,39-12 0,-138 30 0,-28 4 0,70-19 0,81-16 0,0-3 0,-78 3 0,-110-12 0,92-2 0,97 6 0,1 1 0,-64 15 0,29-4 0,-141 11 0,157-18 0,-1-3 0,-118-6 0,63-2 0,-433 5 0,-437-5 0,706-25 0,105 6 0,-103 19 0,140 6 0,9-3 0,-472 20 0,485-11 0,-154-9 0,111-3 0,139 3 0,-50-2 0,1 4 0,-1 3 0,-121 25 0,176-24 0,-1-1 0,0-1 0,0-1 0,-1-1 0,1-2 0,0 0 0,0-2 0,0 0 0,0-2 0,0-1 0,-31-10 0,-1-8 0,2-2 0,0-3 0,-63-43 0,114 68 0,0-1 0,0 0 0,0 0 0,1 0 0,-1 0 0,1 0 0,0-1 0,0 1 0,0-1 0,1 0 0,0 0 0,0 0 0,0 0 0,0 0 0,1-1 0,0 1 0,-1-8 0,1-10 0,0 1 0,5-46 0,-1 23 0,-3 37 0,0 0 0,0-1 0,1 1 0,0-1 0,0 1 0,1 0 0,0 0 0,1 0 0,0 0 0,0 0 0,1 1 0,-1-1 0,2 1 0,-1 0 0,1 0 0,0 1 0,0-1 0,1 1 0,0 0 0,0 0 0,1 1 0,12-9 0,35-21-455,2 2 0,86-38 0,-116 60-6371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58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73 24575,'2'1'0,"0"0"0,0-1 0,1 1 0,-1 0 0,0 0 0,0 1 0,-1-1 0,1 0 0,0 1 0,0-1 0,-1 1 0,1-1 0,0 1 0,-1 0 0,0 0 0,1 0 0,-1 0 0,0 0 0,0 0 0,0 0 0,0 0 0,-1 0 0,1 0 0,0 0 0,-1 1 0,1 3 0,10 64 0,-11-67 0,3 114 0,-4-82 0,2 1 0,1-1 0,9 45 0,3-7 0,-3 1 0,2 92 0,-13 151 0,-2-136 0,2-120 0,2 9 0,-4-1 0,-2 1 0,-22 112 0,10-105 0,4 0 0,-4 101 0,13 157 0,4-184 0,-2-131 0,0-1 0,-2 1 0,0-1 0,-1 1 0,-13 34 0,-45 87 0,39-95 0,-25 74 0,21-23 0,4 2 0,5 0 0,4 1 0,5 0 0,5 155 0,3-105 0,5 83 0,-3-230 0,-1 0 0,0 0 0,1-1 0,0 1 0,0 0 0,0 0 0,0-1 0,0 1 0,0 0 0,1-1 0,-1 1 0,1-1 0,0 0 0,-1 1 0,1-1 0,0 0 0,1 0 0,-1 0 0,3 2 0,1-1 0,-1 0 0,1 0 0,0-1 0,0 1 0,1-1 0,-1 0 0,0-1 0,10 2 0,3-2 0,0 0 0,1 0 0,-1-2 0,0-1 0,21-4 0,36-18 0,-62 19 0,1-1 0,-1 2 0,1 0 0,0 1 0,16-2 0,-3 4 0,0 1 0,1 2 0,-1 0 0,0 2 0,54 15 0,169 34 0,-142-29 0,24 7 0,-86-18 0,0-3 0,1-1 0,0-3 0,1-1 0,-1-3 0,1-2 0,67-9 0,79-10 0,547-31 0,-421 24 0,-18 1 0,-190 19 0,1-5 0,148-35 0,-249 43 0,0 1 0,0-1 0,0 2 0,1 0 0,-1 1 0,0 0 0,0 1 0,0 0 0,1 1 0,-1 1 0,20 6 0,273 91 0,1-1 0,-294-93 0,-1 0 0,1 1 0,-2 0 0,1 1 0,-1 0 0,0 1 0,-1 0 0,10 11 0,38 32 0,-49-47 0,1 1 0,-1-1 0,1-1 0,0 0 0,0 0 0,0-1 0,1 0 0,-1-1 0,1 0 0,19 0 0,13-1 0,58-5 0,-60 1 0,73-9 0,133-31 0,-189 32 0,1 3 0,1 2 0,-1 3 0,1 2 0,106 13 0,-48 11 0,166 56 0,-103-25 0,-80-27 0,708 163 0,-755-184 0,0-3 0,97-6 0,4 0 0,87 14 0,129 3 0,1181-15 0,-1510 3 0,45 8 0,22 2 0,815-7 0,-500-8 0,-279 5 0,159-5 0,-194-9 0,-66 5 0,61 0 0,108 10 0,246-6 0,-399-4 0,0-2 0,82-25 0,-17 4 0,30-4 0,-20 3 0,229-23 0,-72 31 0,264-9 0,-512 30 0,-1-2 0,1-2 0,52-15 0,-13 3 0,205-49 0,-106 23 0,-119 34 0,-1 3 0,1 3 0,120 7 0,-72 0 0,126-3 0,102 2 0,-271 3 0,74 16 0,-84-11 0,1-2 0,67 0 0,116-11 0,-234 2 0,1 0 0,-1-1 0,1 0 0,-1 0 0,0-1 0,0 0 0,0 0 0,0-1 0,-1 0 0,10-7 0,5-6 0,38-36 0,7-7 0,-57 52 0,-1 0 0,0-1 0,-1 0 0,0 0 0,0-1 0,-1 0 0,0-1 0,-1 1 0,0-1 0,6-17 0,2-13 0,15-70 0,-18 67 0,-1-6 0,-2-1 0,-2 0 0,-2-1 0,-3 1 0,-2-1 0,-2 1 0,-15-78 0,-20-23 0,-3-18 0,37 146 0,1-1 0,1 1 0,2 0 0,0 0 0,5-31 0,44-231 0,4-15 0,27-143 0,10-91 0,-83 340 0,-6 84 0,3 62 0,11-53 0,-7 56 0,64-633 0,-64 605-682,20-90-1,-20 128-6143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6:59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8:43.4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305 1979 24575,'22'-19'0,"-9"7"0,-3 5 0,1 1 0,0 0 0,-1 1 0,2 0 0,-1 1 0,1 0 0,-1 1 0,1 0 0,0 1 0,14-1 0,20 0 0,65 5 0,-35 1 0,-47-3 0,23 1 0,79-9 0,-117 6 0,0 0 0,0-1 0,-1 0 0,1-2 0,-1 1 0,0-1 0,0-1 0,-1-1 0,0 1 0,21-17 0,-29 19 0,0 0 0,0 0 0,-1-1 0,1 1 0,-1-1 0,0 0 0,-1 0 0,1 0 0,-1-1 0,0 1 0,0 0 0,-1-1 0,1 1 0,0-12 0,0-7 0,-1 1 0,-4-32 0,2 26 0,-30-464 0,23-56 0,11 314 0,-2 192 0,1 26 0,-2-1 0,0 0 0,-1 0 0,-1 1 0,-5-25 0,6 38 0,0 0 0,0 1 0,-1-1 0,0 0 0,0 1 0,0-1 0,0 1 0,0 0 0,-1-1 0,1 1 0,-1 0 0,0 1 0,0-1 0,0 0 0,0 1 0,-1 0 0,1-1 0,0 1 0,-1 1 0,0-1 0,1 0 0,-1 1 0,0 0 0,0 0 0,0 0 0,0 0 0,0 1 0,-8-1 0,-243 3 0,-43-3 0,208-10-455,0-5 0,-98-30 0,117 26-6371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8:47.6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1259 24575,'18'-1'0,"-1"-1"0,0 0 0,0-2 0,0 0 0,0-1 0,0 0 0,-1-2 0,0 0 0,25-15 0,-7 5 0,5 0 0,61-17 0,-68 24 0,1-1 0,-1-1 0,43-25 0,11-5 0,-60 31 0,48-29 0,-11 2 0,-41 26 0,0-1 0,-1-1 0,0-1 0,27-27 0,-26 16 0,-1-2 0,-1 0 0,-2-1 0,16-35 0,-2 6 0,39-71 0,77-122 0,-97 196 0,-8 10 0,-26 27-273,0 0 0,1 1 0,0 1 0,34-23 0,-30 25-6553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9:01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8T14:29:32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8402 6255 16383 0 0,'-5'0'0'0'0,"-6"10"0"0"0,-7 7 0 0 0,1 6 0 0 0,-2 5 0 0 0,2 1 0 0 0,-1 1 0 0 0,-2 0 0 0 0,-2 0 0 0 0,-3-1 0 0 0,4 0 0 0 0,-1-5 0 0 0,0-2 0 0 0,-1-4 0 0 0,-3-2 0 0 0,0 3 0 0 0,-2-3 0 0 0,5 1 0 0 0,1-2 0 0 0,0 1 0 0 0,-2-3 0 0 0,-1 2 0 0 0,4 3 0 0 0,0-1 0 0 0,-1 0 0 0 0,-1 3 0 0 0,-2 3 0 0 0,3 2 0 0 0,1-3 0 0 0,0-1 0 0 0,-3 6 0 0 0,-1-2 0 0 0,-1 0 0 0 0,-6 1 0 0 0,2 0 0 0 0,2-4 0 0 0,1-1 0 0 0,-1-5 0 0 0,1-4 0 0 0,0 1 0 0 0,4 2 0 0 0,-3-1 0 0 0,-3 2 0 0 0,0 3 0 0 0,-10-2 0 0 0,-4 1 0 0 0,2-2 0 0 0,2-5 0 0 0,4 2 0 0 0,2 3 0 0 0,2-2 0 0 0,2-2 0 0 0,-4 0 0 0 0,-1 4 0 0 0,0-1 0 0 0,6 2 0 0 0,4-2 0 0 0,-5 1 0 0 0,-2 3 0 0 0,0-2 0 0 0,0-4 0 0 0,1 0 0 0 0,0 4 0 0 0,1-2 0 0 0,-5-3 0 0 0,0 1 0 0 0,-1 3 0 0 0,2-1 0 0 0,2 2 0 0 0,0-2 0 0 0,2 1 0 0 0,1 2 0 0 0,-5-1 0 0 0,3 1 0 0 0,2-3 0 0 0,2 2 0 0 0,-1-3 0 0 0,0 1 0 0 0,0-2 0 0 0,4 2 0 0 0,-3-2 0 0 0,-2 2 0 0 0,-1 3 0 0 0,-1-2 0 0 0,0-3 0 0 0,6 1 0 0 0,1-2 0 0 0,-4 1 0 0 0,-3 5 0 0 0,-6 2 0 0 0,-6 4 0 0 0,-1 2 0 0 0,2-3 0 0 0,3-1 0 0 0,4-4 0 0 0,-3-1 0 0 0,6 3 0 0 0,3-4 0 0 0,-4 2 0 0 0,-1 2 0 0 0,-4 2 0 0 0,-1-2 0 0 0,-3 4 0 0 0,-5 4 0 0 0,1 2 0 0 0,-1 0 0 0 0,-8 0 0 0 0,-4 4 0 0 0,3-3 0 0 0,6-2 0 0 0,7-2 0 0 0,5-5 0 0 0,5-1 0 0 0,3-5 0 0 0,1 0 0 0 0,0 2 0 0 0,2-2 0 0 0,-2 2 0 0 0,1-4 0 0 0,0-3 0 0 0,3 1 0 0 0,3-1 0 0 0,4 2 0 0 0,-5 3 0 0 0,-8 5 0 0 0,1 2 0 0 0,-4-1 0 0 0,-1 4 0 0 0,0-2 0 0 0,-4 4 0 0 0,-4 3 0 0 0,-1 0 0 0 0,3 0 0 0 0,3 0 0 0 0,3-6 0 0 0,7-2 0 0 0,4-5 0 0 0,1-1 0 0 0,-1 2 0 0 0,-1 2 0 0 0,3 7 0 0 0,1-1 0 0 0,-1 4 0 0 0,-2 2 0 0 0,3 1 0 0 0,5-2 0 0 0,0 4 0 0 0,3 0 0 0 0,-2-5 0 0 0,2 1 0 0 0,-2-5 0 0 0,1-2 0 0 0,-1 4 0 0 0,-4-2 0 0 0,2-2 0 0 0,-2 5 0 0 0,-2 2 0 0 0,2 1 0 0 0,-1-1 0 0 0,-2-1 0 0 0,3 4 0 0 0,0-4 0 0 0,2-3 0 0 0,0-1 0 0 0,-3 0 0 0 0,-2 0 0 0 0,-3 0 0 0 0,-2 0 0 0 0,-2 1 0 0 0,0 0 0 0 0,0 0 0 0 0,-1 0 0 0 0,0 0 0 0 0,0-4 0 0 0,1 2 0 0 0,0-2 0 0 0,-1-1 0 0 0,1 1 0 0 0,-5 0 0 0 0,-2 7 0 0 0,1-3 0 0 0,6 0 0 0 0,2-6 0 0 0,7-2 0 0 0,1 1 0 0 0,-6 2 0 0 0,1 1 0 0 0,0 2 0 0 0,-1-4 0 0 0,-1-6 0 0 0,3 0 0 0 0,1 2 0 0 0,4 2 0 0 0,5 3 0 0 0,4 2 0 0 0,4 2 0 0 0,2 0 0 0 0,2 2 0 0 0,1 0 0 0 0,0-1 0 0 0,0 1 0 0 0,0 0 0 0 0,-1-1 0 0 0,1 0 0 0 0,-1 1 0 0 0,0-1 0 0 0,0 0 0 0 0,0 0 0 0 0,0 1 0 0 0,0-1 0 0 0,0 0 0 0 0,-5-5 0 0 0,-2-1 0 0 0,1 0 0 0 0,1 2 0 0 0,2 0 0 0 0,-4 3 0 0 0,-1 0 0 0 0,-3 0 0 0 0,0 2 0 0 0,-3 4 0 0 0,0 2 0 0 0,-1-1 0 0 0,1 4 0 0 0,-1-4 0 0 0,1-4 0 0 0,-1 3 0 0 0,-3 6 0 0 0,-3 0 0 0 0,1-1 0 0 0,0-2 0 0 0,-1-3 0 0 0,2-2 0 0 0,0 3 0 0 0,-6 6 0 0 0,-4 5 0 0 0,-2 10 0 0 0,0 5 0 0 0,0 2 0 0 0,5-1 0 0 0,3 0 0 0 0,0 4 0 0 0,-1 0 0 0 0,4-6 0 0 0,-4-4 0 0 0,1-6 0 0 0,1-2 0 0 0,-2-8 0 0 0,4-7 0 0 0,1-4 0 0 0,3-2 0 0 0,4 0 0 0 0,5 0 0 0 0,-2 0 0 0 0,-4 1 0 0 0,0 1 0 0 0,-2 4 0 0 0,1 3 0 0 0,3 4 0 0 0,4 0 0 0 0,2-1 0 0 0,3-2 0 0 0,1-4 0 0 0,1-1 0 0 0,1-1 0 0 0,-1-2 0 0 0,1 0 0 0 0,0 0 0 0 0,-1 5 0 0 0,5 1 0 0 0,1 0 0 0 0,5-1 0 0 0,1-2 0 0 0,-3 0 0 0 0,3-7 0 0 0,-1-2 0 0 0,2 1 0 0 0,5 0 0 0 0,-2 1 0 0 0,2-3 0 0 0,-3 0 0 0 0,2-5 0 0 0,-3 1 0 0 0,1-3 0 0 0,4-4 0 0 0,2-3 0 0 0,3 1 0 0 0,7 0 0 0 0,-2 4 0 0 0,-1-2 0 0 0,-1-1 0 0 0,1-2 0 0 0,-1-3 0 0 0,1 3 0 0 0,5 0 0 0 0,1-1 0 0 0,0 3 0 0 0,-1 1 0 0 0,-1 2 0 0 0,-2 0 0 0 0,0-2 0 0 0,-1-3 0 0 0,-1-3 0 0 0,0-1 0 0 0,0-2 0 0 0,0-1 0 0 0,0-1 0 0 0,0 1 0 0 0,0-1 0 0 0,0 1 0 0 0,0-1 0 0 0,1 1 0 0 0,-1 0 0 0 0,0 0 0 0 0,0 0 0 0 0,0 0 0 0 0,1-5 0 0 0,-1-1 0 0 0,0 0 0 0 0,5-4 0 0 0,2 0 0 0 0,-1-3 0 0 0,-1-4 0 0 0,-1-4 0 0 0,-6-3 0 0 0,-8-3 0 0 0,-7-1 0 0 0,-5-1 0 0 0,-3 0 0 0 0,-3 0 0 0 0,-1 0 0 0 0,-1 1 0 0 0,1-1 0 0 0,0 1 0 0 0,0-1 0 0 0,0 1 0 0 0,1 0 0 0 0,0 0 0 0 0,0 0 0 0 0,0-1 0 0 0,0 1 0 0 0,0 0 0 0 0,0 0 0 0 0,0-1 0 0 0,0-4 0 0 0,0-1 0 0 0,0 0 0 0 0,0 0 0 0 0,0 3 0 0 0,0 0 0 0 0,0 2 0 0 0,0 0 0 0 0,0 1 0 0 0,0 0 0 0 0,5 5 0 0 0,1 1 0 0 0,1 0 0 0 0,-3-1 0 0 0,0-1 0 0 0,-2-2 0 0 0,-1-1 0 0 0,0-1 0 0 0,-1 0 0 0 0,0-1 0 0 0,-1 1 0 0 0,1-1 0 0 0,-5 1 0 0 0,-2-1 0 0 0,1 1 0 0 0,1 0 0 0 0,2-1 0 0 0,1 1 0 0 0,0 0 0 0 0,2 0 0 0 0,0 0 0 0 0,0-1 0 0 0,0 1 0 0 0,1 0 0 0 0,-1 0 0 0 0,0-1 0 0 0,0 1 0 0 0,5 5 0 0 0,1 1 0 0 0,1 0 0 0 0,2-1 0 0 0,6 3 0 0 0,0 0 0 0 0,1-1 0 0 0,9 3 0 0 0,5 9 0 0 0,-4 11 0 0 0,5 10 0 0 0,0 8 0 0 0,-4 5 0 0 0,-2 4 0 0 0,0-4 0 0 0,-5-1 0 0 0,-1 0 0 0 0,-3 1 0 0 0,-5 1 0 0 0,1 0 0 0 0,-2 2 0 0 0,2 0 0 0 0,-1 0 0 0 0,-2 0 0 0 0,2 5 0 0 0,4 7 0 0 0,5-4 0 0 0,-2-3 0 0 0,-4-2 0 0 0,-4-2 0 0 0,1-1 0 0 0,-1 4 0 0 0,-3 2 0 0 0,-2 0 0 0 0,-2-2 0 0 0,-2 0 0 0 0,0-2 0 0 0,-2-1 0 0 0,1 0 0 0 0,0-1 0 0 0,-1 5 0 0 0,1 1 0 0 0,0 0 0 0 0,-1-1 0 0 0,1-1 0 0 0,0-2 0 0 0,0-1 0 0 0,0 0 0 0 0,0-1 0 0 0,0 0 0 0 0,0 0 0 0 0,0 0 0 0 0,0 0 0 0 0,0 0 0 0 0,0 0 0 0 0,0 1 0 0 0,5-1 0 0 0,6-5 0 0 0,2-1 0 0 0,-2 0 0 0 0,-3 2 0 0 0,-2 0 0 0 0,-3 2 0 0 0,-1 1 0 0 0,-2 6 0 0 0,0 2 0 0 0,0-1 0 0 0,-1 0 0 0 0,1-2 0 0 0,4-7 0 0 0,7-2 0 0 0,11-5 0 0 0,11-1 0 0 0,5-3 0 0 0,6 1 0 0 0,5-3 0 0 0,3-3 0 0 0,-2-3 0 0 0,-9 3 0 0 0,-8-1 0 0 0,-3-2 0 0 0,-4-1 0 0 0,0-2 0 0 0,0-2 0 0 0,5 0 0 0 0,2-1 0 0 0,1 0 0 0 0,-2-1 0 0 0,0 1 0 0 0,-2 0 0 0 0,-1-1 0 0 0,0 1 0 0 0,0 0 0 0 0,-1 0 0 0 0,0 0 0 0 0,0-5 0 0 0,0-1 0 0 0,-5-5 0 0 0,-1 0 0 0 0,0 1 0 0 0,1-2 0 0 0,2-3 0 0 0,1-5 0 0 0,-4-4 0 0 0,-5-2 0 0 0,-6-1 0 0 0,-5-2 0 0 0,-3 0 0 0 0,-2 0 0 0 0,-2 0 0 0 0,0 1 0 0 0,0-1 0 0 0,0 1 0 0 0,0-1 0 0 0,-4 1 0 0 0,-7 0 0 0 0,0-5 0 0 0,1-2 0 0 0,-2-4 0 0 0,-4-5 0 0 0,1 0 0 0 0,3 2 0 0 0,5 5 0 0 0,-3 2 0 0 0,2 4 0 0 0,-3-4 0 0 0,1 1 0 0 0,-3 0 0 0 0,1 1 0 0 0,-1 7 0 0 0,0-2 0 0 0,-1-6 0 0 0,-3 3 0 0 0,1 1 0 0 0,4 2 0 0 0,4 1 0 0 0,-1-5 0 0 0,0-2 0 0 0,-1 0 0 0 0,-1 1 0 0 0,3 2 0 0 0,-2-4 0 0 0,-4-6 0 0 0,1 0 0 0 0,2-3 0 0 0,-1 6 0 0 0,1 5 0 0 0,3 3 0 0 0,3 1 0 0 0,-2-3 0 0 0,-5 4 0 0 0,0 1 0 0 0,2 1 0 0 0,-1 5 0 0 0,0-4 0 0 0,-2 2 0 0 0,2 1 0 0 0,-3 4 0 0 0,-3 0 0 0 0,2-2 0 0 0,3-2 0 0 0,-1-2 0 0 0,2-2 0 0 0,3-1 0 0 0,-2-6 0 0 0,-3 3 0 0 0,0 2 0 0 0,2 0 0 0 0,4 1 0 0 0,3 0 0 0 0,2 0 0 0 0,2-1 0 0 0,1 0 0 0 0,1 0 0 0 0,-1 0 0 0 0,-4-5 0 0 0,-2-2 0 0 0,0 1 0 0 0,2 1 0 0 0,0 1 0 0 0,2 2 0 0 0,1 0 0 0 0,1 2 0 0 0,0-1 0 0 0,0 1 0 0 0,0 0 0 0 0,0 0 0 0 0,1 0 0 0 0,-1 0 0 0 0,0 0 0 0 0,0 0 0 0 0,0 0 0 0 0,0 0 0 0 0,0-1 0 0 0,0 1 0 0 0,0 0 0 0 0,0 0 0 0 0,0-1 0 0 0,0 1 0 0 0,5-5 0 0 0,1-1 0 0 0,0-1 0 0 0,4 2 0 0 0,4 1 0 0 0,1 2 0 0 0,-3 1 0 0 0,2 5 0 0 0,-2 2 0 0 0,2 0 0 0 0,-1-1 0 0 0,-4-1 0 0 0,3 3 0 0 0,3 0 0 0 0,-1-1 0 0 0,-2-1 0 0 0,1-2 0 0 0,3-6 0 0 0,4-3 0 0 0,-1 0 0 0 0,0 1 0 0 0,2 1 0 0 0,-2 1 0 0 0,-5 2 0 0 0,1 5 0 0 0,-4 2 0 0 0,-2-1 0 0 0,-3 0 0 0 0,2 4 0 0 0,-1-1 0 0 0,5 4 0 0 0,3 0 0 0 0,5-3 0 0 0,4 3 0 0 0,2 3 0 0 0,2 5 0 0 0,6 2 0 0 0,1 4 0 0 0,1 1 0 0 0,-3 1 0 0 0,0 1 0 0 0,-2 0 0 0 0,-2 0 0 0 0,5-1 0 0 0,5 1 0 0 0,6-1 0 0 0,5 5 0 0 0,4 6 0 0 0,2 1 0 0 0,6 4 0 0 0,-3-1 0 0 0,-2 1 0 0 0,4 4 0 0 0,-4-3 0 0 0,-1 2 0 0 0,-2-3 0 0 0,1-5 0 0 0,-10 2 0 0 0,-7-2 0 0 0,-6-3 0 0 0,-3 2 0 0 0,-2 4 0 0 0,-1 5 0 0 0,1-2 0 0 0,-1 2 0 0 0,-4 3 0 0 0,0-4 0 0 0,-6 2 0 0 0,1-4 0 0 0,2 0 0 0 0,2-2 0 0 0,-2 1 0 0 0,-5 3 0 0 0,1 8 0 0 0,2 4 0 0 0,-2 3 0 0 0,-3 4 0 0 0,1-4 0 0 0,-2-2 0 0 0,-2-3 0 0 0,-3 5 0 0 0,2 6 0 0 0,4 0 0 0 0,1 5 0 0 0,-2-2 0 0 0,-3-2 0 0 0,2-4 0 0 0,-1-3 0 0 0,-2-2 0 0 0,-1-2 0 0 0,-3-1 0 0 0,-2 0 0 0 0,0 0 0 0 0,-1-1 0 0 0,0 6 0 0 0,-6 1 0 0 0,-5 0 0 0 0,-2-1 0 0 0,2-1 0 0 0,-3 3 0 0 0,2 1 0 0 0,3-1 0 0 0,-2 3 0 0 0,-5-5 0 0 0,2-4 0 0 0,2-1 0 0 0,4-1 0 0 0,-2 0 0 0 0,1 0 0 0 0,2 0 0 0 0,2 1 0 0 0,2 0 0 0 0,1 0 0 0 0,2 0 0 0 0,0 0 0 0 0,0 0 0 0 0,1 1 0 0 0,-1-1 0 0 0,-4-5 0 0 0,-3 4 0 0 0,-3 1 0 0 0,-2 2 0 0 0,3 0 0 0 0,-3 4 0 0 0,-4 2 0 0 0,1-1 0 0 0,-2-2 0 0 0,-3-1 0 0 0,2 8 0 0 0,0-3 0 0 0,2-2 0 0 0,-1 2 0 0 0,-2-1 0 0 0,-2-1 0 0 0,1 3 0 0 0,-4-1 0 0 0,1-1 0 0 0,0-2 0 0 0,4-2 0 0 0,0-2 0 0 0,-1-1 0 0 0,2-1 0 0 0,5 0 0 0 0,0-5 0 0 0,1-2 0 0 0,4 1 0 0 0,2 1 0 0 0,-2 2 0 0 0,1 6 0 0 0,-5-3 0 0 0,1 0 0 0 0,2-1 0 0 0,3 0 0 0 0,2 0 0 0 0,2 0 0 0 0,1 1 0 0 0,0 5 0 0 0,2 1 0 0 0,-1 1 0 0 0,1-2 0 0 0,-1-1 0 0 0,0 3 0 0 0,1 1 0 0 0,-1-2 0 0 0,0 0 0 0 0,0-3 0 0 0,0-1 0 0 0,0-1 0 0 0,0 0 0 0 0,0-1 0 0 0,5 0 0 0 0,1 0 0 0 0,5 0 0 0 0,5 0 0 0 0,9 0 0 0 0,6-5 0 0 0,-3-1 0 0 0,-1 0 0 0 0,-1-3 0 0 0,1-6 0 0 0,0-4 0 0 0,0 1 0 0 0,1-2 0 0 0,0-1 0 0 0,0-3 0 0 0,0-2 0 0 0,0 0 0 0 0,0-2 0 0 0,1 0 0 0 0,-1 0 0 0 0,5-1 0 0 0,2-4 0 0 0,-1-7 0 0 0,-1 0 0 0 0,-1 1 0 0 0,-6-3 0 0 0,-3-2 0 0 0,-1-5 0 0 0,1 2 0 0 0,-3-1 0 0 0,0-1 0 0 0,0 2 0 0 0,-2 0 0 0 0,5 3 0 0 0,-1 0 0 0 0,0-3 0 0 0,-4-3 0 0 0,1 3 0 0 0,1-5 0 0 0,-3-4 0 0 0,1-1 0 0 0,2-1 0 0 0,-2 0 0 0 0,0 0 0 0 0,2-9 0 0 0,3-3 0 0 0,2 2 0 0 0,-4 1 0 0 0,0 4 0 0 0,1-2 0 0 0,2 5 0 0 0,1-2 0 0 0,-3 1 0 0 0,-1 0 0 0 0,1-3 0 0 0,1 0 0 0 0,-2 1 0 0 0,-1-4 0 0 0,1 1 0 0 0,-3 2 0 0 0,5-3 0 0 0,-1 1 0 0 0,0 1 0 0 0,2-2 0 0 0,1 1 0 0 0,-4-3 0 0 0,0 6 0 0 0,-4 3 0 0 0,-1-1 0 0 0,3-1 0 0 0,-2 1 0 0 0,0 1 0 0 0,3 2 0 0 0,-2 0 0 0 0,0-4 0 0 0,-3 0 0 0 0,2-5 0 0 0,1-1 0 0 0,-1-2 0 0 0,1 1 0 0 0,-3 2 0 0 0,-4 3 0 0 0,1-1 0 0 0,-1 0 0 0 0,-3 1 0 0 0,2 3 0 0 0,0-3 0 0 0,-3 0 0 0 0,4 1 0 0 0,-2 2 0 0 0,4-3 0 0 0,3-5 0 0 0,0-1 0 0 0,-3 3 0 0 0,1-2 0 0 0,-2-4 0 0 0,-3 1 0 0 0,-3 4 0 0 0,-2 3 0 0 0,2 3 0 0 0,1 3 0 0 0,-1 2 0 0 0,-2-4 0 0 0,-1-1 0 0 0,-1 0 0 0 0,-1 2 0 0 0,-1 1 0 0 0,0 1 0 0 0,-1 1 0 0 0,1 0 0 0 0,-5-4 0 0 0,-2-6 0 0 0,-4 3 0 0 0,-5 4 0 0 0,0 1 0 0 0,-2 7 0 0 0,2 3 0 0 0,-1-1 0 0 0,-2 0 0 0 0,-3 2 0 0 0,2-4 0 0 0,0 2 0 0 0,-1 0 0 0 0,-3-2 0 0 0,4-1 0 0 0,0 4 0 0 0,3 1 0 0 0,0-2 0 0 0,-2-1 0 0 0,3-2 0 0 0,-2 3 0 0 0,3 1 0 0 0,-1-1 0 0 0,-3-1 0 0 0,-2-2 0 0 0,-13-6 0 0 0,-5 2 0 0 0,0 1 0 0 0,1-4 0 0 0,2 3 0 0 0,3 7 0 0 0,7 2 0 0 0,3 5 0 0 0,0 0 0 0 0,0 2 0 0 0,-1-1 0 0 0,-2-3 0 0 0,4-4 0 0 0,-4 3 0 0 0,-2-2 0 0 0,3-1 0 0 0,2 2 0 0 0,-1 0 0 0 0,0 3 0 0 0,-2 0 0 0 0,0-3 0 0 0,-2 3 0 0 0,0-2 0 0 0,0 3 0 0 0,0-1 0 0 0,-1-3 0 0 0,6-2 0 0 0,1 1 0 0 0,4-4 0 0 0,1 1 0 0 0,-2 0 0 0 0,-2 4 0 0 0,3 0 0 0 0,-2 3 0 0 0,4 1 0 0 0,0 1 0 0 0,-3-1 0 0 0,2-2 0 0 0,4-4 0 0 0,4-3 0 0 0,4-2 0 0 0,2-1 0 0 0,7-2 0 0 0,8 0 0 0 0,6 1 0 0 0,0-1 0 0 0,7 5 0 0 0,-1 2 0 0 0,0 4 0 0 0,1 1 0 0 0,1-1 0 0 0,1 1 0 0 0,-5 0 0 0 0,5 2 0 0 0,-3 0 0 0 0,-1-4 0 0 0,0 3 0 0 0,2-2 0 0 0,1 3 0 0 0,-4-1 0 0 0,-1 2 0 0 0,1-2 0 0 0,2 3 0 0 0,-4-2 0 0 0,0 2 0 0 0,1 3 0 0 0,2-1 0 0 0,2 0 0 0 0,1-2 0 0 0,1-3 0 0 0,1 0 0 0 0,-4-1 0 0 0,-2 1 0 0 0,1 0 0 0 0,0 2 0 0 0,2-2 0 0 0,2 3 0 0 0,-5-2 0 0 0,-1-3 0 0 0,1 1 0 0 0,2 0 0 0 0,1-3 0 0 0,1-3 0 0 0,2 3 0 0 0,-1 0 0 0 0,2 3 0 0 0,-6 0 0 0 0,0-2 0 0 0,4 2 0 0 0,-2-1 0 0 0,-1 3 0 0 0,-3-1 0 0 0,-2 2 0 0 0,-3-1 0 0 0,4-3 0 0 0,0-3 0 0 0,1 2 0 0 0,-4-1 0 0 0,1-1 0 0 0,2 2 0 0 0,-3 0 0 0 0,1-1 0 0 0,-2-3 0 0 0,0 3 0 0 0,2 0 0 0 0,4 3 0 0 0,2 5 0 0 0,-3 0 0 0 0,0 1 0 0 0,1-2 0 0 0,2-3 0 0 0,1 1 0 0 0,2 2 0 0 0,0 0 0 0 0,6 1 0 0 0,2-2 0 0 0,4-3 0 0 0,1 1 0 0 0,-2-1 0 0 0,-2 2 0 0 0,6 3 0 0 0,12 4 0 0 0,14 4 0 0 0,16 2 0 0 0,13 1 0 0 0,13 2 0 0 0,3-1 0 0 0,-8 1 0 0 0,-8 0 0 0 0,-15-1 0 0 0,-13 1 0 0 0,-12-1 0 0 0,-12 0 0 0 0,-9 0 0 0 0,-5 0 0 0 0,-3 0 0 0 0,-2 0 0 0 0,0 5 0 0 0,0 1 0 0 0,0 5 0 0 0,1 0 0 0 0,0-1 0 0 0,1-3 0 0 0,5 2 0 0 0,2 0 0 0 0,-1-2 0 0 0,-1 3 0 0 0,-1 5 0 0 0,4 4 0 0 0,4 4 0 0 0,1 2 0 0 0,-1 3 0 0 0,1 0 0 0 0,-1 1 0 0 0,-3 1 0 0 0,-2-6 0 0 0,-3-2 0 0 0,3 6 0 0 0,5 6 0 0 0,-5 4 0 0 0,-2 3 0 0 0,-3 1 0 0 0,3-2 0 0 0,-4 1 0 0 0,-2-1 0 0 0,0 2 0 0 0,-6-1 0 0 0,-1 1 0 0 0,1 4 0 0 0,-4 4 0 0 0,1 2 0 0 0,2-2 0 0 0,2 0 0 0 0,-3-4 0 0 0,-4-1 0 0 0,-5-2 0 0 0,1-4 0 0 0,-2-4 0 0 0,3 2 0 0 0,-1-1 0 0 0,-2-2 0 0 0,-3-1 0 0 0,3-2 0 0 0,-1-1 0 0 0,-1-2 0 0 0,-2 1 0 0 0,3-2 0 0 0,0 1 0 0 0,-2 0 0 0 0,-1 0 0 0 0,3 5 0 0 0,1 1 0 0 0,-3 1 0 0 0,-1-2 0 0 0,-1-2 0 0 0,-2 0 0 0 0,-2-2 0 0 0,1 0 0 0 0,-2-1 0 0 0,1 0 0 0 0,0 0 0 0 0,-1 0 0 0 0,1 0 0 0 0,0 0 0 0 0,0 0 0 0 0,-5-4 0 0 0,-1-2 0 0 0,-10 5 0 0 0,-6 2 0 0 0,-5 2 0 0 0,-7 0 0 0 0,2 0 0 0 0,2-1 0 0 0,1-6 0 0 0,0-1 0 0 0,2-1 0 0 0,-1 1 0 0 0,0-3 0 0 0,0 0 0 0 0,0-4 0 0 0,0 0 0 0 0,5 3 0 0 0,1-3 0 0 0,0 2 0 0 0,-1-3 0 0 0,3 1 0 0 0,0-3 0 0 0,4 3 0 0 0,-6 2 0 0 0,-3 3 0 0 0,-2-2 0 0 0,-2 1 0 0 0,5 1 0 0 0,1-2 0 0 0,-1 0 0 0 0,0-4 0 0 0,4 2 0 0 0,0-3 0 0 0,3 1 0 0 0,1 3 0 0 0,2 3 0 0 0,-1-2 0 0 0,2 0 0 0 0,-1 8 0 0 0,1 2 0 0 0,3 3 0 0 0,3-1 0 0 0,3 5 0 0 0,3 6 0 0 0,0 5 0 0 0,1 4 0 0 0,1 3 0 0 0,-1-2 0 0 0,1 3 0 0 0,-1 3 0 0 0,1-4 0 0 0,-1-2 0 0 0,0-4 0 0 0,0-6 0 0 0,5-6 0 0 0,6-3 0 0 0,1-3 0 0 0,4-7 0 0 0,-1-2 0 0 0,1-5 0 0 0,4 0 0 0 0,2 2 0 0 0,8 3 0 0 0,-2 2 0 0 0,4 2 0 0 0,-3 2 0 0 0,-2-4 0 0 0,-1-1 0 0 0,-4 1 0 0 0,-2-4 0 0 0,1 0 0 0 0,-3 1 0 0 0,0 3 0 0 0,-3 1 0 0 0,-4 2 0 0 0,-4 1 0 0 0,-3 1 0 0 0,-3 6 0 0 0,0 1 0 0 0,-2-1 0 0 0,0 10 0 0 0,6 10 0 0 0,0 16 0 0 0,6 20 0 0 0,0 18 0 0 0,3 11 0 0 0,4 13 0 0 0,-1-1 0 0 0,2-14 0 0 0,-4-16 0 0 0,-2-16 0 0 0,-5-18 0 0 0,-4-11 0 0 0,3-14 0 0 0,0-11 0 0 0,-1-4 0 0 0,-2 1 0 0 0,-1 2 0 0 0,-2 0 0 0 0,0 5 0 0 0,-1 6 0 0 0,0 10 0 0 0,-1 6 0 0 0,6 4 0 0 0,1-5 0 0 0,0-7 0 0 0,3-6 0 0 0,6-7 0 0 0,4-8 0 0 0,10-10 0 0 0,3-8 0 0 0,2-5 0 0 0,0-4 0 0 0,-2-1 0 0 0,5-2 0 0 0,4 0 0 0 0,1 0 0 0 0,-3 1 0 0 0,-2 0 0 0 0,-3 1 0 0 0,-3 0 0 0 0,-1 0 0 0 0,-2 0 0 0 0,0 0 0 0 0,0-5 0 0 0,-1-1 0 0 0,1 0 0 0 0,0 1 0 0 0,0 1 0 0 0,5 2 0 0 0,6 1 0 0 0,2 1 0 0 0,-2 0 0 0 0,7 0 0 0 0,1 0 0 0 0,-3 0 0 0 0,-5 1 0 0 0,-3-6 0 0 0,-4-1 0 0 0,-2-5 0 0 0,4-5 0 0 0,0 0 0 0 0,-1-2 0 0 0,0 2 0 0 0,-2-1 0 0 0,3-3 0 0 0,2-2 0 0 0,-2 2 0 0 0,0 5 0 0 0,-8 0 0 0 0,-2 3 0 0 0,-1-2 0 0 0,1-3 0 0 0,0-4 0 0 0,2 3 0 0 0,1-2 0 0 0,0 4 0 0 0,1-1 0 0 0,1-3 0 0 0,-1-1 0 0 0,0 1 0 0 0,1-4 0 0 0,-1-4 0 0 0,1 3 0 0 0,-6 2 0 0 0,-6-1 0 0 0,-1-1 0 0 0,-4-1 0 0 0,-3-1 0 0 0,-4 0 0 0 0,-2-1 0 0 0,-2-5 0 0 0,-1-2 0 0 0,-1 1 0 0 0,-4 0 0 0 0,-7 2 0 0 0,-1 2 0 0 0,-3 5 0 0 0,1-2 0 0 0,-2 3 0 0 0,-3-3 0 0 0,3-3 0 0 0,-6-10 0 0 0,-9-8 0 0 0,1-1 0 0 0,7 4 0 0 0,6 4 0 0 0,2 0 0 0 0,-1-3 0 0 0,2 1 0 0 0,-1 3 0 0 0,2-1 0 0 0,4 2 0 0 0,3 2 0 0 0,3-2 0 0 0,2 1 0 0 0,-3 7 0 0 0,-1 4 0 0 0,0 2 0 0 0,2 0 0 0 0,-3-6 0 0 0,-2-1 0 0 0,3-1 0 0 0,0 1 0 0 0,3 1 0 0 0,1 0 0 0 0,1 2 0 0 0,1-5 0 0 0,-5 0 0 0 0,-6 0 0 0 0,-1-9 0 0 0,-3-1 0 0 0,0 1 0 0 0,-1-1 0 0 0,1 3 0 0 0,4 2 0 0 0,4 4 0 0 0,-3 2 0 0 0,2-2 0 0 0,1-5 0 0 0,-2-5 0 0 0,-1-5 0 0 0,3-3 0 0 0,1 3 0 0 0,3-6 0 0 0,-4-1 0 0 0,0-2 0 0 0,1 5 0 0 0,-3 7 0 0 0,-1 6 0 0 0,2 6 0 0 0,3 3 0 0 0,1 4 0 0 0,2 0 0 0 0,1 1 0 0 0,1 0 0 0 0,0 0 0 0 0,0 0 0 0 0,1-1 0 0 0,-1 0 0 0 0,0 0 0 0 0,1 0 0 0 0,-1 0 0 0 0,0-1 0 0 0,0 1 0 0 0,0 0 0 0 0,0 0 0 0 0,0-1 0 0 0,-5 1 0 0 0,-1 0 0 0 0,-1 0 0 0 0,3-5 0 0 0,0-2 0 0 0,2-4 0 0 0,1-1 0 0 0,0 3 0 0 0,1 1 0 0 0,0-1 0 0 0,1-1 0 0 0,-1 3 0 0 0,0 2 0 0 0,0 1 0 0 0,0 2 0 0 0,1 1 0 0 0,-1 1 0 0 0,4 0 0 0 0,7 5 0 0 0,7 6 0 0 0,4 7 0 0 0,4 4 0 0 0,1 8 0 0 0,2 4 0 0 0,1 6 0 0 0,-1 1 0 0 0,1 2 0 0 0,3 9 0 0 0,2 0 0 0 0,0 1 0 0 0,-7 1 0 0 0,3 6 0 0 0,-6 7 0 0 0,0 1 0 0 0,-6-1 0 0 0,-1-2 0 0 0,-3-3 0 0 0,0-2 0 0 0,-2 2 0 0 0,1 6 0 0 0,-2 1 0 0 0,-2 3 0 0 0,1 8 0 0 0,9 5 0 0 0,1 2 0 0 0,1 1 0 0 0,-2-5 0 0 0,-1-2 0 0 0,-3-6 0 0 0,1 0 0 0 0,2-5 0 0 0,-3-3 0 0 0,-3-5 0 0 0,1-7 0 0 0,2 1 0 0 0,-1 5 0 0 0,1 2 0 0 0,-1 0 0 0 0,1 4 0 0 0,-2-1 0 0 0,1-1 0 0 0,3 2 0 0 0,3 5 0 0 0,8 3 0 0 0,4 9 0 0 0,10 10 0 0 0,3 7 0 0 0,3-4 0 0 0,-6 1 0 0 0,-2-2 0 0 0,-2-7 0 0 0,-9-10 0 0 0,-8-9 0 0 0,-4-6 0 0 0,0-10 0 0 0,7-9 0 0 0,8-7 0 0 0,4-6 0 0 0,0-3 0 0 0,3-2 0 0 0,0-1 0 0 0,-2 1 0 0 0,2-1 0 0 0,4 1 0 0 0,-1 0 0 0 0,-3 1 0 0 0,-3-1 0 0 0,-4 1 0 0 0,-2 0 0 0 0,-1 0 0 0 0,-7-4 0 0 0,-6-7 0 0 0,-2-2 0 0 0,-3-3 0 0 0,-4-3 0 0 0,-3-4 0 0 0,-3-7 0 0 0,-1-4 0 0 0,-1-5 0 0 0,-1-1 0 0 0,5-4 0 0 0,2 2 0 0 0,0 3 0 0 0,-2 2 0 0 0,4 9 0 0 0,1 4 0 0 0,-2 1 0 0 0,-2-1 0 0 0,-1 0 0 0 0,-2-1 0 0 0,-1-2 0 0 0,-1 0 0 0 0,5-6 0 0 0,1-1 0 0 0,-1-1 0 0 0,0 2 0 0 0,3 1 0 0 0,0-3 0 0 0,-1-1 0 0 0,-1 1 0 0 0,-3 2 0 0 0,-1 1 0 0 0,-1 2 0 0 0,-1 1 0 0 0,0 1 0 0 0,-5-1 0 0 0,-2 2 0 0 0,-4-1 0 0 0,0-5 0 0 0,-4-1 0 0 0,-3-1 0 0 0,1 2 0 0 0,3 2 0 0 0,0 0 0 0 0,1 2 0 0 0,4-5 0 0 0,3 0 0 0 0,3-5 0 0 0,1-5 0 0 0,2-5 0 0 0,0 2 0 0 0,1-2 0 0 0,-1-1 0 0 0,1-3 0 0 0,-1 4 0 0 0,0 0 0 0 0,1 4 0 0 0,-1 5 0 0 0,0 4 0 0 0,0 3 0 0 0,-5-1 0 0 0,-2-1 0 0 0,-3 1 0 0 0,-7 2 0 0 0,-3 1 0 0 0,-5 6 0 0 0,3 3 0 0 0,0-1 0 0 0,0 0 0 0 0,-3-1 0 0 0,4-7 0 0 0,1 3 0 0 0,-2-4 0 0 0,-1-6 0 0 0,-2-2 0 0 0,-6 2 0 0 0,-3-7 0 0 0,0-1 0 0 0,1 2 0 0 0,1 5 0 0 0,6 3 0 0 0,3 3 0 0 0,5 3 0 0 0,1 2 0 0 0,-2-5 0 0 0,-2-1 0 0 0,-2-4 0 0 0,-2-6 0 0 0,-2-4 0 0 0,-6-4 0 0 0,-2 1 0 0 0,0 6 0 0 0,2 5 0 0 0,1 5 0 0 0,1 3 0 0 0,1 3 0 0 0,2-4 0 0 0,-6 4 0 0 0,0-3 0 0 0,-5 5 0 0 0,-5-4 0 0 0,0 0 0 0 0,-7-6 0 0 0,1 0 0 0 0,-6 1 0 0 0,7 1 0 0 0,6 3 0 0 0,7 1 0 0 0,4 7 0 0 0,7 1 0 0 0,4 1 0 0 0,0-1 0 0 0,-1 4 0 0 0,-2-5 0 0 0,-1-3 0 0 0,-1-2 0 0 0,-1-1 0 0 0,-2 1 0 0 0,-4-1 0 0 0,-2 6 0 0 0,6 1 0 0 0,2 6 0 0 0,-4 4 0 0 0,-1-4 0 0 0,-5-4 0 0 0,-1 1 0 0 0,2-1 0 0 0,-4-1 0 0 0,-8-2 0 0 0,-7-7 0 0 0,-3 3 0 0 0,-5-4 0 0 0,-3 3 0 0 0,5 2 0 0 0,5 1 0 0 0,0 0 0 0 0,2 0 0 0 0,-1 3 0 0 0,1 2 0 0 0,-2 0 0 0 0,1 2 0 0 0,3 1 0 0 0,7-2 0 0 0,6 2 0 0 0,5 5 0 0 0,8 0 0 0 0,4 1 0 0 0,0 4 0 0 0,5-3 0 0 0,-5-3 0 0 0,-4-5 0 0 0,-1-3 0 0 0,-2 1 0 0 0,-5 0 0 0 0,-2-1 0 0 0,1 3 0 0 0,1 0 0 0 0,2-2 0 0 0,1 3 0 0 0,2 0 0 0 0,0 2 0 0 0,1 0 0 0 0,0-2 0 0 0,0-9 0 0 0,-5-3 0 0 0,4-2 0 0 0,-4 0 0 0 0,0 5 0 0 0,0 2 0 0 0,1 1 0 0 0,7 0 0 0 0,1 4 0 0 0,1 0 0 0 0,0 4 0 0 0,3 0 0 0 0,0 2 0 0 0,0-6 0 0 0,-3 1 0 0 0,-2-1 0 0 0,-1 2 0 0 0,4 0 0 0 0,0-2 0 0 0,0-3 0 0 0,-2 3 0 0 0,-1 1 0 0 0,-1-3 0 0 0,-11-1 0 0 0,-4 3 0 0 0,1 0 0 0 0,-3-2 0 0 0,1 4 0 0 0,-2 4 0 0 0,2 5 0 0 0,3-1 0 0 0,-1-4 0 0 0,1 1 0 0 0,-2 3 0 0 0,1 2 0 0 0,2 3 0 0 0,-1-2 0 0 0,-5-5 0 0 0,-3-1 0 0 0,0-2 0 0 0,5-4 0 0 0,3 1 0 0 0,10 0 0 0 0,4 2 0 0 0,1 4 0 0 0,-4-1 0 0 0,-2 2 0 0 0,-6-2 0 0 0,-2 1 0 0 0,-3-2 0 0 0,-1 2 0 0 0,3 2 0 0 0,4 3 0 0 0,1 3 0 0 0,4 2 0 0 0,0 1 0 0 0,2 1 0 0 0,5 0 0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6565 6932 16383 0 0,'5'0'0'0'0,"6"0"0"0"0,2 5 0 0 0,-2 6 0 0 0,-3 6 0 0 0,-2 6 0 0 0,-3 2 0 0 0,-1 3 0 0 0,-2 1 0 0 0,-5-4 0 0 0,-7 2 0 0 0,-1 3 0 0 0,-3 0 0 0 0,1 0 0 0 0,-2 0 0 0 0,2-1 0 0 0,4 0 0 0 0,4 0 0 0 0,2-1 0 0 0,8-4 0 0 0,7-2 0 0 0,3 0 0 0 0,4-4 0 0 0,3-4 0 0 0,3-6 0 0 0,4-3 0 0 0,0-3 0 0 0,2-1 0 0 0,-1-2 0 0 0,1 0 0 0 0,0 0 0 0 0,0 0 0 0 0,0 1 0 0 0,-1-1 0 0 0,0 1 0 0 0,1 0 0 0 0,-1 0 0 0 0,0 0 0 0 0,5-5 0 0 0,2-1 0 0 0,-1-5 0 0 0,-1 0 0 0 0,-1-3 0 0 0,-7 0 0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11200 7724 16383 0 0,'0'-4'0'0'0,"-5"-8"0"0"0,-1-5 0 0 0,0-10 0 0 0,-4-5 0 0 0,-5-2 0 0 0,-4-4 0 0 0,0-2 0 0 0,4 3 0 0 0,5 1 0 0 0,-2 3 0 0 0,3 2 0 0 0,6 7 0 0 0,9 6 0 0 0,9 8 0 0 0,5 4 0 0 0,6 4 0 0 0,2 2 0 0 0,1 1 0 0 0,1 1 0 0 0,0-1 0 0 0,0 0 0 0 0,-1 0 0 0 0,0-1 0 0 0,-1 1 0 0 0,0-1 0 0 0,1 0 0 0 0,-1 4 0 0 0,0 3 0 0 0,-5-1 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7144 7726 16383 0 0,'5'0'0'0'0,"6"0"0"0"0,11 0 0 0 0,6 5 0 0 0,9 6 0 0 0,7 11 0 0 0,1 2 0 0 0,2 1 0 0 0,-1 2 0 0 0,-5 0 0 0 0,1 1 0 0 0,-2 1 0 0 0,-3-5 0 0 0,-8-2 0 0 0,-9 0 0 0 0,-7 2 0 0 0,-7 0 0 0 0,-4 3 0 0 0,-2 9 0 0 0,-1 10 0 0 0,-1 0 0 0 0,1 3 0 0 0,-1-2 0 0 0,1 0 0 0 0,1-2 0 0 0,0-5 0 0 0,-5-5 0 0 0,-2-7 0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7680 6634 16383 0 0,'-5'-5'0'0'0,"-1"-11"0"0"0,0-8 0 0 0,1-4 0 0 0,1-2 0 0 0,2-2 0 0 0,1 1 0 0 0,5 5 0 0 0,12 8 0 0 0,8 10 0 0 0,0 13 0 0 0,0 10 0 0 0,-3 11 0 0 0,-6 7 0 0 0,-5 7 0 0 0,-4 2 0 0 0,-9-7 0 0 0,-7-9 0 0 0,-8-9 0 0 0,-5-17 0 0 0,1-13 0 0 0,4-9 0 0 0,6-6 0 0 0,4-3 0 0 0,4-1 0 0 0,2 0 0 0 0,2 1 0 0 0,6 6 0 0 0,6 7 0 0 0,6 6 0 0 0,5 6 0 0 0,4 3 0 0 0,-4 8 0 0 0,-5 7 0 0 0,-6 6 0 0 0,-5 6 0 0 0,-3 3 0 0 0,-8-3 0 0 0,-7-6 0 0 0,-7-6 0 0 0,-11-4 0 0 0,-4-5 0 0 0,-1-2 0 0 0,-1-1 0 0 0,2-1 0 0 0,6-5 0 0 0,8-6 0 0 0,7-11 0 0 0,10-6 0 0 0,6-3 0 0 0,6-1 0 0 0,3 0 0 0 0,3 7 0 0 0,3 6 0 0 0,4 8 0 0 0,3 10 0 0 0,1 20 0 0 0,-3 12 0 0 0,-2 10 0 0 0,-3 3 0 0 0,-7-1 0 0 0,-4-2 0 0 0,-3-4 0 0 0,-4-3 0 0 0,-5-7 0 0 0,-8-8 0 0 0,-7-7 0 0 0,-4-6 0 0 0,-3-3 0 0 0,-3-2 0 0 0,5-6 0 0 0,5-7 0 0 0,12-1 0 0 0,11 7 0 0 0,5 4 0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4724 8540 16383 0 0,'0'-5'0'0'0,"5"-2"0"0"0,1-4 0 0 0,0-5 0 0 0,-1-4 0 0 0,-1-5 0 0 0,-2-2 0 0 0,-1-1 0 0 0,-1-1 0 0 0,1 0 0 0 0,-2 0 0 0 0,6 5 0 0 0,6 6 0 0 0,6 7 0 0 0,5 5 0 0 0,3 3 0 0 0,-2 7 0 0 0,0 8 0 0 0,-5 7 0 0 0,-4 4 0 0 0,-6 4 0 0 0,-3 2 0 0 0,-3 0 0 0 0,-2 1 0 0 0,-1 4 0 0 0,0 2 0 0 0,-4-6 0 0 0,-12-3 0 0 0,-7-1 0 0 0,-10-5 0 0 0,-3-6 0 0 0,-5-6 0 0 0,-1-4 0 0 0,-2-4 0 0 0,2-1 0 0 0,8-5 0 0 0,5-3 0 0 0,3-4 0 0 0,6-5 0 0 0,7-9 0 0 0,5-10 0 0 0,5-3 0 0 0,2-6 0 0 0,12-3 0 0 0,9 1 0 0 0,10 3 0 0 0,11 10 0 0 0,2 10 0 0 0,0 10 0 0 0,-3 7 0 0 0,-3 4 0 0 0,-8 13 0 0 0,-9 9 0 0 0,-7 6 0 0 0,-6 4 0 0 0,-9-3 0 0 0,-8-1 0 0 0,-3 0 0 0 0,-3-5 0 0 0,-4-5 0 0 0,-4-5 0 0 0,-1-5 0 0 0,-2-3 0 0 0,0-1 0 0 0,-1-2 0 0 0,-5 0 0 0 0,-1 0 0 0 0,10 0 0 0 0,14 0 0 0 0,13 1 0 0 0,12 0 0 0 0,8-1 0 0 0,5 1 0 0 0,3 0 0 0 0,-4-4 0 0 0,-6-7 0 0 0,-7-7 0 0 0,-5-4 0 0 0,-5-3 0 0 0,-2-3 0 0 0,-1-1 0 0 0,4 4 0 0 0,6 7 0 0 0,6 6 0 0 0,10 5 0 0 0,0 9 0 0 0,-3 8 0 0 0,-7 8 0 0 0,-5 6 0 0 0,-5 3 0 0 0,-3 6 0 0 0,-3 3 0 0 0,-5-4 0 0 0,-3-4 0 0 0,-4-6 0 0 0,-5-7 0 0 0,-5-6 0 0 0,-2-4 0 0 0,-3-4 0 0 0,-2-1 0 0 0,0-1 0 0 0,0-1 0 0 0,5-4 0 0 0,6-11 0 0 0,6-7 0 0 0,6-5 0 0 0,8-1 0 0 0,9 3 0 0 0,7 7 0 0 0,1 7 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2978 10358 16383 0 0,'5'0'0'0'0,"6"0"0"0"0,6 0 0 0 0,5 0 0 0 0,-1 5 0 0 0,-4 6 0 0 0,-6 6 0 0 0,-3 5 0 0 0,-9 4 0 0 0,-9-3 0 0 0,-3 0 0 0 0,-8-5 0 0 0,-6-4 0 0 0,-3-6 0 0 0,-1-3 0 0 0,0-3 0 0 0,0-2 0 0 0,1-6 0 0 0,1-6 0 0 0,0-11 0 0 0,5-11 0 0 0,7-5 0 0 0,6 0 0 0 0,5-3 0 0 0,3 0 0 0 0,3 3 0 0 0,6 4 0 0 0,6 6 0 0 0,7 10 0 0 0,4 7 0 0 0,3 6 0 0 0,3 4 0 0 0,0 2 0 0 0,1 6 0 0 0,-6 7 0 0 0,-6 11 0 0 0,-6 6 0 0 0,-6 2 0 0 0,-3 1 0 0 0,-2 0 0 0 0,-2-1 0 0 0,0-1 0 0 0,-5-7 0 0 0,-7-6 0 0 0,-10-7 0 0 0,-6-5 0 0 0,-3-3 0 0 0,0-3 0 0 0,4-6 0 0 0,7-11 0 0 0,8-8 0 0 0,6-5 0 0 0,3-1 0 0 0,4-1 0 0 0,1 1 0 0 0,5 0 0 0 0,1 1 0 0 0,6 6 0 0 0,4 6 0 0 0,4 7 0 0 0,4 5 0 0 0,2 4 0 0 0,-4 6 0 0 0,-5 8 0 0 0,-6 7 0 0 0,-5 4 0 0 0,-4 4 0 0 0,-2 2 0 0 0,-2 0 0 0 0,0 1 0 0 0,-5-5 0 0 0,-6-7 0 0 0,-6-7 0 0 0,-5-4 0 0 0,-3-9 0 0 0,3-9 0 0 0,5-7 0 0 0,6-5 0 0 0,5-4 0 0 0,4-2 0 0 0,1-1 0 0 0,8 5 0 0 0,6 6 0 0 0,6 7 0 0 0,0 5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2094 12410 16383 0 0,'5'0'0'0'0,"6"0"0"0"0,6 0 0 0 0,6 4 0 0 0,-3 8 0 0 0,2 0 0 0 0,-4 4 0 0 0,-5 8 0 0 0,-4 5 0 0 0,1 8 0 0 0,-2 1 0 0 0,-1 0 0 0 0,-3-2 0 0 0,-1-2 0 0 0,-2-3 0 0 0,-5-6 0 0 0,-8-7 0 0 0,-5-7 0 0 0,-6-10 0 0 0,-3-10 0 0 0,3-8 0 0 0,5-7 0 0 0,5-8 0 0 0,11-3 0 0 0,5-1 0 0 0,11 0 0 0 0,9 3 0 0 0,5 6 0 0 0,2 3 0 0 0,1 6 0 0 0,1 6 0 0 0,-2 4 0 0 0,-4 10 0 0 0,-8 8 0 0 0,-2 7 0 0 0,-3 7 0 0 0,-5 7 0 0 0,-2 4 0 0 0,-4 1 0 0 0,-1-1 0 0 0,-1-2 0 0 0,-1-1 0 0 0,-4-7 0 0 0,-7-7 0 0 0,-6-6 0 0 0,-5-7 0 0 0,-3-2 0 0 0,-6-3 0 0 0,-4-6 0 0 0,1-11 0 0 0,0-8 0 0 0,8-5 0 0 0,7-6 0 0 0,7-7 0 0 0,6-6 0 0 0,5 1 0 0 0,1 4 0 0 0,7 9 0 0 0,12 11 0 0 0,7 9 0 0 0,4 7 0 0 0,3 5 0 0 0,-5 8 0 0 0,-2 8 0 0 0,-5 6 0 0 0,-6 10 0 0 0,-6 5 0 0 0,-3 1 0 0 0,-4 0 0 0 0,-6-7 0 0 0,-12-7 0 0 0,-8-13 0 0 0,-4-12 0 0 0,2-10 0 0 0,7-8 0 0 0,5-5 0 0 0,7-2 0 0 0,8-2 0 0 0,10 5 0 0 0,8 7 0 0 0,0 12 0 0 0,-2 15 0 0 0,-5 13 0 0 0,-8 6 0 0 0,-14 14 0 0 0,-11 5 0 0 0,-6-2 0 0 0,-3-7 0 0 0,-1-10 0 0 0,0-11 0 0 0,6-11 0 0 0,7-12 0 0 0,6-10 0 0 0,7-7 0 0 0,3 1 0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4114 12553 16383 0 0,'-5'0'0'0'0,"-6"0"0"0"0,-7-5 0 0 0,-4-6 0 0 0,1-6 0 0 0,9-1 0 0 0,12 4 0 0 0,10 3 0 0 0,8 14 0 0 0,7 11 0 0 0,2 12 0 0 0,3 7 0 0 0,-4 3 0 0 0,-7 0 0 0 0,-6-2 0 0 0,-6-1 0 0 0,-4-2 0 0 0,-7-1 0 0 0,-7-6 0 0 0,-13-7 0 0 0,-6-16 0 0 0,-2-17 0 0 0,-2-17 0 0 0,1-6 0 0 0,6-2 0 0 0,7 1 0 0 0,3 3 0 0 0,4 3 0 0 0,9 7 0 0 0,10 8 0 0 0,4 12 0 0 0,0 12 0 0 0,-1 10 0 0 0,-3 8 0 0 0,-2 4 0 0 0,-6-3 0 0 0,-8-4 0 0 0,-7-7 0 0 0,-1-10 0 0 0,3-19 0 0 0,4-18 0 0 0,4-7 0 0 0,3-1 0 0 0,2 1 0 0 0,2 3 0 0 0,10 8 0 0 0,3 14 0 0 0,0 10 0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6086 10482 16383 0 0,'5'0'0'0'0,"1"-9"0"0"0,1-9 0 0 0,2 0 0 0 0,6 2 0 0 0,9 4 0 0 0,6 9 0 0 0,2 5 0 0 0,-4 6 0 0 0,-7 8 0 0 0,-2 5 0 0 0,-4 4 0 0 0,-6 3 0 0 0,-3 1 0 0 0,-3 0 0 0 0,-2 1 0 0 0,-1-1 0 0 0,-10-4 0 0 0,-9-8 0 0 0,-5-5 0 0 0,-4-6 0 0 0,3-8 0 0 0,2-9 0 0 0,-2-3 0 0 0,0-3 0 0 0,4-3 0 0 0,1 0 0 0 0,3 0 0 0 0,10 4 0 0 0,11 3 0 0 0,14 10 0 0 0,-1 4 0 0 0,-8 3 0 0 0,-5-4 0 0 0,-4-7 0 0 0,-1-7 0 0 0,3-2 0 0 0,3-2 0 0 0,-1 2 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5583 12369 16383 0 0,'0'-5'0'0'0,"0"-11"0"0"0,0-8 0 0 0,5-4 0 0 0,1-3 0 0 0,5 5 0 0 0,0 1 0 0 0,3 5 0 0 0,5 7 0 0 0,3 4 0 0 0,2 5 0 0 0,3 2 0 0 0,1 2 0 0 0,1 6 0 0 0,-5 11 0 0 0,-6 12 0 0 0,-6 7 0 0 0,-6 6 0 0 0,-3 1 0 0 0,-7 3 0 0 0,-8-7 0 0 0,-7-9 0 0 0,-9-11 0 0 0,-5-8 0 0 0,3-10 0 0 0,7-11 0 0 0,7-9 0 0 0,6-5 0 0 0,6-3 0 0 0,2-3 0 0 0,2-5 0 0 0,1-1 0 0 0,1-1 0 0 0,9 8 0 0 0,7 12 0 0 0,6 10 0 0 0,4 11 0 0 0,-3 9 0 0 0,-7 7 0 0 0,-5 5 0 0 0,-5 4 0 0 0,-9-4 0 0 0,-9-6 0 0 0,-8-6 0 0 0,0-5 0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10195 8679 16383 0 0,'5'4'0'0'0,"6"8"0"0"0,6 5 0 0 0,0 5 0 0 0,-2 4 0 0 0,0-3 0 0 0,3-1 0 0 0,-1 2 0 0 0,-10 0 0 0 0,-9-3 0 0 0,-10-5 0 0 0,-8-6 0 0 0,-5-4 0 0 0,-7-8 0 0 0,-4-9 0 0 0,4-6 0 0 0,8-7 0 0 0,8-2 0 0 0,7-3 0 0 0,4-1 0 0 0,9 5 0 0 0,8 7 0 0 0,6 5 0 0 0,6 7 0 0 0,3 3 0 0 0,2 7 0 0 0,-4 8 0 0 0,-2 11 0 0 0,-4 7 0 0 0,-6 3 0 0 0,-4 0 0 0 0,-5 0 0 0 0,-2-1 0 0 0,-7-6 0 0 0,-12-7 0 0 0,-8-8 0 0 0,-9-4 0 0 0,-4-10 0 0 0,5-8 0 0 0,8-7 0 0 0,8-6 0 0 0,7-3 0 0 0,5-2 0 0 0,4 0 0 0 0,1-1 0 0 0,7 5 0 0 0,5 7 0 0 0,7 6 0 0 0,4 5 0 0 0,4 5 0 0 0,-4 6 0 0 0,-5 8 0 0 0,-5 6 0 0 0,-6 6 0 0 0,-4 3 0 0 0,-2 1 0 0 0,-6-3 0 0 0,-7-6 0 0 0,-6-7 0 0 0,-5-5 0 0 0,-4-4 0 0 0,4-7 0 0 0,4-7 0 0 0,7-8 0 0 0,5-4 0 0 0,3-4 0 0 0,3-2 0 0 0,1 0 0 0 0,1-1 0 0 0,5 5 0 0 0,7 7 0 0 0,9 6 0 0 0,7 6 0 0 0,4 3 0 0 0,-1 8 0 0 0,-4 6 0 0 0,-7 8 0 0 0,-8 4 0 0 0,-6 9 0 0 0,-3 3 0 0 0,-4 1 0 0 0,-5-7 0 0 0,-8-7 0 0 0,-6-7 0 0 0,-4-8 0 0 0,-3-3 0 0 0,2-8 0 0 0,1-8 0 0 0,4-7 0 0 0,6-5 0 0 0,4-3 0 0 0,5-2 0 0 0,-3 9 0 0 0,-4 8 0 0 0,-6 6 0 0 0,-4 4 0 0 0,1 2 0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4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9405 10596 16383 0 0,'5'0'0'0'0,"1"-5"0"0"0,0-6 0 0 0,-1-6 0 0 0,3-1 0 0 0,6 4 0 0 0,4 3 0 0 0,0 9 0 0 0,-4 10 0 0 0,-3 12 0 0 0,-10 9 0 0 0,-8-2 0 0 0,-9-5 0 0 0,-6-6 0 0 0,-4-6 0 0 0,-3-9 0 0 0,-1-10 0 0 0,5-8 0 0 0,1-11 0 0 0,1-5 0 0 0,4-2 0 0 0,4 0 0 0 0,2 1 0 0 0,6 7 0 0 0,10 7 0 0 0,9 8 0 0 0,7 6 0 0 0,6 3 0 0 0,-2 8 0 0 0,0 2 0 0 0,1 1 0 0 0,-4 3 0 0 0,-5 5 0 0 0,-5 4 0 0 0,-9-1 0 0 0,-5 1 0 0 0,-6 2 0 0 0,-7 2 0 0 0,-5-3 0 0 0,-3-6 0 0 0,-3-4 0 0 0,-1-10 0 0 0,0-9 0 0 0,4-8 0 0 0,7-7 0 0 0,6 1 0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9899 12886 16383 0 0,'5'5'0'0'0,"1"-8"0"0"0,5-4 0 0 0,5 0 0 0 0,5 5 0 0 0,-2 9 0 0 0,-3 7 0 0 0,-10 1 0 0 0,-10-1 0 0 0,-10-4 0 0 0,-7-3 0 0 0,-4-3 0 0 0,1-7 0 0 0,10-3 0 0 0,12 0 0 0 0,11 1 0 0 0,10 0 0 0 0,5 3 0 0 0,4 0 0 0 0,-3 6 0 0 0,-11 2 0 0 0,-12 0 0 0 0,-6 4 0 0 0,6 5 0 0 0,4 5 0 0 0,0 4 0 0 0,-5-3 0 0 0,-8-4 0 0 0,-13-6 0 0 0,-6-4 0 0 0,-1-8 0 0 0,1-4 0 0 0,0-1 0 0 0,-1 0 0 0 0,9 1 0 0 0,13 2 0 0 0,11 1 0 0 0,15-3 0 0 0,4-2 0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12163 10929 16383 0 0,'5'0'0'0'0,"1"-5"0"0"0,0-6 0 0 0,-6-7 0 0 0,-3-4 0 0 0,-5-4 0 0 0,-7 3 0 0 0,-1-4 0 0 0,-2-3 0 0 0,-3 0 0 0 0,3-1 0 0 0,8 6 0 0 0,11 6 0 0 0,5 12 0 0 0,2 11 0 0 0,0 11 0 0 0,-2 7 0 0 0,-2 4 0 0 0,-6-2 0 0 0,-8-4 0 0 0,-7-7 0 0 0,-5-5 0 0 0,-9-9 0 0 0,1-13 0 0 0,6-10 0 0 0,7-5 0 0 0,6-8 0 0 0,5-1 0 0 0,3-1 0 0 0,3 3 0 0 0,11 7 0 0 0,3 14 0 0 0,4 8 0 0 0,4 7 0 0 0,3 2 0 0 0,-3 6 0 0 0,-5 7 0 0 0,-5 5 0 0 0,-5 4 0 0 0,-4 3 0 0 0,-2 2 0 0 0,-1 0 0 0 0,-1 0 0 0 0,-5-4 0 0 0,-6-7 0 0 0,-11-7 0 0 0,-1-9 0 0 0,-2-6 0 0 0,-1-6 0 0 0,5-7 0 0 0,0-5 0 0 0,4-3 0 0 0,6-3 0 0 0,4-1 0 0 0,4-1 0 0 0,-2 1 0 0 0,-1-1 0 0 0,7 6 0 0 0,7 6 0 0 0,8 12 0 0 0,5 6 0 0 0,1 9 0 0 0,-10 1 0 0 0,-5 1 0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1:17:19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8626 6261 16383 0 0,'-5'0'0'0'0,"-7"10"0"0"0,-6 8 0 0 0,0 5 0 0 0,-2 6 0 0 0,3 1 0 0 0,-2 1 0 0 0,-2 0 0 0 0,-1 0 0 0 0,-4-1 0 0 0,4 0 0 0 0,-1-5 0 0 0,0-2 0 0 0,0-5 0 0 0,-4-1 0 0 0,0 2 0 0 0,-2-2 0 0 0,5 0 0 0 0,1-1 0 0 0,0 0 0 0 0,-2-2 0 0 0,-1 1 0 0 0,5 4 0 0 0,-1-1 0 0 0,-1-1 0 0 0,-1 4 0 0 0,-2 3 0 0 0,4 1 0 0 0,0-2 0 0 0,0-1 0 0 0,-3 6 0 0 0,-1-2 0 0 0,-1-1 0 0 0,-6 2 0 0 0,2 0 0 0 0,2-4 0 0 0,1-2 0 0 0,-1-4 0 0 0,1-5 0 0 0,0 2 0 0 0,4 1 0 0 0,-3 0 0 0 0,-3 1 0 0 0,0 4 0 0 0,-10-2 0 0 0,-5 0 0 0 0,3-1 0 0 0,1-6 0 0 0,5 2 0 0 0,2 4 0 0 0,2-3 0 0 0,2-1 0 0 0,-5-1 0 0 0,0 5 0 0 0,0-2 0 0 0,6 3 0 0 0,4-3 0 0 0,-5 2 0 0 0,-2 2 0 0 0,0-1 0 0 0,0-5 0 0 0,1 1 0 0 0,-1 3 0 0 0,2-1 0 0 0,-5-4 0 0 0,0 2 0 0 0,-1 2 0 0 0,1 0 0 0 0,3 1 0 0 0,0-1 0 0 0,2 0 0 0 0,1 3 0 0 0,-5-1 0 0 0,3 0 0 0 0,2-2 0 0 0,2 1 0 0 0,-1-2 0 0 0,0 0 0 0 0,0-1 0 0 0,4 1 0 0 0,-3-2 0 0 0,-2 3 0 0 0,-1 3 0 0 0,-1-3 0 0 0,0-2 0 0 0,6 0 0 0 0,1-2 0 0 0,-4 2 0 0 0,-3 4 0 0 0,-6 3 0 0 0,-7 4 0 0 0,0 2 0 0 0,1-4 0 0 0,4 0 0 0 0,4-4 0 0 0,-4-2 0 0 0,7 4 0 0 0,3-4 0 0 0,-4 1 0 0 0,-1 3 0 0 0,-5 2 0 0 0,0-3 0 0 0,-4 5 0 0 0,-4 4 0 0 0,0 2 0 0 0,-1 0 0 0 0,-7 0 0 0 0,-6 4 0 0 0,4-3 0 0 0,7-2 0 0 0,6-2 0 0 0,6-5 0 0 0,5-2 0 0 0,3-4 0 0 0,1-1 0 0 0,-1 3 0 0 0,4-2 0 0 0,-3 1 0 0 0,1-3 0 0 0,0-4 0 0 0,3 1 0 0 0,3 0 0 0 0,4 1 0 0 0,-5 4 0 0 0,-8 4 0 0 0,1 3 0 0 0,-4-1 0 0 0,-1 4 0 0 0,0-3 0 0 0,-5 5 0 0 0,-3 3 0 0 0,-2 0 0 0 0,4 0 0 0 0,2 0 0 0 0,4-6 0 0 0,7-2 0 0 0,4-5 0 0 0,2-2 0 0 0,-2 3 0 0 0,-1 2 0 0 0,3 6 0 0 0,1 0 0 0 0,0 4 0 0 0,-3 2 0 0 0,3 2 0 0 0,5-3 0 0 0,1 4 0 0 0,2 0 0 0 0,-1-5 0 0 0,2 1 0 0 0,-3-5 0 0 0,2-2 0 0 0,-2 4 0 0 0,-4-2 0 0 0,3-2 0 0 0,-3 5 0 0 0,-2 2 0 0 0,3 1 0 0 0,-2-1 0 0 0,-2-1 0 0 0,4 4 0 0 0,-1-4 0 0 0,2-3 0 0 0,1-1 0 0 0,-4 0 0 0 0,-2 0 0 0 0,-3-1 0 0 0,-1 1 0 0 0,-3 1 0 0 0,0 0 0 0 0,-1 0 0 0 0,0 0 0 0 0,0 0 0 0 0,0-4 0 0 0,1 2 0 0 0,0-3 0 0 0,-1 0 0 0 0,1 1 0 0 0,-5 0 0 0 0,-2 7 0 0 0,1-3 0 0 0,5 0 0 0 0,4-7 0 0 0,6-1 0 0 0,1 1 0 0 0,-6 1 0 0 0,1 2 0 0 0,1 2 0 0 0,-2-4 0 0 0,-1-7 0 0 0,3 1 0 0 0,1 1 0 0 0,5 3 0 0 0,4 3 0 0 0,5 2 0 0 0,4 2 0 0 0,2 0 0 0 0,2 1 0 0 0,1 1 0 0 0,0-1 0 0 0,0 1 0 0 0,0 0 0 0 0,-1-1 0 0 0,1 0 0 0 0,-1 1 0 0 0,0-1 0 0 0,0 0 0 0 0,0 0 0 0 0,0 1 0 0 0,0-1 0 0 0,0 0 0 0 0,-5-6 0 0 0,-3 0 0 0 0,2 0 0 0 0,1 2 0 0 0,2-1 0 0 0,-4 4 0 0 0,-2 0 0 0 0,-2 0 0 0 0,0 2 0 0 0,-4 4 0 0 0,1 2 0 0 0,-2-1 0 0 0,2 5 0 0 0,-2-5 0 0 0,1-4 0 0 0,0 3 0 0 0,-4 6 0 0 0,-2 1 0 0 0,0-2 0 0 0,0-2 0 0 0,-1-3 0 0 0,3-2 0 0 0,-1 3 0 0 0,-6 7 0 0 0,-4 4 0 0 0,-2 11 0 0 0,0 5 0 0 0,0 2 0 0 0,5-1 0 0 0,3 0 0 0 0,0 4 0 0 0,-1 0 0 0 0,4-6 0 0 0,-4-4 0 0 0,2-6 0 0 0,0-3 0 0 0,-2-8 0 0 0,4-7 0 0 0,2-4 0 0 0,2-2 0 0 0,5 0 0 0 0,4 0 0 0 0,-1 0 0 0 0,-5 1 0 0 0,1 1 0 0 0,-3 4 0 0 0,2 3 0 0 0,3 4 0 0 0,3 0 0 0 0,3 0 0 0 0,3-3 0 0 0,1-4 0 0 0,1-1 0 0 0,1-1 0 0 0,-1-2 0 0 0,1 0 0 0 0,0 0 0 0 0,-1 5 0 0 0,5 1 0 0 0,2 0 0 0 0,4-1 0 0 0,1-2 0 0 0,-2 0 0 0 0,2-7 0 0 0,0-2 0 0 0,1 0 0 0 0,6 1 0 0 0,-3 1 0 0 0,3-3 0 0 0,-4-1 0 0 0,3-4 0 0 0,-3 1 0 0 0,0-4 0 0 0,5-4 0 0 0,2-2 0 0 0,2 0 0 0 0,9 0 0 0 0,-3 4 0 0 0,-1-1 0 0 0,-1-2 0 0 0,1-2 0 0 0,-1-3 0 0 0,1 4 0 0 0,5-1 0 0 0,1-1 0 0 0,0 3 0 0 0,0 2 0 0 0,-2 1 0 0 0,-2 1 0 0 0,0-3 0 0 0,-1-3 0 0 0,-1-3 0 0 0,0-1 0 0 0,0-2 0 0 0,0-1 0 0 0,0-1 0 0 0,0 1 0 0 0,0-1 0 0 0,0 1 0 0 0,0-1 0 0 0,1 1 0 0 0,-1 0 0 0 0,0 0 0 0 0,0 0 0 0 0,0 0 0 0 0,1-5 0 0 0,-1-1 0 0 0,0 0 0 0 0,6-5 0 0 0,1 1 0 0 0,-1-3 0 0 0,-1-5 0 0 0,-1-4 0 0 0,-6-2 0 0 0,-8-4 0 0 0,-8-1 0 0 0,-4-1 0 0 0,-4 0 0 0 0,-3 0 0 0 0,-1 0 0 0 0,-1 1 0 0 0,1-1 0 0 0,0 1 0 0 0,-1-1 0 0 0,1 1 0 0 0,1 0 0 0 0,0 0 0 0 0,0 0 0 0 0,0-1 0 0 0,0 2 0 0 0,0-1 0 0 0,0 0 0 0 0,0-1 0 0 0,0-4 0 0 0,0-1 0 0 0,0-1 0 0 0,0 1 0 0 0,0 3 0 0 0,0 0 0 0 0,0 2 0 0 0,0 0 0 0 0,0 1 0 0 0,0 0 0 0 0,6 6 0 0 0,0 0 0 0 0,1 0 0 0 0,-3-1 0 0 0,0 0 0 0 0,-2-3 0 0 0,0-1 0 0 0,-1-1 0 0 0,-1 0 0 0 0,0-1 0 0 0,-1 1 0 0 0,1-1 0 0 0,-6 1 0 0 0,-1-1 0 0 0,1 1 0 0 0,1 1 0 0 0,2-2 0 0 0,0 1 0 0 0,1 0 0 0 0,2 0 0 0 0,0 0 0 0 0,0-1 0 0 0,0 1 0 0 0,1 0 0 0 0,-1 0 0 0 0,0-1 0 0 0,0 1 0 0 0,6 5 0 0 0,0 2 0 0 0,1-1 0 0 0,2-1 0 0 0,7 4 0 0 0,0-1 0 0 0,0-1 0 0 0,10 4 0 0 0,5 8 0 0 0,-4 12 0 0 0,5 11 0 0 0,0 7 0 0 0,-4 6 0 0 0,-2 4 0 0 0,0-4 0 0 0,-5-1 0 0 0,-1 0 0 0 0,-4 1 0 0 0,-4 0 0 0 0,0 1 0 0 0,-2 2 0 0 0,3 0 0 0 0,-2 0 0 0 0,-2 0 0 0 0,3 5 0 0 0,3 7 0 0 0,6-3 0 0 0,-2-4 0 0 0,-5-2 0 0 0,-3-2 0 0 0,0-1 0 0 0,-1 4 0 0 0,-2 2 0 0 0,-3 0 0 0 0,-2-2 0 0 0,-2 0 0 0 0,0-2 0 0 0,-2-1 0 0 0,1 0 0 0 0,0-1 0 0 0,-1 5 0 0 0,1 1 0 0 0,0 0 0 0 0,-1-1 0 0 0,1-1 0 0 0,0-2 0 0 0,0-1 0 0 0,0 0 0 0 0,0-1 0 0 0,0 0 0 0 0,0 0 0 0 0,0 0 0 0 0,0 0 0 0 0,0 0 0 0 0,0 0 0 0 0,0 1 0 0 0,5-1 0 0 0,7-6 0 0 0,1 0 0 0 0,-2 0 0 0 0,-2 2 0 0 0,-3-1 0 0 0,-3 3 0 0 0,-1 1 0 0 0,-2 6 0 0 0,0 2 0 0 0,0-1 0 0 0,-1 1 0 0 0,1-3 0 0 0,4-8 0 0 0,8-1 0 0 0,10-5 0 0 0,13-2 0 0 0,4-2 0 0 0,7 0 0 0 0,4-2 0 0 0,4-4 0 0 0,-2-3 0 0 0,-9 4 0 0 0,-9-2 0 0 0,-3-2 0 0 0,-4-1 0 0 0,0-2 0 0 0,0-2 0 0 0,5 0 0 0 0,2-1 0 0 0,1 0 0 0 0,-2-1 0 0 0,1 1 0 0 0,-3 0 0 0 0,-1-1 0 0 0,0 1 0 0 0,0 0 0 0 0,-1 0 0 0 0,0 0 0 0 0,0-5 0 0 0,0-1 0 0 0,-5-5 0 0 0,-1-1 0 0 0,-1 2 0 0 0,2-3 0 0 0,2-2 0 0 0,1-6 0 0 0,-4-4 0 0 0,-5-1 0 0 0,-7-2 0 0 0,-5-2 0 0 0,-3 0 0 0 0,-2 0 0 0 0,-2 0 0 0 0,0 1 0 0 0,0-1 0 0 0,0 1 0 0 0,0-1 0 0 0,-4 1 0 0 0,-8 0 0 0 0,1-5 0 0 0,1-2 0 0 0,-3-4 0 0 0,-3-6 0 0 0,0 1 0 0 0,3 1 0 0 0,6 6 0 0 0,-3 2 0 0 0,1 4 0 0 0,-2-4 0 0 0,1 1 0 0 0,-4 0 0 0 0,2 1 0 0 0,-2 7 0 0 0,1-2 0 0 0,-2-6 0 0 0,-3 3 0 0 0,2 1 0 0 0,3 2 0 0 0,5 1 0 0 0,-1-5 0 0 0,-1-2 0 0 0,0 0 0 0 0,-2 0 0 0 0,4 3 0 0 0,-2-4 0 0 0,-5-6 0 0 0,2 0 0 0 0,1-4 0 0 0,0 7 0 0 0,0 5 0 0 0,4 3 0 0 0,3 1 0 0 0,-3-3 0 0 0,-4 4 0 0 0,0 1 0 0 0,1 1 0 0 0,0 5 0 0 0,-1-3 0 0 0,-1 1 0 0 0,1 1 0 0 0,-2 4 0 0 0,-4 1 0 0 0,3-3 0 0 0,2-2 0 0 0,0-1 0 0 0,1-3 0 0 0,4-1 0 0 0,-3-6 0 0 0,-2 3 0 0 0,-1 2 0 0 0,3 0 0 0 0,4 1 0 0 0,2 0 0 0 0,3 0 0 0 0,2-1 0 0 0,1 0 0 0 0,1 1 0 0 0,-1-1 0 0 0,-4-5 0 0 0,-2-3 0 0 0,0 2 0 0 0,2 1 0 0 0,-1 1 0 0 0,3 2 0 0 0,1 0 0 0 0,1 2 0 0 0,0-1 0 0 0,0 1 0 0 0,0 0 0 0 0,0 0 0 0 0,1 1 0 0 0,-1-1 0 0 0,0 0 0 0 0,0 0 0 0 0,0 0 0 0 0,0 0 0 0 0,0-1 0 0 0,0 1 0 0 0,0 0 0 0 0,0 0 0 0 0,0-1 0 0 0,0 1 0 0 0,6-5 0 0 0,0-1 0 0 0,0-1 0 0 0,4 2 0 0 0,5 1 0 0 0,0 2 0 0 0,-2 1 0 0 0,1 5 0 0 0,-1 2 0 0 0,1 1 0 0 0,0-2 0 0 0,-5-1 0 0 0,4 3 0 0 0,2 1 0 0 0,0-2 0 0 0,-3-1 0 0 0,2-2 0 0 0,2-6 0 0 0,5-3 0 0 0,-1 0 0 0 0,-1 1 0 0 0,3 1 0 0 0,-2 1 0 0 0,-6 2 0 0 0,2 5 0 0 0,-5 2 0 0 0,-2 0 0 0 0,-2-1 0 0 0,1 4 0 0 0,-1 0 0 0 0,6 3 0 0 0,2 1 0 0 0,6-4 0 0 0,4 3 0 0 0,2 4 0 0 0,2 5 0 0 0,6 1 0 0 0,1 5 0 0 0,2 1 0 0 0,-4 1 0 0 0,0 1 0 0 0,-2 0 0 0 0,-2 0 0 0 0,5-1 0 0 0,6 2 0 0 0,5-2 0 0 0,6 5 0 0 0,4 6 0 0 0,2 1 0 0 0,7 5 0 0 0,-4-2 0 0 0,-2 2 0 0 0,4 4 0 0 0,-4-4 0 0 0,-1 3 0 0 0,-2-4 0 0 0,1-4 0 0 0,-10 1 0 0 0,-8-1 0 0 0,-6-4 0 0 0,-3 2 0 0 0,-2 5 0 0 0,-1 4 0 0 0,1-1 0 0 0,-1 1 0 0 0,-4 4 0 0 0,0-4 0 0 0,-7 1 0 0 0,2-3 0 0 0,2-1 0 0 0,1-1 0 0 0,-1 0 0 0 0,-5 4 0 0 0,0 8 0 0 0,3 4 0 0 0,-3 3 0 0 0,-2 4 0 0 0,0-4 0 0 0,-1-2 0 0 0,-3-3 0 0 0,-3 5 0 0 0,2 7 0 0 0,5-1 0 0 0,0 5 0 0 0,-1-1 0 0 0,-4-3 0 0 0,2-4 0 0 0,0-3 0 0 0,-3-2 0 0 0,-1-2 0 0 0,-3-1 0 0 0,-2 0 0 0 0,0 0 0 0 0,-1-1 0 0 0,0 6 0 0 0,-6 1 0 0 0,-5 0 0 0 0,-3-1 0 0 0,3-1 0 0 0,-4 4 0 0 0,3 0 0 0 0,3-1 0 0 0,-3 3 0 0 0,-4-5 0 0 0,1-4 0 0 0,3-1 0 0 0,3-1 0 0 0,-1 0 0 0 0,1 0 0 0 0,2 0 0 0 0,1 1 0 0 0,3 0 0 0 0,1 0 0 0 0,2-1 0 0 0,0 1 0 0 0,0 0 0 0 0,1 1 0 0 0,-1-1 0 0 0,-4-5 0 0 0,-3 4 0 0 0,-4 1 0 0 0,-1 2 0 0 0,3 0 0 0 0,-4 4 0 0 0,-3 2 0 0 0,0-1 0 0 0,-2-2 0 0 0,-2-1 0 0 0,1 9 0 0 0,0-4 0 0 0,3-2 0 0 0,-2 2 0 0 0,-1-1 0 0 0,-3 0 0 0 0,1 2 0 0 0,-4-1 0 0 0,1-1 0 0 0,1-2 0 0 0,3-2 0 0 0,0-2 0 0 0,-1-1 0 0 0,3-1 0 0 0,4 0 0 0 0,1-5 0 0 0,0-2 0 0 0,5 0 0 0 0,2 2 0 0 0,-2 2 0 0 0,0 6 0 0 0,-4-3 0 0 0,0 0 0 0 0,3-1 0 0 0,3 0 0 0 0,2 0 0 0 0,2-1 0 0 0,1 2 0 0 0,0 5 0 0 0,2 2 0 0 0,-1 0 0 0 0,1-2 0 0 0,-1-1 0 0 0,0 3 0 0 0,1 1 0 0 0,-1-2 0 0 0,0 1 0 0 0,0-4 0 0 0,0-1 0 0 0,0-2 0 0 0,0 1 0 0 0,0-1 0 0 0,5 0 0 0 0,1 0 0 0 0,6 0 0 0 0,4 0 0 0 0,10 0 0 0 0,6-5 0 0 0,-3-2 0 0 0,-1 1 0 0 0,-1-3 0 0 0,1-7 0 0 0,0-3 0 0 0,0 0 0 0 0,1-2 0 0 0,0-1 0 0 0,0-2 0 0 0,0-3 0 0 0,0 0 0 0 0,0-2 0 0 0,1 0 0 0 0,-1 0 0 0 0,5-1 0 0 0,3-5 0 0 0,-2-6 0 0 0,-1 0 0 0 0,-1 0 0 0 0,-6-2 0 0 0,-3-3 0 0 0,-1-4 0 0 0,1 1 0 0 0,-4-1 0 0 0,1 0 0 0 0,0 1 0 0 0,-2 0 0 0 0,4 4 0 0 0,0-1 0 0 0,0-2 0 0 0,-4-4 0 0 0,0 3 0 0 0,2-4 0 0 0,-3-5 0 0 0,0-1 0 0 0,3-1 0 0 0,-2 0 0 0 0,-1 0 0 0 0,3-10 0 0 0,3-2 0 0 0,2 2 0 0 0,-4 0 0 0 0,-1 5 0 0 0,2-2 0 0 0,2 5 0 0 0,1-2 0 0 0,-3 1 0 0 0,-1 0 0 0 0,0-4 0 0 0,2 1 0 0 0,-2 1 0 0 0,-1-4 0 0 0,0 1 0 0 0,-2 1 0 0 0,5-2 0 0 0,-1 1 0 0 0,0 1 0 0 0,1-3 0 0 0,2 2 0 0 0,-4-3 0 0 0,0 6 0 0 0,-5 3 0 0 0,0-2 0 0 0,3 0 0 0 0,-3 1 0 0 0,1 1 0 0 0,3 2 0 0 0,-3 0 0 0 0,1-4 0 0 0,-3 0 0 0 0,1-5 0 0 0,2-2 0 0 0,-2-1 0 0 0,2 1 0 0 0,-3 1 0 0 0,-5 4 0 0 0,1-1 0 0 0,0 0 0 0 0,-4 0 0 0 0,3 4 0 0 0,-1-3 0 0 0,-3 0 0 0 0,5 1 0 0 0,-3 2 0 0 0,4-3 0 0 0,4-6 0 0 0,0 0 0 0 0,-4 3 0 0 0,2-3 0 0 0,-3-3 0 0 0,-3 0 0 0 0,-3 5 0 0 0,-1 3 0 0 0,1 3 0 0 0,1 3 0 0 0,-1 2 0 0 0,-2-5 0 0 0,0 0 0 0 0,-2 0 0 0 0,-1 2 0 0 0,-1 1 0 0 0,0 1 0 0 0,-1 1 0 0 0,1 0 0 0 0,-6-4 0 0 0,-1-6 0 0 0,-4 3 0 0 0,-6 4 0 0 0,1 1 0 0 0,-3 7 0 0 0,2 3 0 0 0,0-1 0 0 0,-3 1 0 0 0,-3 1 0 0 0,3-4 0 0 0,-1 2 0 0 0,-1 1 0 0 0,-3-3 0 0 0,4-1 0 0 0,1 4 0 0 0,2 2 0 0 0,1-3 0 0 0,-3-1 0 0 0,3-2 0 0 0,-1 4 0 0 0,2 0 0 0 0,-1-1 0 0 0,-2 0 0 0 0,-3-3 0 0 0,-13-6 0 0 0,-6 2 0 0 0,1 1 0 0 0,1-4 0 0 0,1 3 0 0 0,4 7 0 0 0,7 2 0 0 0,3 6 0 0 0,0-1 0 0 0,1 3 0 0 0,-2-1 0 0 0,-2-4 0 0 0,4-4 0 0 0,-4 4 0 0 0,-2-3 0 0 0,3-1 0 0 0,2 3 0 0 0,-1-1 0 0 0,1 4 0 0 0,-3-1 0 0 0,0-3 0 0 0,-2 4 0 0 0,0-3 0 0 0,0 4 0 0 0,0-2 0 0 0,-2-2 0 0 0,8-3 0 0 0,0 1 0 0 0,4-4 0 0 0,2 2 0 0 0,-3-1 0 0 0,-2 4 0 0 0,3 1 0 0 0,-1 2 0 0 0,3 2 0 0 0,1 0 0 0 0,-4 0 0 0 0,2-3 0 0 0,5-4 0 0 0,3-2 0 0 0,5-3 0 0 0,2-1 0 0 0,7-2 0 0 0,9 0 0 0 0,5 1 0 0 0,1-1 0 0 0,7 5 0 0 0,-1 3 0 0 0,0 3 0 0 0,1 1 0 0 0,1 0 0 0 0,1 0 0 0 0,-6 1 0 0 0,6 1 0 0 0,-3 1 0 0 0,-1-5 0 0 0,0 4 0 0 0,2-3 0 0 0,1 3 0 0 0,-4 0 0 0 0,-2 1 0 0 0,2-1 0 0 0,2 3 0 0 0,-4-3 0 0 0,-1 3 0 0 0,2 2 0 0 0,2 0 0 0 0,2 0 0 0 0,1-3 0 0 0,1-2 0 0 0,1-1 0 0 0,-4 0 0 0 0,-2 0 0 0 0,0 0 0 0 0,1 3 0 0 0,2-3 0 0 0,2 4 0 0 0,-5-2 0 0 0,-1-4 0 0 0,1 1 0 0 0,1 1 0 0 0,2-4 0 0 0,1-3 0 0 0,2 4 0 0 0,-1-1 0 0 0,2 4 0 0 0,-6-1 0 0 0,0-2 0 0 0,4 3 0 0 0,-2-2 0 0 0,-1 4 0 0 0,-4-2 0 0 0,-1 3 0 0 0,-3-2 0 0 0,3-2 0 0 0,1-4 0 0 0,1 2 0 0 0,-4 0 0 0 0,0-2 0 0 0,3 2 0 0 0,-3 1 0 0 0,0-2 0 0 0,-1-3 0 0 0,-1 4 0 0 0,3-1 0 0 0,4 3 0 0 0,2 6 0 0 0,-3 0 0 0 0,-1 0 0 0 0,2-1 0 0 0,2-4 0 0 0,1 2 0 0 0,2 1 0 0 0,0 1 0 0 0,6 0 0 0 0,2-1 0 0 0,5-4 0 0 0,0 2 0 0 0,-1-2 0 0 0,-3 3 0 0 0,6 2 0 0 0,13 5 0 0 0,15 4 0 0 0,16 2 0 0 0,13 1 0 0 0,14 2 0 0 0,4-1 0 0 0,-10 1 0 0 0,-7 0 0 0 0,-16-1 0 0 0,-14 1 0 0 0,-12-1 0 0 0,-12 0 0 0 0,-10 0 0 0 0,-4 0 0 0 0,-4 0 0 0 0,-2 0 0 0 0,-1 5 0 0 0,1 1 0 0 0,0 6 0 0 0,1-1 0 0 0,0 0 0 0 0,1-4 0 0 0,6 2 0 0 0,1 0 0 0 0,-1-1 0 0 0,-1 2 0 0 0,-1 5 0 0 0,5 5 0 0 0,3 4 0 0 0,2 2 0 0 0,-2 3 0 0 0,2-1 0 0 0,-2 2 0 0 0,-3 1 0 0 0,-1-6 0 0 0,-4-2 0 0 0,3 6 0 0 0,6 6 0 0 0,-6 4 0 0 0,-2 4 0 0 0,-3 0 0 0 0,3-2 0 0 0,-4 2 0 0 0,-2-2 0 0 0,0 2 0 0 0,-6 0 0 0 0,-1 0 0 0 0,1 5 0 0 0,-5 3 0 0 0,2 3 0 0 0,2-2 0 0 0,1-1 0 0 0,-2-3 0 0 0,-4-2 0 0 0,-6-1 0 0 0,1-5 0 0 0,-1-4 0 0 0,2 2 0 0 0,0 0 0 0 0,-3-3 0 0 0,-3-1 0 0 0,3-2 0 0 0,0-1 0 0 0,-2-2 0 0 0,-2 1 0 0 0,3-2 0 0 0,1 1 0 0 0,-3-1 0 0 0,-1 1 0 0 0,3 5 0 0 0,2 2 0 0 0,-4 0 0 0 0,-1-2 0 0 0,-1-2 0 0 0,-2 0 0 0 0,-2-2 0 0 0,1 0 0 0 0,-2-1 0 0 0,1 0 0 0 0,0 0 0 0 0,-1 0 0 0 0,1-1 0 0 0,0 1 0 0 0,0 0 0 0 0,-5-4 0 0 0,-1-2 0 0 0,-11 5 0 0 0,-5 2 0 0 0,-6 2 0 0 0,-8 0 0 0 0,3 0 0 0 0,2-1 0 0 0,1-6 0 0 0,0-2 0 0 0,2 0 0 0 0,-1 1 0 0 0,0-4 0 0 0,0 1 0 0 0,0-4 0 0 0,0-1 0 0 0,5 4 0 0 0,1-4 0 0 0,0 3 0 0 0,0-4 0 0 0,2 2 0 0 0,0-4 0 0 0,5 4 0 0 0,-7 1 0 0 0,-3 4 0 0 0,-2-2 0 0 0,-2 0 0 0 0,5 2 0 0 0,1-2 0 0 0,-1-1 0 0 0,0-3 0 0 0,5 1 0 0 0,-1-2 0 0 0,3 0 0 0 0,2 4 0 0 0,1 3 0 0 0,0-3 0 0 0,1 1 0 0 0,0 8 0 0 0,0 2 0 0 0,4 3 0 0 0,3-1 0 0 0,2 5 0 0 0,4 6 0 0 0,0 6 0 0 0,1 4 0 0 0,1 2 0 0 0,-1-1 0 0 0,1 3 0 0 0,-1 3 0 0 0,2-4 0 0 0,-2-3 0 0 0,0-3 0 0 0,0-7 0 0 0,5-5 0 0 0,6-4 0 0 0,2-3 0 0 0,3-8 0 0 0,0-1 0 0 0,0-5 0 0 0,5-1 0 0 0,2 3 0 0 0,8 2 0 0 0,-2 3 0 0 0,4 2 0 0 0,-3 2 0 0 0,-2-4 0 0 0,-1-2 0 0 0,-4 2 0 0 0,-2-4 0 0 0,0-1 0 0 0,-2 2 0 0 0,0 3 0 0 0,-4 1 0 0 0,-3 2 0 0 0,-5 0 0 0 0,-3 2 0 0 0,-3 6 0 0 0,0 2 0 0 0,-2-2 0 0 0,0 10 0 0 0,6 11 0 0 0,0 16 0 0 0,7 21 0 0 0,-1 19 0 0 0,4 11 0 0 0,3 13 0 0 0,0-1 0 0 0,2-14 0 0 0,-5-16 0 0 0,-1-18 0 0 0,-6-17 0 0 0,-4-12 0 0 0,3-15 0 0 0,1-11 0 0 0,-2-4 0 0 0,-2 1 0 0 0,-1 2 0 0 0,-2 0 0 0 0,0 5 0 0 0,-1 6 0 0 0,0 11 0 0 0,-1 6 0 0 0,6 4 0 0 0,2-5 0 0 0,-1-8 0 0 0,3-5 0 0 0,7-8 0 0 0,3-8 0 0 0,11-11 0 0 0,4-7 0 0 0,1-6 0 0 0,0-4 0 0 0,-2-1 0 0 0,5-2 0 0 0,5 0 0 0 0,1 0 0 0 0,-4 1 0 0 0,-2 0 0 0 0,-2 1 0 0 0,-4 0 0 0 0,-1 0 0 0 0,-2 0 0 0 0,0 0 0 0 0,0-5 0 0 0,-1-2 0 0 0,1 1 0 0 0,0 1 0 0 0,0 1 0 0 0,5 2 0 0 0,6 1 0 0 0,3 1 0 0 0,-3 0 0 0 0,8 0 0 0 0,1 0 0 0 0,-4 0 0 0 0,-4 1 0 0 0,-4-6 0 0 0,-4-2 0 0 0,-2-4 0 0 0,5-5 0 0 0,-1-1 0 0 0,-1-2 0 0 0,0 3 0 0 0,-2-2 0 0 0,4-2 0 0 0,1-3 0 0 0,-2 2 0 0 0,0 6 0 0 0,-8-1 0 0 0,-2 4 0 0 0,-1-3 0 0 0,1-2 0 0 0,0-5 0 0 0,2 4 0 0 0,1-3 0 0 0,0 4 0 0 0,1 0 0 0 0,1-4 0 0 0,-1-1 0 0 0,0 2 0 0 0,1-5 0 0 0,-1-4 0 0 0,1 3 0 0 0,-6 3 0 0 0,-7-2 0 0 0,0-1 0 0 0,-5-1 0 0 0,-2-1 0 0 0,-5 0 0 0 0,-2-1 0 0 0,-2-5 0 0 0,-1-2 0 0 0,-1 1 0 0 0,-4 0 0 0 0,-8 2 0 0 0,0 2 0 0 0,-4 5 0 0 0,2-2 0 0 0,-3 3 0 0 0,-3-3 0 0 0,4-3 0 0 0,-7-10 0 0 0,-9-9 0 0 0,1 0 0 0 0,7 3 0 0 0,6 5 0 0 0,3 0 0 0 0,-2-4 0 0 0,2 2 0 0 0,0 2 0 0 0,1 0 0 0 0,5 2 0 0 0,3 2 0 0 0,3-3 0 0 0,1 2 0 0 0,-2 7 0 0 0,-1 4 0 0 0,0 2 0 0 0,2 0 0 0 0,-4-6 0 0 0,-1-1 0 0 0,3-1 0 0 0,0 1 0 0 0,3 1 0 0 0,1 0 0 0 0,0 2 0 0 0,2-5 0 0 0,-5 0 0 0 0,-6 0 0 0 0,-2-10 0 0 0,-2 0 0 0 0,-1 1 0 0 0,0-2 0 0 0,0 4 0 0 0,5 1 0 0 0,4 5 0 0 0,-4 2 0 0 0,3-2 0 0 0,1-5 0 0 0,-3-6 0 0 0,0-4 0 0 0,3-4 0 0 0,1 3 0 0 0,2-6 0 0 0,-3-1 0 0 0,0-1 0 0 0,1 4 0 0 0,-4 7 0 0 0,0 7 0 0 0,2 6 0 0 0,3 3 0 0 0,0 4 0 0 0,3 0 0 0 0,1 1 0 0 0,1 0 0 0 0,0 0 0 0 0,0 0 0 0 0,1-1 0 0 0,-1 0 0 0 0,0 0 0 0 0,1 1 0 0 0,-1-1 0 0 0,0-1 0 0 0,0 1 0 0 0,0 0 0 0 0,0 0 0 0 0,0-1 0 0 0,-5 1 0 0 0,-1 0 0 0 0,-1 0 0 0 0,3-5 0 0 0,-1-2 0 0 0,3-4 0 0 0,1-2 0 0 0,0 4 0 0 0,1 1 0 0 0,0-1 0 0 0,1-2 0 0 0,-1 4 0 0 0,0 2 0 0 0,0 1 0 0 0,0 2 0 0 0,1 1 0 0 0,-1 1 0 0 0,4 0 0 0 0,8 6 0 0 0,7 5 0 0 0,3 8 0 0 0,5 3 0 0 0,1 9 0 0 0,2 5 0 0 0,1 5 0 0 0,-1 2 0 0 0,2 1 0 0 0,2 10 0 0 0,2 0 0 0 0,0 0 0 0 0,-7 2 0 0 0,3 6 0 0 0,-6 8 0 0 0,0 0 0 0 0,-6-1 0 0 0,-1-2 0 0 0,-4-2 0 0 0,1-3 0 0 0,-3 2 0 0 0,2 6 0 0 0,-3 1 0 0 0,-2 4 0 0 0,2 8 0 0 0,9 4 0 0 0,0 3 0 0 0,2 1 0 0 0,-2-5 0 0 0,-1-2 0 0 0,-4-6 0 0 0,2-1 0 0 0,1-5 0 0 0,-2-2 0 0 0,-3-6 0 0 0,0-7 0 0 0,3 1 0 0 0,-2 5 0 0 0,2 2 0 0 0,-2 0 0 0 0,2 4 0 0 0,-3 0 0 0 0,2-2 0 0 0,3 2 0 0 0,2 6 0 0 0,9 2 0 0 0,5 10 0 0 0,9 10 0 0 0,4 8 0 0 0,3-5 0 0 0,-7 1 0 0 0,-1-2 0 0 0,-3-7 0 0 0,-9-10 0 0 0,-8-9 0 0 0,-4-7 0 0 0,-1-10 0 0 0,8-10 0 0 0,8-7 0 0 0,5-5 0 0 0,-1-4 0 0 0,4-2 0 0 0,-1-1 0 0 0,-2 1 0 0 0,3-2 0 0 0,3 2 0 0 0,0 0 0 0 0,-3 1 0 0 0,-4-1 0 0 0,-4 1 0 0 0,-2 0 0 0 0,-1 0 0 0 0,-7-4 0 0 0,-6-7 0 0 0,-3-3 0 0 0,-2-2 0 0 0,-5-4 0 0 0,-3-3 0 0 0,-3-8 0 0 0,-1-5 0 0 0,-1-4 0 0 0,-1-1 0 0 0,5-5 0 0 0,3 3 0 0 0,-1 3 0 0 0,-2 1 0 0 0,4 11 0 0 0,2 3 0 0 0,-3 1 0 0 0,-2-1 0 0 0,-1 0 0 0 0,-2 0 0 0 0,-1-3 0 0 0,-1 0 0 0 0,5-6 0 0 0,2-1 0 0 0,-2-2 0 0 0,0 3 0 0 0,3 1 0 0 0,1-3 0 0 0,-2-1 0 0 0,-1 1 0 0 0,-3 2 0 0 0,-1 1 0 0 0,-1 2 0 0 0,-1 1 0 0 0,0 1 0 0 0,-5-1 0 0 0,-2 2 0 0 0,-5-1 0 0 0,1-5 0 0 0,-4-1 0 0 0,-4-1 0 0 0,1 1 0 0 0,4 3 0 0 0,-1 0 0 0 0,2 2 0 0 0,3-5 0 0 0,4 0 0 0 0,3-5 0 0 0,1-6 0 0 0,2-4 0 0 0,0 1 0 0 0,1-1 0 0 0,-1-2 0 0 0,1-3 0 0 0,-1 5 0 0 0,0-1 0 0 0,1 5 0 0 0,-1 4 0 0 0,0 5 0 0 0,0 3 0 0 0,-5-1 0 0 0,-2-1 0 0 0,-4 1 0 0 0,-6 2 0 0 0,-4 0 0 0 0,-5 8 0 0 0,3 2 0 0 0,1-1 0 0 0,-1 0 0 0 0,-3 0 0 0 0,4-8 0 0 0,1 3 0 0 0,-2-4 0 0 0,0-7 0 0 0,-3-1 0 0 0,-6 2 0 0 0,-4-8 0 0 0,1 0 0 0 0,1 1 0 0 0,1 6 0 0 0,6 3 0 0 0,3 3 0 0 0,5 3 0 0 0,2 2 0 0 0,-3-5 0 0 0,-2-1 0 0 0,-2-5 0 0 0,-1-5 0 0 0,-3-5 0 0 0,-7-3 0 0 0,-1 0 0 0 0,0 6 0 0 0,2 6 0 0 0,0 5 0 0 0,2 3 0 0 0,1 3 0 0 0,2-4 0 0 0,-6 4 0 0 0,0-3 0 0 0,-6 5 0 0 0,-4-4 0 0 0,-1 0 0 0 0,-7-6 0 0 0,1-1 0 0 0,-6 2 0 0 0,8 1 0 0 0,5 3 0 0 0,8 1 0 0 0,4 7 0 0 0,7 1 0 0 0,4 2 0 0 0,0-2 0 0 0,-1 4 0 0 0,-2-4 0 0 0,0-4 0 0 0,-2-2 0 0 0,-1-1 0 0 0,-2 1 0 0 0,-5-1 0 0 0,-1 6 0 0 0,6 1 0 0 0,2 7 0 0 0,-4 3 0 0 0,-1-3 0 0 0,-6-5 0 0 0,0 1 0 0 0,2 0 0 0 0,-5-2 0 0 0,-7-2 0 0 0,-9-7 0 0 0,-2 3 0 0 0,-5-4 0 0 0,-3 3 0 0 0,4 2 0 0 0,6 1 0 0 0,0 1 0 0 0,2-1 0 0 0,-1 3 0 0 0,1 2 0 0 0,-2 1 0 0 0,1 1 0 0 0,4 1 0 0 0,6-1 0 0 0,6 1 0 0 0,6 6 0 0 0,8-1 0 0 0,4 2 0 0 0,1 4 0 0 0,4-4 0 0 0,-5-2 0 0 0,-4-6 0 0 0,-1-3 0 0 0,-2 2 0 0 0,-5-1 0 0 0,-2-1 0 0 0,0 4 0 0 0,2-1 0 0 0,2-2 0 0 0,1 4 0 0 0,2-1 0 0 0,0 3 0 0 0,1-1 0 0 0,0-2 0 0 0,0-8 0 0 0,-5-4 0 0 0,4-3 0 0 0,-5 1 0 0 0,1 6 0 0 0,0 1 0 0 0,1 1 0 0 0,7 0 0 0 0,1 4 0 0 0,1 1 0 0 0,0 3 0 0 0,4 1 0 0 0,-1 1 0 0 0,0-5 0 0 0,-3 0 0 0 0,-2-1 0 0 0,-1 3 0 0 0,5-1 0 0 0,-1-2 0 0 0,0-2 0 0 0,-2 2 0 0 0,-1 1 0 0 0,-1-2 0 0 0,-11-2 0 0 0,-5 3 0 0 0,2 1 0 0 0,-4-3 0 0 0,2 4 0 0 0,-3 5 0 0 0,3 5 0 0 0,2-2 0 0 0,0-3 0 0 0,0 0 0 0 0,-1 4 0 0 0,1 2 0 0 0,1 3 0 0 0,0-3 0 0 0,-6-4 0 0 0,-3-1 0 0 0,1-3 0 0 0,4-4 0 0 0,4 2 0 0 0,10-1 0 0 0,4 3 0 0 0,1 3 0 0 0,-4 0 0 0 0,-2 1 0 0 0,-7-1 0 0 0,-1 1 0 0 0,-3-3 0 0 0,-2 3 0 0 0,4 1 0 0 0,3 4 0 0 0,2 3 0 0 0,4 2 0 0 0,0 1 0 0 0,2 1 0 0 0,5 0 0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1:18:04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8402 6255 16383 0 0,'-5'0'0'0'0,"-6"10"0"0"0,-7 7 0 0 0,1 6 0 0 0,-2 5 0 0 0,2 1 0 0 0,-1 1 0 0 0,-2 0 0 0 0,-2 0 0 0 0,-3-1 0 0 0,4 0 0 0 0,-1-5 0 0 0,0-2 0 0 0,-1-4 0 0 0,-3-2 0 0 0,0 3 0 0 0,-2-3 0 0 0,5 1 0 0 0,1-2 0 0 0,0 1 0 0 0,-2-3 0 0 0,-1 2 0 0 0,4 3 0 0 0,0-1 0 0 0,-1 0 0 0 0,-1 3 0 0 0,-2 3 0 0 0,3 2 0 0 0,1-3 0 0 0,0-1 0 0 0,-3 6 0 0 0,-1-2 0 0 0,-1 0 0 0 0,-6 1 0 0 0,2 0 0 0 0,2-4 0 0 0,1-1 0 0 0,-1-5 0 0 0,1-4 0 0 0,0 1 0 0 0,4 2 0 0 0,-3-1 0 0 0,-3 2 0 0 0,0 3 0 0 0,-10-2 0 0 0,-4 1 0 0 0,2-2 0 0 0,2-5 0 0 0,4 2 0 0 0,2 3 0 0 0,2-2 0 0 0,2-2 0 0 0,-4 0 0 0 0,-1 4 0 0 0,0-1 0 0 0,6 2 0 0 0,4-2 0 0 0,-5 1 0 0 0,-2 3 0 0 0,0-2 0 0 0,0-4 0 0 0,1 0 0 0 0,0 4 0 0 0,1-2 0 0 0,-5-3 0 0 0,0 1 0 0 0,-1 3 0 0 0,2-1 0 0 0,2 2 0 0 0,0-2 0 0 0,2 1 0 0 0,1 2 0 0 0,-5-1 0 0 0,3 1 0 0 0,2-3 0 0 0,2 2 0 0 0,-1-3 0 0 0,0 1 0 0 0,0-2 0 0 0,4 2 0 0 0,-3-2 0 0 0,-2 2 0 0 0,-1 3 0 0 0,-1-2 0 0 0,0-3 0 0 0,6 1 0 0 0,1-2 0 0 0,-4 1 0 0 0,-3 5 0 0 0,-6 2 0 0 0,-6 4 0 0 0,-1 2 0 0 0,2-3 0 0 0,3-1 0 0 0,4-4 0 0 0,-3-1 0 0 0,6 3 0 0 0,3-4 0 0 0,-4 2 0 0 0,-1 2 0 0 0,-4 2 0 0 0,-1-2 0 0 0,-3 4 0 0 0,-5 4 0 0 0,1 2 0 0 0,-1 0 0 0 0,-8 0 0 0 0,-4 4 0 0 0,3-3 0 0 0,6-2 0 0 0,7-2 0 0 0,5-5 0 0 0,5-1 0 0 0,3-5 0 0 0,1 0 0 0 0,0 2 0 0 0,2-2 0 0 0,-2 2 0 0 0,1-4 0 0 0,0-3 0 0 0,3 1 0 0 0,3-1 0 0 0,4 2 0 0 0,-5 3 0 0 0,-8 5 0 0 0,1 2 0 0 0,-4-1 0 0 0,-1 4 0 0 0,0-2 0 0 0,-4 4 0 0 0,-4 3 0 0 0,-1 0 0 0 0,3 0 0 0 0,3 0 0 0 0,3-6 0 0 0,7-2 0 0 0,4-5 0 0 0,1-1 0 0 0,-1 2 0 0 0,-1 2 0 0 0,3 7 0 0 0,1-1 0 0 0,-1 4 0 0 0,-2 2 0 0 0,3 1 0 0 0,5-2 0 0 0,0 4 0 0 0,3 0 0 0 0,-2-5 0 0 0,2 1 0 0 0,-2-5 0 0 0,1-2 0 0 0,-1 4 0 0 0,-4-2 0 0 0,2-2 0 0 0,-2 5 0 0 0,-2 2 0 0 0,2 1 0 0 0,-1-1 0 0 0,-2-1 0 0 0,3 4 0 0 0,0-4 0 0 0,2-3 0 0 0,0-1 0 0 0,-3 0 0 0 0,-2 0 0 0 0,-3 0 0 0 0,-2 0 0 0 0,-2 1 0 0 0,0 0 0 0 0,0 0 0 0 0,-1 0 0 0 0,0 0 0 0 0,0-4 0 0 0,1 2 0 0 0,0-2 0 0 0,-1-1 0 0 0,1 1 0 0 0,-5 0 0 0 0,-2 7 0 0 0,1-3 0 0 0,6 0 0 0 0,2-6 0 0 0,7-2 0 0 0,1 1 0 0 0,-6 2 0 0 0,1 1 0 0 0,0 2 0 0 0,-1-4 0 0 0,-1-6 0 0 0,3 0 0 0 0,1 2 0 0 0,4 2 0 0 0,5 3 0 0 0,4 2 0 0 0,4 2 0 0 0,2 0 0 0 0,2 2 0 0 0,1 0 0 0 0,0-1 0 0 0,0 1 0 0 0,0 0 0 0 0,-1-1 0 0 0,1 0 0 0 0,-1 1 0 0 0,0-1 0 0 0,0 0 0 0 0,0 0 0 0 0,0 1 0 0 0,0-1 0 0 0,0 0 0 0 0,-5-5 0 0 0,-2-1 0 0 0,1 0 0 0 0,1 2 0 0 0,2 0 0 0 0,-4 3 0 0 0,-1 0 0 0 0,-3 0 0 0 0,0 2 0 0 0,-3 4 0 0 0,0 2 0 0 0,-1-1 0 0 0,1 4 0 0 0,-1-4 0 0 0,1-4 0 0 0,-1 3 0 0 0,-3 6 0 0 0,-3 0 0 0 0,1-1 0 0 0,0-2 0 0 0,-1-3 0 0 0,2-2 0 0 0,0 3 0 0 0,-6 6 0 0 0,-4 5 0 0 0,-2 10 0 0 0,0 5 0 0 0,0 2 0 0 0,5-1 0 0 0,3 0 0 0 0,0 4 0 0 0,-1 0 0 0 0,4-6 0 0 0,-4-4 0 0 0,1-6 0 0 0,1-2 0 0 0,-2-8 0 0 0,4-7 0 0 0,1-4 0 0 0,3-2 0 0 0,4 0 0 0 0,5 0 0 0 0,-2 0 0 0 0,-4 1 0 0 0,0 1 0 0 0,-2 4 0 0 0,1 3 0 0 0,3 4 0 0 0,4 0 0 0 0,2-1 0 0 0,3-2 0 0 0,1-4 0 0 0,1-1 0 0 0,1-1 0 0 0,-1-2 0 0 0,1 0 0 0 0,0 0 0 0 0,-1 5 0 0 0,5 1 0 0 0,1 0 0 0 0,5-1 0 0 0,1-2 0 0 0,-3 0 0 0 0,3-7 0 0 0,-1-2 0 0 0,2 1 0 0 0,5 0 0 0 0,-2 1 0 0 0,2-3 0 0 0,-3 0 0 0 0,2-5 0 0 0,-3 1 0 0 0,1-3 0 0 0,4-4 0 0 0,2-3 0 0 0,3 1 0 0 0,7 0 0 0 0,-2 4 0 0 0,-1-2 0 0 0,-1-1 0 0 0,1-2 0 0 0,-1-3 0 0 0,1 3 0 0 0,5 0 0 0 0,1-1 0 0 0,0 3 0 0 0,-1 1 0 0 0,-1 2 0 0 0,-2 0 0 0 0,0-2 0 0 0,-1-3 0 0 0,-1-3 0 0 0,0-1 0 0 0,0-2 0 0 0,0-1 0 0 0,0-1 0 0 0,0 1 0 0 0,0-1 0 0 0,0 1 0 0 0,0-1 0 0 0,1 1 0 0 0,-1 0 0 0 0,0 0 0 0 0,0 0 0 0 0,0 0 0 0 0,1-5 0 0 0,-1-1 0 0 0,0 0 0 0 0,5-4 0 0 0,2 0 0 0 0,-1-3 0 0 0,-1-4 0 0 0,-1-4 0 0 0,-6-3 0 0 0,-8-3 0 0 0,-7-1 0 0 0,-5-1 0 0 0,-3 0 0 0 0,-3 0 0 0 0,-1 0 0 0 0,-1 1 0 0 0,1-1 0 0 0,0 1 0 0 0,0-1 0 0 0,0 1 0 0 0,1 0 0 0 0,0 0 0 0 0,0 0 0 0 0,0-1 0 0 0,0 1 0 0 0,0 0 0 0 0,0 0 0 0 0,0-1 0 0 0,0-4 0 0 0,0-1 0 0 0,0 0 0 0 0,0 0 0 0 0,0 3 0 0 0,0 0 0 0 0,0 2 0 0 0,0 0 0 0 0,0 1 0 0 0,0 0 0 0 0,5 5 0 0 0,1 1 0 0 0,1 0 0 0 0,-3-1 0 0 0,0-1 0 0 0,-2-2 0 0 0,-1-1 0 0 0,0-1 0 0 0,-1 0 0 0 0,0-1 0 0 0,-1 1 0 0 0,1-1 0 0 0,-5 1 0 0 0,-2-1 0 0 0,1 1 0 0 0,1 0 0 0 0,2-1 0 0 0,1 1 0 0 0,0 0 0 0 0,2 0 0 0 0,0 0 0 0 0,0-1 0 0 0,0 1 0 0 0,1 0 0 0 0,-1 0 0 0 0,0-1 0 0 0,0 1 0 0 0,5 5 0 0 0,1 1 0 0 0,1 0 0 0 0,2-1 0 0 0,6 3 0 0 0,0 0 0 0 0,1-1 0 0 0,9 3 0 0 0,5 9 0 0 0,-4 11 0 0 0,5 10 0 0 0,0 8 0 0 0,-4 5 0 0 0,-2 4 0 0 0,0-4 0 0 0,-5-1 0 0 0,-1 0 0 0 0,-3 1 0 0 0,-5 1 0 0 0,1 0 0 0 0,-2 2 0 0 0,2 0 0 0 0,-1 0 0 0 0,-2 0 0 0 0,2 5 0 0 0,4 7 0 0 0,5-4 0 0 0,-2-3 0 0 0,-4-2 0 0 0,-4-2 0 0 0,1-1 0 0 0,-1 4 0 0 0,-3 2 0 0 0,-2 0 0 0 0,-2-2 0 0 0,-2 0 0 0 0,0-2 0 0 0,-2-1 0 0 0,1 0 0 0 0,0-1 0 0 0,-1 5 0 0 0,1 1 0 0 0,0 0 0 0 0,-1-1 0 0 0,1-1 0 0 0,0-2 0 0 0,0-1 0 0 0,0 0 0 0 0,0-1 0 0 0,0 0 0 0 0,0 0 0 0 0,0 0 0 0 0,0 0 0 0 0,0 0 0 0 0,0 0 0 0 0,0 1 0 0 0,5-1 0 0 0,6-5 0 0 0,2-1 0 0 0,-2 0 0 0 0,-3 2 0 0 0,-2 0 0 0 0,-3 2 0 0 0,-1 1 0 0 0,-2 6 0 0 0,0 2 0 0 0,0-1 0 0 0,-1 0 0 0 0,1-2 0 0 0,4-7 0 0 0,7-2 0 0 0,11-5 0 0 0,11-1 0 0 0,5-3 0 0 0,6 1 0 0 0,5-3 0 0 0,3-3 0 0 0,-2-3 0 0 0,-9 3 0 0 0,-8-1 0 0 0,-3-2 0 0 0,-4-1 0 0 0,0-2 0 0 0,0-2 0 0 0,5 0 0 0 0,2-1 0 0 0,1 0 0 0 0,-2-1 0 0 0,0 1 0 0 0,-2 0 0 0 0,-1-1 0 0 0,0 1 0 0 0,0 0 0 0 0,-1 0 0 0 0,0 0 0 0 0,0-5 0 0 0,0-1 0 0 0,-5-5 0 0 0,-1 0 0 0 0,0 1 0 0 0,1-2 0 0 0,2-3 0 0 0,1-5 0 0 0,-4-4 0 0 0,-5-2 0 0 0,-6-1 0 0 0,-5-2 0 0 0,-3 0 0 0 0,-2 0 0 0 0,-2 0 0 0 0,0 1 0 0 0,0-1 0 0 0,0 1 0 0 0,0-1 0 0 0,-4 1 0 0 0,-7 0 0 0 0,0-5 0 0 0,1-2 0 0 0,-2-4 0 0 0,-4-5 0 0 0,1 0 0 0 0,3 2 0 0 0,5 5 0 0 0,-3 2 0 0 0,2 4 0 0 0,-3-4 0 0 0,1 1 0 0 0,-3 0 0 0 0,1 1 0 0 0,-1 7 0 0 0,0-2 0 0 0,-1-6 0 0 0,-3 3 0 0 0,1 1 0 0 0,4 2 0 0 0,4 1 0 0 0,-1-5 0 0 0,0-2 0 0 0,-1 0 0 0 0,-1 1 0 0 0,3 2 0 0 0,-2-4 0 0 0,-4-6 0 0 0,1 0 0 0 0,2-3 0 0 0,-1 6 0 0 0,1 5 0 0 0,3 3 0 0 0,3 1 0 0 0,-2-3 0 0 0,-5 4 0 0 0,0 1 0 0 0,2 1 0 0 0,-1 5 0 0 0,0-4 0 0 0,-2 2 0 0 0,2 1 0 0 0,-3 4 0 0 0,-3 0 0 0 0,2-2 0 0 0,3-2 0 0 0,-1-2 0 0 0,2-2 0 0 0,3-1 0 0 0,-2-6 0 0 0,-3 3 0 0 0,0 2 0 0 0,2 0 0 0 0,4 1 0 0 0,3 0 0 0 0,2 0 0 0 0,2-1 0 0 0,1 0 0 0 0,1 0 0 0 0,-1 0 0 0 0,-4-5 0 0 0,-2-2 0 0 0,0 1 0 0 0,2 1 0 0 0,0 1 0 0 0,2 2 0 0 0,1 0 0 0 0,1 2 0 0 0,0-1 0 0 0,0 1 0 0 0,0 0 0 0 0,0 0 0 0 0,1 0 0 0 0,-1 0 0 0 0,0 0 0 0 0,0 0 0 0 0,0 0 0 0 0,0 0 0 0 0,0-1 0 0 0,0 1 0 0 0,0 0 0 0 0,0 0 0 0 0,0-1 0 0 0,0 1 0 0 0,5-5 0 0 0,1-1 0 0 0,0-1 0 0 0,4 2 0 0 0,4 1 0 0 0,1 2 0 0 0,-3 1 0 0 0,2 5 0 0 0,-2 2 0 0 0,2 0 0 0 0,-1-1 0 0 0,-4-1 0 0 0,3 3 0 0 0,3 0 0 0 0,-1-1 0 0 0,-2-1 0 0 0,1-2 0 0 0,3-6 0 0 0,4-3 0 0 0,-1 0 0 0 0,0 1 0 0 0,2 1 0 0 0,-2 1 0 0 0,-5 2 0 0 0,1 5 0 0 0,-4 2 0 0 0,-2-1 0 0 0,-3 0 0 0 0,2 4 0 0 0,-1-1 0 0 0,5 4 0 0 0,3 0 0 0 0,5-3 0 0 0,4 3 0 0 0,2 3 0 0 0,2 5 0 0 0,6 2 0 0 0,1 4 0 0 0,1 1 0 0 0,-3 1 0 0 0,0 1 0 0 0,-2 0 0 0 0,-2 0 0 0 0,5-1 0 0 0,5 1 0 0 0,6-1 0 0 0,5 5 0 0 0,4 6 0 0 0,2 1 0 0 0,6 4 0 0 0,-3-1 0 0 0,-2 1 0 0 0,4 4 0 0 0,-4-3 0 0 0,-1 2 0 0 0,-2-3 0 0 0,1-5 0 0 0,-10 2 0 0 0,-7-2 0 0 0,-6-3 0 0 0,-3 2 0 0 0,-2 4 0 0 0,-1 5 0 0 0,1-2 0 0 0,-1 2 0 0 0,-4 3 0 0 0,0-4 0 0 0,-6 2 0 0 0,1-4 0 0 0,2 0 0 0 0,2-2 0 0 0,-2 1 0 0 0,-5 3 0 0 0,1 8 0 0 0,2 4 0 0 0,-2 3 0 0 0,-3 4 0 0 0,1-4 0 0 0,-2-2 0 0 0,-2-3 0 0 0,-3 5 0 0 0,2 6 0 0 0,4 0 0 0 0,1 5 0 0 0,-2-2 0 0 0,-3-2 0 0 0,2-4 0 0 0,-1-3 0 0 0,-2-2 0 0 0,-1-2 0 0 0,-3-1 0 0 0,-2 0 0 0 0,0 0 0 0 0,-1-1 0 0 0,0 6 0 0 0,-6 1 0 0 0,-5 0 0 0 0,-2-1 0 0 0,2-1 0 0 0,-3 3 0 0 0,2 1 0 0 0,3-1 0 0 0,-2 3 0 0 0,-5-5 0 0 0,2-4 0 0 0,2-1 0 0 0,4-1 0 0 0,-2 0 0 0 0,1 0 0 0 0,2 0 0 0 0,2 1 0 0 0,2 0 0 0 0,1 0 0 0 0,2 0 0 0 0,0 0 0 0 0,0 0 0 0 0,1 1 0 0 0,-1-1 0 0 0,-4-5 0 0 0,-3 4 0 0 0,-3 1 0 0 0,-2 2 0 0 0,3 0 0 0 0,-3 4 0 0 0,-4 2 0 0 0,1-1 0 0 0,-2-2 0 0 0,-3-1 0 0 0,2 8 0 0 0,0-3 0 0 0,2-2 0 0 0,-1 2 0 0 0,-2-1 0 0 0,-2-1 0 0 0,1 3 0 0 0,-4-1 0 0 0,1-1 0 0 0,0-2 0 0 0,4-2 0 0 0,0-2 0 0 0,-1-1 0 0 0,2-1 0 0 0,5 0 0 0 0,0-5 0 0 0,1-2 0 0 0,4 1 0 0 0,2 1 0 0 0,-2 2 0 0 0,1 6 0 0 0,-5-3 0 0 0,1 0 0 0 0,2-1 0 0 0,3 0 0 0 0,2 0 0 0 0,2 0 0 0 0,1 1 0 0 0,0 5 0 0 0,2 1 0 0 0,-1 1 0 0 0,1-2 0 0 0,-1-1 0 0 0,0 3 0 0 0,1 1 0 0 0,-1-2 0 0 0,0 0 0 0 0,0-3 0 0 0,0-1 0 0 0,0-1 0 0 0,0 0 0 0 0,0-1 0 0 0,5 0 0 0 0,1 0 0 0 0,5 0 0 0 0,5 0 0 0 0,9 0 0 0 0,6-5 0 0 0,-3-1 0 0 0,-1 0 0 0 0,-1-3 0 0 0,1-6 0 0 0,0-4 0 0 0,0 1 0 0 0,1-2 0 0 0,0-1 0 0 0,0-3 0 0 0,0-2 0 0 0,0 0 0 0 0,0-2 0 0 0,1 0 0 0 0,-1 0 0 0 0,5-1 0 0 0,2-4 0 0 0,-1-7 0 0 0,-1 0 0 0 0,-1 1 0 0 0,-6-3 0 0 0,-3-2 0 0 0,-1-5 0 0 0,1 2 0 0 0,-3-1 0 0 0,0-1 0 0 0,0 2 0 0 0,-2 0 0 0 0,5 3 0 0 0,-1 0 0 0 0,0-3 0 0 0,-4-3 0 0 0,1 3 0 0 0,1-5 0 0 0,-3-4 0 0 0,1-1 0 0 0,2-1 0 0 0,-2 0 0 0 0,0 0 0 0 0,2-9 0 0 0,3-3 0 0 0,2 2 0 0 0,-4 1 0 0 0,0 4 0 0 0,1-2 0 0 0,2 5 0 0 0,1-2 0 0 0,-3 1 0 0 0,-1 0 0 0 0,1-3 0 0 0,1 0 0 0 0,-2 1 0 0 0,-1-4 0 0 0,1 1 0 0 0,-3 2 0 0 0,5-3 0 0 0,-1 1 0 0 0,0 1 0 0 0,2-2 0 0 0,1 1 0 0 0,-4-3 0 0 0,0 6 0 0 0,-4 3 0 0 0,-1-1 0 0 0,3-1 0 0 0,-2 1 0 0 0,0 1 0 0 0,3 2 0 0 0,-2 0 0 0 0,0-4 0 0 0,-3 0 0 0 0,2-5 0 0 0,1-1 0 0 0,-1-2 0 0 0,1 1 0 0 0,-3 2 0 0 0,-4 3 0 0 0,1-1 0 0 0,-1 0 0 0 0,-3 1 0 0 0,2 3 0 0 0,0-3 0 0 0,-3 0 0 0 0,4 1 0 0 0,-2 2 0 0 0,4-3 0 0 0,3-5 0 0 0,0-1 0 0 0,-3 3 0 0 0,1-2 0 0 0,-2-4 0 0 0,-3 1 0 0 0,-3 4 0 0 0,-2 3 0 0 0,2 3 0 0 0,1 3 0 0 0,-1 2 0 0 0,-2-4 0 0 0,-1-1 0 0 0,-1 0 0 0 0,-1 2 0 0 0,-1 1 0 0 0,0 1 0 0 0,-1 1 0 0 0,1 0 0 0 0,-5-4 0 0 0,-2-6 0 0 0,-4 3 0 0 0,-5 4 0 0 0,0 1 0 0 0,-2 7 0 0 0,2 3 0 0 0,-1-1 0 0 0,-2 0 0 0 0,-3 2 0 0 0,2-4 0 0 0,0 2 0 0 0,-1 0 0 0 0,-3-2 0 0 0,4-1 0 0 0,0 4 0 0 0,3 1 0 0 0,0-2 0 0 0,-2-1 0 0 0,3-2 0 0 0,-2 3 0 0 0,3 1 0 0 0,-1-1 0 0 0,-3-1 0 0 0,-2-2 0 0 0,-13-6 0 0 0,-5 2 0 0 0,0 1 0 0 0,1-4 0 0 0,2 3 0 0 0,3 7 0 0 0,7 2 0 0 0,3 5 0 0 0,0 0 0 0 0,0 2 0 0 0,-1-1 0 0 0,-2-3 0 0 0,4-4 0 0 0,-4 3 0 0 0,-2-2 0 0 0,3-1 0 0 0,2 2 0 0 0,-1 0 0 0 0,0 3 0 0 0,-2 0 0 0 0,0-3 0 0 0,-2 3 0 0 0,0-2 0 0 0,0 3 0 0 0,0-1 0 0 0,-1-3 0 0 0,6-2 0 0 0,1 1 0 0 0,4-4 0 0 0,1 1 0 0 0,-2 0 0 0 0,-2 4 0 0 0,3 0 0 0 0,-2 3 0 0 0,4 1 0 0 0,0 1 0 0 0,-3-1 0 0 0,2-2 0 0 0,4-4 0 0 0,4-3 0 0 0,4-2 0 0 0,2-1 0 0 0,7-2 0 0 0,8 0 0 0 0,6 1 0 0 0,0-1 0 0 0,7 5 0 0 0,-1 2 0 0 0,0 4 0 0 0,1 1 0 0 0,1-1 0 0 0,1 1 0 0 0,-5 0 0 0 0,5 2 0 0 0,-3 0 0 0 0,-1-4 0 0 0,0 3 0 0 0,2-2 0 0 0,1 3 0 0 0,-4-1 0 0 0,-1 2 0 0 0,1-2 0 0 0,2 3 0 0 0,-4-2 0 0 0,0 2 0 0 0,1 3 0 0 0,2-1 0 0 0,2 0 0 0 0,1-2 0 0 0,1-3 0 0 0,1 0 0 0 0,-4-1 0 0 0,-2 1 0 0 0,1 0 0 0 0,0 2 0 0 0,2-2 0 0 0,2 3 0 0 0,-5-2 0 0 0,-1-3 0 0 0,1 1 0 0 0,2 0 0 0 0,1-3 0 0 0,1-3 0 0 0,2 3 0 0 0,-1 0 0 0 0,2 3 0 0 0,-6 0 0 0 0,0-2 0 0 0,4 2 0 0 0,-2-1 0 0 0,-1 3 0 0 0,-3-1 0 0 0,-2 2 0 0 0,-3-1 0 0 0,4-3 0 0 0,0-3 0 0 0,1 2 0 0 0,-4-1 0 0 0,1-1 0 0 0,2 2 0 0 0,-3 0 0 0 0,1-1 0 0 0,-2-3 0 0 0,0 3 0 0 0,2 0 0 0 0,4 3 0 0 0,2 5 0 0 0,-3 0 0 0 0,0 1 0 0 0,1-2 0 0 0,2-3 0 0 0,1 1 0 0 0,2 2 0 0 0,0 0 0 0 0,6 1 0 0 0,2-2 0 0 0,4-3 0 0 0,1 1 0 0 0,-2-1 0 0 0,-2 2 0 0 0,6 3 0 0 0,12 4 0 0 0,14 4 0 0 0,16 2 0 0 0,13 1 0 0 0,13 2 0 0 0,3-1 0 0 0,-8 1 0 0 0,-8 0 0 0 0,-15-1 0 0 0,-13 1 0 0 0,-12-1 0 0 0,-12 0 0 0 0,-9 0 0 0 0,-5 0 0 0 0,-3 0 0 0 0,-2 0 0 0 0,0 5 0 0 0,0 1 0 0 0,0 5 0 0 0,1 0 0 0 0,0-1 0 0 0,1-3 0 0 0,5 2 0 0 0,2 0 0 0 0,-1-2 0 0 0,-1 3 0 0 0,-1 5 0 0 0,4 4 0 0 0,4 4 0 0 0,1 2 0 0 0,-1 3 0 0 0,1 0 0 0 0,-1 1 0 0 0,-3 1 0 0 0,-2-6 0 0 0,-3-2 0 0 0,3 6 0 0 0,5 6 0 0 0,-5 4 0 0 0,-2 3 0 0 0,-3 1 0 0 0,3-2 0 0 0,-4 1 0 0 0,-2-1 0 0 0,0 2 0 0 0,-6-1 0 0 0,-1 1 0 0 0,1 4 0 0 0,-4 4 0 0 0,1 2 0 0 0,2-2 0 0 0,2 0 0 0 0,-3-4 0 0 0,-4-1 0 0 0,-5-2 0 0 0,1-4 0 0 0,-2-4 0 0 0,3 2 0 0 0,-1-1 0 0 0,-2-2 0 0 0,-3-1 0 0 0,3-2 0 0 0,-1-1 0 0 0,-1-2 0 0 0,-2 1 0 0 0,3-2 0 0 0,0 1 0 0 0,-2 0 0 0 0,-1 0 0 0 0,3 5 0 0 0,1 1 0 0 0,-3 1 0 0 0,-1-2 0 0 0,-1-2 0 0 0,-2 0 0 0 0,-2-2 0 0 0,1 0 0 0 0,-2-1 0 0 0,1 0 0 0 0,0 0 0 0 0,-1 0 0 0 0,1 0 0 0 0,0 0 0 0 0,0 0 0 0 0,-5-4 0 0 0,-1-2 0 0 0,-10 5 0 0 0,-6 2 0 0 0,-5 2 0 0 0,-7 0 0 0 0,2 0 0 0 0,2-1 0 0 0,1-6 0 0 0,0-1 0 0 0,2-1 0 0 0,-1 1 0 0 0,0-3 0 0 0,0 0 0 0 0,0-4 0 0 0,0 0 0 0 0,5 3 0 0 0,1-3 0 0 0,0 2 0 0 0,-1-3 0 0 0,3 1 0 0 0,0-3 0 0 0,4 3 0 0 0,-6 2 0 0 0,-3 3 0 0 0,-2-2 0 0 0,-2 1 0 0 0,5 1 0 0 0,1-2 0 0 0,-1 0 0 0 0,0-4 0 0 0,4 2 0 0 0,0-3 0 0 0,3 1 0 0 0,1 3 0 0 0,2 3 0 0 0,-1-2 0 0 0,2 0 0 0 0,-1 8 0 0 0,1 2 0 0 0,3 3 0 0 0,3-1 0 0 0,3 5 0 0 0,3 6 0 0 0,0 5 0 0 0,1 4 0 0 0,1 3 0 0 0,-1-2 0 0 0,1 3 0 0 0,-1 3 0 0 0,1-4 0 0 0,-1-2 0 0 0,0-4 0 0 0,0-6 0 0 0,5-6 0 0 0,6-3 0 0 0,1-3 0 0 0,4-7 0 0 0,-1-2 0 0 0,1-5 0 0 0,4 0 0 0 0,2 2 0 0 0,8 3 0 0 0,-2 2 0 0 0,4 2 0 0 0,-3 2 0 0 0,-2-4 0 0 0,-1-1 0 0 0,-4 1 0 0 0,-2-4 0 0 0,1 0 0 0 0,-3 1 0 0 0,0 3 0 0 0,-3 1 0 0 0,-4 2 0 0 0,-4 1 0 0 0,-3 1 0 0 0,-3 6 0 0 0,0 1 0 0 0,-2-1 0 0 0,0 10 0 0 0,6 10 0 0 0,0 16 0 0 0,6 20 0 0 0,0 18 0 0 0,3 11 0 0 0,4 13 0 0 0,-1-1 0 0 0,2-14 0 0 0,-4-16 0 0 0,-2-16 0 0 0,-5-18 0 0 0,-4-11 0 0 0,3-14 0 0 0,0-11 0 0 0,-1-4 0 0 0,-2 1 0 0 0,-1 2 0 0 0,-2 0 0 0 0,0 5 0 0 0,-1 6 0 0 0,0 10 0 0 0,-1 6 0 0 0,6 4 0 0 0,1-5 0 0 0,0-7 0 0 0,3-6 0 0 0,6-7 0 0 0,4-8 0 0 0,10-10 0 0 0,3-8 0 0 0,2-5 0 0 0,0-4 0 0 0,-2-1 0 0 0,5-2 0 0 0,4 0 0 0 0,1 0 0 0 0,-3 1 0 0 0,-2 0 0 0 0,-3 1 0 0 0,-3 0 0 0 0,-1 0 0 0 0,-2 0 0 0 0,0 0 0 0 0,0-5 0 0 0,-1-1 0 0 0,1 0 0 0 0,0 1 0 0 0,0 1 0 0 0,5 2 0 0 0,6 1 0 0 0,2 1 0 0 0,-2 0 0 0 0,7 0 0 0 0,1 0 0 0 0,-3 0 0 0 0,-5 1 0 0 0,-3-6 0 0 0,-4-1 0 0 0,-2-5 0 0 0,4-5 0 0 0,0 0 0 0 0,-1-2 0 0 0,0 2 0 0 0,-2-1 0 0 0,3-3 0 0 0,2-2 0 0 0,-2 2 0 0 0,0 5 0 0 0,-8 0 0 0 0,-2 3 0 0 0,-1-2 0 0 0,1-3 0 0 0,0-4 0 0 0,2 3 0 0 0,1-2 0 0 0,0 4 0 0 0,1-1 0 0 0,1-3 0 0 0,-1-1 0 0 0,0 1 0 0 0,1-4 0 0 0,-1-4 0 0 0,1 3 0 0 0,-6 2 0 0 0,-6-1 0 0 0,-1-1 0 0 0,-4-1 0 0 0,-3-1 0 0 0,-4 0 0 0 0,-2-1 0 0 0,-2-5 0 0 0,-1-2 0 0 0,-1 1 0 0 0,-4 0 0 0 0,-7 2 0 0 0,-1 2 0 0 0,-3 5 0 0 0,1-2 0 0 0,-2 3 0 0 0,-3-3 0 0 0,3-3 0 0 0,-6-10 0 0 0,-9-8 0 0 0,1-1 0 0 0,7 4 0 0 0,6 4 0 0 0,2 0 0 0 0,-1-3 0 0 0,2 1 0 0 0,-1 3 0 0 0,2-1 0 0 0,4 2 0 0 0,3 2 0 0 0,3-2 0 0 0,2 1 0 0 0,-3 7 0 0 0,-1 4 0 0 0,0 2 0 0 0,2 0 0 0 0,-3-6 0 0 0,-2-1 0 0 0,3-1 0 0 0,0 1 0 0 0,3 1 0 0 0,1 0 0 0 0,1 2 0 0 0,1-5 0 0 0,-5 0 0 0 0,-6 0 0 0 0,-1-9 0 0 0,-3-1 0 0 0,0 1 0 0 0,-1-1 0 0 0,1 3 0 0 0,4 2 0 0 0,4 4 0 0 0,-3 2 0 0 0,2-2 0 0 0,1-5 0 0 0,-2-5 0 0 0,-1-5 0 0 0,3-3 0 0 0,1 3 0 0 0,3-6 0 0 0,-4-1 0 0 0,0-2 0 0 0,1 5 0 0 0,-3 7 0 0 0,-1 6 0 0 0,2 6 0 0 0,3 3 0 0 0,1 4 0 0 0,2 0 0 0 0,1 1 0 0 0,1 0 0 0 0,0 0 0 0 0,0 0 0 0 0,1-1 0 0 0,-1 0 0 0 0,0 0 0 0 0,1 0 0 0 0,-1 0 0 0 0,0-1 0 0 0,0 1 0 0 0,0 0 0 0 0,0 0 0 0 0,0-1 0 0 0,-5 1 0 0 0,-1 0 0 0 0,-1 0 0 0 0,3-5 0 0 0,0-2 0 0 0,2-4 0 0 0,1-1 0 0 0,0 3 0 0 0,1 1 0 0 0,0-1 0 0 0,1-1 0 0 0,-1 3 0 0 0,0 2 0 0 0,0 1 0 0 0,0 2 0 0 0,1 1 0 0 0,-1 1 0 0 0,4 0 0 0 0,7 5 0 0 0,7 6 0 0 0,4 7 0 0 0,4 4 0 0 0,1 8 0 0 0,2 4 0 0 0,1 6 0 0 0,-1 1 0 0 0,1 2 0 0 0,3 9 0 0 0,2 0 0 0 0,0 1 0 0 0,-7 1 0 0 0,3 6 0 0 0,-6 7 0 0 0,0 1 0 0 0,-6-1 0 0 0,-1-2 0 0 0,-3-3 0 0 0,0-2 0 0 0,-2 2 0 0 0,1 6 0 0 0,-2 1 0 0 0,-2 3 0 0 0,1 8 0 0 0,9 5 0 0 0,1 2 0 0 0,1 1 0 0 0,-2-5 0 0 0,-1-2 0 0 0,-3-6 0 0 0,1 0 0 0 0,2-5 0 0 0,-3-3 0 0 0,-3-5 0 0 0,1-7 0 0 0,2 1 0 0 0,-1 5 0 0 0,1 2 0 0 0,-1 0 0 0 0,1 4 0 0 0,-2-1 0 0 0,1-1 0 0 0,3 2 0 0 0,3 5 0 0 0,8 3 0 0 0,4 9 0 0 0,10 10 0 0 0,3 7 0 0 0,3-4 0 0 0,-6 1 0 0 0,-2-2 0 0 0,-2-7 0 0 0,-9-10 0 0 0,-8-9 0 0 0,-4-6 0 0 0,0-10 0 0 0,7-9 0 0 0,8-7 0 0 0,4-6 0 0 0,0-3 0 0 0,3-2 0 0 0,0-1 0 0 0,-2 1 0 0 0,2-1 0 0 0,4 1 0 0 0,-1 0 0 0 0,-3 1 0 0 0,-3-1 0 0 0,-4 1 0 0 0,-2 0 0 0 0,-1 0 0 0 0,-7-4 0 0 0,-6-7 0 0 0,-2-2 0 0 0,-3-3 0 0 0,-4-3 0 0 0,-3-4 0 0 0,-3-7 0 0 0,-1-4 0 0 0,-1-5 0 0 0,-1-1 0 0 0,5-4 0 0 0,2 2 0 0 0,0 3 0 0 0,-2 2 0 0 0,4 9 0 0 0,1 4 0 0 0,-2 1 0 0 0,-2-1 0 0 0,-1 0 0 0 0,-2-1 0 0 0,-1-2 0 0 0,-1 0 0 0 0,5-6 0 0 0,1-1 0 0 0,-1-1 0 0 0,0 2 0 0 0,3 1 0 0 0,0-3 0 0 0,-1-1 0 0 0,-1 1 0 0 0,-3 2 0 0 0,-1 1 0 0 0,-1 2 0 0 0,-1 1 0 0 0,0 1 0 0 0,-5-1 0 0 0,-2 2 0 0 0,-4-1 0 0 0,0-5 0 0 0,-4-1 0 0 0,-3-1 0 0 0,1 2 0 0 0,3 2 0 0 0,0 0 0 0 0,1 2 0 0 0,4-5 0 0 0,3 0 0 0 0,3-5 0 0 0,1-5 0 0 0,2-5 0 0 0,0 2 0 0 0,1-2 0 0 0,-1-1 0 0 0,1-3 0 0 0,-1 4 0 0 0,0 0 0 0 0,1 4 0 0 0,-1 5 0 0 0,0 4 0 0 0,0 3 0 0 0,-5-1 0 0 0,-2-1 0 0 0,-3 1 0 0 0,-7 2 0 0 0,-3 1 0 0 0,-5 6 0 0 0,3 3 0 0 0,0-1 0 0 0,0 0 0 0 0,-3-1 0 0 0,4-7 0 0 0,1 3 0 0 0,-2-4 0 0 0,-1-6 0 0 0,-2-2 0 0 0,-6 2 0 0 0,-3-7 0 0 0,0-1 0 0 0,1 2 0 0 0,1 5 0 0 0,6 3 0 0 0,3 3 0 0 0,5 3 0 0 0,1 2 0 0 0,-2-5 0 0 0,-2-1 0 0 0,-2-4 0 0 0,-2-6 0 0 0,-2-4 0 0 0,-6-4 0 0 0,-2 1 0 0 0,0 6 0 0 0,2 5 0 0 0,1 5 0 0 0,1 3 0 0 0,1 3 0 0 0,2-4 0 0 0,-6 4 0 0 0,0-3 0 0 0,-5 5 0 0 0,-5-4 0 0 0,0 0 0 0 0,-7-6 0 0 0,1 0 0 0 0,-6 1 0 0 0,7 1 0 0 0,6 3 0 0 0,7 1 0 0 0,4 7 0 0 0,7 1 0 0 0,4 1 0 0 0,0-1 0 0 0,-1 4 0 0 0,-2-5 0 0 0,-1-3 0 0 0,-1-2 0 0 0,-1-1 0 0 0,-2 1 0 0 0,-4-1 0 0 0,-2 6 0 0 0,6 1 0 0 0,2 6 0 0 0,-4 4 0 0 0,-1-4 0 0 0,-5-4 0 0 0,-1 1 0 0 0,2-1 0 0 0,-4-1 0 0 0,-8-2 0 0 0,-7-7 0 0 0,-3 3 0 0 0,-5-4 0 0 0,-3 3 0 0 0,5 2 0 0 0,5 1 0 0 0,0 0 0 0 0,2 0 0 0 0,-1 3 0 0 0,1 2 0 0 0,-2 0 0 0 0,1 2 0 0 0,3 1 0 0 0,7-2 0 0 0,6 2 0 0 0,5 5 0 0 0,8 0 0 0 0,4 1 0 0 0,0 4 0 0 0,5-3 0 0 0,-5-3 0 0 0,-4-5 0 0 0,-1-3 0 0 0,-2 1 0 0 0,-5 0 0 0 0,-2-1 0 0 0,1 3 0 0 0,1 0 0 0 0,2-2 0 0 0,1 3 0 0 0,2 0 0 0 0,0 2 0 0 0,1 0 0 0 0,0-2 0 0 0,0-9 0 0 0,-5-3 0 0 0,4-2 0 0 0,-4 0 0 0 0,0 5 0 0 0,0 2 0 0 0,1 1 0 0 0,7 0 0 0 0,1 4 0 0 0,1 0 0 0 0,0 4 0 0 0,3 0 0 0 0,0 2 0 0 0,0-6 0 0 0,-3 1 0 0 0,-2-1 0 0 0,-1 2 0 0 0,4 0 0 0 0,0-2 0 0 0,0-3 0 0 0,-2 3 0 0 0,-1 1 0 0 0,-1-3 0 0 0,-11-1 0 0 0,-4 3 0 0 0,1 0 0 0 0,-3-2 0 0 0,1 4 0 0 0,-2 4 0 0 0,2 5 0 0 0,3-1 0 0 0,-1-4 0 0 0,1 1 0 0 0,-2 3 0 0 0,1 2 0 0 0,2 3 0 0 0,-1-2 0 0 0,-5-5 0 0 0,-3-1 0 0 0,0-2 0 0 0,5-4 0 0 0,3 1 0 0 0,10 0 0 0 0,4 2 0 0 0,1 4 0 0 0,-4-1 0 0 0,-2 2 0 0 0,-6-2 0 0 0,-2 1 0 0 0,-3-2 0 0 0,-1 2 0 0 0,3 2 0 0 0,4 3 0 0 0,1 3 0 0 0,4 2 0 0 0,0 1 0 0 0,2 1 0 0 0,5 0 0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21279 1905 16383 0 0,'0'14'0'0'0,"0"15"0"0"0,0 7 0 0 0,0 7 0 0 0,0 6 0 0 0,-5 3 0 0 0,-1-1 0 0 0,-5-5 0 0 0,-1-5 0 0 0,3-6 0 0 0,-3-3 0 0 0,1-2 0 0 0,2-2 0 0 0,3-1 0 0 0,-2 1 0 0 0,-1-1 0 0 0,7-5 0 0 0,9 0 0 0 0,7-5 0 0 0,6-1 0 0 0,5-2 0 0 0,3-4 0 0 0,1-3 0 0 0,1-4 0 0 0,0-1 0 0 0,4-2 0 0 0,2-1 0 0 0,-1 0 0 0 0,-2 1 0 0 0,-6 4 0 0 0,-3 2 0 0 0,0 0 0 0 0,-1-2 0 0 0,2 0 0 0 0,1-2 0 0 0,-4-1 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25354 2479 16383 0 0,'-4'-15'0'0'0,"-8"-14"0"0"0,0-11 0 0 0,-9-9 0 0 0,0-6 0 0 0,3-3 0 0 0,5 4 0 0 0,5 6 0 0 0,3 6 0 0 0,3 1 0 0 0,1 3 0 0 0,2 2 0 0 0,0 3 0 0 0,0 3 0 0 0,-1 1 0 0 0,1 0 0 0 0,-1 2 0 0 0,5 4 0 0 0,11 6 0 0 0,8 7 0 0 0,4 4 0 0 0,8 4 0 0 0,6 1 0 0 0,7 2 0 0 0,3 0 0 0 0,4 1 0 0 0,1-1 0 0 0,1-1 0 0 0,-5 1 0 0 0,-7-1 0 0 0,-6 0 0 0 0,-5 0 0 0 0,-4 0 0 0 0,-2 0 0 0 0,-1 0 0 0 0,-6 0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23204 2355 16383 0 0,'0'-4'0'0'0,"0"-3"0"0"0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22315 2805 16383 0 0,'5'0'0'0'0,"6"0"0"0"0,2 4 0 0 0,7 3 0 0 0,6-1 0 0 0,3 4 0 0 0,11 4 0 0 0,9 1 0 0 0,4 2 0 0 0,0 3 0 0 0,-6-2 0 0 0,-10 1 0 0 0,-12 7 0 0 0,-14 3 0 0 0,-15 2 0 0 0,-11 6 0 0 0,-17 0 0 0 0,-13 4 0 0 0,-18 5 0 0 0,-17 4 0 0 0,-6-2 0 0 0,4-4 0 0 0,10-9 0 0 0,8-7 0 0 0,14-7 0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31545 7828 16383 0 0,'0'-4'0'0'0,"-5"-3"0"0"0,-11 1 0 0 0,-12 1 0 0 0,-7-3 0 0 0,-6-5 0 0 0,-7-1 0 0 0,1-2 0 0 0,-1-4 0 0 0,-3 2 0 0 0,-1 4 0 0 0,2 0 0 0 0,6 1 0 0 0,10-1 0 0 0,10-3 0 0 0,15 1 0 0 0,9-1 0 0 0,13-3 0 0 0,20-12 0 0 0,13-6 0 0 0,14-5 0 0 0,10-6 0 0 0,8-4 0 0 0,6 3 0 0 0,7 0 0 0 0,-7 3 0 0 0,-8 1 0 0 0,-13 3 0 0 0,-11 8 0 0 0,-11 7 0 0 0,-6 7 0 0 0,-6 7 0 0 0,-6 6 0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34634 7802 16383 0 0,'0'4'0'0'0,"5"3"0"0"0,6-1 0 0 0,16-1 0 0 0,8-2 0 0 0,7-1 0 0 0,2 0 0 0 0,-2-2 0 0 0,2 0 0 0 0,-2 0 0 0 0,-4 0 0 0 0,-3-1 0 0 0,-8-4 0 0 0,-3-6 0 0 0,-6-6 0 0 0,-1-15 0 0 0,-4-7 0 0 0,-4-1 0 0 0,-3-3 0 0 0,-3 0 0 0 0,-2 3 0 0 0,-1 4 0 0 0,0 2 0 0 0,-1 3 0 0 0,0 7 0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31856 8149 16383 0 0,'0'0'0'0'0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31459 8493 16383 0 0,'10'0'0'0'0,"7"0"0"0"0,11 0 0 0 0,11 0 0 0 0,7 0 0 0 0,6 0 0 0 0,4 0 0 0 0,-3 0 0 0 0,-6 0 0 0 0,-6 0 0 0 0,-5 0 0 0 0,-4 5 0 0 0,-2 1 0 0 0,-2 0 0 0 0,-1-1 0 0 0,0-1 0 0 0,0-2 0 0 0,-4 4 0 0 0,-2 1 0 0 0,1-1 0 0 0,1 8 0 0 0,2 12 0 0 0,-4 5 0 0 0,-5 8 0 0 0,-1 7 0 0 0,-2 0 0 0 0,0-3 0 0 0,-1 1 0 0 0,-3-3 0 0 0,-3 2 0 0 0,-2-1 0 0 0,-2-4 0 0 0,-2 1 0 0 0,0 0 0 0 0,-1 2 0 0 0,1-1 0 0 0,-1-7 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18093 8252 16383 0 0,'0'-10'0'0'0,"0"-7"0"0"0,0-6 0 0 0,0 10 0 0 0,0 22 0 0 0,0 19 0 0 0,-5 15 0 0 0,-2 4 0 0 0,-4-1 0 0 0,-5-8 0 0 0,-4-10 0 0 0,-5-11 0 0 0,-2-12 0 0 0,4-17 0 0 0,0-21 0 0 0,5-9 0 0 0,5-8 0 0 0,5-4 0 0 0,3-3 0 0 0,4-2 0 0 0,0 1 0 0 0,2 4 0 0 0,5 12 0 0 0,6 13 0 0 0,11 16 0 0 0,6 20 0 0 0,-2 28 0 0 0,-5 23 0 0 0,-7 20 0 0 0,-5 11 0 0 0,-5-4 0 0 0,-3-8 0 0 0,-7-6 0 0 0,-7-16 0 0 0,-7-17 0 0 0,-4-16 0 0 0,-4-10 0 0 0,3-13 0 0 0,1-11 0 0 0,0-13 0 0 0,-7-12 0 0 0,3-4 0 0 0,1-5 0 0 0,4-9 0 0 0,7-5 0 0 0,5-6 0 0 0,5-2 0 0 0,3 6 0 0 0,2 9 0 0 0,0 3 0 0 0,6 6 0 0 0,7 11 0 0 0,5 10 0 0 0,5 9 0 0 0,3 8 0 0 0,2 4 0 0 0,6 7 0 0 0,-3 8 0 0 0,-7 11 0 0 0,-7 7 0 0 0,-7 2 0 0 0,-5 1 0 0 0,-3-1 0 0 0,-7-6 0 0 0,-7-8 0 0 0,-2-11 0 0 0,2-12 0 0 0,2-11 0 0 0,4-7 0 0 0,7 0 0 0 0,8 4 0 0 0,3 5 0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18688 6367 16383 0 0,'-5'-5'0'0'0,"-1"-6"0"0"0,0-6 0 0 0,1-6 0 0 0,1-2 0 0 0,2-3 0 0 0,1-1 0 0 0,0-1 0 0 0,1 1 0 0 0,5 5 0 0 0,7 6 0 0 0,5 6 0 0 0,6 6 0 0 0,3 3 0 0 0,2 8 0 0 0,-4 7 0 0 0,-6 6 0 0 0,-6 6 0 0 0,-5 2 0 0 0,-3 3 0 0 0,-4 0 0 0 0,-5-4 0 0 0,-12-6 0 0 0,-8-7 0 0 0,-9-10 0 0 0,-4-10 0 0 0,0-9 0 0 0,2-1 0 0 0,7-7 0 0 0,8-5 0 0 0,3-1 0 0 0,4-1 0 0 0,10 6 0 0 0,10 6 0 0 0,5 17 0 0 0,-1 19 0 0 0,-1 10 0 0 0,2 7 0 0 0,0-8 0 0 0,2-7 0 0 0,-1-13 0 0 0,3-6 0 0 0,3-8 0 0 0,-1-3 0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19474 8201 16383 0 0,'4'0'0'0'0,"8"0"0"0"0,0-5 0 0 0,-1-6 0 0 0,-3-7 0 0 0,-2-9 0 0 0,-3-5 0 0 0,4-1 0 0 0,0-1 0 0 0,3 6 0 0 0,6 7 0 0 0,4 13 0 0 0,4 16 0 0 0,-2 18 0 0 0,-5 8 0 0 0,-1 13 0 0 0,-3 4 0 0 0,-3-3 0 0 0,-4-4 0 0 0,-3-5 0 0 0,-1-5 0 0 0,-2-2 0 0 0,-10-13 0 0 0,-9-13 0 0 0,-5-18 0 0 0,-3-16 0 0 0,-8-18 0 0 0,3-11 0 0 0,7 0 0 0 0,3 4 0 0 0,5 3 0 0 0,5 4 0 0 0,5 5 0 0 0,4 5 0 0 0,2 4 0 0 0,1 2 0 0 0,6 7 0 0 0,6 6 0 0 0,11 7 0 0 0,6 5 0 0 0,4 4 0 0 0,5 1 0 0 0,-4 6 0 0 0,-8 6 0 0 0,-3 7 0 0 0,-1 4 0 0 0,-4 3 0 0 0,-5 3 0 0 0,-5 0 0 0 0,-3 0 0 0 0,-4 1 0 0 0,-1-1 0 0 0,-5-5 0 0 0,-7-6 0 0 0,-11-7 0 0 0,-7-10 0 0 0,3-9 0 0 0,5-14 0 0 0,6-8 0 0 0,7-3 0 0 0,4-1 0 0 0,3 1 0 0 0,7 5 0 0 0,7 4 0 0 0,2 0 0 0 0,8-15 0 0 0,0 0 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20269 4493 16383 0 0,'5'0'0'0'0,"1"-10"0"0"0,0-12 0 0 0,-1-8 0 0 0,-1-3 0 0 0,-2-6 0 0 0,-1-1 0 0 0,-1 2 0 0 0,0 2 0 0 0,5 3 0 0 0,6 6 0 0 0,11 9 0 0 0,6 6 0 0 0,4 6 0 0 0,0 9 0 0 0,1 4 0 0 0,3 5 0 0 0,1 5 0 0 0,-6 6 0 0 0,-13-3 0 0 0,-14-3 0 0 0,-9-1 0 0 0,-7-2 0 0 0,-12-5 0 0 0,-11-2 0 0 0,-4-4 0 0 0,-6-2 0 0 0,1-5 0 0 0,2-3 0 0 0,4-5 0 0 0,9-4 0 0 0,8-6 0 0 0,9-3 0 0 0,11 3 0 0 0,10 5 0 0 0,8 5 0 0 0,7 5 0 0 0,-1 4 0 0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20955 8088 16383 0 0,'5'-5'0'0'0,"6"-6"0"0"0,1-6 0 0 0,4-6 0 0 0,4-2 0 0 0,3 2 0 0 0,2 5 0 0 0,2 6 0 0 0,7 4 0 0 0,-4 10 0 0 0,-11 12 0 0 0,-14 6 0 0 0,-12-2 0 0 0,-10-4 0 0 0,-11-4 0 0 0,-7-8 0 0 0,-1-10 0 0 0,5-13 0 0 0,8-8 0 0 0,8-3 0 0 0,6-2 0 0 0,10 6 0 0 0,4 2 0 0 0,7 6 0 0 0,10 6 0 0 0,7 6 0 0 0,3 3 0 0 0,0 4 0 0 0,1 1 0 0 0,-6 6 0 0 0,-8 6 0 0 0,-7 7 0 0 0,-5 9 0 0 0,-4 4 0 0 0,-7-2 0 0 0,-4-12 0 0 0,1-13 0 0 0,5-13 0 0 0,9-5 0 0 0,2 0 0 0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22463 6280 16383 0 0,'5'0'0'0'0,"1"5"0"0"0,0 6 0 0 0,-1 6 0 0 0,-1 5 0 0 0,-2 4 0 0 0,-1-8 0 0 0,-5-16 0 0 0,-3-18 0 0 0,1-16 0 0 0,1-8 0 0 0,1-6 0 0 0,7 5 0 0 0,6 9 0 0 0,8 10 0 0 0,5 9 0 0 0,4 6 0 0 0,2 5 0 0 0,1 2 0 0 0,-4 7 0 0 0,-6 6 0 0 0,-7 11 0 0 0,-5 6 0 0 0,-4 7 0 0 0,-7-2 0 0 0,-8-7 0 0 0,-2-9 0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23310 2495 16383 0 0,'5'0'0'0'0,"6"0"0"0"0,6 0 0 0 0,5-4 0 0 0,4-8 0 0 0,2 0 0 0 0,5 1 0 0 0,8 12 0 0 0,1 6 0 0 0,-7 7 0 0 0,-8 5 0 0 0,-10 5 0 0 0,-8 3 0 0 0,-4-8 0 0 0,-4-13 0 0 0,-2-11 0 0 0,-1-14 0 0 0,-5-5 0 0 0,-1-3 0 0 0,1-1 0 0 0,1-1 0 0 0,7 0 0 0 0,8 5 0 0 0,7 6 0 0 0,6 11 0 0 0,-1 12 0 0 0,-4 14 0 0 0,-5 9 0 0 0,-9 4 0 0 0,-6-7 0 0 0,-1-14 0 0 0,4-8 0 0 0,7-5 0 0 0,7-1 0 0 0,1 3 0 0 0,-1 8 0 0 0,-4 6 0 0 0,-4 2 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24663 6313 16383 0 0,'5'0'0'0'0,"6"0"0"0"0,1-5 0 0 0,4-6 0 0 0,4-1 0 0 0,-2 5 0 0 0,-4 10 0 0 0,-4 9 0 0 0,-4 7 0 0 0,-2 5 0 0 0,-3 3 0 0 0,-6-3 0 0 0,-2-14 0 0 0,0-15 0 0 0,1-11 0 0 0,2-7 0 0 0,1-6 0 0 0,2 9 0 0 0,0 11 0 0 0,1 12 0 0 0,-4 11 0 0 0,-7 3 0 0 0,-6-2 0 0 0,-5-3 0 0 0,-4-4 0 0 0,-1-3 0 0 0,3-7 0 0 0,10-18 0 0 0,28-20 0 0 0,25-12 0 0 0,20-3 0 0 0,15 9 0 0 0,4 11 0 0 0,-6 8 0 0 0,-10 7 0 0 0,-12 8 0 0 0,-14 11 0 0 0,-13 19 0 0 0,-10 13 0 0 0,-13 4 0 0 0,-15 12 0 0 0,-10 2 0 0 0,-11 2 0 0 0,-4-7 0 0 0,1-6 0 0 0,1-10 0 0 0,3-5 0 0 0,2-6 0 0 0,3-11 0 0 0,0-11 0 0 0,7-10 0 0 0,6-12 0 0 0,7-10 0 0 0,4-9 0 0 0,4-2 0 0 0,2 3 0 0 0,1 4 0 0 0,0 5 0 0 0,0 3 0 0 0,5 7 0 0 0,6 8 0 0 0,6 8 0 0 0,-1 9 0 0 0,-2 11 0 0 0,-4 7 0 0 0,-5 12 0 0 0,-7 0 0 0 0,-8 0 0 0 0,-8-5 0 0 0,-6-7 0 0 0,-3-5 0 0 0,2-11 0 0 0,15-9 0 0 0,19-4 0 0 0,17 0 0 0 0,8 2 0 0 0,9 3 0 0 0,1 3 0 0 0,-12 6 0 0 0,-21 4 0 0 0,-36 5 0 0 0,-15 0 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26235 8373 16383 0 0,'4'0'0'0'0,"3"5"0"0"0,-6 2 0 0 0,-7-1 0 0 0,-8-1 0 0 0,-6-2 0 0 0,-4-6 0 0 0,1-11 0 0 0,5-10 0 0 0,6-4 0 0 0,4-7 0 0 0,9 1 0 0 0,9 8 0 0 0,7 8 0 0 0,2 11 0 0 0,-4 12 0 0 0,-3 11 0 0 0,-5 6 0 0 0,-2 5 0 0 0,-3 2 0 0 0,-2 1 0 0 0,-5-4 0 0 0,-7-2 0 0 0,-6-5 0 0 0,-5-6 0 0 0,-3-5 0 0 0,-2-4 0 0 0,-1-2 0 0 0,4-12 0 0 0,7-13 0 0 0,6-8 0 0 0,5-3 0 0 0,4-1 0 0 0,2 1 0 0 0,7 1 0 0 0,6 7 0 0 0,6 7 0 0 0,6 7 0 0 0,2 6 0 0 0,-2 8 0 0 0,-6 9 0 0 0,-6 8 0 0 0,-4 4 0 0 0,-10 14 0 0 0,-8 0 0 0 0,-7-6 0 0 0,-2-14 0 0 0,4-18 0 0 0,3-15 0 0 0,4-18 0 0 0,4-4 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6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26486 4721 16383 0 0,'-5'-4'0'0'0,"-2"-8"0"0"0,6-10 0 0 0,7-6 0 0 0,3-4 0 0 0,0-1 0 0 0,3 1 0 0 0,5 10 0 0 0,3 18 0 0 0,4 16 0 0 0,-2 9 0 0 0,-6 7 0 0 0,-4 3 0 0 0,-10-4 0 0 0,-10-6 0 0 0,-8-7 0 0 0,-2-11 0 0 0,-2-5 0 0 0,2-8 0 0 0,0-6 0 0 0,2-6 0 0 0,9 1 0 0 0,11 4 0 0 0,8 5 0 0 0,4 9 0 0 0,-2 11 0 0 0,-3-2 0 0 0,-3-6 0 0 0,-4-9 0 0 0,-2-1 0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27969 6500 16383 0 0,'0'-5'0'0'0,"0"-6"0"0"0,0-11 0 0 0,0-11 0 0 0,0-10 0 0 0,0-2 0 0 0,0 1 0 0 0,4 9 0 0 0,8 10 0 0 0,5 9 0 0 0,5 8 0 0 0,4 9 0 0 0,-3 10 0 0 0,-6 13 0 0 0,-4 6 0 0 0,-11 4 0 0 0,-5 5 0 0 0,-2 1 0 0 0,-5-2 0 0 0,0-2 0 0 0,-5-7 0 0 0,2-4 0 0 0,-3-7 0 0 0,-2-5 0 0 0,-4-11 0 0 0,2-10 0 0 0,4-13 0 0 0,6-8 0 0 0,3-4 0 0 0,9 4 0 0 0,8 7 0 0 0,8 7 0 0 0,9 10 0 0 0,1 12 0 0 0,1 9 0 0 0,-5 7 0 0 0,-7 4 0 0 0,-6 2 0 0 0,-5 1 0 0 0,-3 1 0 0 0,-7-6 0 0 0,-8-2 0 0 0,-7-4 0 0 0,-4-7 0 0 0,-4-4 0 0 0,-2-4 0 0 0,5-8 0 0 0,5-7 0 0 0,7-7 0 0 0,5-5 0 0 0,4-4 0 0 0,2-2 0 0 0,1 0 0 0 0,1-1 0 0 0,1 5 0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27914 12929 16383 0 0,'4'0'0'0'0,"3"-4"0"0"0,4-3 0 0 0,5-4 0 0 0,4-5 0 0 0,5 0 0 0 0,-3 8 0 0 0,-5 10 0 0 0,-5 9 0 0 0,-10 3 0 0 0,-15-1 0 0 0,-9-3 0 0 0,-2-7 0 0 0,4-10 0 0 0,5-8 0 0 0,10-6 0 0 0,10 0 0 0 0,10-6 0 0 0,11-8 0 0 0,12-2 0 0 0,8 4 0 0 0,-4 4 0 0 0,-3 6 0 0 0,-5 7 0 0 0,-2 7 0 0 0,-3 9 0 0 0,-5 10 0 0 0,-8 7 0 0 0,-5 7 0 0 0,-6 8 0 0 0,-8-2 0 0 0,-8 0 0 0 0,-8-6 0 0 0,1-2 0 0 0,-8-4 0 0 0,-3-6 0 0 0,-2-5 0 0 0,0-4 0 0 0,0-1 0 0 0,1-2 0 0 0,0-1 0 0 0,6-5 0 0 0,6-6 0 0 0,7-6 0 0 0,5-5 0 0 0,3-3 0 0 0,8-2 0 0 0,7-1 0 0 0,11 0 0 0 0,7 4 0 0 0,3 7 0 0 0,1 6 0 0 0,-1 6 0 0 0,-6 8 0 0 0,-8 8 0 0 0,-6 8 0 0 0,-11 6 0 0 0,-11-2 0 0 0,-8-4 0 0 0,-6-6 0 0 0,-4-4 0 0 0,3-9 0 0 0,5-8 0 0 0,6-9 0 0 0,5-5 0 0 0,4-3 0 0 0,3 2 0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29655 13049 16383 0 0,'0'-4'0'0'0,"0"-8"0"0"0,0-5 0 0 0,0-10 0 0 0,-5 0 0 0 0,-1-1 0 0 0,-5 1 0 0 0,-5-1 0 0 0,5 4 0 0 0,9 7 0 0 0,9 6 0 0 0,9 5 0 0 0,2 8 0 0 0,-3 9 0 0 0,-3 7 0 0 0,-9 1 0 0 0,-10-4 0 0 0,-8-3 0 0 0,-12 0 0 0 0,-5-1 0 0 0,-3 2 0 0 0,1-2 0 0 0,0-2 0 0 0,2-2 0 0 0,1-3 0 0 0,2-2 0 0 0,0-2 0 0 0,5-9 0 0 0,7-10 0 0 0,7-9 0 0 0,4-6 0 0 0,4-2 0 0 0,1 1 0 0 0,7 1 0 0 0,7 7 0 0 0,5 7 0 0 0,5 8 0 0 0,4 6 0 0 0,1 3 0 0 0,1 3 0 0 0,1 6 0 0 0,-1 6 0 0 0,-4 7 0 0 0,-8 5 0 0 0,-5 2 0 0 0,-6 2 0 0 0,-3 2 0 0 0,-3-1 0 0 0,-6-4 0 0 0,-6-7 0 0 0,-7-6 0 0 0,-9-11 0 0 0,-4-9 0 0 0,-3-9 0 0 0,6-11 0 0 0,7-5 0 0 0,8-2 0 0 0,5-10 0 0 0,15-6 0 0 0,6 0 0 0 0,11 5 0 0 0,5 9 0 0 0,4 12 0 0 0,1 9 0 0 0,-5 13 0 0 0,-3 12 0 0 0,-6 8 0 0 0,-5 7 0 0 0,-1 4 0 0 0,-2 2 0 0 0,-9-9 0 0 0,-3-8 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29057 11005 16383 0 0,'0'-5'0'0'0,"-5"-6"0"0"0,-6-2 0 0 0,-2-7 0 0 0,2-11 0 0 0,3-5 0 0 0,2-5 0 0 0,3-1 0 0 0,1 2 0 0 0,2 3 0 0 0,0 3 0 0 0,0 2 0 0 0,11 7 0 0 0,7 8 0 0 0,10 11 0 0 0,6 17 0 0 0,1 10 0 0 0,-5 8 0 0 0,-7 2 0 0 0,-8 2 0 0 0,-7 0 0 0 0,-4-2 0 0 0,-8-5 0 0 0,-3-2 0 0 0,-5-6 0 0 0,-6-6 0 0 0,-4-4 0 0 0,-4-5 0 0 0,-1-1 0 0 0,3-7 0 0 0,6-12 0 0 0,6-13 0 0 0,5-6 0 0 0,4-6 0 0 0,7-1 0 0 0,3 2 0 0 0,9 8 0 0 0,3 14 0 0 0,-2 16 0 0 0,-4 12 0 0 0,-5 11 0 0 0,2 5 0 0 0,4 0 0 0 0,-1-1 0 0 0,-2 1 0 0 0,-8-4 0 0 0,-9-5 0 0 0,-9-6 0 0 0,-6-4 0 0 0,-5-4 0 0 0,-2-6 0 0 0,-2-3 0 0 0,5-5 0 0 0,6-5 0 0 0,7-5 0 0 0,5-3 0 0 0,9 3 0 0 0,8 5 0 0 0,3 9 0 0 0,-1 13 0 0 0,-2 8 0 0 0,-8 4 0 0 0,-4 2 0 0 0,-7-1 0 0 0,-1-4 0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4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31170 13105 16383 0 0,'0'-5'0'0'0,"4"-1"0"0"0,8-5 0 0 0,0-5 0 0 0,4-9 0 0 0,8-6 0 0 0,5 8 0 0 0,-2 12 0 0 0,-6 13 0 0 0,-6 11 0 0 0,-6 8 0 0 0,-5 5 0 0 0,-7 3 0 0 0,-13 2 0 0 0,-9-5 0 0 0,-5-7 0 0 0,-1-6 0 0 0,-2-6 0 0 0,6-9 0 0 0,8-8 0 0 0,6-8 0 0 0,10-6 0 0 0,7-3 0 0 0,6 3 0 0 0,2-4 0 0 0,4-2 0 0 0,-1 8 0 0 0,-3 14 0 0 0,-4 12 0 0 0,2 16 0 0 0,-1 8 0 0 0,-2 5 0 0 0,-7-3 0 0 0,-3-12 0 0 0,-2-14 0 0 0,1-7 0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5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32299 11322 16383 0 0,'0'-5'0'0'0,"0"-6"0"0"0,0-6 0 0 0,0-5 0 0 0,5 1 0 0 0,1-5 0 0 0,5-4 0 0 0,0 0 0 0 0,4-1 0 0 0,-2 0 0 0 0,3 6 0 0 0,2 2 0 0 0,-1 0 0 0 0,2 4 0 0 0,1 6 0 0 0,3 4 0 0 0,-3 9 0 0 0,-4 9 0 0 0,-6 13 0 0 0,-4 7 0 0 0,-3 4 0 0 0,-2 5 0 0 0,-6-3 0 0 0,-7-8 0 0 0,-6-8 0 0 0,-5-8 0 0 0,-4-5 0 0 0,-1-4 0 0 0,4-7 0 0 0,5-8 0 0 0,7-11 0 0 0,5-6 0 0 0,4-3 0 0 0,2 0 0 0 0,6-5 0 0 0,7 0 0 0 0,7 1 0 0 0,-1 12 0 0 0,-2 15 0 0 0,-5 19 0 0 0,-14 12 0 0 0,-10 13 0 0 0,-4 5 0 0 0,-4 0 0 0 0,-2-5 0 0 0,-3-5 0 0 0,-6-2 0 0 0,-3-5 0 0 0,0-8 0 0 0,1-4 0 0 0,2-6 0 0 0,1-2 0 0 0,1-2 0 0 0,1-6 0 0 0,1-2 0 0 0,5-4 0 0 0,6-5 0 0 0,6-4 0 0 0,5-4 0 0 0,4-2 0 0 0,2-1 0 0 0,1-1 0 0 0,0 0 0 0 0,5 4 0 0 0,6 7 0 0 0,6 7 0 0 0,5 5 0 0 0,3 8 0 0 0,2-1 0 0 0,-4 4 0 0 0,-6 6 0 0 0,-6 11 0 0 0,-5 7 0 0 0,-4 2 0 0 0,-2 2 0 0 0,-1-1 0 0 0,-1-10 0 0 0,-1-14 0 0 0,1-13 0 0 0,1-10 0 0 0,-1-8 0 0 0,1-9 0 0 0,4 0 0 0 0,8 7 0 0 0,0 11 0 0 0,4 9 0 0 0,8 4 0 0 0,1-16 0 0 0,-5-5 0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31174 9515 16383 0 0,'0'-4'0'0'0,"0"-8"0"0"0,0-10 0 0 0,0-6 0 0 0,0-4 0 0 0,0-1 0 0 0,0-4 0 0 0,0-1 0 0 0,0 1 0 0 0,0 3 0 0 0,0 1 0 0 0,4 3 0 0 0,8-9 0 0 0,5 2 0 0 0,0 3 0 0 0,2 8 0 0 0,3 12 0 0 0,2 13 0 0 0,-3 18 0 0 0,-4 19 0 0 0,-7 8 0 0 0,-3 2 0 0 0,-4-2 0 0 0,-2 1 0 0 0,-7-2 0 0 0,-6-9 0 0 0,-1-15 0 0 0,1-15 0 0 0,3-13 0 0 0,3-15 0 0 0,2-8 0 0 0,2-4 0 0 0,2 0 0 0 0,0 2 0 0 0,1-4 0 0 0,-1 0 0 0 0,1 2 0 0 0,4 7 0 0 0,1 3 0 0 0,6 7 0 0 0,4 1 0 0 0,0 9 0 0 0,-3 10 0 0 0,-4 15 0 0 0,-3 15 0 0 0,-2 15 0 0 0,-3 6 0 0 0,-10-2 0 0 0,-4-4 0 0 0,-10-5 0 0 0,-5-1 0 0 0,-3-6 0 0 0,-1-9 0 0 0,5-5 0 0 0,3-5 0 0 0,4-10 0 0 0,7-15 0 0 0,5-16 0 0 0,4-8 0 0 0,2-8 0 0 0,2-12 0 0 0,6 0 0 0 0,2 3 0 0 0,4 11 0 0 0,5 2 0 0 0,4 8 0 0 0,-1 4 0 0 0,5 7 0 0 0,-1 11 0 0 0,-5 11 0 0 0,-6 11 0 0 0,-4 12 0 0 0,-5 7 0 0 0,-2 7 0 0 0,-7-3 0 0 0,-7-4 0 0 0,-7-6 0 0 0,-4-9 0 0 0,-3-7 0 0 0,-3-5 0 0 0,0-4 0 0 0,-1-2 0 0 0,6-6 0 0 0,5-7 0 0 0,8-6 0 0 0,4-14 0 0 0,4-6 0 0 0,3-6 0 0 0,6-5 0 0 0,6 1 0 0 0,7 9 0 0 0,9 6 0 0 0,4 5 0 0 0,3 6 0 0 0,-6 13 0 0 0,-7 22 0 0 0,-7 14 0 0 0,-7 7 0 0 0,-5 8 0 0 0,-2 1 0 0 0,-1-1 0 0 0,-2-3 0 0 0,-4-8 0 0 0,-7-9 0 0 0,0-13 0 0 0,1-12 0 0 0,4-11 0 0 0,2-7 0 0 0,2-5 0 0 0,3 2 0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36251 12965 16383 0 0,'0'-9'0'0'0,"0"-14"0"0"0,0-7 0 0 0,-4-3 0 0 0,-3-1 0 0 0,1 1 0 0 0,1 0 0 0 0,7 2 0 0 0,7 6 0 0 0,11 7 0 0 0,4 12 0 0 0,-4 11 0 0 0,1 15 0 0 0,-4 8 0 0 0,0 5 0 0 0,-3 1 0 0 0,-3 0 0 0 0,-5 3 0 0 0,-7-4 0 0 0,-8-7 0 0 0,-13-14 0 0 0,-2-14 0 0 0,-2-5 0 0 0,3-8 0 0 0,6-5 0 0 0,1 1 0 0 0,3-2 0 0 0,4-2 0 0 0,3-1 0 0 0,8-7 0 0 0,3-3 0 0 0,6-5 0 0 0,1 0 0 0 0,3-4 0 0 0,4 1 0 0 0,3 7 0 0 0,-1 15 0 0 0,-5 16 0 0 0,-1 17 0 0 0,-2 12 0 0 0,-3 11 0 0 0,-4 9 0 0 0,-3 2 0 0 0,-2-2 0 0 0,0-5 0 0 0,-2-3 0 0 0,0-4 0 0 0,-4-3 0 0 0,-7-6 0 0 0,-5-7 0 0 0,-6-7 0 0 0,-3-5 0 0 0,-2-3 0 0 0,4-7 0 0 0,1-2 0 0 0,5-6 0 0 0,5-4 0 0 0,4 0 0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35907 10740 16383 0 0,'-5'5'0'0'0,"-6"6"0"0"0,-2 6 0 0 0,2 5 0 0 0,-2-1 0 0 0,-4-4 0 0 0,-3-5 0 0 0,1-15 0 0 0,4-10 0 0 0,4-14 0 0 0,10-7 0 0 0,9-6 0 0 0,8-3 0 0 0,6 3 0 0 0,14-8 0 0 0,6 6 0 0 0,0 4 0 0 0,-2 9 0 0 0,-8 14 0 0 0,-10 20 0 0 0,-7 13 0 0 0,-13 13 0 0 0,-15 11 0 0 0,-10 13 0 0 0,-7 2 0 0 0,-2 1 0 0 0,-11 4 0 0 0,-2-2 0 0 0,1-8 0 0 0,-6-7 0 0 0,1-7 0 0 0,3-5 0 0 0,-4-8 0 0 0,1-8 0 0 0,0-8 0 0 0,7-9 0 0 0,12-15 0 0 0,15-18 0 0 0,16-20 0 0 0,11-9 0 0 0,14-8 0 0 0,12-3 0 0 0,10-3 0 0 0,5 7 0 0 0,-6 10 0 0 0,-6 11 0 0 0,-5 8 0 0 0,-4 6 0 0 0,-3 5 0 0 0,-6 11 0 0 0,-7 19 0 0 0,-1 23 0 0 0,-4 18 0 0 0,2 5 0 0 0,-2 1 0 0 0,-3 1 0 0 0,-2 2 0 0 0,-8 2 0 0 0,-12-3 0 0 0,-9-6 0 0 0,-6-5 0 0 0,-6-4 0 0 0,-4-9 0 0 0,2-8 0 0 0,1-7 0 0 0,2-6 0 0 0,2-4 0 0 0,2-1 0 0 0,6-16 0 0 0,7-15 0 0 0,7-16 0 0 0,4-9 0 0 0,4-6 0 0 0,7 4 0 0 0,7-4 0 0 0,2 5 0 0 0,3 7 0 0 0,3 3 0 0 0,-1 3 0 0 0,1 11 0 0 0,1 10 0 0 0,-2 14 0 0 0,-5 18 0 0 0,-4 17 0 0 0,-5 19 0 0 0,-2 10 0 0 0,-3 2 0 0 0,0 1 0 0 0,-1-6 0 0 0,-4 4 0 0 0,-7-4 0 0 0,-2-5 0 0 0,3-16 0 0 0,2-18 0 0 0,4-20 0 0 0,1-14 0 0 0,3-14 0 0 0,0-5 0 0 0,1 0 0 0 0,1 1 0 0 0,0 3 0 0 0,4 7 0 0 0,6 5 0 0 0,2 10 0 0 0,-2 7 0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7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37869 11305 16383 0 0,'0'-4'0'0'0,"0"-8"0"0"0,0-5 0 0 0,0-5 0 0 0,0-9 0 0 0,0-3 0 0 0,0-1 0 0 0,0 1 0 0 0,0 1 0 0 0,0 1 0 0 0,0 2 0 0 0,0 1 0 0 0,5 5 0 0 0,6 7 0 0 0,7 7 0 0 0,4 4 0 0 0,4 4 0 0 0,1 2 0 0 0,-2 5 0 0 0,-2 8 0 0 0,0 10 0 0 0,-4 7 0 0 0,-4 2 0 0 0,-6 1 0 0 0,-4 0 0 0 0,-7-6 0 0 0,-9-3 0 0 0,-7 0 0 0 0,-15 0 0 0 0,-11 1 0 0 0,-3-4 0 0 0,1 0 0 0 0,5-5 0 0 0,3-4 0 0 0,9-9 0 0 0,9-15 0 0 0,8-10 0 0 0,6-6 0 0 0,4-3 0 0 0,3-2 0 0 0,0 1 0 0 0,1-4 0 0 0,0-5 0 0 0,4-2 0 0 0,6 4 0 0 0,1 2 0 0 0,3 8 0 0 0,4 8 0 0 0,3 14 0 0 0,-3 12 0 0 0,-4 10 0 0 0,-5 7 0 0 0,-4 15 0 0 0,-4 10 0 0 0,-7 7 0 0 0,-7-1 0 0 0,-2 0 0 0 0,-4-4 0 0 0,-4-6 0 0 0,-2-10 0 0 0,2-20 0 0 0,4-22 0 0 0,6-19 0 0 0,4-15 0 0 0,4-9 0 0 0,2-10 0 0 0,1-4 0 0 0,1-1 0 0 0,0 1 0 0 0,5 8 0 0 0,1 9 0 0 0,4 12 0 0 0,1 22 0 0 0,-2 19 0 0 0,-3 18 0 0 0,-3 10 0 0 0,-1 5 0 0 0,-2 0 0 0 0,-1-6 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80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35747 8824 16383 0 0,'0'4'0'0'0,"0"8"0"0"0,5 0 0 0 0,6 4 0 0 0,1 3 0 0 0,4 4 0 0 0,4 8 0 0 0,-2 2 0 0 0,1-3 0 0 0,2-8 0 0 0,3-6 0 0 0,1-3 0 0 0,2 3 0 0 0,-4 2 0 0 0,-11-1 0 0 0,-12-4 0 0 0,-11-4 0 0 0,-8-3 0 0 0,-6-3 0 0 0,2-7 0 0 0,-6-3 0 0 0,3-4 0 0 0,10-1 0 0 0,13 1 0 0 0,12 4 0 0 0,4-3 0 0 0,-5-4 0 0 0,-3-10 0 0 0,-4-4 0 0 0,4 1 0 0 0,6 6 0 0 0,5 6 0 0 0,5 6 0 0 0,-1 9 0 0 0,-4 10 0 0 0,-4 7 0 0 0,-5 6 0 0 0,-8 0 0 0 0,-4-10 0 0 0,-1-22 0 0 0,0-18 0 0 0,2-19 0 0 0,1-11 0 0 0,1-1 0 0 0,1-5 0 0 0,0 3 0 0 0,6 12 0 0 0,2 20 0 0 0,-6 18 0 0 0,-2 16 0 0 0,-1 12 0 0 0,-1 8 0 0 0,-4-1 0 0 0,-1 0 0 0 0,-4 1 0 0 0,0 1 0 0 0,-3 0 0 0 0,2 1 0 0 0,-3 0 0 0 0,-2-5 0 0 0,-4-6 0 0 0,-2-5 0 0 0,-3-11 0 0 0,4-10 0 0 0,6-12 0 0 0,5-9 0 0 0,6-2 0 0 0,7-2 0 0 0,10 5 0 0 0,6 8 0 0 0,7 7 0 0 0,2 6 0 0 0,-2 5 0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0T16:39:23.08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33080 6937 16383 0 0,'5'-10'0'0'0,"6"-3"0"0"0,1-4 0 0 0,4 1 0 0 0,4 3 0 0 0,3 9 0 0 0,-3 9 0 0 0,-4 9 0 0 0,-5 7 0 0 0,-9 0 0 0 0,-10-4 0 0 0,-8-4 0 0 0,-6-5 0 0 0,-5-4 0 0 0,-1 3 0 0 0,2 4 0 0 0,3 6 0 0 0,-1 9 0 0 0,4 5 0 0 0,6 2 0 0 0,-1 0 0 0 0,9-5 0 0 0,-1-8 0 0 0,1-11 0 0 0,2-13 0 0 0,2-10 0 0 0,10-3 0 0 0,9 1 0 0 0,6 4 0 0 0,4 4 0 0 0,3 3 0 0 0,0 3 0 0 0,-4-9 0 0 0,-7-6 0 0 0,-7-6 0 0 0,-5-3 0 0 0,-9 2 0 0 0,-8 1 0 0 0,-8 4 0 0 0,-6 5 0 0 0,-3 15 0 0 0,3 12 0 0 0,5 9 0 0 0,7 5 0 0 0,9 7 0 0 0,6 4 0 0 0,1-1 0 0 0,2-2 0 0 0,3-1 0 0 0,1-2 0 0 0,3-7 0 0 0,4-2 0 0 0,4-1 0 0 0,4-4 0 0 0,2 0 0 0 0,1-3 0 0 0,1-5 0 0 0,0-8 0 0 0,-5-9 0 0 0,-6-9 0 0 0,-7-6 0 0 0,-5-4 0 0 0,-3-3 0 0 0,-2-5 0 0 0,-7-3 0 0 0,-6 6 0 0 0,-7 8 0 0 0,1 7 0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5:39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2351 2625 24575,'3'-1'0,"-1"-1"0,1 0 0,-1 0 0,1 0 0,-1-1 0,0 1 0,0-1 0,0 1 0,0-1 0,0 0 0,-1 0 0,1 1 0,-1-1 0,1-4 0,4-3 0,8-14 0,-1 1 0,-1-2 0,-1 0 0,-1 0 0,-1-1 0,-2 0 0,0-1 0,3-29 0,13-193 0,-12 135 0,4-86 0,-14 158 0,-2 0 0,-1 0 0,-2 1 0,-2 0 0,-2-1 0,-20-61 0,16 64 0,-13-61 0,5 16 0,-13-62 0,25 102 0,-1 1 0,-2 0 0,-2 1 0,-2 0 0,-32-63 0,34 88 0,-1 0 0,0 1 0,-2 0 0,-30-24 0,37 33 0,-8-4 0,0 0 0,-1 2 0,0 0 0,-1 1 0,0 1 0,-36-8 0,15 3 0,0-1 0,-101-36 0,122 40 0,0 0 0,0-2 0,1 0 0,-34-27 0,36 27 0,-1 0 0,-1 0 0,1 2 0,-1 0 0,-1 2 0,0 0 0,-30-8 0,-53-21 0,-114-56 0,171 77 0,-1 1 0,-89-15 0,95 21 0,1-1 0,0-2 0,-51-23 0,20 8 0,40 19 0,0 0 0,-1 3 0,1 0 0,-1 2 0,0 2 0,-50 4 0,-2-1 0,46-3 0,17-1 0,-1 0 0,1 2 0,0 0 0,0 1 0,0 2 0,0 0 0,0 0 0,1 2 0,-26 11 0,13 1-1365,3 0-5461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5:41.0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24039,'433'508'0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5:46.3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1 118 24575,'42'-4'0,"0"-1"0,0-3 0,-1-1 0,71-25 0,-97 29 0,1 0 0,5-3 0,0 1 0,1 2 0,0 0 0,0 1 0,35-1 0,0 6-66,-29 0-259,-1-1 0,1-1 1,44-8-1,-49 4-6501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6:06.2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700 286 24575,'-66'-3'0,"0"-2"0,0-3 0,1-3 0,-77-23 0,135 32 0,1 1 0,-1-1 0,0 1 0,0 0 0,0 1 0,0-1 0,0 1 0,0 1 0,0 0 0,0 0 0,0 0 0,0 0 0,0 1 0,0 1 0,1-1 0,-1 1 0,-9 6 0,6-2 0,0 1 0,1 0 0,0 1 0,0 0 0,1 0 0,0 1 0,1 0 0,0 0 0,-6 13 0,-6 7 0,11-17 0,-1 1 0,2 0 0,0 0 0,1 0 0,-6 19 0,11-29 0,0 1 0,0-1 0,1 0 0,-1 0 0,1 0 0,0 0 0,1 1 0,-1-1 0,1 0 0,0 0 0,0 0 0,0 0 0,0 0 0,1 0 0,-1 0 0,1 0 0,0-1 0,0 1 0,1-1 0,-1 1 0,1-1 0,0 0 0,0 0 0,5 5 0,13 9 0,2 0 0,0-2 0,0 0 0,1-2 0,41 17 0,137 39 0,-126-46 0,-57-18 0,0 0 0,1-1 0,-1-2 0,1 0 0,29-1 0,99-14 0,-109 8 0,1 1 0,-1 1 0,68 6 0,15 13 0,-27-2 0,169 4 0,-235-19 0,12 1 0,-1-1 0,1-2 0,-1-2 0,64-16 0,-54 8 0,1 2 0,0 2 0,64-3 0,155 8 0,-162 5 0,38-1 0,37 2 0,245-30 0,-239 10 0,284 11 0,-277 9 0,-165-1 0,55 11 0,-53-7 0,51 3 0,-17-9 0,104-15 0,-93 10 0,127 4 0,7 0 0,-203 1 0,1 0 0,-1 0 0,0-1 0,0 0 0,0 0 0,0-1 0,0 0 0,0-1 0,-1 0 0,0 0 0,0-1 0,0 0 0,0-1 0,12-11 0,-10 6 0,0-1 0,0-1 0,-2 1 0,0-2 0,0 1 0,-1-1 0,10-28 0,-8 18 0,-4 15 0,-1-1 0,-1 0 0,0-1 0,3-18 0,-5 26 0,-1-1 0,0 0 0,0 1 0,-1-1 0,1 0 0,-1 1 0,0-1 0,0 0 0,0 1 0,0-1 0,-1 1 0,1 0 0,-1-1 0,0 1 0,0 0 0,0 0 0,-5-5 0,-14-13 0,-1 1 0,0 1 0,-2 1 0,0 1 0,-1 1 0,0 1 0,-1 2 0,-1 0 0,0 2 0,-1 1 0,-40-9 0,3 4 0,-2 4 0,0 2 0,-126 1 0,158 10 0,-57 10 0,56-5 0,-47 1 0,46-7 0,-288-4 0,236-9 0,56 6 0,-44-2 0,-156 10 0,-77-4 0,245-5 0,0-3 0,-83-25 0,95 22 0,26 8 0,0 0 0,-30 1 0,-45-8 0,47 4 0,0 3 0,-1 2 0,-81 6 0,19 0 0,29-3 0,-37-1 0,-153 18 0,-15 20 0,167-13 0,23-9 0,32-4 0,5 1 0,42-7 0,0-1 0,-36 1 0,-147 11 0,123-7 0,-77 16 0,150-22-273,0 0 0,-1 0 0,1 1 0,-18 9 0,8-3-6553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06:07.8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24575,'0'8'0,"0"8"0,0 5 0,0 4 0,0 1 0,0 1 0,0 0 0,0 0 0,0-1 0,0 0 0,0-4-8191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6:14.0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 0,'9823'0'0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6:59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284 2 24575,'-8'0'0,"-17"-1"0,0 1 0,1 2 0,-1 0 0,-45 11 0,64-11 0,1 0 0,-1 0 0,0 0 0,1 1 0,0 0 0,-1 0 0,1 0 0,0 1 0,1-1 0,-1 1 0,1 0 0,-1 1 0,1-1 0,1 1 0,-1 0 0,1 0 0,-1 0 0,1 0 0,1 1 0,-1-1 0,1 1 0,0-1 0,0 1 0,1 0 0,-2 8 0,2-5 0,0 0 0,0-1 0,1 1 0,0 0 0,1-1 0,0 1 0,0 0 0,1-1 0,0 1 0,0-1 0,1 1 0,0-1 0,0 0 0,1 0 0,1-1 0,-1 1 0,1-1 0,0 0 0,0 0 0,1 0 0,12 10 0,5 2 0,1-1 0,2-2 0,-1 0 0,55 24 0,-67-34 0,0-1 0,1 0 0,-1-1 0,1 0 0,0-1 0,24 2 0,-32-4 0,0-1 0,0 0 0,0 0 0,0 0 0,0-1 0,-1 0 0,1 0 0,0-1 0,-1 1 0,1-1 0,-1-1 0,1 1 0,-1-1 0,0 0 0,0 0 0,0 0 0,0-1 0,6-6 0,-1 0 0,-1-1 0,-1 0 0,0-1 0,-1 0 0,0 0 0,0 0 0,-2-1 0,9-24 0,-13 32 0,1 0 0,-1 0 0,0-1 0,-1 1 0,1 0 0,-1-1 0,0 1 0,-1 0 0,1-1 0,-1 1 0,0 0 0,0 0 0,-1-1 0,1 1 0,-1 0 0,0 0 0,0 0 0,-1 1 0,0-1 0,0 1 0,0-1 0,0 1 0,-1 0 0,1 0 0,-8-5 0,-32-24-682,-60-35-1,77 53-6143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07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551 1 24575,'-307'0'0,"302"0"0,1 0 0,-1 1 0,0 0 0,1 0 0,-1 0 0,1 1 0,-1-1 0,1 1 0,-1 0 0,1 1 0,0-1 0,0 1 0,0 0 0,1-1 0,-1 2 0,0-1 0,1 0 0,0 1 0,0 0 0,0-1 0,0 1 0,1 0 0,0 0 0,-1 1 0,-1 5 0,-1 3 0,1-1 0,0 1 0,0 0 0,1 0 0,1 0 0,1 1 0,-1-1 0,2 16 0,0-27 0,0 0 0,1 1 0,-1-1 0,1 0 0,-1 0 0,1 0 0,0 0 0,0 0 0,0 1 0,0-2 0,0 1 0,0 0 0,0 0 0,1 0 0,-1 0 0,1-1 0,-1 1 0,1-1 0,0 1 0,-1-1 0,1 0 0,0 1 0,0-1 0,0 0 0,4 1 0,5 2 0,0-1 0,1 0 0,23 3 0,11 3 0,-41-7 0,1 0 0,-2 0 0,1 1 0,0 0 0,0-1 0,-1 2 0,1-1 0,-1 0 0,0 1 0,0 0 0,0 0 0,-1 0 0,0 1 0,6 7 0,-8-9 0,0-1 0,0 1 0,0-1 0,0 1 0,0 0 0,0 0 0,-1-1 0,1 1 0,-1 0 0,0 0 0,0 0 0,0-1 0,0 1 0,-1 0 0,1 0 0,-1 0 0,1-1 0,-1 1 0,0 0 0,0-1 0,0 1 0,0-1 0,-1 1 0,1-1 0,-1 1 0,0-1 0,1 0 0,-1 0 0,0 0 0,-4 3 0,-2 1 9,-1 0-1,1-1 1,-1 0-1,0-1 1,0 0 0,-1 0-1,1-1 1,-1 0-1,0-1 1,0 0-1,0-1 1,0 0-1,-13 0 1,-2 0-306,0-2 0,1-1 0,-1-1 0,-31-8 0,32 5-6529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09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24575,'0'1097'0,"2"-1060"0,2 0 0,1-1 0,11 37 0,-8-36 0,-1-1 0,-2 1 0,1 38 0,-6-49 0,0 18 0,1 1 0,11 70 0,-5-64-52,-3 0-1,-3 92 0,-3-74-1154,2-37-5619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09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10.4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24575,'4'0'0,"-1"0"0,0 1 0,1 0 0,-1 0 0,0 0 0,0 0 0,0 0 0,0 1 0,0-1 0,0 1 0,0 0 0,0 0 0,0 0 0,4 4 0,34 42 0,-29-33 0,10 16 0,-1 1 0,-1 1 0,-2 0 0,-1 2 0,-2 0 0,-2 0 0,-1 2 0,12 58 0,-14-53 0,1-1 0,3 1 0,1-2 0,2 0 0,2-1 0,34 55 0,-52-92 0,1 0 0,-1-1 0,0 1 0,1 0 0,-1 0 0,0-1 0,1 1 0,0-1 0,-1 0 0,1 1 0,0-1 0,0 0 0,0 0 0,0 0 0,0 0 0,4 1 0,-5-2 0,0 0 0,1 0 0,-1 0 0,1 0 0,-1-1 0,0 1 0,0 0 0,1-1 0,-1 1 0,0-1 0,1 1 0,-1-1 0,0 0 0,0 1 0,0-1 0,0 0 0,0 0 0,0 0 0,0 0 0,1-1 0,4-5 0,-1-1 0,-1 1 0,1-1 0,-1-1 0,0 1 0,4-15 0,13-40 0,-4 7 0,2 2 0,2 0 0,3 2 0,36-58 0,-53 99-68,145-199-1229,-134 190-5529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20.0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0 493 24575,'28'1'0,"-1"1"0,1 2 0,-1 0 0,0 2 0,0 1 0,-1 1 0,47 21 0,-61-24 0,1 0 0,0 0 0,-1-1 0,2-1 0,-1 0 0,0 0 0,1-2 0,24 1 0,-28-3 0,0 0 0,-1-1 0,1 0 0,-1-1 0,0 0 0,1-1 0,-1 1 0,-1-2 0,1 1 0,-1-1 0,1-1 0,-1 1 0,7-8 0,-8 7 0,0 0 0,-1-1 0,0 1 0,0-1 0,-1 0 0,0-1 0,0 0 0,0 1 0,-1-1 0,0-1 0,5-16 0,-8 21 0,0 0 0,-1 0 0,1 0 0,-1 0 0,0 1 0,0-1 0,0 0 0,0 0 0,-1 0 0,0 0 0,1 0 0,-1 0 0,-1 0 0,1 1 0,0-1 0,-1 0 0,0 1 0,0-1 0,0 1 0,0 0 0,-1 0 0,1 0 0,-1 0 0,0 0 0,0 0 0,0 1 0,0-1 0,0 1 0,-4-2 0,-12-6 0,0 1 0,-1 0 0,0 2 0,0 0 0,-1 1 0,-22-2 0,116 10 0,168-3 0,-239 1 0,1 0 0,0 0 0,-1 0 0,1 0 0,0-1 0,0 1 0,-1-1 0,1 0 0,-1 1 0,1-1 0,-1-1 0,1 1 0,-1 0 0,1-1 0,-1 1 0,0-1 0,0 1 0,0-1 0,0 0 0,0 0 0,0 0 0,0 0 0,-1-1 0,1 1 0,-1 0 0,0-1 0,1 1 0,-1-1 0,1-2 0,-2 1 0,0 1 0,0-1 0,0 0 0,-1 1 0,1-1 0,-1 0 0,0 1 0,0-1 0,0 1 0,0-1 0,-1 1 0,1 0 0,-1-1 0,0 1 0,0 0 0,0 0 0,-1 0 0,1 1 0,0-1 0,-1 0 0,-3-2 0,-11-10 0,0 0 0,-1 1 0,-36-21 0,43 29 0,0 1 0,-1 1 0,1 0 0,-1 0 0,0 1 0,0 1 0,0 0 0,-24-1 0,34 3-12,-35 0-326,-1-1-1,1-3 1,-67-14 0,72 8-6488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28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7:3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324 55 24575,'0'-3'0,"-1"1"0,1-1 0,-1 1 0,0 0 0,1 0 0,-1-1 0,0 1 0,0 0 0,-1 0 0,1 0 0,0 0 0,-1 0 0,1 0 0,-1 0 0,0 0 0,1 1 0,-1-1 0,0 1 0,0-1 0,0 1 0,0 0 0,0-1 0,0 1 0,-1 0 0,1 1 0,0-1 0,-1 0 0,1 1 0,0-1 0,-1 1 0,1 0 0,-3-1 0,-12-1 0,0 1 0,1 1 0,-24 1 0,37-1 0,-1 0 0,0 1 0,0-1 0,0 1 0,1 0 0,-1-1 0,0 2 0,1-1 0,-1 0 0,1 1 0,-1-1 0,1 1 0,0 0 0,0 0 0,0 1 0,0-1 0,0 1 0,0-1 0,0 1 0,1 0 0,0 0 0,-1 0 0,1 0 0,0 0 0,0 1 0,1-1 0,-1 1 0,1-1 0,0 1 0,0-1 0,0 1 0,-1 5 0,0 12 0,0 0 0,1 0 0,2 1 0,4 34 0,-1-1 0,-4-44 0,1 0 0,0 0 0,0 0 0,1 0 0,1 0 0,0-1 0,8 20 0,-8-24 0,1 0 0,-1 0 0,2 0 0,-1-1 0,1 1 0,-1-1 0,1-1 0,1 1 0,-1 0 0,1-1 0,0 0 0,0-1 0,10 6 0,-13-7 0,0-1 0,0 1 0,0 0 0,0-1 0,0 0 0,1 0 0,-1 0 0,0 0 0,1 0 0,-1-1 0,1 0 0,-1 1 0,1-1 0,-1 0 0,0-1 0,1 1 0,-1-1 0,1 1 0,-1-1 0,0 0 0,1 0 0,-1-1 0,0 1 0,0-1 0,0 1 0,0-1 0,0 0 0,0 0 0,-1 0 0,1-1 0,2-2 0,-2 1 0,0-1 0,-1 0 0,1 0 0,-1 0 0,0 0 0,0 0 0,-1 0 0,0-1 0,0 1 0,0 0 0,0-1 0,-1 1 0,0-1 0,0 1 0,0-1 0,-1 1 0,0-1 0,-2-8 0,1 6 6,-1 1 0,0-1-1,0 1 1,0 0 0,-1 0-1,0 1 1,0-1 0,-1 1 0,0 0-1,0 0 1,0 0 0,-1 1-1,1 0 1,-1 0 0,-1 0-1,1 1 1,-1 0 0,0 0 0,0 1-1,-9-4 1,-6 0-254,1 0 1,-2 2-1,1 1 1,0 0-1,-41 0 1,35 3-6579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8:02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8:02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24575,'0'4'0,"0"6"0,0 6 0,0 4 0,0 11 0,4 14 0,2 8 0,3 3 0,1 6 0,-1 9 0,-3-3 0,-2-9 0,-2-6 0,0-12-8191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18:03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24575,'0'4'0,"0"6"0,0 10 0,0 10 0,0 13 0,0 8 0,0 3 0,0 7 0,0 0 0,0-5 0,0-8 0,0-4 0,0 0 0,0-3 0,0-1 0,0-2 0,0-8-8191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9T16:50:01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6877B-6BEF-4E5A-A627-D9C2C40D5F49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E69572-E98D-42E2-9FFC-1B20C7EAF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6053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5547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123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111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11579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83194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631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6791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143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375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413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E69572-E98D-42E2-9FFC-1B20C7EAFCC0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5866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FD22-FC0E-0524-8551-33E192C12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1C57B0-A5CF-D01E-5B3C-9EBF54AE8E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DCB17-9DE1-CD92-1CC3-EBC9993AF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748B-E68D-627C-37CD-B2BAB8CC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52E39-B3D3-0FCA-3DBD-87636CEC5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258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2C284-B51B-C839-0077-7FE82DF4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79C3-A834-E966-178A-2DBB5AD83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35D5-7723-C1D4-46B2-37AAC7A8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D2397-77F8-36F2-92EA-BBECD349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F139A-D3B1-68BE-82CB-119AD955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36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C80A-9862-1981-FFEA-1C67866FC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3DC7-E5F1-34A3-6091-1C6482790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0B23-A49D-4179-0F46-29C3BC984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B8EE0-2C89-7EEC-30D6-6B64A2A1F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18BC4-51C0-7D6A-E61E-C54A94E1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1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D7A24-EEF4-B07C-3038-7498CFB18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FF5B5-AAEF-FEB5-3BB2-FAF01797C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7BDEF-717F-F962-90DE-81C670E33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8D0A5-5FA9-D712-4906-15359B62A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610AA-467D-38AA-17EF-EBA759179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F512A-9D9E-589A-25B5-F48BE59CB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25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3190A-429B-84BF-BB64-B0202094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B871F8-AB3D-C522-682D-294E5D3F2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3CF4B-0EC1-C11F-CCF8-24C85BFE5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DEBE92-313B-C6A2-45C2-90E39AF6B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25B141-04AF-D226-01BD-6BC1B9B1D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789BEB-F2AD-D6DE-4A23-40F0F30A1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95F291-E341-777B-4986-73E0368AA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9FA0FE-CBAA-18B9-54AA-E1C9A9B5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169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11EA3-88A3-7384-0539-35A17D2ED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A27C56-5D1E-F4BA-28C3-F84502F2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A8365-4546-0FDF-2934-730897FB8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5869F6-88EB-DF39-84EA-348352546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8038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6D4877-5F1D-7D6F-6C81-B10F6D589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5530F0-FC13-A9E5-73CC-49FE08694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A904C-1343-7650-538B-BD167719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235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61D55-8AF7-5F58-3E06-C20BF982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4FD62B-C16F-D105-4F7C-F86CFAC7E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465BFF-260E-43FE-693A-EE6D75361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0EF13-071C-9C14-1B26-557778C5C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C027C-873F-1829-F0F2-BCBC1E392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24F055-2026-D46C-75C8-6A28E5478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0859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50A2D-D4FC-5E99-A6BF-DA940D58D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E99655-B8E4-4517-B096-E2182947F0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66B15-262B-5F83-4A92-3A3808E8DE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A7BFF-2303-312F-C457-70ECF00C2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43801D-3D37-FBE1-1478-FD34AF1E9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E2930-AD20-A2E3-8AAE-AF9A036D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5450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2CA7F-D75A-B2E4-A24B-EBB36360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55866A-562C-F568-9DB5-C7712AFB9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F06FE-691F-086A-8898-876BBF304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458F5-6ACF-69C4-A2B6-6D45EB5E2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F84805-9148-35C3-3DA0-C1040A886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309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955D76-E4D3-B4E2-AE8F-8F9C98194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947A08-6BF9-65C5-D3EF-F9D0F18C3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B393A-D1EB-6B75-8131-BC0FB5A9A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4066E-0964-43B3-BC40-354FA20F6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20396-B9C8-9035-E4B7-1F2E2D1B7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95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0512C4-54BD-B01A-7904-616EA8504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C06B-2F76-5781-8809-75E393DC0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EE19B-941D-1452-64B3-8DBB1F1CE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AA18C-1058-4D65-8783-AEB65684470B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62913F-A0D6-5457-9F79-5E8FE2BB0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711BF-004E-F317-EE33-9A20DF9198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A5DB9E-3648-4A93-BA9C-DA75DF8143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3290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30.xml"/><Relationship Id="rId13" Type="http://schemas.openxmlformats.org/officeDocument/2006/relationships/slide" Target="slide72.xml"/><Relationship Id="rId18" Type="http://schemas.openxmlformats.org/officeDocument/2006/relationships/slide" Target="slide106.xml"/><Relationship Id="rId26" Type="http://schemas.openxmlformats.org/officeDocument/2006/relationships/slide" Target="slide116.xml"/><Relationship Id="rId3" Type="http://schemas.openxmlformats.org/officeDocument/2006/relationships/slide" Target="slide12.xml"/><Relationship Id="rId21" Type="http://schemas.openxmlformats.org/officeDocument/2006/relationships/slide" Target="slide115.xml"/><Relationship Id="rId7" Type="http://schemas.openxmlformats.org/officeDocument/2006/relationships/slide" Target="slide46.xml"/><Relationship Id="rId12" Type="http://schemas.openxmlformats.org/officeDocument/2006/relationships/slide" Target="slide64.xml"/><Relationship Id="rId17" Type="http://schemas.openxmlformats.org/officeDocument/2006/relationships/slide" Target="slide102.xml"/><Relationship Id="rId25" Type="http://schemas.openxmlformats.org/officeDocument/2006/relationships/slide" Target="slide130.xml"/><Relationship Id="rId2" Type="http://schemas.openxmlformats.org/officeDocument/2006/relationships/notesSlide" Target="../notesSlides/notesSlide1.xml"/><Relationship Id="rId16" Type="http://schemas.openxmlformats.org/officeDocument/2006/relationships/slide" Target="slide97.xml"/><Relationship Id="rId20" Type="http://schemas.openxmlformats.org/officeDocument/2006/relationships/slide" Target="slide113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0.xml"/><Relationship Id="rId11" Type="http://schemas.openxmlformats.org/officeDocument/2006/relationships/slide" Target="slide57.xml"/><Relationship Id="rId24" Type="http://schemas.openxmlformats.org/officeDocument/2006/relationships/slide" Target="slide127.xml"/><Relationship Id="rId5" Type="http://schemas.openxmlformats.org/officeDocument/2006/relationships/slide" Target="slide21.xml"/><Relationship Id="rId15" Type="http://schemas.openxmlformats.org/officeDocument/2006/relationships/slide" Target="slide114.xml"/><Relationship Id="rId23" Type="http://schemas.openxmlformats.org/officeDocument/2006/relationships/slide" Target="slide122.xml"/><Relationship Id="rId10" Type="http://schemas.openxmlformats.org/officeDocument/2006/relationships/slide" Target="slide53.xml"/><Relationship Id="rId19" Type="http://schemas.openxmlformats.org/officeDocument/2006/relationships/slide" Target="slide112.xml"/><Relationship Id="rId4" Type="http://schemas.openxmlformats.org/officeDocument/2006/relationships/slide" Target="slide16.xml"/><Relationship Id="rId9" Type="http://schemas.openxmlformats.org/officeDocument/2006/relationships/slide" Target="slide38.xml"/><Relationship Id="rId14" Type="http://schemas.openxmlformats.org/officeDocument/2006/relationships/slide" Target="slide87.xml"/><Relationship Id="rId22" Type="http://schemas.openxmlformats.org/officeDocument/2006/relationships/slide" Target="slide117.xml"/><Relationship Id="rId27" Type="http://schemas.openxmlformats.org/officeDocument/2006/relationships/hyperlink" Target="https://www.ocr.org.uk/Images/260952-pseudocode-guide.pdf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1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Relationship Id="rId5" Type="http://schemas.openxmlformats.org/officeDocument/2006/relationships/slide" Target="slide20.xml"/><Relationship Id="rId4" Type="http://schemas.openxmlformats.org/officeDocument/2006/relationships/slide" Target="slide1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slide" Target="slide23.xml"/><Relationship Id="rId7" Type="http://schemas.openxmlformats.org/officeDocument/2006/relationships/slide" Target="slide27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6.xml"/><Relationship Id="rId5" Type="http://schemas.openxmlformats.org/officeDocument/2006/relationships/slide" Target="slide25.xml"/><Relationship Id="rId4" Type="http://schemas.openxmlformats.org/officeDocument/2006/relationships/slide" Target="slide24.xml"/><Relationship Id="rId9" Type="http://schemas.openxmlformats.org/officeDocument/2006/relationships/slide" Target="slide2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customXml" Target="../ink/ink6.xml"/><Relationship Id="rId18" Type="http://schemas.openxmlformats.org/officeDocument/2006/relationships/image" Target="../media/image23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20.png"/><Relationship Id="rId17" Type="http://schemas.openxmlformats.org/officeDocument/2006/relationships/customXml" Target="../ink/ink8.xml"/><Relationship Id="rId2" Type="http://schemas.openxmlformats.org/officeDocument/2006/relationships/slide" Target="slide21.xml"/><Relationship Id="rId16" Type="http://schemas.openxmlformats.org/officeDocument/2006/relationships/image" Target="../media/image22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customXml" Target="../ink/ink5.xml"/><Relationship Id="rId24" Type="http://schemas.openxmlformats.org/officeDocument/2006/relationships/image" Target="../media/image2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910.png"/><Relationship Id="rId19" Type="http://schemas.openxmlformats.org/officeDocument/2006/relationships/customXml" Target="../ink/ink9.xml"/><Relationship Id="rId4" Type="http://schemas.openxmlformats.org/officeDocument/2006/relationships/image" Target="../media/image160.png"/><Relationship Id="rId9" Type="http://schemas.openxmlformats.org/officeDocument/2006/relationships/customXml" Target="../ink/ink4.xml"/><Relationship Id="rId14" Type="http://schemas.openxmlformats.org/officeDocument/2006/relationships/image" Target="../media/image21.png"/><Relationship Id="rId22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customXml" Target="../ink/ink17.xml"/><Relationship Id="rId3" Type="http://schemas.openxmlformats.org/officeDocument/2006/relationships/customXml" Target="../ink/ink12.xml"/><Relationship Id="rId7" Type="http://schemas.openxmlformats.org/officeDocument/2006/relationships/customXml" Target="../ink/ink14.xml"/><Relationship Id="rId12" Type="http://schemas.openxmlformats.org/officeDocument/2006/relationships/image" Target="../media/image34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customXml" Target="../ink/ink16.xml"/><Relationship Id="rId5" Type="http://schemas.openxmlformats.org/officeDocument/2006/relationships/customXml" Target="../ink/ink13.xml"/><Relationship Id="rId10" Type="http://schemas.openxmlformats.org/officeDocument/2006/relationships/image" Target="../media/image33.png"/><Relationship Id="rId4" Type="http://schemas.openxmlformats.org/officeDocument/2006/relationships/image" Target="../media/image30.png"/><Relationship Id="rId9" Type="http://schemas.openxmlformats.org/officeDocument/2006/relationships/customXml" Target="../ink/ink15.xml"/><Relationship Id="rId1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openxmlformats.org/officeDocument/2006/relationships/slide" Target="slide21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slide" Target="slide37.xml"/><Relationship Id="rId3" Type="http://schemas.openxmlformats.org/officeDocument/2006/relationships/slide" Target="slide33.xml"/><Relationship Id="rId7" Type="http://schemas.openxmlformats.org/officeDocument/2006/relationships/slide" Target="slide36.xml"/><Relationship Id="rId2" Type="http://schemas.openxmlformats.org/officeDocument/2006/relationships/slide" Target="slide3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5.xml"/><Relationship Id="rId5" Type="http://schemas.openxmlformats.org/officeDocument/2006/relationships/slide" Target="slide34.xml"/><Relationship Id="rId4" Type="http://schemas.openxmlformats.org/officeDocument/2006/relationships/slide" Target="slide3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" Target="slide30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slide" Target="slide44.xml"/><Relationship Id="rId3" Type="http://schemas.openxmlformats.org/officeDocument/2006/relationships/slide" Target="slide39.xml"/><Relationship Id="rId7" Type="http://schemas.openxmlformats.org/officeDocument/2006/relationships/slide" Target="slide4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slide" Target="slide42.xml"/><Relationship Id="rId5" Type="http://schemas.openxmlformats.org/officeDocument/2006/relationships/slide" Target="slide41.xml"/><Relationship Id="rId4" Type="http://schemas.openxmlformats.org/officeDocument/2006/relationships/slide" Target="slide40.xml"/><Relationship Id="rId9" Type="http://schemas.openxmlformats.org/officeDocument/2006/relationships/slide" Target="slide4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slide" Target="slide38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slide" Target="slide4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51.xml"/><Relationship Id="rId5" Type="http://schemas.openxmlformats.org/officeDocument/2006/relationships/slide" Target="slide50.xml"/><Relationship Id="rId4" Type="http://schemas.openxmlformats.org/officeDocument/2006/relationships/slide" Target="slide4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slide" Target="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image" Target="../media/image62.png"/><Relationship Id="rId3" Type="http://schemas.openxmlformats.org/officeDocument/2006/relationships/image" Target="../media/image61.jpeg"/><Relationship Id="rId7" Type="http://schemas.openxmlformats.org/officeDocument/2006/relationships/image" Target="../media/image590.png"/><Relationship Id="rId12" Type="http://schemas.openxmlformats.org/officeDocument/2006/relationships/customXml" Target="../ink/ink22.xml"/><Relationship Id="rId2" Type="http://schemas.openxmlformats.org/officeDocument/2006/relationships/image" Target="../media/image60.png"/><Relationship Id="rId16" Type="http://schemas.openxmlformats.org/officeDocument/2006/relationships/slide" Target="slide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.xml"/><Relationship Id="rId11" Type="http://schemas.openxmlformats.org/officeDocument/2006/relationships/image" Target="../media/image61.png"/><Relationship Id="rId5" Type="http://schemas.openxmlformats.org/officeDocument/2006/relationships/image" Target="../media/image580.png"/><Relationship Id="rId15" Type="http://schemas.openxmlformats.org/officeDocument/2006/relationships/image" Target="../media/image63.png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600.png"/><Relationship Id="rId14" Type="http://schemas.openxmlformats.org/officeDocument/2006/relationships/customXml" Target="../ink/ink2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slide" Target="slide54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slide" Target="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slide" Target="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jpeg"/><Relationship Id="rId4" Type="http://schemas.openxmlformats.org/officeDocument/2006/relationships/image" Target="../media/image6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9.xml"/><Relationship Id="rId2" Type="http://schemas.openxmlformats.org/officeDocument/2006/relationships/slide" Target="slide5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3.xml"/><Relationship Id="rId5" Type="http://schemas.openxmlformats.org/officeDocument/2006/relationships/slide" Target="slide62.xml"/><Relationship Id="rId4" Type="http://schemas.openxmlformats.org/officeDocument/2006/relationships/slide" Target="slide60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5.xml"/><Relationship Id="rId13" Type="http://schemas.openxmlformats.org/officeDocument/2006/relationships/image" Target="../media/image75.png"/><Relationship Id="rId18" Type="http://schemas.openxmlformats.org/officeDocument/2006/relationships/customXml" Target="../ink/ink30.xml"/><Relationship Id="rId3" Type="http://schemas.openxmlformats.org/officeDocument/2006/relationships/slide" Target="slide57.xml"/><Relationship Id="rId21" Type="http://schemas.openxmlformats.org/officeDocument/2006/relationships/image" Target="../media/image79.png"/><Relationship Id="rId7" Type="http://schemas.openxmlformats.org/officeDocument/2006/relationships/image" Target="../media/image72.png"/><Relationship Id="rId12" Type="http://schemas.openxmlformats.org/officeDocument/2006/relationships/customXml" Target="../ink/ink27.xml"/><Relationship Id="rId17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6" Type="http://schemas.openxmlformats.org/officeDocument/2006/relationships/customXml" Target="../ink/ink29.xml"/><Relationship Id="rId20" Type="http://schemas.openxmlformats.org/officeDocument/2006/relationships/customXml" Target="../ink/ink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.xml"/><Relationship Id="rId11" Type="http://schemas.openxmlformats.org/officeDocument/2006/relationships/image" Target="../media/image74.png"/><Relationship Id="rId5" Type="http://schemas.openxmlformats.org/officeDocument/2006/relationships/image" Target="../media/image72.gif"/><Relationship Id="rId15" Type="http://schemas.openxmlformats.org/officeDocument/2006/relationships/image" Target="../media/image76.png"/><Relationship Id="rId23" Type="http://schemas.openxmlformats.org/officeDocument/2006/relationships/image" Target="../media/image80.png"/><Relationship Id="rId10" Type="http://schemas.openxmlformats.org/officeDocument/2006/relationships/customXml" Target="../ink/ink26.xml"/><Relationship Id="rId19" Type="http://schemas.openxmlformats.org/officeDocument/2006/relationships/image" Target="../media/image78.png"/><Relationship Id="rId4" Type="http://schemas.openxmlformats.org/officeDocument/2006/relationships/image" Target="../media/image71.png"/><Relationship Id="rId9" Type="http://schemas.openxmlformats.org/officeDocument/2006/relationships/image" Target="../media/image73.png"/><Relationship Id="rId14" Type="http://schemas.openxmlformats.org/officeDocument/2006/relationships/customXml" Target="../ink/ink28.xml"/><Relationship Id="rId22" Type="http://schemas.openxmlformats.org/officeDocument/2006/relationships/customXml" Target="../ink/ink3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slide" Target="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jpe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5.xml"/><Relationship Id="rId13" Type="http://schemas.openxmlformats.org/officeDocument/2006/relationships/image" Target="../media/image87.png"/><Relationship Id="rId18" Type="http://schemas.openxmlformats.org/officeDocument/2006/relationships/customXml" Target="../ink/ink40.xml"/><Relationship Id="rId3" Type="http://schemas.openxmlformats.org/officeDocument/2006/relationships/slide" Target="slide57.xml"/><Relationship Id="rId21" Type="http://schemas.openxmlformats.org/officeDocument/2006/relationships/image" Target="../media/image91.png"/><Relationship Id="rId7" Type="http://schemas.openxmlformats.org/officeDocument/2006/relationships/image" Target="../media/image84.png"/><Relationship Id="rId12" Type="http://schemas.openxmlformats.org/officeDocument/2006/relationships/customXml" Target="../ink/ink37.xml"/><Relationship Id="rId17" Type="http://schemas.openxmlformats.org/officeDocument/2006/relationships/image" Target="../media/image89.png"/><Relationship Id="rId25" Type="http://schemas.openxmlformats.org/officeDocument/2006/relationships/image" Target="../media/image93.png"/><Relationship Id="rId2" Type="http://schemas.openxmlformats.org/officeDocument/2006/relationships/notesSlide" Target="../notesSlides/notesSlide8.xml"/><Relationship Id="rId16" Type="http://schemas.openxmlformats.org/officeDocument/2006/relationships/customXml" Target="../ink/ink39.xml"/><Relationship Id="rId20" Type="http://schemas.openxmlformats.org/officeDocument/2006/relationships/customXml" Target="../ink/ink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.xml"/><Relationship Id="rId11" Type="http://schemas.openxmlformats.org/officeDocument/2006/relationships/image" Target="../media/image86.png"/><Relationship Id="rId24" Type="http://schemas.openxmlformats.org/officeDocument/2006/relationships/customXml" Target="../ink/ink43.xml"/><Relationship Id="rId5" Type="http://schemas.openxmlformats.org/officeDocument/2006/relationships/image" Target="../media/image83.png"/><Relationship Id="rId15" Type="http://schemas.openxmlformats.org/officeDocument/2006/relationships/image" Target="../media/image88.png"/><Relationship Id="rId23" Type="http://schemas.openxmlformats.org/officeDocument/2006/relationships/image" Target="../media/image92.png"/><Relationship Id="rId10" Type="http://schemas.openxmlformats.org/officeDocument/2006/relationships/customXml" Target="../ink/ink36.xml"/><Relationship Id="rId19" Type="http://schemas.openxmlformats.org/officeDocument/2006/relationships/image" Target="../media/image90.png"/><Relationship Id="rId4" Type="http://schemas.openxmlformats.org/officeDocument/2006/relationships/customXml" Target="../ink/ink33.xml"/><Relationship Id="rId9" Type="http://schemas.openxmlformats.org/officeDocument/2006/relationships/image" Target="../media/image85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slide" Target="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customXml" Target="../ink/ink45.xml"/><Relationship Id="rId4" Type="http://schemas.openxmlformats.org/officeDocument/2006/relationships/image" Target="../media/image9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" Target="slide57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" Target="slide71.xml"/><Relationship Id="rId3" Type="http://schemas.openxmlformats.org/officeDocument/2006/relationships/slide" Target="slide66.xml"/><Relationship Id="rId7" Type="http://schemas.openxmlformats.org/officeDocument/2006/relationships/slide" Target="slide70.xml"/><Relationship Id="rId2" Type="http://schemas.openxmlformats.org/officeDocument/2006/relationships/slide" Target="slide65.xml"/><Relationship Id="rId1" Type="http://schemas.openxmlformats.org/officeDocument/2006/relationships/slideLayout" Target="../slideLayouts/slideLayout7.xml"/><Relationship Id="rId6" Type="http://schemas.openxmlformats.org/officeDocument/2006/relationships/slide" Target="slide67.xml"/><Relationship Id="rId5" Type="http://schemas.openxmlformats.org/officeDocument/2006/relationships/slide" Target="slide68.xml"/><Relationship Id="rId4" Type="http://schemas.openxmlformats.org/officeDocument/2006/relationships/slide" Target="slide69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jpeg"/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9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3.png"/><Relationship Id="rId4" Type="http://schemas.openxmlformats.org/officeDocument/2006/relationships/image" Target="../media/image102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64.xml"/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6.jpe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slide" Target="slide64.xml"/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1.jpeg"/><Relationship Id="rId5" Type="http://schemas.openxmlformats.org/officeDocument/2006/relationships/image" Target="../media/image110.jpeg"/><Relationship Id="rId4" Type="http://schemas.openxmlformats.org/officeDocument/2006/relationships/image" Target="../media/image109.jpe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slide" Target="slide6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74.xml"/><Relationship Id="rId7" Type="http://schemas.openxmlformats.org/officeDocument/2006/relationships/slide" Target="slide78.xml"/><Relationship Id="rId2" Type="http://schemas.openxmlformats.org/officeDocument/2006/relationships/slide" Target="slide73.xml"/><Relationship Id="rId1" Type="http://schemas.openxmlformats.org/officeDocument/2006/relationships/slideLayout" Target="../slideLayouts/slideLayout7.xml"/><Relationship Id="rId6" Type="http://schemas.openxmlformats.org/officeDocument/2006/relationships/slide" Target="slide75.xml"/><Relationship Id="rId5" Type="http://schemas.openxmlformats.org/officeDocument/2006/relationships/slide" Target="slide76.xml"/><Relationship Id="rId4" Type="http://schemas.openxmlformats.org/officeDocument/2006/relationships/slide" Target="slide7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6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png"/><Relationship Id="rId4" Type="http://schemas.openxmlformats.org/officeDocument/2006/relationships/image" Target="../media/image11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3.jpe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eg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slide" Target="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7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7" Type="http://schemas.openxmlformats.org/officeDocument/2006/relationships/slide" Target="slide86.xml"/><Relationship Id="rId2" Type="http://schemas.openxmlformats.org/officeDocument/2006/relationships/slide" Target="slide8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83.xml"/><Relationship Id="rId5" Type="http://schemas.openxmlformats.org/officeDocument/2006/relationships/slide" Target="slide84.xml"/><Relationship Id="rId4" Type="http://schemas.openxmlformats.org/officeDocument/2006/relationships/slide" Target="slide8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80.xml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jpeg"/><Relationship Id="rId1" Type="http://schemas.openxmlformats.org/officeDocument/2006/relationships/slideLayout" Target="../slideLayouts/slideLayout7.xml"/><Relationship Id="rId4" Type="http://schemas.openxmlformats.org/officeDocument/2006/relationships/slide" Target="slide8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8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png"/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slide" Target="slide8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.gif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89.xml"/><Relationship Id="rId7" Type="http://schemas.openxmlformats.org/officeDocument/2006/relationships/slide" Target="slide93.xml"/><Relationship Id="rId2" Type="http://schemas.openxmlformats.org/officeDocument/2006/relationships/slide" Target="slide88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6.xml"/><Relationship Id="rId5" Type="http://schemas.openxmlformats.org/officeDocument/2006/relationships/slide" Target="slide90.xml"/><Relationship Id="rId4" Type="http://schemas.openxmlformats.org/officeDocument/2006/relationships/slide" Target="slide92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8.xml"/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6.png"/><Relationship Id="rId3" Type="http://schemas.openxmlformats.org/officeDocument/2006/relationships/image" Target="../media/image136.png"/><Relationship Id="rId21" Type="http://schemas.openxmlformats.org/officeDocument/2006/relationships/customXml" Target="../ink/ink54.xml"/><Relationship Id="rId7" Type="http://schemas.openxmlformats.org/officeDocument/2006/relationships/image" Target="../media/image1360.png"/><Relationship Id="rId12" Type="http://schemas.openxmlformats.org/officeDocument/2006/relationships/customXml" Target="../ink/ink50.xml"/><Relationship Id="rId17" Type="http://schemas.openxmlformats.org/officeDocument/2006/relationships/image" Target="../media/image141.png"/><Relationship Id="rId25" Type="http://schemas.openxmlformats.org/officeDocument/2006/relationships/customXml" Target="../ink/ink56.xml"/><Relationship Id="rId2" Type="http://schemas.openxmlformats.org/officeDocument/2006/relationships/slide" Target="slide87.xml"/><Relationship Id="rId16" Type="http://schemas.openxmlformats.org/officeDocument/2006/relationships/customXml" Target="../ink/ink52.xml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.xml"/><Relationship Id="rId11" Type="http://schemas.openxmlformats.org/officeDocument/2006/relationships/image" Target="../media/image138.png"/><Relationship Id="rId24" Type="http://schemas.openxmlformats.org/officeDocument/2006/relationships/image" Target="../media/image145.png"/><Relationship Id="rId5" Type="http://schemas.openxmlformats.org/officeDocument/2006/relationships/image" Target="../media/image135.png"/><Relationship Id="rId15" Type="http://schemas.openxmlformats.org/officeDocument/2006/relationships/image" Target="../media/image140.png"/><Relationship Id="rId23" Type="http://schemas.openxmlformats.org/officeDocument/2006/relationships/customXml" Target="../ink/ink55.xml"/><Relationship Id="rId10" Type="http://schemas.openxmlformats.org/officeDocument/2006/relationships/customXml" Target="../ink/ink49.xml"/><Relationship Id="rId19" Type="http://schemas.openxmlformats.org/officeDocument/2006/relationships/customXml" Target="../ink/ink53.xml"/><Relationship Id="rId4" Type="http://schemas.openxmlformats.org/officeDocument/2006/relationships/customXml" Target="../ink/ink46.xml"/><Relationship Id="rId9" Type="http://schemas.openxmlformats.org/officeDocument/2006/relationships/image" Target="../media/image137.png"/><Relationship Id="rId14" Type="http://schemas.openxmlformats.org/officeDocument/2006/relationships/customXml" Target="../ink/ink51.xml"/><Relationship Id="rId22" Type="http://schemas.openxmlformats.org/officeDocument/2006/relationships/image" Target="../media/image144.png"/><Relationship Id="rId27" Type="http://schemas.openxmlformats.org/officeDocument/2006/relationships/image" Target="../media/image147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slide" Target="slide8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slide" Target="slide9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0.gif"/><Relationship Id="rId5" Type="http://schemas.openxmlformats.org/officeDocument/2006/relationships/image" Target="../media/image159.gif"/><Relationship Id="rId4" Type="http://schemas.openxmlformats.org/officeDocument/2006/relationships/image" Target="../media/image15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94.xml"/><Relationship Id="rId2" Type="http://schemas.openxmlformats.org/officeDocument/2006/relationships/slide" Target="slide87.xml"/><Relationship Id="rId1" Type="http://schemas.openxmlformats.org/officeDocument/2006/relationships/slideLayout" Target="../slideLayouts/slideLayout7.xml"/><Relationship Id="rId4" Type="http://schemas.openxmlformats.org/officeDocument/2006/relationships/slide" Target="slide95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slide" Target="slide93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68.xml"/><Relationship Id="rId21" Type="http://schemas.openxmlformats.org/officeDocument/2006/relationships/image" Target="../media/image171.png"/><Relationship Id="rId42" Type="http://schemas.openxmlformats.org/officeDocument/2006/relationships/customXml" Target="../ink/ink76.xml"/><Relationship Id="rId47" Type="http://schemas.openxmlformats.org/officeDocument/2006/relationships/image" Target="../media/image184.png"/><Relationship Id="rId63" Type="http://schemas.openxmlformats.org/officeDocument/2006/relationships/image" Target="../media/image192.png"/><Relationship Id="rId68" Type="http://schemas.openxmlformats.org/officeDocument/2006/relationships/customXml" Target="../ink/ink89.xml"/><Relationship Id="rId84" Type="http://schemas.openxmlformats.org/officeDocument/2006/relationships/customXml" Target="../ink/ink97.xml"/><Relationship Id="rId89" Type="http://schemas.openxmlformats.org/officeDocument/2006/relationships/image" Target="../media/image205.png"/><Relationship Id="rId16" Type="http://schemas.openxmlformats.org/officeDocument/2006/relationships/customXml" Target="../ink/ink63.xml"/><Relationship Id="rId11" Type="http://schemas.openxmlformats.org/officeDocument/2006/relationships/image" Target="../media/image166.png"/><Relationship Id="rId32" Type="http://schemas.openxmlformats.org/officeDocument/2006/relationships/customXml" Target="../ink/ink71.xml"/><Relationship Id="rId37" Type="http://schemas.openxmlformats.org/officeDocument/2006/relationships/image" Target="../media/image179.png"/><Relationship Id="rId53" Type="http://schemas.openxmlformats.org/officeDocument/2006/relationships/image" Target="../media/image187.png"/><Relationship Id="rId58" Type="http://schemas.openxmlformats.org/officeDocument/2006/relationships/customXml" Target="../ink/ink84.xml"/><Relationship Id="rId74" Type="http://schemas.openxmlformats.org/officeDocument/2006/relationships/customXml" Target="../ink/ink92.xml"/><Relationship Id="rId79" Type="http://schemas.openxmlformats.org/officeDocument/2006/relationships/image" Target="../media/image200.png"/><Relationship Id="rId5" Type="http://schemas.openxmlformats.org/officeDocument/2006/relationships/image" Target="../media/image163.png"/><Relationship Id="rId90" Type="http://schemas.openxmlformats.org/officeDocument/2006/relationships/customXml" Target="../ink/ink100.xml"/><Relationship Id="rId95" Type="http://schemas.openxmlformats.org/officeDocument/2006/relationships/image" Target="../media/image208.png"/><Relationship Id="rId22" Type="http://schemas.openxmlformats.org/officeDocument/2006/relationships/customXml" Target="../ink/ink66.xml"/><Relationship Id="rId27" Type="http://schemas.openxmlformats.org/officeDocument/2006/relationships/image" Target="../media/image174.png"/><Relationship Id="rId43" Type="http://schemas.openxmlformats.org/officeDocument/2006/relationships/image" Target="../media/image182.png"/><Relationship Id="rId48" Type="http://schemas.openxmlformats.org/officeDocument/2006/relationships/customXml" Target="../ink/ink79.xml"/><Relationship Id="rId64" Type="http://schemas.openxmlformats.org/officeDocument/2006/relationships/customXml" Target="../ink/ink87.xml"/><Relationship Id="rId69" Type="http://schemas.openxmlformats.org/officeDocument/2006/relationships/image" Target="../media/image195.png"/><Relationship Id="rId80" Type="http://schemas.openxmlformats.org/officeDocument/2006/relationships/customXml" Target="../ink/ink95.xml"/><Relationship Id="rId85" Type="http://schemas.openxmlformats.org/officeDocument/2006/relationships/image" Target="../media/image203.png"/><Relationship Id="rId3" Type="http://schemas.openxmlformats.org/officeDocument/2006/relationships/image" Target="../media/image162.png"/><Relationship Id="rId12" Type="http://schemas.openxmlformats.org/officeDocument/2006/relationships/customXml" Target="../ink/ink61.xml"/><Relationship Id="rId17" Type="http://schemas.openxmlformats.org/officeDocument/2006/relationships/image" Target="../media/image169.png"/><Relationship Id="rId25" Type="http://schemas.openxmlformats.org/officeDocument/2006/relationships/image" Target="../media/image173.png"/><Relationship Id="rId33" Type="http://schemas.openxmlformats.org/officeDocument/2006/relationships/image" Target="../media/image177.png"/><Relationship Id="rId38" Type="http://schemas.openxmlformats.org/officeDocument/2006/relationships/customXml" Target="../ink/ink74.xml"/><Relationship Id="rId46" Type="http://schemas.openxmlformats.org/officeDocument/2006/relationships/customXml" Target="../ink/ink78.xml"/><Relationship Id="rId59" Type="http://schemas.openxmlformats.org/officeDocument/2006/relationships/image" Target="../media/image190.png"/><Relationship Id="rId67" Type="http://schemas.openxmlformats.org/officeDocument/2006/relationships/image" Target="../media/image194.png"/><Relationship Id="rId20" Type="http://schemas.openxmlformats.org/officeDocument/2006/relationships/customXml" Target="../ink/ink65.xml"/><Relationship Id="rId41" Type="http://schemas.openxmlformats.org/officeDocument/2006/relationships/image" Target="../media/image181.png"/><Relationship Id="rId54" Type="http://schemas.openxmlformats.org/officeDocument/2006/relationships/customXml" Target="../ink/ink82.xml"/><Relationship Id="rId62" Type="http://schemas.openxmlformats.org/officeDocument/2006/relationships/customXml" Target="../ink/ink86.xml"/><Relationship Id="rId70" Type="http://schemas.openxmlformats.org/officeDocument/2006/relationships/customXml" Target="../ink/ink90.xml"/><Relationship Id="rId75" Type="http://schemas.openxmlformats.org/officeDocument/2006/relationships/image" Target="../media/image198.png"/><Relationship Id="rId83" Type="http://schemas.openxmlformats.org/officeDocument/2006/relationships/image" Target="../media/image202.png"/><Relationship Id="rId88" Type="http://schemas.openxmlformats.org/officeDocument/2006/relationships/customXml" Target="../ink/ink99.xml"/><Relationship Id="rId91" Type="http://schemas.openxmlformats.org/officeDocument/2006/relationships/image" Target="../media/image206.png"/><Relationship Id="rId96" Type="http://schemas.openxmlformats.org/officeDocument/2006/relationships/customXml" Target="../ink/ink1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8.xml"/><Relationship Id="rId15" Type="http://schemas.openxmlformats.org/officeDocument/2006/relationships/image" Target="../media/image168.png"/><Relationship Id="rId23" Type="http://schemas.openxmlformats.org/officeDocument/2006/relationships/image" Target="../media/image172.png"/><Relationship Id="rId28" Type="http://schemas.openxmlformats.org/officeDocument/2006/relationships/customXml" Target="../ink/ink69.xml"/><Relationship Id="rId36" Type="http://schemas.openxmlformats.org/officeDocument/2006/relationships/customXml" Target="../ink/ink73.xml"/><Relationship Id="rId49" Type="http://schemas.openxmlformats.org/officeDocument/2006/relationships/image" Target="../media/image185.png"/><Relationship Id="rId57" Type="http://schemas.openxmlformats.org/officeDocument/2006/relationships/image" Target="../media/image189.png"/><Relationship Id="rId10" Type="http://schemas.openxmlformats.org/officeDocument/2006/relationships/customXml" Target="../ink/ink60.xml"/><Relationship Id="rId31" Type="http://schemas.openxmlformats.org/officeDocument/2006/relationships/image" Target="../media/image176.png"/><Relationship Id="rId44" Type="http://schemas.openxmlformats.org/officeDocument/2006/relationships/customXml" Target="../ink/ink77.xml"/><Relationship Id="rId52" Type="http://schemas.openxmlformats.org/officeDocument/2006/relationships/customXml" Target="../ink/ink81.xml"/><Relationship Id="rId60" Type="http://schemas.openxmlformats.org/officeDocument/2006/relationships/customXml" Target="../ink/ink85.xml"/><Relationship Id="rId65" Type="http://schemas.openxmlformats.org/officeDocument/2006/relationships/image" Target="../media/image193.png"/><Relationship Id="rId73" Type="http://schemas.openxmlformats.org/officeDocument/2006/relationships/image" Target="../media/image197.png"/><Relationship Id="rId78" Type="http://schemas.openxmlformats.org/officeDocument/2006/relationships/customXml" Target="../ink/ink94.xml"/><Relationship Id="rId81" Type="http://schemas.openxmlformats.org/officeDocument/2006/relationships/image" Target="../media/image201.png"/><Relationship Id="rId86" Type="http://schemas.openxmlformats.org/officeDocument/2006/relationships/customXml" Target="../ink/ink98.xml"/><Relationship Id="rId94" Type="http://schemas.openxmlformats.org/officeDocument/2006/relationships/customXml" Target="../ink/ink102.xml"/><Relationship Id="rId99" Type="http://schemas.openxmlformats.org/officeDocument/2006/relationships/image" Target="../media/image211.png"/><Relationship Id="rId4" Type="http://schemas.openxmlformats.org/officeDocument/2006/relationships/customXml" Target="../ink/ink57.xml"/><Relationship Id="rId9" Type="http://schemas.openxmlformats.org/officeDocument/2006/relationships/image" Target="../media/image165.png"/><Relationship Id="rId13" Type="http://schemas.openxmlformats.org/officeDocument/2006/relationships/image" Target="../media/image167.png"/><Relationship Id="rId18" Type="http://schemas.openxmlformats.org/officeDocument/2006/relationships/customXml" Target="../ink/ink64.xml"/><Relationship Id="rId39" Type="http://schemas.openxmlformats.org/officeDocument/2006/relationships/image" Target="../media/image180.png"/><Relationship Id="rId34" Type="http://schemas.openxmlformats.org/officeDocument/2006/relationships/customXml" Target="../ink/ink72.xml"/><Relationship Id="rId50" Type="http://schemas.openxmlformats.org/officeDocument/2006/relationships/customXml" Target="../ink/ink80.xml"/><Relationship Id="rId55" Type="http://schemas.openxmlformats.org/officeDocument/2006/relationships/image" Target="../media/image188.png"/><Relationship Id="rId76" Type="http://schemas.openxmlformats.org/officeDocument/2006/relationships/customXml" Target="../ink/ink93.xml"/><Relationship Id="rId97" Type="http://schemas.openxmlformats.org/officeDocument/2006/relationships/image" Target="../media/image209.png"/><Relationship Id="rId7" Type="http://schemas.openxmlformats.org/officeDocument/2006/relationships/image" Target="../media/image164.png"/><Relationship Id="rId71" Type="http://schemas.openxmlformats.org/officeDocument/2006/relationships/image" Target="../media/image196.png"/><Relationship Id="rId92" Type="http://schemas.openxmlformats.org/officeDocument/2006/relationships/customXml" Target="../ink/ink101.xml"/><Relationship Id="rId2" Type="http://schemas.openxmlformats.org/officeDocument/2006/relationships/slide" Target="slide93.xml"/><Relationship Id="rId29" Type="http://schemas.openxmlformats.org/officeDocument/2006/relationships/image" Target="../media/image175.png"/><Relationship Id="rId24" Type="http://schemas.openxmlformats.org/officeDocument/2006/relationships/customXml" Target="../ink/ink67.xml"/><Relationship Id="rId40" Type="http://schemas.openxmlformats.org/officeDocument/2006/relationships/customXml" Target="../ink/ink75.xml"/><Relationship Id="rId45" Type="http://schemas.openxmlformats.org/officeDocument/2006/relationships/image" Target="../media/image183.png"/><Relationship Id="rId66" Type="http://schemas.openxmlformats.org/officeDocument/2006/relationships/customXml" Target="../ink/ink88.xml"/><Relationship Id="rId87" Type="http://schemas.openxmlformats.org/officeDocument/2006/relationships/image" Target="../media/image204.png"/><Relationship Id="rId61" Type="http://schemas.openxmlformats.org/officeDocument/2006/relationships/image" Target="../media/image191.png"/><Relationship Id="rId82" Type="http://schemas.openxmlformats.org/officeDocument/2006/relationships/customXml" Target="../ink/ink96.xml"/><Relationship Id="rId19" Type="http://schemas.openxmlformats.org/officeDocument/2006/relationships/image" Target="../media/image170.png"/><Relationship Id="rId14" Type="http://schemas.openxmlformats.org/officeDocument/2006/relationships/customXml" Target="../ink/ink62.xml"/><Relationship Id="rId30" Type="http://schemas.openxmlformats.org/officeDocument/2006/relationships/customXml" Target="../ink/ink70.xml"/><Relationship Id="rId35" Type="http://schemas.openxmlformats.org/officeDocument/2006/relationships/image" Target="../media/image178.png"/><Relationship Id="rId56" Type="http://schemas.openxmlformats.org/officeDocument/2006/relationships/customXml" Target="../ink/ink83.xml"/><Relationship Id="rId77" Type="http://schemas.openxmlformats.org/officeDocument/2006/relationships/image" Target="../media/image199.png"/><Relationship Id="rId100" Type="http://schemas.openxmlformats.org/officeDocument/2006/relationships/image" Target="../media/image212.png"/><Relationship Id="rId8" Type="http://schemas.openxmlformats.org/officeDocument/2006/relationships/customXml" Target="../ink/ink59.xml"/><Relationship Id="rId51" Type="http://schemas.openxmlformats.org/officeDocument/2006/relationships/image" Target="../media/image186.png"/><Relationship Id="rId72" Type="http://schemas.openxmlformats.org/officeDocument/2006/relationships/customXml" Target="../ink/ink91.xml"/><Relationship Id="rId93" Type="http://schemas.openxmlformats.org/officeDocument/2006/relationships/image" Target="../media/image207.png"/><Relationship Id="rId98" Type="http://schemas.openxmlformats.org/officeDocument/2006/relationships/image" Target="../media/image210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99.xml"/><Relationship Id="rId2" Type="http://schemas.openxmlformats.org/officeDocument/2006/relationships/slide" Target="slide98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00.xml"/><Relationship Id="rId4" Type="http://schemas.openxmlformats.org/officeDocument/2006/relationships/slide" Target="slide10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slide" Target="slide9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5.jpe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2" Type="http://schemas.openxmlformats.org/officeDocument/2006/relationships/slide" Target="slide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" Target="slide97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5.png"/><Relationship Id="rId3" Type="http://schemas.openxmlformats.org/officeDocument/2006/relationships/image" Target="../media/image220.png"/><Relationship Id="rId7" Type="http://schemas.openxmlformats.org/officeDocument/2006/relationships/image" Target="../media/image224.png"/><Relationship Id="rId2" Type="http://schemas.openxmlformats.org/officeDocument/2006/relationships/slide" Target="slide9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3.png"/><Relationship Id="rId5" Type="http://schemas.openxmlformats.org/officeDocument/2006/relationships/image" Target="../media/image222.png"/><Relationship Id="rId4" Type="http://schemas.openxmlformats.org/officeDocument/2006/relationships/image" Target="../media/image22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104.xml"/><Relationship Id="rId2" Type="http://schemas.openxmlformats.org/officeDocument/2006/relationships/slide" Target="slide10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100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jpeg"/><Relationship Id="rId2" Type="http://schemas.openxmlformats.org/officeDocument/2006/relationships/slide" Target="slide102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png"/><Relationship Id="rId2" Type="http://schemas.openxmlformats.org/officeDocument/2006/relationships/slide" Target="slide102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8.png"/><Relationship Id="rId2" Type="http://schemas.openxmlformats.org/officeDocument/2006/relationships/slide" Target="slide10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9.jpe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slide" Target="slide107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11.xml"/><Relationship Id="rId5" Type="http://schemas.openxmlformats.org/officeDocument/2006/relationships/slide" Target="slide110.xml"/><Relationship Id="rId4" Type="http://schemas.openxmlformats.org/officeDocument/2006/relationships/slide" Target="slide109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jpeg"/><Relationship Id="rId2" Type="http://schemas.openxmlformats.org/officeDocument/2006/relationships/slide" Target="slide106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jpeg"/><Relationship Id="rId2" Type="http://schemas.openxmlformats.org/officeDocument/2006/relationships/slide" Target="slide10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2.jpe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3.jpeg"/><Relationship Id="rId2" Type="http://schemas.openxmlformats.org/officeDocument/2006/relationships/slide" Target="slide10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4.jpeg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jpeg"/><Relationship Id="rId2" Type="http://schemas.openxmlformats.org/officeDocument/2006/relationships/slide" Target="slide106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6.png"/><Relationship Id="rId2" Type="http://schemas.openxmlformats.org/officeDocument/2006/relationships/slide" Target="slide106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" Target="slide119.xml"/><Relationship Id="rId2" Type="http://schemas.openxmlformats.org/officeDocument/2006/relationships/slide" Target="slide118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0.xml"/><Relationship Id="rId4" Type="http://schemas.openxmlformats.org/officeDocument/2006/relationships/slide" Target="slide121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slide" Target="slide117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slide" Target="slide117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6.xml"/><Relationship Id="rId13" Type="http://schemas.openxmlformats.org/officeDocument/2006/relationships/image" Target="../media/image1680.png"/><Relationship Id="rId3" Type="http://schemas.openxmlformats.org/officeDocument/2006/relationships/image" Target="../media/image238.png"/><Relationship Id="rId7" Type="http://schemas.openxmlformats.org/officeDocument/2006/relationships/image" Target="../media/image1650.png"/><Relationship Id="rId12" Type="http://schemas.openxmlformats.org/officeDocument/2006/relationships/customXml" Target="../ink/ink108.xml"/><Relationship Id="rId2" Type="http://schemas.openxmlformats.org/officeDocument/2006/relationships/slide" Target="slide11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5.xml"/><Relationship Id="rId11" Type="http://schemas.openxmlformats.org/officeDocument/2006/relationships/image" Target="../media/image1670.png"/><Relationship Id="rId5" Type="http://schemas.openxmlformats.org/officeDocument/2006/relationships/image" Target="../media/image1640.png"/><Relationship Id="rId10" Type="http://schemas.openxmlformats.org/officeDocument/2006/relationships/customXml" Target="../ink/ink107.xml"/><Relationship Id="rId4" Type="http://schemas.openxmlformats.org/officeDocument/2006/relationships/customXml" Target="../ink/ink104.xml"/><Relationship Id="rId9" Type="http://schemas.openxmlformats.org/officeDocument/2006/relationships/image" Target="../media/image1660.png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9.png"/><Relationship Id="rId2" Type="http://schemas.openxmlformats.org/officeDocument/2006/relationships/slide" Target="slide117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124.xml"/><Relationship Id="rId2" Type="http://schemas.openxmlformats.org/officeDocument/2006/relationships/slide" Target="slide12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126.xml"/><Relationship Id="rId4" Type="http://schemas.openxmlformats.org/officeDocument/2006/relationships/slide" Target="slide125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9.xml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7.xml"/><Relationship Id="rId5" Type="http://schemas.openxmlformats.org/officeDocument/2006/relationships/slide" Target="slide122.xml"/><Relationship Id="rId4" Type="http://schemas.openxmlformats.org/officeDocument/2006/relationships/image" Target="../media/image1710.png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slide" Target="slide122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slide" Target="slide122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slide" Target="slide1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2.png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" Target="slide129.xml"/><Relationship Id="rId2" Type="http://schemas.openxmlformats.org/officeDocument/2006/relationships/slide" Target="slide128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slide" Target="slide1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slide" Target="slide1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6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" Target="slide132.xml"/><Relationship Id="rId2" Type="http://schemas.openxmlformats.org/officeDocument/2006/relationships/slide" Target="slide131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35.xml"/><Relationship Id="rId5" Type="http://schemas.openxmlformats.org/officeDocument/2006/relationships/slide" Target="slide134.xml"/><Relationship Id="rId4" Type="http://schemas.openxmlformats.org/officeDocument/2006/relationships/slide" Target="slide133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slide" Target="slide130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8.png"/><Relationship Id="rId2" Type="http://schemas.openxmlformats.org/officeDocument/2006/relationships/slide" Target="slide130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2.xml"/><Relationship Id="rId13" Type="http://schemas.openxmlformats.org/officeDocument/2006/relationships/image" Target="../media/image1840.png"/><Relationship Id="rId18" Type="http://schemas.openxmlformats.org/officeDocument/2006/relationships/image" Target="../media/image1860.png"/><Relationship Id="rId3" Type="http://schemas.openxmlformats.org/officeDocument/2006/relationships/image" Target="../media/image249.jpeg"/><Relationship Id="rId21" Type="http://schemas.openxmlformats.org/officeDocument/2006/relationships/image" Target="../media/image1870.png"/><Relationship Id="rId7" Type="http://schemas.openxmlformats.org/officeDocument/2006/relationships/image" Target="../media/image1820.png"/><Relationship Id="rId12" Type="http://schemas.openxmlformats.org/officeDocument/2006/relationships/customXml" Target="../ink/ink114.xml"/><Relationship Id="rId17" Type="http://schemas.openxmlformats.org/officeDocument/2006/relationships/customXml" Target="../ink/ink117.xml"/><Relationship Id="rId2" Type="http://schemas.openxmlformats.org/officeDocument/2006/relationships/slide" Target="slide130.xml"/><Relationship Id="rId16" Type="http://schemas.openxmlformats.org/officeDocument/2006/relationships/customXml" Target="../ink/ink116.xml"/><Relationship Id="rId20" Type="http://schemas.openxmlformats.org/officeDocument/2006/relationships/customXml" Target="../ink/ink11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1.xml"/><Relationship Id="rId11" Type="http://schemas.openxmlformats.org/officeDocument/2006/relationships/image" Target="../media/image1450.png"/><Relationship Id="rId5" Type="http://schemas.openxmlformats.org/officeDocument/2006/relationships/image" Target="../media/image1810.png"/><Relationship Id="rId15" Type="http://schemas.openxmlformats.org/officeDocument/2006/relationships/image" Target="../media/image1850.png"/><Relationship Id="rId23" Type="http://schemas.openxmlformats.org/officeDocument/2006/relationships/image" Target="../media/image1880.png"/><Relationship Id="rId10" Type="http://schemas.openxmlformats.org/officeDocument/2006/relationships/customXml" Target="../ink/ink113.xml"/><Relationship Id="rId19" Type="http://schemas.openxmlformats.org/officeDocument/2006/relationships/customXml" Target="../ink/ink118.xml"/><Relationship Id="rId4" Type="http://schemas.openxmlformats.org/officeDocument/2006/relationships/customXml" Target="../ink/ink110.xml"/><Relationship Id="rId9" Type="http://schemas.openxmlformats.org/officeDocument/2006/relationships/image" Target="../media/image1830.png"/><Relationship Id="rId14" Type="http://schemas.openxmlformats.org/officeDocument/2006/relationships/customXml" Target="../ink/ink115.xml"/><Relationship Id="rId22" Type="http://schemas.openxmlformats.org/officeDocument/2006/relationships/customXml" Target="../ink/ink120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3.png"/><Relationship Id="rId3" Type="http://schemas.openxmlformats.org/officeDocument/2006/relationships/image" Target="../media/image250.png"/><Relationship Id="rId7" Type="http://schemas.openxmlformats.org/officeDocument/2006/relationships/image" Target="../media/image252.png"/><Relationship Id="rId2" Type="http://schemas.openxmlformats.org/officeDocument/2006/relationships/slide" Target="slide1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0.png"/><Relationship Id="rId5" Type="http://schemas.openxmlformats.org/officeDocument/2006/relationships/customXml" Target="../ink/ink121.xml"/><Relationship Id="rId4" Type="http://schemas.openxmlformats.org/officeDocument/2006/relationships/image" Target="../media/image251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jpeg"/><Relationship Id="rId2" Type="http://schemas.openxmlformats.org/officeDocument/2006/relationships/slide" Target="slide1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5.jpeg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Go Forward or Next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7BC54D9-3AA8-57D4-7F78-FC34488382B3}"/>
              </a:ext>
            </a:extLst>
          </p:cNvPr>
          <p:cNvSpPr/>
          <p:nvPr/>
        </p:nvSpPr>
        <p:spPr>
          <a:xfrm>
            <a:off x="121050" y="382368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ED73DE-308D-2847-2E96-2513F0F474C5}"/>
              </a:ext>
            </a:extLst>
          </p:cNvPr>
          <p:cNvSpPr txBox="1"/>
          <p:nvPr/>
        </p:nvSpPr>
        <p:spPr>
          <a:xfrm>
            <a:off x="1319139" y="468990"/>
            <a:ext cx="1723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SLR1 THE PROCESSOR</a:t>
            </a:r>
          </a:p>
        </p:txBody>
      </p:sp>
      <p:sp>
        <p:nvSpPr>
          <p:cNvPr id="6" name="Action Button: Go Hom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61908BD-762C-8E5E-A1D8-76AB2E010223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E6F1701-75EB-D001-60F0-80C8C1061105}"/>
              </a:ext>
            </a:extLst>
          </p:cNvPr>
          <p:cNvSpPr/>
          <p:nvPr/>
        </p:nvSpPr>
        <p:spPr>
          <a:xfrm>
            <a:off x="121050" y="1332674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F3257-2854-BB01-BD91-1A8BE4916811}"/>
              </a:ext>
            </a:extLst>
          </p:cNvPr>
          <p:cNvSpPr txBox="1"/>
          <p:nvPr/>
        </p:nvSpPr>
        <p:spPr>
          <a:xfrm>
            <a:off x="1191630" y="1374436"/>
            <a:ext cx="1723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SLR2 TYPES OF PROCESSOR</a:t>
            </a:r>
          </a:p>
        </p:txBody>
      </p:sp>
      <p:sp>
        <p:nvSpPr>
          <p:cNvPr id="2" name="Action Button: Go Forward or Next 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09C2AD8-18FE-CB47-280F-9285A1171BA9}"/>
              </a:ext>
            </a:extLst>
          </p:cNvPr>
          <p:cNvSpPr/>
          <p:nvPr/>
        </p:nvSpPr>
        <p:spPr>
          <a:xfrm>
            <a:off x="121049" y="2282980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F31340-FFC8-273A-C165-D78316FDDE02}"/>
              </a:ext>
            </a:extLst>
          </p:cNvPr>
          <p:cNvSpPr txBox="1"/>
          <p:nvPr/>
        </p:nvSpPr>
        <p:spPr>
          <a:xfrm>
            <a:off x="1250334" y="2231776"/>
            <a:ext cx="19317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SLR3 INPUT, OUTPUT AND STORAGE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6F565C-4250-0FF2-7124-B485585CD718}"/>
              </a:ext>
            </a:extLst>
          </p:cNvPr>
          <p:cNvSpPr txBox="1"/>
          <p:nvPr/>
        </p:nvSpPr>
        <p:spPr>
          <a:xfrm>
            <a:off x="1191630" y="3155106"/>
            <a:ext cx="1995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SLR4 OS AND SYSTEM SOFTWARE</a:t>
            </a:r>
          </a:p>
        </p:txBody>
      </p:sp>
      <p:sp>
        <p:nvSpPr>
          <p:cNvPr id="10" name="Action Button: Go Forward or Next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60CDCD8-5B05-8ED3-6FA0-C0DD2BBF8F82}"/>
              </a:ext>
            </a:extLst>
          </p:cNvPr>
          <p:cNvSpPr/>
          <p:nvPr/>
        </p:nvSpPr>
        <p:spPr>
          <a:xfrm>
            <a:off x="121048" y="3244263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B7689DE-228F-E5BB-1E2A-9635D970180E}"/>
              </a:ext>
            </a:extLst>
          </p:cNvPr>
          <p:cNvSpPr/>
          <p:nvPr/>
        </p:nvSpPr>
        <p:spPr>
          <a:xfrm>
            <a:off x="3431927" y="5279691"/>
            <a:ext cx="854233" cy="64633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DE8B96-F4BF-F2AC-4188-F00A254A9AC4}"/>
              </a:ext>
            </a:extLst>
          </p:cNvPr>
          <p:cNvSpPr txBox="1"/>
          <p:nvPr/>
        </p:nvSpPr>
        <p:spPr>
          <a:xfrm>
            <a:off x="4350718" y="5425440"/>
            <a:ext cx="204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SLR13 DATA TYPES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64C847-93CA-4DE5-EB18-2E24164FF1E1}"/>
              </a:ext>
            </a:extLst>
          </p:cNvPr>
          <p:cNvSpPr txBox="1"/>
          <p:nvPr/>
        </p:nvSpPr>
        <p:spPr>
          <a:xfrm>
            <a:off x="1164691" y="4355435"/>
            <a:ext cx="21801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SLR5 APPLICATION GENERATION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C9F381-17B1-7AC3-9438-30FA1F47CF3A}"/>
              </a:ext>
            </a:extLst>
          </p:cNvPr>
          <p:cNvSpPr txBox="1"/>
          <p:nvPr/>
        </p:nvSpPr>
        <p:spPr>
          <a:xfrm>
            <a:off x="1191630" y="5245475"/>
            <a:ext cx="21757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SLR6 SOFTWARE GENERATION</a:t>
            </a:r>
          </a:p>
        </p:txBody>
      </p:sp>
      <p:sp>
        <p:nvSpPr>
          <p:cNvPr id="20" name="Action Button: Go Forward or Next 1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18C950FC-BF5B-70DC-C88B-0A7854B73ABF}"/>
              </a:ext>
            </a:extLst>
          </p:cNvPr>
          <p:cNvSpPr/>
          <p:nvPr/>
        </p:nvSpPr>
        <p:spPr>
          <a:xfrm>
            <a:off x="121050" y="6152466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ction Button: Go Forward or Next 20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CF591382-B6EE-A61B-63B5-56D829C73BA3}"/>
              </a:ext>
            </a:extLst>
          </p:cNvPr>
          <p:cNvSpPr/>
          <p:nvPr/>
        </p:nvSpPr>
        <p:spPr>
          <a:xfrm>
            <a:off x="121047" y="4232663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ction Button: Go Forward or Next 21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CDE9D57A-9CE8-8EFD-8DD5-57B1E56EF4E7}"/>
              </a:ext>
            </a:extLst>
          </p:cNvPr>
          <p:cNvSpPr/>
          <p:nvPr/>
        </p:nvSpPr>
        <p:spPr>
          <a:xfrm>
            <a:off x="121046" y="5211821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48D9ED-3D18-8D48-2F52-B637D2F9ED4C}"/>
              </a:ext>
            </a:extLst>
          </p:cNvPr>
          <p:cNvSpPr txBox="1"/>
          <p:nvPr/>
        </p:nvSpPr>
        <p:spPr>
          <a:xfrm>
            <a:off x="1083336" y="6211669"/>
            <a:ext cx="2392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SLR7 PROGRAMMING LANGUAGES</a:t>
            </a:r>
          </a:p>
        </p:txBody>
      </p:sp>
      <p:sp>
        <p:nvSpPr>
          <p:cNvPr id="15" name="Action Button: Go Forward or Next 14">
            <a:hlinkClick r:id="rId10" action="ppaction://hlinksldjump" highlightClick="1"/>
            <a:extLst>
              <a:ext uri="{FF2B5EF4-FFF2-40B4-BE49-F238E27FC236}">
                <a16:creationId xmlns:a16="http://schemas.microsoft.com/office/drawing/2014/main" id="{18E01B04-442D-67CF-BBEE-4C31E65C52F5}"/>
              </a:ext>
            </a:extLst>
          </p:cNvPr>
          <p:cNvSpPr/>
          <p:nvPr/>
        </p:nvSpPr>
        <p:spPr>
          <a:xfrm>
            <a:off x="3431928" y="1411462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ction Button: Go Forward or Next 15">
            <a:hlinkClick r:id="rId11" action="ppaction://hlinksldjump" highlightClick="1"/>
            <a:extLst>
              <a:ext uri="{FF2B5EF4-FFF2-40B4-BE49-F238E27FC236}">
                <a16:creationId xmlns:a16="http://schemas.microsoft.com/office/drawing/2014/main" id="{154D91F6-79E4-32B1-03E6-B13FE08BC38B}"/>
              </a:ext>
            </a:extLst>
          </p:cNvPr>
          <p:cNvSpPr/>
          <p:nvPr/>
        </p:nvSpPr>
        <p:spPr>
          <a:xfrm>
            <a:off x="3431928" y="2369537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ction Button: Go Forward or Next 16">
            <a:hlinkClick r:id="rId12" action="ppaction://hlinksldjump" highlightClick="1"/>
            <a:extLst>
              <a:ext uri="{FF2B5EF4-FFF2-40B4-BE49-F238E27FC236}">
                <a16:creationId xmlns:a16="http://schemas.microsoft.com/office/drawing/2014/main" id="{D565A997-D9AB-7439-DB31-29BF4F92F0A8}"/>
              </a:ext>
            </a:extLst>
          </p:cNvPr>
          <p:cNvSpPr/>
          <p:nvPr/>
        </p:nvSpPr>
        <p:spPr>
          <a:xfrm>
            <a:off x="3431928" y="3372042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ction Button: Go Forward or Next 18">
            <a:hlinkClick r:id="rId13" action="ppaction://hlinksldjump" highlightClick="1"/>
            <a:extLst>
              <a:ext uri="{FF2B5EF4-FFF2-40B4-BE49-F238E27FC236}">
                <a16:creationId xmlns:a16="http://schemas.microsoft.com/office/drawing/2014/main" id="{19A3F3AD-5D00-C3B7-C7A0-F6206B86FEB5}"/>
              </a:ext>
            </a:extLst>
          </p:cNvPr>
          <p:cNvSpPr/>
          <p:nvPr/>
        </p:nvSpPr>
        <p:spPr>
          <a:xfrm>
            <a:off x="3431928" y="4371090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ction Button: Go Forward or Next 23">
            <a:hlinkClick r:id="rId14" action="ppaction://hlinksldjump" highlightClick="1"/>
            <a:extLst>
              <a:ext uri="{FF2B5EF4-FFF2-40B4-BE49-F238E27FC236}">
                <a16:creationId xmlns:a16="http://schemas.microsoft.com/office/drawing/2014/main" id="{9ADF6F78-B721-64C5-59FF-74AFBBCAD80B}"/>
              </a:ext>
            </a:extLst>
          </p:cNvPr>
          <p:cNvSpPr/>
          <p:nvPr/>
        </p:nvSpPr>
        <p:spPr>
          <a:xfrm>
            <a:off x="3442069" y="6117528"/>
            <a:ext cx="854233" cy="64633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ction Button: Go Forward or Next 24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D9241DF9-FBEA-2ECA-DF98-4FEDA4F7B633}"/>
              </a:ext>
            </a:extLst>
          </p:cNvPr>
          <p:cNvSpPr/>
          <p:nvPr/>
        </p:nvSpPr>
        <p:spPr>
          <a:xfrm>
            <a:off x="6335970" y="5294404"/>
            <a:ext cx="854233" cy="64633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ction Button: Go Forward or Next 25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AABD7F10-64FE-F0D5-E13E-1E506B97800D}"/>
              </a:ext>
            </a:extLst>
          </p:cNvPr>
          <p:cNvSpPr/>
          <p:nvPr/>
        </p:nvSpPr>
        <p:spPr>
          <a:xfrm>
            <a:off x="6438072" y="349187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ction Button: Go Forward or Next 26">
            <a:hlinkClick r:id="rId17" action="ppaction://hlinksldjump" highlightClick="1"/>
            <a:extLst>
              <a:ext uri="{FF2B5EF4-FFF2-40B4-BE49-F238E27FC236}">
                <a16:creationId xmlns:a16="http://schemas.microsoft.com/office/drawing/2014/main" id="{171F7A4F-8C04-771F-0A7A-0DF2D10D443F}"/>
              </a:ext>
            </a:extLst>
          </p:cNvPr>
          <p:cNvSpPr/>
          <p:nvPr/>
        </p:nvSpPr>
        <p:spPr>
          <a:xfrm>
            <a:off x="6399850" y="1318999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ction Button: Go Forward or Next 27">
            <a:hlinkClick r:id="rId18" action="ppaction://hlinksldjump" highlightClick="1"/>
            <a:extLst>
              <a:ext uri="{FF2B5EF4-FFF2-40B4-BE49-F238E27FC236}">
                <a16:creationId xmlns:a16="http://schemas.microsoft.com/office/drawing/2014/main" id="{0085F434-7CA9-A70D-B155-EAB2ECC38493}"/>
              </a:ext>
            </a:extLst>
          </p:cNvPr>
          <p:cNvSpPr/>
          <p:nvPr/>
        </p:nvSpPr>
        <p:spPr>
          <a:xfrm>
            <a:off x="6335971" y="2384250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ction Button: Go Forward or Next 28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24661071-4382-C5EB-C1BB-CD3F916BB684}"/>
              </a:ext>
            </a:extLst>
          </p:cNvPr>
          <p:cNvSpPr/>
          <p:nvPr/>
        </p:nvSpPr>
        <p:spPr>
          <a:xfrm>
            <a:off x="6335971" y="3386755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Action Button: Go Forward or Next 29">
            <a:hlinkClick r:id="rId20" action="ppaction://hlinksldjump" highlightClick="1"/>
            <a:extLst>
              <a:ext uri="{FF2B5EF4-FFF2-40B4-BE49-F238E27FC236}">
                <a16:creationId xmlns:a16="http://schemas.microsoft.com/office/drawing/2014/main" id="{40DFA4FF-6A07-ABB5-58D8-262FE3EADB74}"/>
              </a:ext>
            </a:extLst>
          </p:cNvPr>
          <p:cNvSpPr/>
          <p:nvPr/>
        </p:nvSpPr>
        <p:spPr>
          <a:xfrm>
            <a:off x="6335971" y="4385803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ction Button: Go Forward or Next 30">
            <a:hlinkClick r:id="rId21" action="ppaction://hlinksldjump" highlightClick="1"/>
            <a:extLst>
              <a:ext uri="{FF2B5EF4-FFF2-40B4-BE49-F238E27FC236}">
                <a16:creationId xmlns:a16="http://schemas.microsoft.com/office/drawing/2014/main" id="{157DC8E3-D5DA-D9B8-0DBC-5E043EA53EFB}"/>
              </a:ext>
            </a:extLst>
          </p:cNvPr>
          <p:cNvSpPr/>
          <p:nvPr/>
        </p:nvSpPr>
        <p:spPr>
          <a:xfrm>
            <a:off x="6346112" y="6132241"/>
            <a:ext cx="854233" cy="64633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ction Button: Go Forward or Next 33">
            <a:hlinkClick r:id="rId22" action="ppaction://hlinksldjump" highlightClick="1"/>
            <a:extLst>
              <a:ext uri="{FF2B5EF4-FFF2-40B4-BE49-F238E27FC236}">
                <a16:creationId xmlns:a16="http://schemas.microsoft.com/office/drawing/2014/main" id="{BBE6A26C-4EA2-B2BE-465C-4ADA2B43BB49}"/>
              </a:ext>
            </a:extLst>
          </p:cNvPr>
          <p:cNvSpPr/>
          <p:nvPr/>
        </p:nvSpPr>
        <p:spPr>
          <a:xfrm>
            <a:off x="9397458" y="2229586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ction Button: Go Forward or Next 34">
            <a:hlinkClick r:id="rId23" action="ppaction://hlinksldjump" highlightClick="1"/>
            <a:extLst>
              <a:ext uri="{FF2B5EF4-FFF2-40B4-BE49-F238E27FC236}">
                <a16:creationId xmlns:a16="http://schemas.microsoft.com/office/drawing/2014/main" id="{0817120C-A33D-1B23-6878-EA478781DFFA}"/>
              </a:ext>
            </a:extLst>
          </p:cNvPr>
          <p:cNvSpPr/>
          <p:nvPr/>
        </p:nvSpPr>
        <p:spPr>
          <a:xfrm>
            <a:off x="9397457" y="3187861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ction Button: Go Forward or Next 35">
            <a:hlinkClick r:id="rId24" action="ppaction://hlinksldjump" highlightClick="1"/>
            <a:extLst>
              <a:ext uri="{FF2B5EF4-FFF2-40B4-BE49-F238E27FC236}">
                <a16:creationId xmlns:a16="http://schemas.microsoft.com/office/drawing/2014/main" id="{F79C5D76-4A67-00FC-F50B-DF6A3806359B}"/>
              </a:ext>
            </a:extLst>
          </p:cNvPr>
          <p:cNvSpPr/>
          <p:nvPr/>
        </p:nvSpPr>
        <p:spPr>
          <a:xfrm>
            <a:off x="9397458" y="4190166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Action Button: Go Forward or Next 36">
            <a:hlinkClick r:id="rId25" action="ppaction://hlinksldjump" highlightClick="1"/>
            <a:extLst>
              <a:ext uri="{FF2B5EF4-FFF2-40B4-BE49-F238E27FC236}">
                <a16:creationId xmlns:a16="http://schemas.microsoft.com/office/drawing/2014/main" id="{0ABFEDBF-0DDC-A10B-A12C-A73EE39D3D46}"/>
              </a:ext>
            </a:extLst>
          </p:cNvPr>
          <p:cNvSpPr/>
          <p:nvPr/>
        </p:nvSpPr>
        <p:spPr>
          <a:xfrm>
            <a:off x="9397458" y="5189214"/>
            <a:ext cx="854233" cy="646332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Action Button: Go Forward or Next 37">
            <a:hlinkClick r:id="rId26" action="ppaction://hlinksldjump" highlightClick="1"/>
            <a:extLst>
              <a:ext uri="{FF2B5EF4-FFF2-40B4-BE49-F238E27FC236}">
                <a16:creationId xmlns:a16="http://schemas.microsoft.com/office/drawing/2014/main" id="{9C91D18D-8675-3EF6-D4AD-2F2787F4EDBE}"/>
              </a:ext>
            </a:extLst>
          </p:cNvPr>
          <p:cNvSpPr/>
          <p:nvPr/>
        </p:nvSpPr>
        <p:spPr>
          <a:xfrm>
            <a:off x="9397457" y="1332674"/>
            <a:ext cx="854233" cy="646331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2DF834-67A7-4B4E-C57D-178605A0ED15}"/>
              </a:ext>
            </a:extLst>
          </p:cNvPr>
          <p:cNvSpPr txBox="1"/>
          <p:nvPr/>
        </p:nvSpPr>
        <p:spPr>
          <a:xfrm>
            <a:off x="10285909" y="2112129"/>
            <a:ext cx="2064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SLR23 PROGRAMMING TECHNIQUES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51EC51-D5C4-CF33-388B-48C5C6EB2D73}"/>
              </a:ext>
            </a:extLst>
          </p:cNvPr>
          <p:cNvSpPr txBox="1"/>
          <p:nvPr/>
        </p:nvSpPr>
        <p:spPr>
          <a:xfrm>
            <a:off x="10320128" y="3049362"/>
            <a:ext cx="1995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SLR24 COMPUTATIONAL METHODS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460A3E2-23C2-4725-4167-727FD6EC8ECD}"/>
              </a:ext>
            </a:extLst>
          </p:cNvPr>
          <p:cNvSpPr txBox="1"/>
          <p:nvPr/>
        </p:nvSpPr>
        <p:spPr>
          <a:xfrm>
            <a:off x="100584" y="-20145"/>
            <a:ext cx="616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hlinkClick r:id="rId27"/>
              </a:rPr>
              <a:t>AS and A Level Computer Science, Pseudocode Guide</a:t>
            </a:r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F52630-2E62-3E80-CDC5-BA376CA8DD1F}"/>
              </a:ext>
            </a:extLst>
          </p:cNvPr>
          <p:cNvSpPr txBox="1"/>
          <p:nvPr/>
        </p:nvSpPr>
        <p:spPr>
          <a:xfrm>
            <a:off x="7382974" y="6200322"/>
            <a:ext cx="2118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SLR21 THINKING LOGICALLY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D2A4E2-4881-AB8C-25A0-18658773A7D4}"/>
              </a:ext>
            </a:extLst>
          </p:cNvPr>
          <p:cNvSpPr txBox="1"/>
          <p:nvPr/>
        </p:nvSpPr>
        <p:spPr>
          <a:xfrm>
            <a:off x="10287289" y="1372961"/>
            <a:ext cx="21185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SLR22 THINKING CONCURRENTLY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2F3207B-FF38-F982-F50C-71440E6F0D24}"/>
              </a:ext>
            </a:extLst>
          </p:cNvPr>
          <p:cNvSpPr txBox="1"/>
          <p:nvPr/>
        </p:nvSpPr>
        <p:spPr>
          <a:xfrm>
            <a:off x="7382974" y="5286941"/>
            <a:ext cx="19139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SLR20 THINKING PROCEDURALLY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D916CFD-87B4-C558-D1E5-36702FC5A288}"/>
              </a:ext>
            </a:extLst>
          </p:cNvPr>
          <p:cNvSpPr txBox="1"/>
          <p:nvPr/>
        </p:nvSpPr>
        <p:spPr>
          <a:xfrm>
            <a:off x="7382974" y="4256760"/>
            <a:ext cx="19554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SLR19 THINKING</a:t>
            </a:r>
          </a:p>
          <a:p>
            <a:r>
              <a:rPr lang="en-GB"/>
              <a:t>AHEAD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1F47025-E0B5-412D-1397-F72DE2D4303A}"/>
              </a:ext>
            </a:extLst>
          </p:cNvPr>
          <p:cNvSpPr txBox="1"/>
          <p:nvPr/>
        </p:nvSpPr>
        <p:spPr>
          <a:xfrm>
            <a:off x="7292305" y="3372043"/>
            <a:ext cx="20460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SLR18 THINKING ABSTRACTLY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AC927F-BBFF-0C96-4250-0C0B16EE26BD}"/>
              </a:ext>
            </a:extLst>
          </p:cNvPr>
          <p:cNvSpPr txBox="1"/>
          <p:nvPr/>
        </p:nvSpPr>
        <p:spPr>
          <a:xfrm>
            <a:off x="4549620" y="6117528"/>
            <a:ext cx="15268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SLR14 DATA STRUCTURES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F438CD-3BB8-26DD-954D-74FD81290614}"/>
              </a:ext>
            </a:extLst>
          </p:cNvPr>
          <p:cNvSpPr txBox="1"/>
          <p:nvPr/>
        </p:nvSpPr>
        <p:spPr>
          <a:xfrm>
            <a:off x="7504670" y="349187"/>
            <a:ext cx="17922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SLR15 BOOLEAN ALGEBRA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88E9A23-0C98-55FB-76BA-A88EFC658E2E}"/>
              </a:ext>
            </a:extLst>
          </p:cNvPr>
          <p:cNvSpPr txBox="1"/>
          <p:nvPr/>
        </p:nvSpPr>
        <p:spPr>
          <a:xfrm>
            <a:off x="10338759" y="4096266"/>
            <a:ext cx="199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SLR25 ALGORITHMS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9D9006E-34C3-19D0-6851-3F71E36FB332}"/>
              </a:ext>
            </a:extLst>
          </p:cNvPr>
          <p:cNvSpPr txBox="1"/>
          <p:nvPr/>
        </p:nvSpPr>
        <p:spPr>
          <a:xfrm>
            <a:off x="10352250" y="5210138"/>
            <a:ext cx="1995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SLR26 ALGORITHMS 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CA6B94-E10D-EBAD-764C-222F3F25909D}"/>
              </a:ext>
            </a:extLst>
          </p:cNvPr>
          <p:cNvSpPr txBox="1"/>
          <p:nvPr/>
        </p:nvSpPr>
        <p:spPr>
          <a:xfrm>
            <a:off x="4380403" y="1549962"/>
            <a:ext cx="2049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SLR9 CEH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A0D2FA-6F8B-6E6A-B741-E9BE58C0B44D}"/>
              </a:ext>
            </a:extLst>
          </p:cNvPr>
          <p:cNvSpPr txBox="1"/>
          <p:nvPr/>
        </p:nvSpPr>
        <p:spPr>
          <a:xfrm>
            <a:off x="4380402" y="2388317"/>
            <a:ext cx="1696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SLR10 DATABASES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E06C539-724F-41BB-03DC-2C8D26F91BE9}"/>
              </a:ext>
            </a:extLst>
          </p:cNvPr>
          <p:cNvSpPr txBox="1"/>
          <p:nvPr/>
        </p:nvSpPr>
        <p:spPr>
          <a:xfrm>
            <a:off x="4388262" y="3336367"/>
            <a:ext cx="13923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SLR11</a:t>
            </a:r>
          </a:p>
          <a:p>
            <a:r>
              <a:rPr lang="en-GB"/>
              <a:t>NETWORKS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D5F040-6A01-C587-1C0F-02B17320A617}"/>
              </a:ext>
            </a:extLst>
          </p:cNvPr>
          <p:cNvSpPr txBox="1"/>
          <p:nvPr/>
        </p:nvSpPr>
        <p:spPr>
          <a:xfrm>
            <a:off x="4418944" y="4367949"/>
            <a:ext cx="13309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SLR12 WEB TECH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C24B14-72CC-B01F-8D33-F532C3CDB519}"/>
              </a:ext>
            </a:extLst>
          </p:cNvPr>
          <p:cNvSpPr txBox="1"/>
          <p:nvPr/>
        </p:nvSpPr>
        <p:spPr>
          <a:xfrm>
            <a:off x="3335500" y="495044"/>
            <a:ext cx="24282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SLR8 BASIC PROGRAMMING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90B8F8-8BB4-2FBF-9879-E6219169A84B}"/>
              </a:ext>
            </a:extLst>
          </p:cNvPr>
          <p:cNvSpPr txBox="1"/>
          <p:nvPr/>
        </p:nvSpPr>
        <p:spPr>
          <a:xfrm>
            <a:off x="7403086" y="1234461"/>
            <a:ext cx="1915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SLR16 COMPUTER LEGISLATION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EFF6C2-6024-3762-9940-5772C3E7180E}"/>
              </a:ext>
            </a:extLst>
          </p:cNvPr>
          <p:cNvSpPr txBox="1"/>
          <p:nvPr/>
        </p:nvSpPr>
        <p:spPr>
          <a:xfrm>
            <a:off x="7286971" y="2275875"/>
            <a:ext cx="1993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SLR17 MORAL, SOCIAL, ETHICAL ISSUES</a:t>
            </a:r>
          </a:p>
        </p:txBody>
      </p:sp>
    </p:spTree>
    <p:extLst>
      <p:ext uri="{BB962C8B-B14F-4D97-AF65-F5344CB8AC3E}">
        <p14:creationId xmlns:p14="http://schemas.microsoft.com/office/powerpoint/2010/main" val="2705526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8E8C8D-E4AB-9DFB-B00C-23E4A5352EBF}"/>
              </a:ext>
            </a:extLst>
          </p:cNvPr>
          <p:cNvSpPr txBox="1"/>
          <p:nvPr/>
        </p:nvSpPr>
        <p:spPr>
          <a:xfrm>
            <a:off x="584616" y="389744"/>
            <a:ext cx="359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SLR1 </a:t>
            </a:r>
          </a:p>
        </p:txBody>
      </p:sp>
      <p:sp>
        <p:nvSpPr>
          <p:cNvPr id="3" name="Action Button: Go Forward or Next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FE3D9CB-D3F7-4ED0-957B-B85D6B116F97}"/>
              </a:ext>
            </a:extLst>
          </p:cNvPr>
          <p:cNvSpPr/>
          <p:nvPr/>
        </p:nvSpPr>
        <p:spPr>
          <a:xfrm>
            <a:off x="457199" y="1484026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EEE526-3CB8-432C-2C67-B23F11A32172}"/>
              </a:ext>
            </a:extLst>
          </p:cNvPr>
          <p:cNvSpPr txBox="1"/>
          <p:nvPr/>
        </p:nvSpPr>
        <p:spPr>
          <a:xfrm>
            <a:off x="1843790" y="1484026"/>
            <a:ext cx="3297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FDE CYCLE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505C2D-7964-CD9B-EAE9-CFECB9069890}"/>
              </a:ext>
            </a:extLst>
          </p:cNvPr>
          <p:cNvSpPr txBox="1"/>
          <p:nvPr/>
        </p:nvSpPr>
        <p:spPr>
          <a:xfrm>
            <a:off x="2008681" y="3008452"/>
            <a:ext cx="2458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BUSES</a:t>
            </a:r>
          </a:p>
        </p:txBody>
      </p:sp>
      <p:sp>
        <p:nvSpPr>
          <p:cNvPr id="7" name="Action Button: Go Forward or Next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5CEBA70-ADB5-34DC-E649-592B184C3771}"/>
              </a:ext>
            </a:extLst>
          </p:cNvPr>
          <p:cNvSpPr/>
          <p:nvPr/>
        </p:nvSpPr>
        <p:spPr>
          <a:xfrm>
            <a:off x="457198" y="2803374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06B7E-808C-1526-723C-13EEB243F2ED}"/>
              </a:ext>
            </a:extLst>
          </p:cNvPr>
          <p:cNvSpPr txBox="1"/>
          <p:nvPr/>
        </p:nvSpPr>
        <p:spPr>
          <a:xfrm>
            <a:off x="1843790" y="4327800"/>
            <a:ext cx="37925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OPERATION CODE</a:t>
            </a:r>
          </a:p>
        </p:txBody>
      </p:sp>
      <p:sp>
        <p:nvSpPr>
          <p:cNvPr id="9" name="Action Button: Go Forward or Next 8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7EC8D0BE-96A3-A463-1A65-F50414B41866}"/>
              </a:ext>
            </a:extLst>
          </p:cNvPr>
          <p:cNvSpPr/>
          <p:nvPr/>
        </p:nvSpPr>
        <p:spPr>
          <a:xfrm>
            <a:off x="457197" y="4122722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ction Button: Go Forward or Next 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A8935B1-B4CB-68A8-A6DE-9E745E61B799}"/>
              </a:ext>
            </a:extLst>
          </p:cNvPr>
          <p:cNvSpPr/>
          <p:nvPr/>
        </p:nvSpPr>
        <p:spPr>
          <a:xfrm>
            <a:off x="457196" y="5517447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B36565-BA97-6CE7-D864-F2086963FE54}"/>
              </a:ext>
            </a:extLst>
          </p:cNvPr>
          <p:cNvSpPr txBox="1"/>
          <p:nvPr/>
        </p:nvSpPr>
        <p:spPr>
          <a:xfrm>
            <a:off x="2128602" y="5647148"/>
            <a:ext cx="2338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CACHE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4BBFEF-FA23-1158-8A6E-27D5CD182F1A}"/>
              </a:ext>
            </a:extLst>
          </p:cNvPr>
          <p:cNvSpPr txBox="1"/>
          <p:nvPr/>
        </p:nvSpPr>
        <p:spPr>
          <a:xfrm>
            <a:off x="8413230" y="1504438"/>
            <a:ext cx="6093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PIPELINING</a:t>
            </a:r>
          </a:p>
        </p:txBody>
      </p:sp>
      <p:sp>
        <p:nvSpPr>
          <p:cNvPr id="14" name="Action Button: Go Forward or Next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39426D7E-2802-DDF1-A1CE-34B47716A3D9}"/>
              </a:ext>
            </a:extLst>
          </p:cNvPr>
          <p:cNvSpPr/>
          <p:nvPr/>
        </p:nvSpPr>
        <p:spPr>
          <a:xfrm>
            <a:off x="6877989" y="1299360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0D75ACF-4966-CC34-BDFC-2C256475B027}"/>
              </a:ext>
            </a:extLst>
          </p:cNvPr>
          <p:cNvSpPr/>
          <p:nvPr/>
        </p:nvSpPr>
        <p:spPr>
          <a:xfrm>
            <a:off x="6877988" y="2649512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A3B8D5-A754-55C9-5817-9F6CB985650E}"/>
              </a:ext>
            </a:extLst>
          </p:cNvPr>
          <p:cNvSpPr txBox="1"/>
          <p:nvPr/>
        </p:nvSpPr>
        <p:spPr>
          <a:xfrm>
            <a:off x="8413230" y="2854590"/>
            <a:ext cx="2983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ARCHITECTURE</a:t>
            </a:r>
          </a:p>
        </p:txBody>
      </p:sp>
      <p:sp>
        <p:nvSpPr>
          <p:cNvPr id="17" name="Action Button: Go Home 16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88D9D7C-AC95-F6B8-1DF3-751E0831A68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7908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Forward or Next 1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66C9B0D-62AD-A550-ABE6-D5DD50EE50EA}"/>
              </a:ext>
            </a:extLst>
          </p:cNvPr>
          <p:cNvSpPr/>
          <p:nvPr/>
        </p:nvSpPr>
        <p:spPr>
          <a:xfrm>
            <a:off x="509662" y="4751881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Forward or Next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ABBC99B-D65C-5B4A-2E9C-75C760A9051E}"/>
              </a:ext>
            </a:extLst>
          </p:cNvPr>
          <p:cNvSpPr/>
          <p:nvPr/>
        </p:nvSpPr>
        <p:spPr>
          <a:xfrm>
            <a:off x="457198" y="1074295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Forward or Next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D749FDC-CC53-9C16-0AAB-7437F95C55B8}"/>
              </a:ext>
            </a:extLst>
          </p:cNvPr>
          <p:cNvSpPr/>
          <p:nvPr/>
        </p:nvSpPr>
        <p:spPr>
          <a:xfrm>
            <a:off x="457199" y="2913088"/>
            <a:ext cx="824459" cy="77948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E7163D-D6F5-38E4-553B-EA6C98FD9E26}"/>
              </a:ext>
            </a:extLst>
          </p:cNvPr>
          <p:cNvSpPr txBox="1"/>
          <p:nvPr/>
        </p:nvSpPr>
        <p:spPr>
          <a:xfrm>
            <a:off x="1798820" y="1074295"/>
            <a:ext cx="3327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FETCH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67EF60-24D2-9B64-E04C-C1F38D911F5F}"/>
              </a:ext>
            </a:extLst>
          </p:cNvPr>
          <p:cNvSpPr txBox="1"/>
          <p:nvPr/>
        </p:nvSpPr>
        <p:spPr>
          <a:xfrm>
            <a:off x="1678898" y="2913088"/>
            <a:ext cx="26532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C1F163-8A17-90A9-5FE2-14E7F62ACD78}"/>
              </a:ext>
            </a:extLst>
          </p:cNvPr>
          <p:cNvSpPr txBox="1"/>
          <p:nvPr/>
        </p:nvSpPr>
        <p:spPr>
          <a:xfrm>
            <a:off x="1678898" y="4751881"/>
            <a:ext cx="284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EXECUTE</a:t>
            </a:r>
          </a:p>
        </p:txBody>
      </p:sp>
      <p:sp>
        <p:nvSpPr>
          <p:cNvPr id="8" name="Action Button: Go Home 7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7B6A640-7F77-27DB-00A6-BC216A0A20CD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ction Button: Go to Beginning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5B5F3F9-D912-D084-DDEC-AEE8DB3EA2F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284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2A10EB-4FCA-854B-B8D9-FF95BC27DCD5}"/>
              </a:ext>
            </a:extLst>
          </p:cNvPr>
          <p:cNvSpPr txBox="1"/>
          <p:nvPr/>
        </p:nvSpPr>
        <p:spPr>
          <a:xfrm>
            <a:off x="269823" y="44971"/>
            <a:ext cx="2353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FETCH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977C1A1-ECE5-441E-B55C-B8837FD29323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E6FD4675-8573-B22C-5CF9-54FAD584E2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7" t="29406" r="1007" b="201"/>
          <a:stretch>
            <a:fillRect/>
          </a:stretch>
        </p:blipFill>
        <p:spPr>
          <a:xfrm>
            <a:off x="4230945" y="1028700"/>
            <a:ext cx="7775273" cy="43137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C80788-55EF-62D9-E3FA-C0C6A90DCF04}"/>
              </a:ext>
            </a:extLst>
          </p:cNvPr>
          <p:cNvSpPr txBox="1"/>
          <p:nvPr/>
        </p:nvSpPr>
        <p:spPr>
          <a:xfrm>
            <a:off x="271638" y="924277"/>
            <a:ext cx="3587749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/>
              <a:t>The </a:t>
            </a:r>
            <a:r>
              <a:rPr lang="en-US" sz="2000" b="1"/>
              <a:t>PC</a:t>
            </a:r>
            <a:r>
              <a:rPr lang="en-US" sz="2000"/>
              <a:t> holds the </a:t>
            </a:r>
            <a:r>
              <a:rPr lang="en-US" sz="2000" b="1"/>
              <a:t>address</a:t>
            </a:r>
            <a:r>
              <a:rPr lang="en-US" sz="2000"/>
              <a:t> of the</a:t>
            </a:r>
            <a:r>
              <a:rPr lang="en-US" sz="2000" b="1"/>
              <a:t> next instruction</a:t>
            </a:r>
            <a:r>
              <a:rPr lang="en-US" sz="2000"/>
              <a:t> to be carried out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This </a:t>
            </a:r>
            <a:r>
              <a:rPr lang="en-US" sz="2000" b="1"/>
              <a:t>address</a:t>
            </a:r>
            <a:r>
              <a:rPr lang="en-US" sz="2000"/>
              <a:t> is copied into the </a:t>
            </a:r>
            <a:r>
              <a:rPr lang="en-US" sz="2000" b="1"/>
              <a:t>MAR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The</a:t>
            </a:r>
            <a:r>
              <a:rPr lang="en-US" sz="2000" b="1"/>
              <a:t> contents of the address</a:t>
            </a:r>
            <a:r>
              <a:rPr lang="en-US" sz="2000"/>
              <a:t> in the</a:t>
            </a:r>
            <a:r>
              <a:rPr lang="en-US" sz="2000" b="1"/>
              <a:t> MAR </a:t>
            </a:r>
            <a:r>
              <a:rPr lang="en-US" sz="2000"/>
              <a:t>are copied into the </a:t>
            </a:r>
            <a:r>
              <a:rPr lang="en-US" sz="2000" b="1"/>
              <a:t>MDR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The </a:t>
            </a:r>
            <a:r>
              <a:rPr lang="en-US" sz="2000" b="1"/>
              <a:t>contents</a:t>
            </a:r>
            <a:r>
              <a:rPr lang="en-US" sz="2000"/>
              <a:t> of the </a:t>
            </a:r>
            <a:r>
              <a:rPr lang="en-US" sz="2000" b="1"/>
              <a:t>MDR</a:t>
            </a:r>
            <a:r>
              <a:rPr lang="en-US" sz="2000"/>
              <a:t> are copied into the </a:t>
            </a:r>
            <a:r>
              <a:rPr lang="en-US" sz="2000" b="1"/>
              <a:t>CIR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The contents of the </a:t>
            </a:r>
            <a:r>
              <a:rPr lang="en-US" sz="2000" b="1"/>
              <a:t>PC</a:t>
            </a:r>
            <a:r>
              <a:rPr lang="en-US" sz="2000"/>
              <a:t> are </a:t>
            </a:r>
            <a:r>
              <a:rPr lang="en-US" sz="2000" b="1"/>
              <a:t>incremented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7C7BF3-6841-4F71-CF21-391C0A57A8D6}"/>
              </a:ext>
            </a:extLst>
          </p:cNvPr>
          <p:cNvSpPr/>
          <p:nvPr/>
        </p:nvSpPr>
        <p:spPr>
          <a:xfrm>
            <a:off x="105833" y="719666"/>
            <a:ext cx="3750026" cy="5672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Go to Beginning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47E4E09-6C8F-315F-C5D5-34BA95B16D9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9675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3296A-B376-8C92-3C7A-12F5DD824DDB}"/>
              </a:ext>
            </a:extLst>
          </p:cNvPr>
          <p:cNvSpPr txBox="1"/>
          <p:nvPr/>
        </p:nvSpPr>
        <p:spPr>
          <a:xfrm>
            <a:off x="254833" y="149901"/>
            <a:ext cx="26532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DECODE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D862467-20C5-505B-EB77-B54D7F4FAA4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88B342A4-7F0C-4FD3-34C9-B0700112D7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30" t="28944" b="-145"/>
          <a:stretch>
            <a:fillRect/>
          </a:stretch>
        </p:blipFill>
        <p:spPr>
          <a:xfrm>
            <a:off x="4341540" y="1411754"/>
            <a:ext cx="7850656" cy="40264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15167F-08BD-645F-ACF5-BC06B5D61AB6}"/>
              </a:ext>
            </a:extLst>
          </p:cNvPr>
          <p:cNvSpPr txBox="1"/>
          <p:nvPr/>
        </p:nvSpPr>
        <p:spPr>
          <a:xfrm>
            <a:off x="257527" y="1030110"/>
            <a:ext cx="3555999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/>
              <a:t>The </a:t>
            </a:r>
            <a:r>
              <a:rPr lang="en-US" sz="2000" b="1"/>
              <a:t>contents of the CIR</a:t>
            </a:r>
            <a:r>
              <a:rPr lang="en-US" sz="2000"/>
              <a:t> are then divided into the </a:t>
            </a:r>
            <a:r>
              <a:rPr lang="en-US" sz="2000" b="1"/>
              <a:t>binary</a:t>
            </a:r>
            <a:r>
              <a:rPr lang="en-US" sz="2000"/>
              <a:t> code standing for the operation to be carried out, and probably the address of the data that will be used by the program.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The </a:t>
            </a:r>
            <a:r>
              <a:rPr lang="en-US" sz="2000" b="1"/>
              <a:t>control unit then interprets</a:t>
            </a:r>
            <a:r>
              <a:rPr lang="en-US" sz="2000"/>
              <a:t> the operation code so that the processors knows what to do </a:t>
            </a:r>
            <a:r>
              <a:rPr lang="en-US" sz="2000" b="1"/>
              <a:t>next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D426AC-ED73-9364-6C34-9C0B8A38CA79}"/>
              </a:ext>
            </a:extLst>
          </p:cNvPr>
          <p:cNvSpPr/>
          <p:nvPr/>
        </p:nvSpPr>
        <p:spPr>
          <a:xfrm>
            <a:off x="285750" y="867832"/>
            <a:ext cx="3640666" cy="4360333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Go to Beginning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6A68B2A-A7E1-BA72-E789-356A4BFAC39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595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E26F1D-69D0-51FC-E913-2C1A84C707EC}"/>
              </a:ext>
            </a:extLst>
          </p:cNvPr>
          <p:cNvSpPr txBox="1"/>
          <p:nvPr/>
        </p:nvSpPr>
        <p:spPr>
          <a:xfrm>
            <a:off x="299803" y="119920"/>
            <a:ext cx="2848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EXECUTE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F7EA483-D04F-6CD4-3373-F8EB36FA356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diagram of a computer&#10;&#10;AI-generated content may be incorrect.">
            <a:extLst>
              <a:ext uri="{FF2B5EF4-FFF2-40B4-BE49-F238E27FC236}">
                <a16:creationId xmlns:a16="http://schemas.microsoft.com/office/drawing/2014/main" id="{A8B8ED57-F248-2DE3-0FCF-8D3A51FC9A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139" r="114"/>
          <a:stretch>
            <a:fillRect/>
          </a:stretch>
        </p:blipFill>
        <p:spPr>
          <a:xfrm>
            <a:off x="4444913" y="1147777"/>
            <a:ext cx="6146106" cy="404401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49ACEB-7614-7983-73BC-7C66AFD15054}"/>
              </a:ext>
            </a:extLst>
          </p:cNvPr>
          <p:cNvSpPr txBox="1"/>
          <p:nvPr/>
        </p:nvSpPr>
        <p:spPr>
          <a:xfrm>
            <a:off x="412750" y="1150055"/>
            <a:ext cx="3174999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sz="2000"/>
              <a:t>The </a:t>
            </a:r>
            <a:r>
              <a:rPr lang="en-US" sz="2000" b="1"/>
              <a:t>address </a:t>
            </a:r>
            <a:r>
              <a:rPr lang="en-US" sz="2000"/>
              <a:t>part of the instruction is copied from the</a:t>
            </a:r>
            <a:r>
              <a:rPr lang="en-US" sz="2000" b="1"/>
              <a:t> CIR to the MAR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The </a:t>
            </a:r>
            <a:r>
              <a:rPr lang="en-US" sz="2000" b="1"/>
              <a:t>data</a:t>
            </a:r>
            <a:r>
              <a:rPr lang="en-US" sz="2000"/>
              <a:t> found in the address in the </a:t>
            </a:r>
            <a:r>
              <a:rPr lang="en-US" sz="2000" b="1"/>
              <a:t>MAR is copied to the MDR</a:t>
            </a:r>
          </a:p>
          <a:p>
            <a:pPr marL="285750" indent="-285750">
              <a:buFont typeface="Calibri"/>
              <a:buChar char="-"/>
            </a:pPr>
            <a:endParaRPr lang="en-US" sz="2000"/>
          </a:p>
          <a:p>
            <a:pPr marL="285750" indent="-285750">
              <a:buFont typeface="Calibri"/>
              <a:buChar char="-"/>
            </a:pPr>
            <a:r>
              <a:rPr lang="en-US" sz="2000"/>
              <a:t>The data is used depending on the instruction.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F665FB-9364-CADB-F228-01D586D16611}"/>
              </a:ext>
            </a:extLst>
          </p:cNvPr>
          <p:cNvSpPr/>
          <p:nvPr/>
        </p:nvSpPr>
        <p:spPr>
          <a:xfrm>
            <a:off x="412750" y="1037168"/>
            <a:ext cx="3249082" cy="39369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Go to Beginning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A0478AB-6DE5-8B9A-4E04-CAFB1162678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BF074-D40E-6F54-E693-505E9EE440B5}"/>
              </a:ext>
            </a:extLst>
          </p:cNvPr>
          <p:cNvSpPr txBox="1"/>
          <p:nvPr/>
        </p:nvSpPr>
        <p:spPr>
          <a:xfrm>
            <a:off x="149902" y="239842"/>
            <a:ext cx="4212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/>
              <a:t>BUSES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3259C1F-9A9B-943D-66E8-B4E97E11C08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System bus - Wikipedia">
            <a:extLst>
              <a:ext uri="{FF2B5EF4-FFF2-40B4-BE49-F238E27FC236}">
                <a16:creationId xmlns:a16="http://schemas.microsoft.com/office/drawing/2014/main" id="{441413EA-EBB2-2220-1777-F0BB17D03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1951" y="3219647"/>
            <a:ext cx="5084262" cy="36337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CFE8D0-59F1-9D4E-44F1-A51AE33EAC1A}"/>
              </a:ext>
            </a:extLst>
          </p:cNvPr>
          <p:cNvSpPr txBox="1"/>
          <p:nvPr/>
        </p:nvSpPr>
        <p:spPr>
          <a:xfrm>
            <a:off x="422866" y="2119496"/>
            <a:ext cx="6009747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Control bus:</a:t>
            </a:r>
          </a:p>
          <a:p>
            <a:endParaRPr lang="en-US"/>
          </a:p>
          <a:p>
            <a:r>
              <a:rPr lang="en-US" b="1"/>
              <a:t>Bi-directional bus</a:t>
            </a:r>
            <a:r>
              <a:rPr lang="en-US"/>
              <a:t> that ensures </a:t>
            </a:r>
            <a:r>
              <a:rPr lang="en-US" b="1"/>
              <a:t>access and use</a:t>
            </a:r>
            <a:r>
              <a:rPr lang="en-US"/>
              <a:t> of data and address buses without conflict through</a:t>
            </a:r>
            <a:r>
              <a:rPr lang="en-US" b="1"/>
              <a:t> control lines.</a:t>
            </a:r>
          </a:p>
          <a:p>
            <a:endParaRPr lang="en-US"/>
          </a:p>
          <a:p>
            <a:r>
              <a:rPr lang="en-US"/>
              <a:t>E.g. of control lines: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Bus request, a device is requesting the use of the data bus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Bus grant, CPU has granted access to the data bus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Memory Write, Data on the data bus to be written in the addressed location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Memory Read, Causes data from the addressed location to be placed on the data bus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Interrupt request: Indicates that a device is requesting access to the CPU.</a:t>
            </a:r>
          </a:p>
          <a:p>
            <a:pPr marL="285750" indent="-285750">
              <a:buFont typeface="Calibri"/>
              <a:buChar char="-"/>
            </a:pPr>
            <a:r>
              <a:rPr lang="en-US"/>
              <a:t>Clock, synchronizes operation.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984ED2-7701-27BC-46C9-0BA00AF8B76C}"/>
              </a:ext>
            </a:extLst>
          </p:cNvPr>
          <p:cNvSpPr/>
          <p:nvPr/>
        </p:nvSpPr>
        <p:spPr>
          <a:xfrm>
            <a:off x="266306" y="1947267"/>
            <a:ext cx="6322614" cy="4877126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A102EE-FA89-AC5E-AF68-166FC2B4D7F4}"/>
              </a:ext>
            </a:extLst>
          </p:cNvPr>
          <p:cNvSpPr txBox="1"/>
          <p:nvPr/>
        </p:nvSpPr>
        <p:spPr>
          <a:xfrm>
            <a:off x="1477918" y="156682"/>
            <a:ext cx="6207941" cy="175432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Data Bus:</a:t>
            </a:r>
          </a:p>
          <a:p>
            <a:r>
              <a:rPr lang="en-US" b="1"/>
              <a:t>Bi- directional </a:t>
            </a:r>
            <a:r>
              <a:rPr lang="en-US"/>
              <a:t>and is used to transport </a:t>
            </a:r>
            <a:r>
              <a:rPr lang="en-US" b="1"/>
              <a:t>data</a:t>
            </a:r>
            <a:r>
              <a:rPr lang="en-US"/>
              <a:t> </a:t>
            </a:r>
          </a:p>
          <a:p>
            <a:r>
              <a:rPr lang="en-US"/>
              <a:t>and instructions between components.</a:t>
            </a:r>
          </a:p>
          <a:p>
            <a:endParaRPr lang="en-US"/>
          </a:p>
          <a:p>
            <a:r>
              <a:rPr lang="en-US"/>
              <a:t>The amount of data that can be carried depends on </a:t>
            </a:r>
          </a:p>
          <a:p>
            <a:r>
              <a:rPr lang="en-US"/>
              <a:t>the</a:t>
            </a:r>
            <a:r>
              <a:rPr lang="en-US" b="1"/>
              <a:t> word size</a:t>
            </a:r>
            <a:r>
              <a:rPr lang="en-US"/>
              <a:t> such as 8 bytes.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ACFEDF-BA41-5BCF-C366-27D83A9A2C40}"/>
              </a:ext>
            </a:extLst>
          </p:cNvPr>
          <p:cNvSpPr txBox="1"/>
          <p:nvPr/>
        </p:nvSpPr>
        <p:spPr>
          <a:xfrm>
            <a:off x="6845313" y="824752"/>
            <a:ext cx="5606842" cy="29040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Address Bus:</a:t>
            </a:r>
          </a:p>
          <a:p>
            <a:endParaRPr lang="en-US"/>
          </a:p>
          <a:p>
            <a:r>
              <a:rPr lang="en-US"/>
              <a:t>A </a:t>
            </a:r>
            <a:r>
              <a:rPr lang="en-US" b="1"/>
              <a:t>unidirectional bus</a:t>
            </a:r>
            <a:r>
              <a:rPr lang="en-US"/>
              <a:t> which is used to transmit </a:t>
            </a:r>
            <a:r>
              <a:rPr lang="en-US" b="1"/>
              <a:t>memory addresses</a:t>
            </a:r>
            <a:r>
              <a:rPr lang="en-US"/>
              <a:t> from the</a:t>
            </a:r>
            <a:r>
              <a:rPr lang="en-US" b="1"/>
              <a:t> CPU to RAM</a:t>
            </a:r>
            <a:r>
              <a:rPr lang="en-US"/>
              <a:t> specifying where data is to be sent to retrieved from.</a:t>
            </a:r>
          </a:p>
          <a:p>
            <a:endParaRPr lang="en-US"/>
          </a:p>
          <a:p>
            <a:r>
              <a:rPr lang="en-US"/>
              <a:t>The width of the address bus is proportional to the </a:t>
            </a:r>
            <a:r>
              <a:rPr lang="en-US" b="1"/>
              <a:t>number of addressable memory locations.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FC05C6-E283-3427-564C-5EE521A1DA5E}"/>
              </a:ext>
            </a:extLst>
          </p:cNvPr>
          <p:cNvSpPr/>
          <p:nvPr/>
        </p:nvSpPr>
        <p:spPr>
          <a:xfrm>
            <a:off x="1488102" y="156642"/>
            <a:ext cx="5216190" cy="169173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552CA1-26EF-4E3B-EEC3-F942D0F401A4}"/>
              </a:ext>
            </a:extLst>
          </p:cNvPr>
          <p:cNvSpPr/>
          <p:nvPr/>
        </p:nvSpPr>
        <p:spPr>
          <a:xfrm>
            <a:off x="6840059" y="1284253"/>
            <a:ext cx="5314904" cy="1926916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EC10CF4-4B06-7441-A19F-F3589146C79C}"/>
              </a:ext>
            </a:extLst>
          </p:cNvPr>
          <p:cNvSpPr/>
          <p:nvPr/>
        </p:nvSpPr>
        <p:spPr>
          <a:xfrm>
            <a:off x="6855695" y="825018"/>
            <a:ext cx="1613402" cy="47511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ction Button: Go to Beginning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F83D601-40F5-BFF4-5C0A-A391E782796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9340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1929F9-7989-AA61-3912-FDB569227B12}"/>
              </a:ext>
            </a:extLst>
          </p:cNvPr>
          <p:cNvSpPr txBox="1"/>
          <p:nvPr/>
        </p:nvSpPr>
        <p:spPr>
          <a:xfrm>
            <a:off x="359764" y="254833"/>
            <a:ext cx="3792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OPERATION CODE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8C32228-0CD9-17B3-11E0-E00A46BFE74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40">
            <a:extLst>
              <a:ext uri="{FF2B5EF4-FFF2-40B4-BE49-F238E27FC236}">
                <a16:creationId xmlns:a16="http://schemas.microsoft.com/office/drawing/2014/main" id="{AB4368AF-054A-445C-5EF0-556F9206511D}"/>
              </a:ext>
            </a:extLst>
          </p:cNvPr>
          <p:cNvSpPr txBox="1"/>
          <p:nvPr/>
        </p:nvSpPr>
        <p:spPr>
          <a:xfrm>
            <a:off x="590087" y="1238423"/>
            <a:ext cx="641032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Example of an instruction with a 16-bit word format that would be transferred by the data/ address bus.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DCA56C39-5D49-4481-686C-88FD58109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017" y="2209896"/>
            <a:ext cx="7410450" cy="131445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589CD90-C211-332E-3460-DCB817DC4D2C}"/>
              </a:ext>
            </a:extLst>
          </p:cNvPr>
          <p:cNvSpPr txBox="1"/>
          <p:nvPr/>
        </p:nvSpPr>
        <p:spPr>
          <a:xfrm>
            <a:off x="592666" y="3859389"/>
            <a:ext cx="809624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instruction is split into the</a:t>
            </a:r>
            <a:r>
              <a:rPr lang="en-US" b="1"/>
              <a:t> Operand and Opcode in the CIR.</a:t>
            </a:r>
          </a:p>
          <a:p>
            <a:endParaRPr lang="en-US" b="1"/>
          </a:p>
          <a:p>
            <a:r>
              <a:rPr lang="en-US"/>
              <a:t>The Opcode contains the </a:t>
            </a:r>
            <a:r>
              <a:rPr lang="en-US" b="1"/>
              <a:t>type of instruction</a:t>
            </a:r>
            <a:r>
              <a:rPr lang="en-US"/>
              <a:t>, and the Operand contains the </a:t>
            </a:r>
            <a:r>
              <a:rPr lang="en-US" b="1"/>
              <a:t>data or the address</a:t>
            </a:r>
            <a:r>
              <a:rPr lang="en-US"/>
              <a:t> of the data upon which the operation is to be performed.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C1FC06F-40D7-A9A9-641F-D64BF6605A97}"/>
              </a:ext>
            </a:extLst>
          </p:cNvPr>
          <p:cNvSpPr/>
          <p:nvPr/>
        </p:nvSpPr>
        <p:spPr>
          <a:xfrm>
            <a:off x="476250" y="3693583"/>
            <a:ext cx="8276166" cy="150283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ction Button: Go to Beginning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9047CEE-16D4-A0CA-CAA8-0B8BED6484CB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44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7F2F50-7725-77DE-3E51-09F4F6403F45}"/>
              </a:ext>
            </a:extLst>
          </p:cNvPr>
          <p:cNvSpPr txBox="1"/>
          <p:nvPr/>
        </p:nvSpPr>
        <p:spPr>
          <a:xfrm>
            <a:off x="344772" y="235699"/>
            <a:ext cx="2338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CACHE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4FB8598-5D04-4D20-473E-07411A3CF2A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78FBA-C897-619E-B53B-447B2DBD4AC0}"/>
              </a:ext>
            </a:extLst>
          </p:cNvPr>
          <p:cNvSpPr txBox="1"/>
          <p:nvPr/>
        </p:nvSpPr>
        <p:spPr>
          <a:xfrm>
            <a:off x="438639" y="762401"/>
            <a:ext cx="555615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  <a:p>
            <a:endParaRPr lang="en-US"/>
          </a:p>
          <a:p>
            <a:r>
              <a:rPr lang="en-US"/>
              <a:t>A part of the main memory storage between the CPU and the rest of the memory. </a:t>
            </a:r>
          </a:p>
          <a:p>
            <a:endParaRPr lang="en-US"/>
          </a:p>
          <a:p>
            <a:r>
              <a:rPr lang="en-US"/>
              <a:t>It has </a:t>
            </a:r>
            <a:r>
              <a:rPr lang="en-US" b="1"/>
              <a:t>extremely fast access,</a:t>
            </a:r>
            <a:r>
              <a:rPr lang="en-US"/>
              <a:t> so sections of a program and its associated data are copied there to take advantage of its</a:t>
            </a:r>
            <a:r>
              <a:rPr lang="en-US" b="1"/>
              <a:t> short fetch cycle.</a:t>
            </a:r>
          </a:p>
        </p:txBody>
      </p:sp>
      <p:pic>
        <p:nvPicPr>
          <p:cNvPr id="5" name="Picture 4" descr="A diagram of a memory&#10;&#10;AI-generated content may be incorrect.">
            <a:extLst>
              <a:ext uri="{FF2B5EF4-FFF2-40B4-BE49-F238E27FC236}">
                <a16:creationId xmlns:a16="http://schemas.microsoft.com/office/drawing/2014/main" id="{1FCBFC3D-5BE0-DF79-A817-86DD01DE7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3424418"/>
            <a:ext cx="4895850" cy="3114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DEB546-1D15-B7DA-EECA-C499FE4EFD2D}"/>
              </a:ext>
            </a:extLst>
          </p:cNvPr>
          <p:cNvSpPr txBox="1"/>
          <p:nvPr/>
        </p:nvSpPr>
        <p:spPr>
          <a:xfrm>
            <a:off x="6281766" y="535505"/>
            <a:ext cx="539057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   Three Cache Types:</a:t>
            </a:r>
          </a:p>
          <a:p>
            <a:endParaRPr lang="en-US"/>
          </a:p>
          <a:p>
            <a:r>
              <a:rPr lang="en-US"/>
              <a:t>Level 1: Loaded </a:t>
            </a:r>
            <a:r>
              <a:rPr lang="en-US" b="1"/>
              <a:t>directly on the CPU</a:t>
            </a:r>
            <a:r>
              <a:rPr lang="en-US"/>
              <a:t> itself, very </a:t>
            </a:r>
            <a:r>
              <a:rPr lang="en-US" b="1"/>
              <a:t>low capacity,</a:t>
            </a:r>
            <a:r>
              <a:rPr lang="en-US"/>
              <a:t> very expensive, </a:t>
            </a:r>
            <a:r>
              <a:rPr lang="en-US" b="1"/>
              <a:t>typically runs at the same speed as CPU</a:t>
            </a:r>
          </a:p>
          <a:p>
            <a:endParaRPr lang="en-US"/>
          </a:p>
          <a:p>
            <a:r>
              <a:rPr lang="en-US"/>
              <a:t>Level 2: Often part of the CPU module, still expensive, </a:t>
            </a:r>
            <a:r>
              <a:rPr lang="en-US" b="1"/>
              <a:t>larger capacity</a:t>
            </a:r>
            <a:r>
              <a:rPr lang="en-US"/>
              <a:t> but less than 1MB</a:t>
            </a:r>
          </a:p>
          <a:p>
            <a:endParaRPr lang="en-US"/>
          </a:p>
          <a:p>
            <a:r>
              <a:rPr lang="en-US"/>
              <a:t>Level 3: Often located further away on the motherboard, less expensive and</a:t>
            </a:r>
            <a:r>
              <a:rPr lang="en-US" b="1"/>
              <a:t> larger capacity –</a:t>
            </a:r>
            <a:r>
              <a:rPr lang="en-US"/>
              <a:t> multiple MBs. Typically shared between cores.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589150-DDAC-DB91-0F9C-320590910D34}"/>
              </a:ext>
            </a:extLst>
          </p:cNvPr>
          <p:cNvSpPr txBox="1"/>
          <p:nvPr/>
        </p:nvSpPr>
        <p:spPr>
          <a:xfrm>
            <a:off x="5994162" y="4308187"/>
            <a:ext cx="595240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The </a:t>
            </a:r>
            <a:r>
              <a:rPr lang="en-US" b="1"/>
              <a:t>larger the cache size the faster the CPU can perform.</a:t>
            </a:r>
            <a:r>
              <a:rPr lang="en-US"/>
              <a:t> The other factors of CPU performance are:</a:t>
            </a:r>
          </a:p>
          <a:p>
            <a:endParaRPr lang="en-US"/>
          </a:p>
          <a:p>
            <a:r>
              <a:rPr lang="en-US" b="1"/>
              <a:t>Clock Speed:</a:t>
            </a:r>
            <a:r>
              <a:rPr lang="en-US"/>
              <a:t> Time taken for one clock cycle to complete</a:t>
            </a:r>
          </a:p>
          <a:p>
            <a:endParaRPr lang="en-US"/>
          </a:p>
          <a:p>
            <a:r>
              <a:rPr lang="en-US" b="1"/>
              <a:t>Number of cores:</a:t>
            </a:r>
            <a:r>
              <a:rPr lang="en-US"/>
              <a:t> Number of</a:t>
            </a:r>
            <a:r>
              <a:rPr lang="en-US" b="1"/>
              <a:t> independent processors</a:t>
            </a:r>
            <a:r>
              <a:rPr lang="en-US"/>
              <a:t> that can run FDE cycles although not all programs are able to utilize multiple cores efficiently.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9B445F-DA3E-1AE3-331D-9FDF09CB1F67}"/>
              </a:ext>
            </a:extLst>
          </p:cNvPr>
          <p:cNvSpPr/>
          <p:nvPr/>
        </p:nvSpPr>
        <p:spPr>
          <a:xfrm>
            <a:off x="328082" y="1291166"/>
            <a:ext cx="5693833" cy="190499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43CF59-3609-0547-3A41-CE43A628AC7C}"/>
              </a:ext>
            </a:extLst>
          </p:cNvPr>
          <p:cNvSpPr/>
          <p:nvPr/>
        </p:nvSpPr>
        <p:spPr>
          <a:xfrm>
            <a:off x="6362786" y="1128610"/>
            <a:ext cx="5119680" cy="31146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A948A-83E2-769D-A332-EA9BC1A399D8}"/>
              </a:ext>
            </a:extLst>
          </p:cNvPr>
          <p:cNvSpPr/>
          <p:nvPr/>
        </p:nvSpPr>
        <p:spPr>
          <a:xfrm>
            <a:off x="5979583" y="4296832"/>
            <a:ext cx="5968999" cy="2455333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Go to Beginning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B9D9696-8BFF-07D7-9EC7-222AFC1D882D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D29C05-D85E-C16C-3427-F20972AB9C46}"/>
              </a:ext>
            </a:extLst>
          </p:cNvPr>
          <p:cNvSpPr/>
          <p:nvPr/>
        </p:nvSpPr>
        <p:spPr>
          <a:xfrm>
            <a:off x="6362786" y="481959"/>
            <a:ext cx="2685738" cy="6466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0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141CEC-66BD-8603-4CAF-BB8832DC81D1}"/>
              </a:ext>
            </a:extLst>
          </p:cNvPr>
          <p:cNvSpPr txBox="1"/>
          <p:nvPr/>
        </p:nvSpPr>
        <p:spPr>
          <a:xfrm>
            <a:off x="299803" y="299803"/>
            <a:ext cx="2503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PIPELINING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FE2C352-9327-FE06-3DDF-06BD0188A38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 descr="A diagram of a computer chip&#10;&#10;AI-generated content may be incorrect.">
            <a:extLst>
              <a:ext uri="{FF2B5EF4-FFF2-40B4-BE49-F238E27FC236}">
                <a16:creationId xmlns:a16="http://schemas.microsoft.com/office/drawing/2014/main" id="{5EA6951A-44BC-D3EB-8D05-2FFE53E50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75" y="3738563"/>
            <a:ext cx="6361395" cy="28046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94B587-FE6C-6CDE-9459-F76C5A5144D9}"/>
              </a:ext>
            </a:extLst>
          </p:cNvPr>
          <p:cNvSpPr txBox="1"/>
          <p:nvPr/>
        </p:nvSpPr>
        <p:spPr>
          <a:xfrm>
            <a:off x="501174" y="1028707"/>
            <a:ext cx="775379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Process of carrying out </a:t>
            </a:r>
            <a:r>
              <a:rPr lang="en-US" b="1"/>
              <a:t>multiple instructions simultaneously</a:t>
            </a:r>
            <a:r>
              <a:rPr lang="en-US"/>
              <a:t> by having each instruction at a</a:t>
            </a:r>
            <a:r>
              <a:rPr lang="en-US" b="1"/>
              <a:t> different stage of the FDE cycle.</a:t>
            </a:r>
          </a:p>
          <a:p>
            <a:endParaRPr lang="en-US"/>
          </a:p>
          <a:p>
            <a:r>
              <a:rPr lang="en-US"/>
              <a:t>It is used to reduce the time the </a:t>
            </a:r>
            <a:r>
              <a:rPr lang="en-US" b="1"/>
              <a:t>CPU is idle</a:t>
            </a:r>
            <a:r>
              <a:rPr lang="en-US"/>
              <a:t>,</a:t>
            </a:r>
            <a:r>
              <a:rPr lang="en-US" b="1"/>
              <a:t> reduce latency</a:t>
            </a:r>
            <a:r>
              <a:rPr lang="en-US"/>
              <a:t> and so </a:t>
            </a:r>
            <a:r>
              <a:rPr lang="en-US" b="1"/>
              <a:t>all parts</a:t>
            </a:r>
            <a:r>
              <a:rPr lang="en-US"/>
              <a:t> of the processors can be used at any instance in time.</a:t>
            </a:r>
          </a:p>
          <a:p>
            <a:endParaRPr lang="en-US"/>
          </a:p>
          <a:p>
            <a:r>
              <a:rPr lang="en-US"/>
              <a:t>In the case of a</a:t>
            </a:r>
            <a:r>
              <a:rPr lang="en-US" b="1"/>
              <a:t> "branch" </a:t>
            </a:r>
            <a:r>
              <a:rPr lang="en-US"/>
              <a:t>(selection) the </a:t>
            </a:r>
            <a:r>
              <a:rPr lang="en-US" b="1"/>
              <a:t>pipeline is flushed</a:t>
            </a:r>
            <a:r>
              <a:rPr lang="en-US"/>
              <a:t> – the CPU cannot ensure that it will correctly process its instruction pipeline in the next clock cycle, so it restarts the pipelining process.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098A3-E725-C3E2-A3DE-3B6BF5D8216E}"/>
              </a:ext>
            </a:extLst>
          </p:cNvPr>
          <p:cNvSpPr/>
          <p:nvPr/>
        </p:nvSpPr>
        <p:spPr>
          <a:xfrm>
            <a:off x="306916" y="888999"/>
            <a:ext cx="8075083" cy="270933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ction Button: Go to Beginning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BC5B544-A07F-3D1C-8ADE-C2B7BBDA7E4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6624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8A176F-E033-7B96-60AF-6FB29A10CC1A}"/>
              </a:ext>
            </a:extLst>
          </p:cNvPr>
          <p:cNvSpPr txBox="1"/>
          <p:nvPr/>
        </p:nvSpPr>
        <p:spPr>
          <a:xfrm>
            <a:off x="378501" y="197582"/>
            <a:ext cx="60935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ARCHITECTURE</a:t>
            </a:r>
          </a:p>
        </p:txBody>
      </p:sp>
      <p:sp>
        <p:nvSpPr>
          <p:cNvPr id="4" name="Action Button: Go Home 3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7D52052-9C84-CA82-B323-741D75E11DF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85FC63-848B-B222-8977-6523033BDDC9}"/>
              </a:ext>
            </a:extLst>
          </p:cNvPr>
          <p:cNvSpPr txBox="1"/>
          <p:nvPr/>
        </p:nvSpPr>
        <p:spPr>
          <a:xfrm>
            <a:off x="177773" y="1190387"/>
            <a:ext cx="574269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Von Neumann architecture:</a:t>
            </a:r>
          </a:p>
          <a:p>
            <a:endParaRPr lang="en-US" b="1"/>
          </a:p>
          <a:p>
            <a:r>
              <a:rPr lang="en-US"/>
              <a:t>Includes the basic components of the computer and processor in which a</a:t>
            </a:r>
            <a:r>
              <a:rPr lang="en-US" b="1"/>
              <a:t> shared memory and data bus</a:t>
            </a:r>
            <a:r>
              <a:rPr lang="en-US"/>
              <a:t> is used for both data and instructions. </a:t>
            </a:r>
          </a:p>
          <a:p>
            <a:r>
              <a:rPr lang="en-US"/>
              <a:t>Von Neumann architecture is built on the stored program concept.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10D15C-87C8-4039-D88D-A244F265AADB}"/>
              </a:ext>
            </a:extLst>
          </p:cNvPr>
          <p:cNvSpPr txBox="1"/>
          <p:nvPr/>
        </p:nvSpPr>
        <p:spPr>
          <a:xfrm>
            <a:off x="167147" y="3425455"/>
            <a:ext cx="5920559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Harvard architecture:</a:t>
            </a:r>
          </a:p>
          <a:p>
            <a:endParaRPr lang="en-US"/>
          </a:p>
          <a:p>
            <a:r>
              <a:rPr lang="en-US" b="1"/>
              <a:t>Physically separate memories</a:t>
            </a:r>
            <a:r>
              <a:rPr lang="en-US"/>
              <a:t> for instructions and data, more commonly used with embedded processors. This is useful for when memories h</a:t>
            </a:r>
            <a:r>
              <a:rPr lang="en-US" b="1"/>
              <a:t>ave different characteristics.</a:t>
            </a:r>
            <a:r>
              <a:rPr lang="en-US"/>
              <a:t> </a:t>
            </a:r>
          </a:p>
          <a:p>
            <a:endParaRPr lang="en-US"/>
          </a:p>
          <a:p>
            <a:r>
              <a:rPr lang="en-US"/>
              <a:t>For example, instructions may be read only whilst data may be read-write.</a:t>
            </a:r>
          </a:p>
          <a:p>
            <a:endParaRPr lang="en-US"/>
          </a:p>
          <a:p>
            <a:r>
              <a:rPr lang="en-US"/>
              <a:t>This allows you to </a:t>
            </a:r>
            <a:r>
              <a:rPr lang="en-US" b="1"/>
              <a:t>optimize the size </a:t>
            </a:r>
            <a:r>
              <a:rPr lang="en-US"/>
              <a:t>of individual memory  cells and their buses depending on the needs.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9C3A1B-78AD-D8B8-9C20-B5DA873EB8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1459730"/>
              </p:ext>
            </p:extLst>
          </p:nvPr>
        </p:nvGraphicFramePr>
        <p:xfrm>
          <a:off x="6002054" y="1544876"/>
          <a:ext cx="6174560" cy="524565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87280">
                  <a:extLst>
                    <a:ext uri="{9D8B030D-6E8A-4147-A177-3AD203B41FA5}">
                      <a16:colId xmlns:a16="http://schemas.microsoft.com/office/drawing/2014/main" val="3029671478"/>
                    </a:ext>
                  </a:extLst>
                </a:gridCol>
                <a:gridCol w="3087280">
                  <a:extLst>
                    <a:ext uri="{9D8B030D-6E8A-4147-A177-3AD203B41FA5}">
                      <a16:colId xmlns:a16="http://schemas.microsoft.com/office/drawing/2014/main" val="3594017471"/>
                    </a:ext>
                  </a:extLst>
                </a:gridCol>
              </a:tblGrid>
              <a:tr h="569138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VON NEUMANN ARCHITECTURE: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9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A578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 b="1">
                          <a:solidFill>
                            <a:srgbClr val="FFFFFF"/>
                          </a:solidFill>
                          <a:effectLst/>
                          <a:latin typeface="Segoe UI"/>
                        </a:rPr>
                        <a:t>HARVARD ARCHITECTURE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09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5A5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971067"/>
                  </a:ext>
                </a:extLst>
              </a:tr>
              <a:tr h="1554719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>
                          <a:effectLst/>
                          <a:latin typeface="Segoe UI"/>
                        </a:rPr>
                        <a:t>Used in 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conventional processors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in PCs, s and embedded systems with only control functions.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9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>
                          <a:effectLst/>
                          <a:latin typeface="Segoe UI"/>
                        </a:rPr>
                        <a:t>Used In digital signal processing and in 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embedded systems,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mobile communication systems, audio, speech and image processing systems.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095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409601"/>
                  </a:ext>
                </a:extLst>
              </a:tr>
              <a:tr h="569138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>
                          <a:effectLst/>
                          <a:latin typeface="Segoe UI"/>
                        </a:rPr>
                        <a:t>Data and programs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 share the same memory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>
                          <a:effectLst/>
                          <a:latin typeface="Segoe UI"/>
                        </a:rPr>
                        <a:t>Instructions and data are held in 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separate memories.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383595"/>
                  </a:ext>
                </a:extLst>
              </a:tr>
              <a:tr h="569138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 b="1">
                          <a:effectLst/>
                          <a:latin typeface="Segoe UI"/>
                        </a:rPr>
                        <a:t>One bus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is used to transfer data and instructions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 b="1">
                          <a:effectLst/>
                          <a:latin typeface="Segoe UI"/>
                        </a:rPr>
                        <a:t>Parallel </a:t>
                      </a:r>
                      <a:r>
                        <a:rPr lang="en-GB" sz="1600">
                          <a:effectLst/>
                          <a:latin typeface="Segoe UI"/>
                        </a:rPr>
                        <a:t>data and instruction buses may be used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065126"/>
                  </a:ext>
                </a:extLst>
              </a:tr>
              <a:tr h="819003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>
                          <a:effectLst/>
                          <a:latin typeface="Segoe UI"/>
                        </a:rPr>
                        <a:t>Programs can be 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optimized in size.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>
                          <a:effectLst/>
                          <a:latin typeface="Segoe UI"/>
                        </a:rPr>
                        <a:t>Memories can be 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different sizes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which makes more </a:t>
                      </a:r>
                      <a:r>
                        <a:rPr lang="en-GB" sz="1600" b="1">
                          <a:effectLst/>
                          <a:latin typeface="Segoe UI"/>
                        </a:rPr>
                        <a:t>efficient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use of space.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7317491"/>
                  </a:ext>
                </a:extLst>
              </a:tr>
              <a:tr h="819003"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 b="1">
                          <a:effectLst/>
                          <a:latin typeface="Segoe UI"/>
                        </a:rPr>
                        <a:t>Cheaper to develop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as control unit is easier to design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6"/>
                    </a:solidFill>
                  </a:tcPr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ts val="2175"/>
                        </a:lnSpc>
                        <a:buNone/>
                      </a:pPr>
                      <a:r>
                        <a:rPr lang="en-GB" sz="1600" b="1">
                          <a:effectLst/>
                          <a:latin typeface="Segoe UI"/>
                        </a:rPr>
                        <a:t>Quicker execution</a:t>
                      </a:r>
                      <a:r>
                        <a:rPr lang="en-GB" sz="1600">
                          <a:effectLst/>
                          <a:latin typeface="Segoe UI"/>
                        </a:rPr>
                        <a:t> as data and instructions are fetched parallel to one another.</a:t>
                      </a: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1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26322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EAEBB2E-025A-3D0D-50B3-3E1752E0DF71}"/>
              </a:ext>
            </a:extLst>
          </p:cNvPr>
          <p:cNvSpPr txBox="1"/>
          <p:nvPr/>
        </p:nvSpPr>
        <p:spPr>
          <a:xfrm>
            <a:off x="3430508" y="-26076"/>
            <a:ext cx="6882725" cy="14877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Contemporary processing:</a:t>
            </a:r>
          </a:p>
          <a:p>
            <a:endParaRPr lang="en-US"/>
          </a:p>
          <a:p>
            <a:r>
              <a:rPr lang="en-US"/>
              <a:t>A </a:t>
            </a:r>
            <a:r>
              <a:rPr lang="en-US" b="1"/>
              <a:t>combination</a:t>
            </a:r>
            <a:r>
              <a:rPr lang="en-US"/>
              <a:t> of Harvard and Von Neumann. Von Neumann is used when working with data and instructions in main memory, Harvard architecture to </a:t>
            </a:r>
            <a:r>
              <a:rPr lang="en-US" b="1"/>
              <a:t>divide the cache</a:t>
            </a:r>
            <a:r>
              <a:rPr lang="en-US"/>
              <a:t> into instruction and data cache.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02DBE1-B833-85B4-2B6E-6A7885F58D92}"/>
              </a:ext>
            </a:extLst>
          </p:cNvPr>
          <p:cNvSpPr/>
          <p:nvPr/>
        </p:nvSpPr>
        <p:spPr>
          <a:xfrm>
            <a:off x="3414803" y="46993"/>
            <a:ext cx="6698558" cy="137845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C985F4-1EF9-7CC8-F982-B03883387B58}"/>
              </a:ext>
            </a:extLst>
          </p:cNvPr>
          <p:cNvSpPr/>
          <p:nvPr/>
        </p:nvSpPr>
        <p:spPr>
          <a:xfrm>
            <a:off x="93985" y="1629080"/>
            <a:ext cx="5435490" cy="184837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CF2B24-48FA-BBFB-3DF4-75DAA4844296}"/>
              </a:ext>
            </a:extLst>
          </p:cNvPr>
          <p:cNvSpPr/>
          <p:nvPr/>
        </p:nvSpPr>
        <p:spPr>
          <a:xfrm>
            <a:off x="172306" y="1143488"/>
            <a:ext cx="2929212" cy="48559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27C4C7-FD02-58E3-00B1-69B27BDDC52F}"/>
              </a:ext>
            </a:extLst>
          </p:cNvPr>
          <p:cNvSpPr/>
          <p:nvPr/>
        </p:nvSpPr>
        <p:spPr>
          <a:xfrm>
            <a:off x="146162" y="3472261"/>
            <a:ext cx="5764466" cy="339905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ction Button: Go to Beginning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FF0A4C3-2BE1-2F68-5774-2D743564860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515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1F8D75B-944A-B1B7-EACD-481D000C994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20B55-3753-6070-C99A-BA877E9F23FA}"/>
              </a:ext>
            </a:extLst>
          </p:cNvPr>
          <p:cNvSpPr txBox="1"/>
          <p:nvPr/>
        </p:nvSpPr>
        <p:spPr>
          <a:xfrm>
            <a:off x="224852" y="175098"/>
            <a:ext cx="62508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SLR2 TYPES OF PROCESSORS</a:t>
            </a:r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F2EAC64-D8DC-F47B-EB7C-BB0365B2DE40}"/>
              </a:ext>
            </a:extLst>
          </p:cNvPr>
          <p:cNvSpPr/>
          <p:nvPr/>
        </p:nvSpPr>
        <p:spPr>
          <a:xfrm>
            <a:off x="224852" y="1028700"/>
            <a:ext cx="1039318" cy="10287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E4025E-C4F2-F40E-323D-E69F3400561D}"/>
              </a:ext>
            </a:extLst>
          </p:cNvPr>
          <p:cNvSpPr txBox="1"/>
          <p:nvPr/>
        </p:nvSpPr>
        <p:spPr>
          <a:xfrm>
            <a:off x="1588957" y="1358384"/>
            <a:ext cx="3462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CISC &amp; RISC</a:t>
            </a:r>
          </a:p>
        </p:txBody>
      </p:sp>
      <p:sp>
        <p:nvSpPr>
          <p:cNvPr id="6" name="Action Button: Go Forward or Nex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0ED9271-55B0-143A-9551-46F00C690CF8}"/>
              </a:ext>
            </a:extLst>
          </p:cNvPr>
          <p:cNvSpPr/>
          <p:nvPr/>
        </p:nvSpPr>
        <p:spPr>
          <a:xfrm>
            <a:off x="224852" y="2590175"/>
            <a:ext cx="1039318" cy="10287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CFEC1C-020F-C0D1-0AD8-E037D846F0DF}"/>
              </a:ext>
            </a:extLst>
          </p:cNvPr>
          <p:cNvSpPr txBox="1"/>
          <p:nvPr/>
        </p:nvSpPr>
        <p:spPr>
          <a:xfrm>
            <a:off x="1913744" y="2908092"/>
            <a:ext cx="1963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GPUS</a:t>
            </a:r>
          </a:p>
        </p:txBody>
      </p:sp>
      <p:sp>
        <p:nvSpPr>
          <p:cNvPr id="8" name="Action Button: Go Forward or Next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2F914C6E-B94C-2D90-609B-7E24486CBE6C}"/>
              </a:ext>
            </a:extLst>
          </p:cNvPr>
          <p:cNvSpPr/>
          <p:nvPr/>
        </p:nvSpPr>
        <p:spPr>
          <a:xfrm>
            <a:off x="224852" y="4151650"/>
            <a:ext cx="1039318" cy="102870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6136AD-35BC-E8BF-CD18-36A4CEDD73BB}"/>
              </a:ext>
            </a:extLst>
          </p:cNvPr>
          <p:cNvSpPr txBox="1"/>
          <p:nvPr/>
        </p:nvSpPr>
        <p:spPr>
          <a:xfrm>
            <a:off x="1708878" y="4481334"/>
            <a:ext cx="278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MULTI-CORE PARALLEL</a:t>
            </a:r>
          </a:p>
        </p:txBody>
      </p:sp>
    </p:spTree>
    <p:extLst>
      <p:ext uri="{BB962C8B-B14F-4D97-AF65-F5344CB8AC3E}">
        <p14:creationId xmlns:p14="http://schemas.microsoft.com/office/powerpoint/2010/main" val="190007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7FD19-4DD9-65B2-803C-9DA8CFA42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1B3CD57-79AE-E20E-0403-81D6792D148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9994E6-D5A9-2C9C-0DD1-39F07B51D36F}"/>
              </a:ext>
            </a:extLst>
          </p:cNvPr>
          <p:cNvSpPr txBox="1"/>
          <p:nvPr/>
        </p:nvSpPr>
        <p:spPr>
          <a:xfrm>
            <a:off x="104931" y="145018"/>
            <a:ext cx="3462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CISC &amp; RISC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8E38D92-2DF7-0676-1FDF-F4B2235F10D9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AD4786-BEF4-3006-DADD-7DAA7AEA2887}"/>
              </a:ext>
            </a:extLst>
          </p:cNvPr>
          <p:cNvSpPr txBox="1"/>
          <p:nvPr/>
        </p:nvSpPr>
        <p:spPr>
          <a:xfrm>
            <a:off x="104931" y="1028700"/>
            <a:ext cx="9496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At the core of all computers is an </a:t>
            </a:r>
            <a:r>
              <a:rPr lang="en-GB" b="1"/>
              <a:t>instruction set: “Set of all instructions written in machine code that can be recognised and executed by a given CPU/Processing architecture.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F0FF61-861A-DB5E-A46F-C5A50675A357}"/>
              </a:ext>
            </a:extLst>
          </p:cNvPr>
          <p:cNvSpPr txBox="1"/>
          <p:nvPr/>
        </p:nvSpPr>
        <p:spPr>
          <a:xfrm>
            <a:off x="123170" y="2111252"/>
            <a:ext cx="442134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CISC</a:t>
            </a:r>
            <a:r>
              <a:rPr lang="en-GB" b="1"/>
              <a:t>: (Complex instruction Set Computer</a:t>
            </a:r>
            <a:r>
              <a:rPr lang="en-GB"/>
              <a:t>) aims to complete a tasks in as </a:t>
            </a:r>
            <a:r>
              <a:rPr lang="en-GB" b="1"/>
              <a:t>few lines as possible </a:t>
            </a:r>
            <a:r>
              <a:rPr lang="en-GB"/>
              <a:t>however it must be used with </a:t>
            </a:r>
            <a:r>
              <a:rPr lang="en-GB" b="1"/>
              <a:t>more complex hardware. </a:t>
            </a:r>
          </a:p>
          <a:p>
            <a:endParaRPr lang="en-GB" b="1"/>
          </a:p>
          <a:p>
            <a:r>
              <a:rPr lang="en-GB"/>
              <a:t>This architecture is used in </a:t>
            </a:r>
            <a:r>
              <a:rPr lang="en-GB" b="1"/>
              <a:t>most desktop computers with multiple addressing modes.</a:t>
            </a:r>
          </a:p>
          <a:p>
            <a:endParaRPr lang="en-GB"/>
          </a:p>
          <a:p>
            <a:r>
              <a:rPr lang="en-GB"/>
              <a:t>It makes more </a:t>
            </a:r>
            <a:r>
              <a:rPr lang="en-GB" b="1"/>
              <a:t>efficient use of RAM </a:t>
            </a:r>
            <a:r>
              <a:rPr lang="en-GB"/>
              <a:t>and with small code sizes the </a:t>
            </a:r>
            <a:r>
              <a:rPr lang="en-GB" b="1"/>
              <a:t>compiler is less busy.</a:t>
            </a:r>
          </a:p>
          <a:p>
            <a:endParaRPr lang="en-GB"/>
          </a:p>
          <a:p>
            <a:r>
              <a:rPr lang="en-GB"/>
              <a:t>Although, it may take </a:t>
            </a:r>
            <a:r>
              <a:rPr lang="en-GB" b="1"/>
              <a:t>more than one clock cycle </a:t>
            </a:r>
            <a:r>
              <a:rPr lang="en-GB"/>
              <a:t>for each instruction and have a </a:t>
            </a:r>
            <a:r>
              <a:rPr lang="en-GB" b="1"/>
              <a:t>greater energy consumption and Pipelining cannot be used.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88F019-E514-202F-5554-91DDB4F993D3}"/>
              </a:ext>
            </a:extLst>
          </p:cNvPr>
          <p:cNvSpPr txBox="1"/>
          <p:nvPr/>
        </p:nvSpPr>
        <p:spPr>
          <a:xfrm>
            <a:off x="4950116" y="1995162"/>
            <a:ext cx="6826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RISC: </a:t>
            </a:r>
            <a:r>
              <a:rPr lang="en-GB" b="1"/>
              <a:t>(Reduced instruction Set Computer) </a:t>
            </a:r>
            <a:r>
              <a:rPr lang="en-GB"/>
              <a:t>– aims to use simple instructions that will execute in a </a:t>
            </a:r>
            <a:r>
              <a:rPr lang="en-GB" b="1"/>
              <a:t>single clock cycle.</a:t>
            </a:r>
          </a:p>
          <a:p>
            <a:endParaRPr lang="en-GB"/>
          </a:p>
          <a:p>
            <a:r>
              <a:rPr lang="en-GB"/>
              <a:t> It is mainly used </a:t>
            </a:r>
            <a:r>
              <a:rPr lang="en-GB" b="1"/>
              <a:t>in embedded systems.</a:t>
            </a:r>
          </a:p>
          <a:p>
            <a:r>
              <a:rPr lang="en-GB"/>
              <a:t>There are </a:t>
            </a:r>
            <a:r>
              <a:rPr lang="en-GB" b="1"/>
              <a:t>fewer addressing modes </a:t>
            </a:r>
            <a:r>
              <a:rPr lang="en-GB"/>
              <a:t>as well,</a:t>
            </a:r>
          </a:p>
          <a:p>
            <a:endParaRPr lang="en-GB"/>
          </a:p>
          <a:p>
            <a:r>
              <a:rPr lang="en-GB" b="1"/>
              <a:t>Pipelining can be utilised </a:t>
            </a:r>
            <a:r>
              <a:rPr lang="en-GB"/>
              <a:t>as well RISC requires </a:t>
            </a:r>
            <a:r>
              <a:rPr lang="en-GB" b="1"/>
              <a:t>fewer transistors </a:t>
            </a:r>
            <a:r>
              <a:rPr lang="en-GB"/>
              <a:t>and </a:t>
            </a:r>
            <a:r>
              <a:rPr lang="en-GB" b="1"/>
              <a:t>less complex hardware leaving more room for registers and cache </a:t>
            </a:r>
            <a:r>
              <a:rPr lang="en-GB"/>
              <a:t>whilst also </a:t>
            </a:r>
            <a:r>
              <a:rPr lang="en-GB" b="1"/>
              <a:t>needing less power</a:t>
            </a:r>
          </a:p>
          <a:p>
            <a:endParaRPr lang="en-GB"/>
          </a:p>
          <a:p>
            <a:r>
              <a:rPr lang="en-GB"/>
              <a:t>Although, </a:t>
            </a:r>
            <a:r>
              <a:rPr lang="en-GB" b="1"/>
              <a:t>the compiler must do more </a:t>
            </a:r>
            <a:r>
              <a:rPr lang="en-GB"/>
              <a:t>conversions and needs </a:t>
            </a:r>
            <a:r>
              <a:rPr lang="en-GB" b="1"/>
              <a:t>more RAM.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A47B1F-D7C1-FDAE-A8F5-A9FBA4F3347C}"/>
              </a:ext>
            </a:extLst>
          </p:cNvPr>
          <p:cNvSpPr txBox="1"/>
          <p:nvPr/>
        </p:nvSpPr>
        <p:spPr>
          <a:xfrm>
            <a:off x="4846320" y="5890824"/>
            <a:ext cx="6826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However, when RISC started there was a </a:t>
            </a:r>
            <a:r>
              <a:rPr lang="en-GB" b="1"/>
              <a:t>lack of software support </a:t>
            </a:r>
            <a:r>
              <a:rPr lang="en-GB"/>
              <a:t>as most companies did not want to take the risk of using it. However now, </a:t>
            </a:r>
            <a:r>
              <a:rPr lang="en-GB" b="1"/>
              <a:t>CISC is not used much compared to RISC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8692A1-5436-AADB-DA1D-37305810C9BE}"/>
              </a:ext>
            </a:extLst>
          </p:cNvPr>
          <p:cNvSpPr/>
          <p:nvPr/>
        </p:nvSpPr>
        <p:spPr>
          <a:xfrm>
            <a:off x="104931" y="967176"/>
            <a:ext cx="9712411" cy="72904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834609-C9CB-F2E7-BDDC-229E7481D148}"/>
              </a:ext>
            </a:extLst>
          </p:cNvPr>
          <p:cNvSpPr/>
          <p:nvPr/>
        </p:nvSpPr>
        <p:spPr>
          <a:xfrm>
            <a:off x="104931" y="2056686"/>
            <a:ext cx="4421349" cy="480131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531E7C-6206-51A7-A416-40F39C248318}"/>
              </a:ext>
            </a:extLst>
          </p:cNvPr>
          <p:cNvSpPr/>
          <p:nvPr/>
        </p:nvSpPr>
        <p:spPr>
          <a:xfrm>
            <a:off x="4931877" y="2056686"/>
            <a:ext cx="6740464" cy="3480634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F619FC-1E7F-2A37-A320-175D4C6B5FC7}"/>
              </a:ext>
            </a:extLst>
          </p:cNvPr>
          <p:cNvSpPr/>
          <p:nvPr/>
        </p:nvSpPr>
        <p:spPr>
          <a:xfrm>
            <a:off x="4846320" y="5890824"/>
            <a:ext cx="7102664" cy="923330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826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96B85-BAF8-9C1C-5E95-CC8102020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0215D92-C23F-979A-6CBA-17EECB2CF20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614F74-AA99-EDC5-A6CF-BCD75A88A01C}"/>
              </a:ext>
            </a:extLst>
          </p:cNvPr>
          <p:cNvSpPr txBox="1"/>
          <p:nvPr/>
        </p:nvSpPr>
        <p:spPr>
          <a:xfrm>
            <a:off x="309797" y="145018"/>
            <a:ext cx="1963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GPUS</a:t>
            </a:r>
          </a:p>
        </p:txBody>
      </p:sp>
      <p:sp>
        <p:nvSpPr>
          <p:cNvPr id="4" name="Action Button: Go to Beginning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714E1CD-1FD5-280B-CC91-7E643EFC2C5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056F1-168E-2EAA-2287-695BB9C4B137}"/>
              </a:ext>
            </a:extLst>
          </p:cNvPr>
          <p:cNvSpPr txBox="1"/>
          <p:nvPr/>
        </p:nvSpPr>
        <p:spPr>
          <a:xfrm>
            <a:off x="480059" y="645974"/>
            <a:ext cx="63561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Co – processor = “Any additional processor used for a specific task”</a:t>
            </a:r>
          </a:p>
          <a:p>
            <a:endParaRPr lang="en-GB"/>
          </a:p>
          <a:p>
            <a:r>
              <a:rPr lang="en-GB"/>
              <a:t>A co – processor’s purpose is to </a:t>
            </a:r>
            <a:r>
              <a:rPr lang="en-GB" b="1"/>
              <a:t>improve the overall speed </a:t>
            </a:r>
            <a:r>
              <a:rPr lang="en-GB"/>
              <a:t>of the computer executing  </a:t>
            </a:r>
            <a:r>
              <a:rPr lang="en-GB" b="1"/>
              <a:t>concurrently with the main CPU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EC5701-F9BE-73E0-23CB-2D5E3A6DDB8D}"/>
              </a:ext>
            </a:extLst>
          </p:cNvPr>
          <p:cNvSpPr txBox="1"/>
          <p:nvPr/>
        </p:nvSpPr>
        <p:spPr>
          <a:xfrm>
            <a:off x="309797" y="2400300"/>
            <a:ext cx="4944591" cy="4247317"/>
          </a:xfrm>
          <a:prstGeom prst="rect">
            <a:avLst/>
          </a:prstGeom>
          <a:noFill/>
          <a:ln>
            <a:solidFill>
              <a:srgbClr val="BCEB00"/>
            </a:solidFill>
          </a:ln>
        </p:spPr>
        <p:txBody>
          <a:bodyPr wrap="square" rtlCol="0">
            <a:spAutoFit/>
          </a:bodyPr>
          <a:lstStyle/>
          <a:p>
            <a:r>
              <a:rPr lang="en-GB" b="1"/>
              <a:t>The GPU (Graphical Processing Unit) is a coprocessor </a:t>
            </a:r>
            <a:r>
              <a:rPr lang="en-GB"/>
              <a:t>with initially was used for rendering graphics as of the</a:t>
            </a:r>
            <a:r>
              <a:rPr lang="en-GB" b="1"/>
              <a:t> large number of cores </a:t>
            </a:r>
            <a:r>
              <a:rPr lang="en-GB"/>
              <a:t>it </a:t>
            </a:r>
            <a:r>
              <a:rPr lang="en-GB" b="1"/>
              <a:t>had for parallel streams </a:t>
            </a:r>
            <a:r>
              <a:rPr lang="en-GB"/>
              <a:t>of data to be processed at the same time but now it is not just limited to graphics.</a:t>
            </a:r>
          </a:p>
          <a:p>
            <a:endParaRPr lang="en-GB"/>
          </a:p>
          <a:p>
            <a:r>
              <a:rPr lang="en-GB" b="1"/>
              <a:t>GPUs typically run slower </a:t>
            </a:r>
            <a:r>
              <a:rPr lang="en-GB"/>
              <a:t>than a CPU as they are </a:t>
            </a:r>
            <a:r>
              <a:rPr lang="en-GB" b="1"/>
              <a:t>specialised</a:t>
            </a:r>
            <a:r>
              <a:rPr lang="en-GB"/>
              <a:t> and only superior in </a:t>
            </a:r>
            <a:r>
              <a:rPr lang="en-GB" b="1"/>
              <a:t>speed and efficiency in certain tasks </a:t>
            </a:r>
            <a:r>
              <a:rPr lang="en-GB"/>
              <a:t>where the </a:t>
            </a:r>
            <a:r>
              <a:rPr lang="en-GB" b="1"/>
              <a:t>CPUs are generic processing units.</a:t>
            </a:r>
          </a:p>
          <a:p>
            <a:endParaRPr lang="en-GB"/>
          </a:p>
          <a:p>
            <a:r>
              <a:rPr lang="en-GB" b="1"/>
              <a:t>CPUs – better for complex operations on small data sets</a:t>
            </a:r>
          </a:p>
          <a:p>
            <a:r>
              <a:rPr lang="en-GB" b="1"/>
              <a:t>GPUSs- better for simple operations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6D8D1-DE84-E8DE-F199-7DD39B61023A}"/>
              </a:ext>
            </a:extLst>
          </p:cNvPr>
          <p:cNvSpPr txBox="1"/>
          <p:nvPr/>
        </p:nvSpPr>
        <p:spPr>
          <a:xfrm>
            <a:off x="5509260" y="2392346"/>
            <a:ext cx="60230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GPUs are designed so a simple instruction can work quickly over a </a:t>
            </a:r>
            <a:r>
              <a:rPr lang="en-GB" b="1"/>
              <a:t>large block of similar data</a:t>
            </a:r>
            <a:r>
              <a:rPr lang="en-GB"/>
              <a:t>, repeating operations such as matrices/vectors and rendering graphics. </a:t>
            </a:r>
          </a:p>
          <a:p>
            <a:endParaRPr lang="en-GB"/>
          </a:p>
          <a:p>
            <a:r>
              <a:rPr lang="en-GB"/>
              <a:t>Rendering graphics can involve lots of </a:t>
            </a:r>
            <a:r>
              <a:rPr lang="en-GB" b="1"/>
              <a:t>parallel processing as each calculation is not dependent </a:t>
            </a:r>
            <a:r>
              <a:rPr lang="en-GB"/>
              <a:t>on other ones like RGB, XYZ positions and assigned textures which the GPU can perform well as it can perform thousands </a:t>
            </a:r>
            <a:r>
              <a:rPr lang="en-GB" b="1"/>
              <a:t>of floating-point operations </a:t>
            </a:r>
            <a:r>
              <a:rPr lang="en-GB"/>
              <a:t>much faster than the CPU.</a:t>
            </a:r>
          </a:p>
          <a:p>
            <a:endParaRPr lang="en-GB"/>
          </a:p>
          <a:p>
            <a:r>
              <a:rPr lang="en-GB"/>
              <a:t>But now, the GPU is used in </a:t>
            </a:r>
            <a:r>
              <a:rPr lang="en-GB" b="1"/>
              <a:t>oil exploration, weather modelling, linear algebra, statistical analysis, stock option predictions, gravitational field theory, machine learning.</a:t>
            </a:r>
          </a:p>
        </p:txBody>
      </p:sp>
      <p:pic>
        <p:nvPicPr>
          <p:cNvPr id="1026" name="Picture 2" descr="GPUs vs. CPUs: Understanding Their Role in Modern Computing - Techtecho">
            <a:extLst>
              <a:ext uri="{FF2B5EF4-FFF2-40B4-BE49-F238E27FC236}">
                <a16:creationId xmlns:a16="http://schemas.microsoft.com/office/drawing/2014/main" id="{4612C6DD-9FAC-8A58-FC51-991D26C83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200" y="0"/>
            <a:ext cx="3277161" cy="171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FBFB849-3471-3F30-F341-96434E26D3B9}"/>
              </a:ext>
            </a:extLst>
          </p:cNvPr>
          <p:cNvSpPr/>
          <p:nvPr/>
        </p:nvSpPr>
        <p:spPr>
          <a:xfrm>
            <a:off x="480059" y="645974"/>
            <a:ext cx="6220991" cy="147732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2A64BE-1710-3683-E37D-8B3C6375DECD}"/>
              </a:ext>
            </a:extLst>
          </p:cNvPr>
          <p:cNvSpPr/>
          <p:nvPr/>
        </p:nvSpPr>
        <p:spPr>
          <a:xfrm>
            <a:off x="309797" y="2400300"/>
            <a:ext cx="4944591" cy="4247317"/>
          </a:xfrm>
          <a:prstGeom prst="rect">
            <a:avLst/>
          </a:prstGeom>
          <a:noFill/>
          <a:ln>
            <a:solidFill>
              <a:srgbClr val="BCE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F0B600-B44E-8308-F4AE-A4124AEB6CBD}"/>
              </a:ext>
            </a:extLst>
          </p:cNvPr>
          <p:cNvSpPr/>
          <p:nvPr/>
        </p:nvSpPr>
        <p:spPr>
          <a:xfrm>
            <a:off x="5509260" y="2229029"/>
            <a:ext cx="6220991" cy="4418588"/>
          </a:xfrm>
          <a:prstGeom prst="rect">
            <a:avLst/>
          </a:prstGeom>
          <a:noFill/>
          <a:ln>
            <a:solidFill>
              <a:srgbClr val="F9C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41268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C5857-A7B1-3777-36BE-0BB61FAE6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1C97E61-8CC1-924A-7F50-9A18DA04441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2E8EE-EE73-AE9F-E9AB-7A9E0043B05D}"/>
              </a:ext>
            </a:extLst>
          </p:cNvPr>
          <p:cNvSpPr txBox="1"/>
          <p:nvPr/>
        </p:nvSpPr>
        <p:spPr>
          <a:xfrm>
            <a:off x="314793" y="252740"/>
            <a:ext cx="46019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MULTI CORE AND PARALLEL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F690373-EBAC-008C-812E-34F10DE0289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8CA429-2CA2-EBB1-4BF6-27069F4247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997" y="981075"/>
            <a:ext cx="8273344" cy="429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18103C-AEB3-0225-1DAB-C1F66BADD7B3}"/>
              </a:ext>
            </a:extLst>
          </p:cNvPr>
          <p:cNvSpPr txBox="1"/>
          <p:nvPr/>
        </p:nvSpPr>
        <p:spPr>
          <a:xfrm>
            <a:off x="66675" y="890989"/>
            <a:ext cx="331733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Another two ways to reduce demand on the </a:t>
            </a:r>
            <a:r>
              <a:rPr lang="en-GB" b="1"/>
              <a:t>CPU is multi-core processing and parallel processing.</a:t>
            </a:r>
          </a:p>
          <a:p>
            <a:endParaRPr lang="en-GB"/>
          </a:p>
          <a:p>
            <a:r>
              <a:rPr lang="en-GB"/>
              <a:t>A multicore processor is a single chip  multiprocessor </a:t>
            </a:r>
            <a:r>
              <a:rPr lang="en-GB" b="1"/>
              <a:t>(CMP) </a:t>
            </a:r>
            <a:r>
              <a:rPr lang="en-GB"/>
              <a:t>containing two or more independent processing units.</a:t>
            </a:r>
          </a:p>
          <a:p>
            <a:endParaRPr lang="en-GB"/>
          </a:p>
          <a:p>
            <a:r>
              <a:rPr lang="en-GB"/>
              <a:t>The performance of multicore processors </a:t>
            </a:r>
            <a:r>
              <a:rPr lang="en-GB" b="1"/>
              <a:t>is enhanced by on-chips shared cache and inter core communication.</a:t>
            </a:r>
          </a:p>
          <a:p>
            <a:endParaRPr lang="en-GB" b="1"/>
          </a:p>
          <a:p>
            <a:r>
              <a:rPr lang="en-GB"/>
              <a:t>However, cores can be limited by </a:t>
            </a:r>
            <a:r>
              <a:rPr lang="en-GB" b="1"/>
              <a:t>overheads</a:t>
            </a:r>
            <a:r>
              <a:rPr lang="en-GB"/>
              <a:t> involved with inter-core communication and some programs can’t </a:t>
            </a:r>
            <a:r>
              <a:rPr lang="en-GB" b="1"/>
              <a:t>make max use of all cores</a:t>
            </a:r>
            <a:r>
              <a:rPr lang="en-GB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53909B-2EB4-A568-E842-6778E8808318}"/>
              </a:ext>
            </a:extLst>
          </p:cNvPr>
          <p:cNvSpPr/>
          <p:nvPr/>
        </p:nvSpPr>
        <p:spPr>
          <a:xfrm>
            <a:off x="2410" y="887165"/>
            <a:ext cx="3317339" cy="5876925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0027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0DD3-F903-D85C-D17B-7627F5B8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1D4CC47-6A2B-5534-E5CA-48B28758620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6F674C-08B3-26F8-9622-5FFB73E1B219}"/>
              </a:ext>
            </a:extLst>
          </p:cNvPr>
          <p:cNvSpPr txBox="1"/>
          <p:nvPr/>
        </p:nvSpPr>
        <p:spPr>
          <a:xfrm>
            <a:off x="159895" y="252740"/>
            <a:ext cx="5936105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/>
              <a:t>SLR3 INPUT, OUTPUT AND STORAGE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C921DE-2479-32BA-BFB4-2705F0F64152}"/>
              </a:ext>
            </a:extLst>
          </p:cNvPr>
          <p:cNvSpPr txBox="1"/>
          <p:nvPr/>
        </p:nvSpPr>
        <p:spPr>
          <a:xfrm>
            <a:off x="2068643" y="1379095"/>
            <a:ext cx="52765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MAGNETIC, OPTICAL, SOLID STATE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DC2500-57DC-3F1B-FF6A-DD47108B641E}"/>
              </a:ext>
            </a:extLst>
          </p:cNvPr>
          <p:cNvSpPr txBox="1"/>
          <p:nvPr/>
        </p:nvSpPr>
        <p:spPr>
          <a:xfrm>
            <a:off x="2098623" y="2173574"/>
            <a:ext cx="5126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RAM AND ROM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673C0F-2536-BDAB-9D10-7687C3104869}"/>
              </a:ext>
            </a:extLst>
          </p:cNvPr>
          <p:cNvSpPr txBox="1"/>
          <p:nvPr/>
        </p:nvSpPr>
        <p:spPr>
          <a:xfrm>
            <a:off x="2083633" y="3059668"/>
            <a:ext cx="236844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VIRTUAL STORAGE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09A7CF-808C-6C12-8A37-A875998BBCE7}"/>
              </a:ext>
            </a:extLst>
          </p:cNvPr>
          <p:cNvSpPr txBox="1"/>
          <p:nvPr/>
        </p:nvSpPr>
        <p:spPr>
          <a:xfrm>
            <a:off x="2068643" y="3923475"/>
            <a:ext cx="2368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BARCODES</a:t>
            </a:r>
          </a:p>
        </p:txBody>
      </p:sp>
      <p:sp>
        <p:nvSpPr>
          <p:cNvPr id="9" name="Action Button: Go Forward or Next 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599F465-C944-5DDF-8C21-6F13E0207823}"/>
              </a:ext>
            </a:extLst>
          </p:cNvPr>
          <p:cNvSpPr/>
          <p:nvPr/>
        </p:nvSpPr>
        <p:spPr>
          <a:xfrm>
            <a:off x="824460" y="1128209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ction Button: Go Forward or Next 9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9399AC3-89A1-73EF-665E-A9AB3AF91FAE}"/>
              </a:ext>
            </a:extLst>
          </p:cNvPr>
          <p:cNvSpPr/>
          <p:nvPr/>
        </p:nvSpPr>
        <p:spPr>
          <a:xfrm>
            <a:off x="824460" y="1998376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F575854-3187-F3A1-8BC0-AA7EE0BFD44B}"/>
              </a:ext>
            </a:extLst>
          </p:cNvPr>
          <p:cNvSpPr/>
          <p:nvPr/>
        </p:nvSpPr>
        <p:spPr>
          <a:xfrm>
            <a:off x="824460" y="2873327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7307431-2FE6-3784-E299-7CE037409B56}"/>
              </a:ext>
            </a:extLst>
          </p:cNvPr>
          <p:cNvSpPr/>
          <p:nvPr/>
        </p:nvSpPr>
        <p:spPr>
          <a:xfrm>
            <a:off x="824460" y="3748278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257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AD946-90EA-8836-16A4-D093EE8D5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B33B396-1BC0-59B2-858F-F8A83B6C2A89}"/>
              </a:ext>
            </a:extLst>
          </p:cNvPr>
          <p:cNvSpPr/>
          <p:nvPr/>
        </p:nvSpPr>
        <p:spPr>
          <a:xfrm>
            <a:off x="5956696" y="157019"/>
            <a:ext cx="6010453" cy="3824630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Smartbuy 100 Pack Digital Audio CD-R Music 52X 700MB/80Min White Inkjet Hub  Printable Blank Recordable Disc: Amazon.co.uk: Computers &amp; Accessories">
            <a:extLst>
              <a:ext uri="{FF2B5EF4-FFF2-40B4-BE49-F238E27FC236}">
                <a16:creationId xmlns:a16="http://schemas.microsoft.com/office/drawing/2014/main" id="{41F6A89D-D9A4-13B6-CCBC-25CD59DF5F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9971" y="889400"/>
            <a:ext cx="1259413" cy="125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C66503E-C9F2-D23D-C16B-A55BAF60B26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1D8A07-6F80-B586-4EED-1559C6C2D2B3}"/>
              </a:ext>
            </a:extLst>
          </p:cNvPr>
          <p:cNvSpPr txBox="1"/>
          <p:nvPr/>
        </p:nvSpPr>
        <p:spPr>
          <a:xfrm>
            <a:off x="224852" y="329684"/>
            <a:ext cx="5636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MAGNETIC, OPTICAL, SOLID STATE</a:t>
            </a:r>
          </a:p>
        </p:txBody>
      </p:sp>
      <p:sp>
        <p:nvSpPr>
          <p:cNvPr id="4" name="Action Button: Go to Beginning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354E185A-10A7-73E7-EABA-B3461C488DE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7A28FE-ABEF-4989-76B8-541C33961490}"/>
              </a:ext>
            </a:extLst>
          </p:cNvPr>
          <p:cNvSpPr txBox="1"/>
          <p:nvPr/>
        </p:nvSpPr>
        <p:spPr>
          <a:xfrm>
            <a:off x="6096000" y="201478"/>
            <a:ext cx="31099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Optical</a:t>
            </a:r>
            <a:r>
              <a:rPr lang="en-GB"/>
              <a:t> devices are read from and written using </a:t>
            </a:r>
            <a:r>
              <a:rPr lang="en-GB" b="1"/>
              <a:t>lasers</a:t>
            </a:r>
            <a:r>
              <a:rPr lang="en-GB"/>
              <a:t> with binary info being represented by portions of the disc that either </a:t>
            </a:r>
            <a:r>
              <a:rPr lang="en-GB" b="1"/>
              <a:t>reflect or scatter </a:t>
            </a:r>
            <a:r>
              <a:rPr lang="en-GB"/>
              <a:t>the incident laser light.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AFDF7-0E75-69B7-A781-7B5FF8366289}"/>
              </a:ext>
            </a:extLst>
          </p:cNvPr>
          <p:cNvSpPr txBox="1"/>
          <p:nvPr/>
        </p:nvSpPr>
        <p:spPr>
          <a:xfrm>
            <a:off x="6337542" y="2227322"/>
            <a:ext cx="52487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Examples are </a:t>
            </a:r>
            <a:r>
              <a:rPr lang="en-GB" b="1"/>
              <a:t>CDs</a:t>
            </a:r>
            <a:r>
              <a:rPr lang="en-GB"/>
              <a:t>, DVDs, Blu-Ray (in order of storage)</a:t>
            </a:r>
          </a:p>
          <a:p>
            <a:endParaRPr lang="en-GB"/>
          </a:p>
          <a:p>
            <a:r>
              <a:rPr lang="en-GB"/>
              <a:t>Pros: </a:t>
            </a:r>
            <a:r>
              <a:rPr lang="en-GB" b="1"/>
              <a:t>Portable, cheap</a:t>
            </a:r>
            <a:r>
              <a:rPr lang="en-GB"/>
              <a:t>.</a:t>
            </a:r>
          </a:p>
          <a:p>
            <a:r>
              <a:rPr lang="en-GB"/>
              <a:t>Cons: Easily damaged, </a:t>
            </a:r>
            <a:r>
              <a:rPr lang="en-GB" b="1"/>
              <a:t>slow transfer speeds and limited storage capacity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BC6F2C-FC75-1F7C-1092-687411CF189F}"/>
              </a:ext>
            </a:extLst>
          </p:cNvPr>
          <p:cNvSpPr txBox="1"/>
          <p:nvPr/>
        </p:nvSpPr>
        <p:spPr>
          <a:xfrm>
            <a:off x="224852" y="1028700"/>
            <a:ext cx="36652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Magnetic</a:t>
            </a:r>
            <a:r>
              <a:rPr lang="en-GB"/>
              <a:t> devices which store information </a:t>
            </a:r>
            <a:r>
              <a:rPr lang="en-GB" b="1"/>
              <a:t>magnetically</a:t>
            </a:r>
            <a:r>
              <a:rPr lang="en-GB"/>
              <a:t> using magnetic states </a:t>
            </a:r>
            <a:r>
              <a:rPr lang="en-GB" b="1"/>
              <a:t>polarised </a:t>
            </a:r>
            <a:r>
              <a:rPr lang="en-GB"/>
              <a:t>and unpolarised to represent binary.</a:t>
            </a:r>
          </a:p>
          <a:p>
            <a:endParaRPr lang="en-GB"/>
          </a:p>
          <a:p>
            <a:r>
              <a:rPr lang="en-GB"/>
              <a:t>Examples are </a:t>
            </a:r>
            <a:r>
              <a:rPr lang="en-GB" b="1"/>
              <a:t>Hard Disk Drives, </a:t>
            </a:r>
            <a:r>
              <a:rPr lang="en-GB"/>
              <a:t>Magnetic Tape, Floppy Disks</a:t>
            </a:r>
          </a:p>
          <a:p>
            <a:endParaRPr lang="en-GB"/>
          </a:p>
          <a:p>
            <a:r>
              <a:rPr lang="en-GB"/>
              <a:t>Pros: Cheap, </a:t>
            </a:r>
            <a:r>
              <a:rPr lang="en-GB" b="1"/>
              <a:t>large capacity.</a:t>
            </a:r>
          </a:p>
          <a:p>
            <a:r>
              <a:rPr lang="en-GB"/>
              <a:t>Cons: </a:t>
            </a:r>
            <a:r>
              <a:rPr lang="en-GB" b="1"/>
              <a:t>Slow access times</a:t>
            </a:r>
            <a:r>
              <a:rPr lang="en-GB"/>
              <a:t>, fragile, not robust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F4AA9-B91D-E8A5-077A-2E1F51C41598}"/>
              </a:ext>
            </a:extLst>
          </p:cNvPr>
          <p:cNvSpPr txBox="1"/>
          <p:nvPr/>
        </p:nvSpPr>
        <p:spPr>
          <a:xfrm>
            <a:off x="356460" y="4445020"/>
            <a:ext cx="675726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Solid State (Drive) </a:t>
            </a:r>
            <a:r>
              <a:rPr lang="en-GB"/>
              <a:t>works by </a:t>
            </a:r>
            <a:r>
              <a:rPr lang="en-GB" b="1"/>
              <a:t>sending electrical currents </a:t>
            </a:r>
            <a:r>
              <a:rPr lang="en-GB"/>
              <a:t>to send electrons between </a:t>
            </a:r>
            <a:r>
              <a:rPr lang="en-GB" b="1"/>
              <a:t>oxide layers </a:t>
            </a:r>
            <a:r>
              <a:rPr lang="en-GB"/>
              <a:t>– does not have any moving parts.</a:t>
            </a:r>
          </a:p>
          <a:p>
            <a:endParaRPr lang="en-GB"/>
          </a:p>
          <a:p>
            <a:r>
              <a:rPr lang="en-GB"/>
              <a:t>Examples are </a:t>
            </a:r>
            <a:r>
              <a:rPr lang="en-GB" b="1"/>
              <a:t>USB flash drive</a:t>
            </a:r>
          </a:p>
          <a:p>
            <a:endParaRPr lang="en-GB"/>
          </a:p>
          <a:p>
            <a:r>
              <a:rPr lang="en-GB"/>
              <a:t>Pros: Durable</a:t>
            </a:r>
            <a:r>
              <a:rPr lang="en-GB" b="1"/>
              <a:t>, robust, fast access times</a:t>
            </a:r>
            <a:r>
              <a:rPr lang="en-GB"/>
              <a:t>, light</a:t>
            </a:r>
          </a:p>
          <a:p>
            <a:r>
              <a:rPr lang="en-GB"/>
              <a:t>Cons: </a:t>
            </a:r>
            <a:r>
              <a:rPr lang="en-GB" b="1"/>
              <a:t>Expensive, limited read and writes </a:t>
            </a:r>
            <a:r>
              <a:rPr lang="en-GB"/>
              <a:t>due to oxide layer running out.</a:t>
            </a:r>
          </a:p>
        </p:txBody>
      </p:sp>
      <p:pic>
        <p:nvPicPr>
          <p:cNvPr id="1032" name="Picture 8" descr="Hard disk drive - Wikipedia">
            <a:extLst>
              <a:ext uri="{FF2B5EF4-FFF2-40B4-BE49-F238E27FC236}">
                <a16:creationId xmlns:a16="http://schemas.microsoft.com/office/drawing/2014/main" id="{F874AF5D-6992-5880-DFBB-5DB55A72C2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618" y="2014081"/>
            <a:ext cx="1802096" cy="1051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128GB Samsung or SanDisk 2.5'' SSD Solid State Drive SATA III 128GB For  Laptop | eBay UK">
            <a:extLst>
              <a:ext uri="{FF2B5EF4-FFF2-40B4-BE49-F238E27FC236}">
                <a16:creationId xmlns:a16="http://schemas.microsoft.com/office/drawing/2014/main" id="{29E8D665-1EE0-4705-EDC6-C040E5888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4083" y="4840249"/>
            <a:ext cx="2023820" cy="1517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8EA83D3-D341-FFCF-17F5-B11AABB8B53A}"/>
              </a:ext>
            </a:extLst>
          </p:cNvPr>
          <p:cNvSpPr/>
          <p:nvPr/>
        </p:nvSpPr>
        <p:spPr>
          <a:xfrm>
            <a:off x="129309" y="932873"/>
            <a:ext cx="3665223" cy="3373290"/>
          </a:xfrm>
          <a:prstGeom prst="rect">
            <a:avLst/>
          </a:prstGeom>
          <a:noFill/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6D7E151-1B74-6FAC-318E-A8DC163F976B}"/>
              </a:ext>
            </a:extLst>
          </p:cNvPr>
          <p:cNvSpPr/>
          <p:nvPr/>
        </p:nvSpPr>
        <p:spPr>
          <a:xfrm>
            <a:off x="224852" y="4401990"/>
            <a:ext cx="6996395" cy="2394819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139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8BBA0-E43C-0F7A-231B-5B2D1069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E89E753-42B6-6434-DCA3-41C9737C55E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4FD2A-AF5A-24B4-C46D-1F5CFAB6912F}"/>
              </a:ext>
            </a:extLst>
          </p:cNvPr>
          <p:cNvSpPr txBox="1"/>
          <p:nvPr/>
        </p:nvSpPr>
        <p:spPr>
          <a:xfrm>
            <a:off x="299803" y="374755"/>
            <a:ext cx="5126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RAM AND ROM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6A6E1B3-768F-FA68-C9D7-45410F2D9DD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5C6EF-FAB7-411A-6631-892FF212515C}"/>
              </a:ext>
            </a:extLst>
          </p:cNvPr>
          <p:cNvSpPr txBox="1"/>
          <p:nvPr/>
        </p:nvSpPr>
        <p:spPr>
          <a:xfrm>
            <a:off x="4040530" y="346861"/>
            <a:ext cx="45769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RAM and ROM are types of internal memory</a:t>
            </a:r>
            <a:r>
              <a:rPr lang="en-GB"/>
              <a:t>/ primary storage used by the </a:t>
            </a:r>
            <a:r>
              <a:rPr lang="en-GB" b="1"/>
              <a:t>operating system </a:t>
            </a:r>
            <a:r>
              <a:rPr lang="en-GB"/>
              <a:t>to run a computer.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88C17-72D9-D9D0-D17C-689412EDA399}"/>
              </a:ext>
            </a:extLst>
          </p:cNvPr>
          <p:cNvSpPr txBox="1"/>
          <p:nvPr/>
        </p:nvSpPr>
        <p:spPr>
          <a:xfrm>
            <a:off x="6248401" y="1991172"/>
            <a:ext cx="33111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RAM (</a:t>
            </a:r>
            <a:r>
              <a:rPr lang="en-GB" b="1"/>
              <a:t>Random Access Memory</a:t>
            </a:r>
            <a:r>
              <a:rPr lang="en-GB"/>
              <a:t>) is a type of </a:t>
            </a:r>
            <a:r>
              <a:rPr lang="en-GB" b="1"/>
              <a:t>fast main memory </a:t>
            </a:r>
            <a:r>
              <a:rPr lang="en-GB"/>
              <a:t>used to store data and program that the computer is </a:t>
            </a:r>
            <a:r>
              <a:rPr lang="en-GB" b="1"/>
              <a:t>currently using</a:t>
            </a:r>
            <a:r>
              <a:rPr lang="en-GB"/>
              <a:t>. </a:t>
            </a:r>
          </a:p>
          <a:p>
            <a:endParaRPr lang="en-GB"/>
          </a:p>
          <a:p>
            <a:r>
              <a:rPr lang="en-GB"/>
              <a:t>It speeds up computer’s execution as </a:t>
            </a:r>
            <a:r>
              <a:rPr lang="en-GB" b="1"/>
              <a:t>RAM has higher access speeds </a:t>
            </a:r>
            <a:r>
              <a:rPr lang="en-GB"/>
              <a:t>than even flash memory, but it is more </a:t>
            </a:r>
            <a:r>
              <a:rPr lang="en-GB" b="1"/>
              <a:t>expensive</a:t>
            </a:r>
            <a:r>
              <a:rPr lang="en-GB"/>
              <a:t> per GB than secondary storage devices.</a:t>
            </a:r>
          </a:p>
          <a:p>
            <a:endParaRPr lang="en-GB"/>
          </a:p>
          <a:p>
            <a:r>
              <a:rPr lang="en-GB"/>
              <a:t>RAM Is </a:t>
            </a:r>
            <a:r>
              <a:rPr lang="en-GB" b="1"/>
              <a:t>volatile</a:t>
            </a:r>
            <a:r>
              <a:rPr lang="en-GB"/>
              <a:t> so it loses all information when power is lost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66AC1E-6250-C965-F543-9D2ADEC30478}"/>
              </a:ext>
            </a:extLst>
          </p:cNvPr>
          <p:cNvSpPr txBox="1"/>
          <p:nvPr/>
        </p:nvSpPr>
        <p:spPr>
          <a:xfrm>
            <a:off x="349304" y="1940170"/>
            <a:ext cx="48209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ROM </a:t>
            </a:r>
            <a:r>
              <a:rPr lang="en-GB" b="1"/>
              <a:t>(Read Only Memory</a:t>
            </a:r>
            <a:r>
              <a:rPr lang="en-GB"/>
              <a:t>) is </a:t>
            </a:r>
            <a:r>
              <a:rPr lang="en-GB" b="1"/>
              <a:t>not volatile </a:t>
            </a:r>
            <a:r>
              <a:rPr lang="en-GB"/>
              <a:t>so is used to hold information that needs to be </a:t>
            </a:r>
            <a:r>
              <a:rPr lang="en-GB" b="1"/>
              <a:t>permanently in memory </a:t>
            </a:r>
            <a:r>
              <a:rPr lang="en-GB"/>
              <a:t>like the bootstrap.</a:t>
            </a:r>
          </a:p>
          <a:p>
            <a:endParaRPr lang="en-GB"/>
          </a:p>
          <a:p>
            <a:r>
              <a:rPr lang="en-GB"/>
              <a:t>In </a:t>
            </a:r>
            <a:r>
              <a:rPr lang="en-GB" b="1"/>
              <a:t>embedded systems</a:t>
            </a:r>
            <a:r>
              <a:rPr lang="en-GB"/>
              <a:t>, the software never changes so is held in ROM as ROM cannot be modified as well.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EFD0C501-40A4-718D-5AF9-EE64C8E9C9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3" name="Picture 12" descr="A close up of a computer chip&#10;&#10;AI-generated content may be incorrect.">
            <a:extLst>
              <a:ext uri="{FF2B5EF4-FFF2-40B4-BE49-F238E27FC236}">
                <a16:creationId xmlns:a16="http://schemas.microsoft.com/office/drawing/2014/main" id="{71C002D3-EC74-F28C-362A-E4B0242D7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2666" y="1597606"/>
            <a:ext cx="1380030" cy="3967588"/>
          </a:xfrm>
          <a:prstGeom prst="rect">
            <a:avLst/>
          </a:prstGeom>
        </p:spPr>
      </p:pic>
      <p:pic>
        <p:nvPicPr>
          <p:cNvPr id="1034" name="Picture 10" descr="Types of ROM - A Level Computer Science">
            <a:extLst>
              <a:ext uri="{FF2B5EF4-FFF2-40B4-BE49-F238E27FC236}">
                <a16:creationId xmlns:a16="http://schemas.microsoft.com/office/drawing/2014/main" id="{998622FC-E1FF-3BAE-9847-359D670F2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4081" y="4641475"/>
            <a:ext cx="2988416" cy="1957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501542A-A073-23E5-95F0-95585747AFB2}"/>
              </a:ext>
            </a:extLst>
          </p:cNvPr>
          <p:cNvSpPr/>
          <p:nvPr/>
        </p:nvSpPr>
        <p:spPr>
          <a:xfrm>
            <a:off x="299803" y="1791855"/>
            <a:ext cx="5045485" cy="2373745"/>
          </a:xfrm>
          <a:prstGeom prst="rect">
            <a:avLst/>
          </a:prstGeom>
          <a:noFill/>
          <a:ln>
            <a:solidFill>
              <a:srgbClr val="C26C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0C1E65-6347-B5B2-21D8-17AAEFDFDA2F}"/>
              </a:ext>
            </a:extLst>
          </p:cNvPr>
          <p:cNvSpPr/>
          <p:nvPr/>
        </p:nvSpPr>
        <p:spPr>
          <a:xfrm>
            <a:off x="4023598" y="182520"/>
            <a:ext cx="4187529" cy="1267589"/>
          </a:xfrm>
          <a:prstGeom prst="rect">
            <a:avLst/>
          </a:prstGeom>
          <a:noFill/>
          <a:ln>
            <a:solidFill>
              <a:srgbClr val="C26C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7F2B56-F90F-D9B6-5FF4-95DF2F23666B}"/>
              </a:ext>
            </a:extLst>
          </p:cNvPr>
          <p:cNvSpPr/>
          <p:nvPr/>
        </p:nvSpPr>
        <p:spPr>
          <a:xfrm>
            <a:off x="6248400" y="1838044"/>
            <a:ext cx="3541475" cy="4761135"/>
          </a:xfrm>
          <a:prstGeom prst="rect">
            <a:avLst/>
          </a:prstGeom>
          <a:noFill/>
          <a:ln>
            <a:solidFill>
              <a:srgbClr val="C26C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4847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47303-3F42-0B30-1BAB-EEF8B8DD6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F5E30DE-617B-AF0D-82D2-7275B792E8A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194317-A71F-DEAE-538D-EB32F335E376}"/>
              </a:ext>
            </a:extLst>
          </p:cNvPr>
          <p:cNvSpPr txBox="1"/>
          <p:nvPr/>
        </p:nvSpPr>
        <p:spPr>
          <a:xfrm>
            <a:off x="494676" y="329684"/>
            <a:ext cx="3192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VIRTUAL STORAGE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F0741A3-D564-2FED-8F88-18A2D68ED8C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F8E4C9-9083-A67F-424F-228D6A60FD95}"/>
              </a:ext>
            </a:extLst>
          </p:cNvPr>
          <p:cNvSpPr txBox="1"/>
          <p:nvPr/>
        </p:nvSpPr>
        <p:spPr>
          <a:xfrm>
            <a:off x="775855" y="1028700"/>
            <a:ext cx="7758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Files can be stored on </a:t>
            </a:r>
            <a:r>
              <a:rPr lang="en-GB" b="1"/>
              <a:t>“virtual servers” </a:t>
            </a:r>
            <a:r>
              <a:rPr lang="en-GB"/>
              <a:t>where </a:t>
            </a:r>
            <a:r>
              <a:rPr lang="en-GB" b="1"/>
              <a:t>cloud-based/ off site servers </a:t>
            </a:r>
            <a:r>
              <a:rPr lang="en-GB"/>
              <a:t>store information </a:t>
            </a:r>
            <a:r>
              <a:rPr lang="en-GB" b="1"/>
              <a:t>remotely</a:t>
            </a:r>
            <a:r>
              <a:rPr lang="en-GB"/>
              <a:t> so that is can be accessed by any computers with </a:t>
            </a:r>
            <a:r>
              <a:rPr lang="en-GB" b="1"/>
              <a:t>access to the same system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F4BB76-1D55-0175-7B91-96E4DCDA2933}"/>
              </a:ext>
            </a:extLst>
          </p:cNvPr>
          <p:cNvSpPr txBox="1"/>
          <p:nvPr/>
        </p:nvSpPr>
        <p:spPr>
          <a:xfrm>
            <a:off x="494675" y="2185553"/>
            <a:ext cx="43687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They have the advantage of:</a:t>
            </a:r>
          </a:p>
          <a:p>
            <a:endParaRPr lang="en-GB"/>
          </a:p>
          <a:p>
            <a:r>
              <a:rPr lang="en-GB"/>
              <a:t>-     </a:t>
            </a:r>
            <a:r>
              <a:rPr lang="en-GB" b="1"/>
              <a:t>Reduced hardware costs</a:t>
            </a:r>
          </a:p>
          <a:p>
            <a:pPr marL="285750" indent="-285750">
              <a:buFontTx/>
              <a:buChar char="-"/>
            </a:pPr>
            <a:r>
              <a:rPr lang="en-GB"/>
              <a:t>Improved </a:t>
            </a:r>
            <a:r>
              <a:rPr lang="en-GB" b="1"/>
              <a:t>reliability</a:t>
            </a:r>
            <a:r>
              <a:rPr lang="en-GB"/>
              <a:t> and </a:t>
            </a:r>
            <a:r>
              <a:rPr lang="en-GB" b="1"/>
              <a:t>performance</a:t>
            </a:r>
          </a:p>
          <a:p>
            <a:pPr marL="285750" indent="-285750">
              <a:buFontTx/>
              <a:buChar char="-"/>
            </a:pPr>
            <a:r>
              <a:rPr lang="en-GB" b="1"/>
              <a:t>Flexibility</a:t>
            </a:r>
            <a:r>
              <a:rPr lang="en-GB"/>
              <a:t> to scale the storage requirements over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0EBD95-A997-B52C-5DEA-BC1C725F9257}"/>
              </a:ext>
            </a:extLst>
          </p:cNvPr>
          <p:cNvSpPr txBox="1"/>
          <p:nvPr/>
        </p:nvSpPr>
        <p:spPr>
          <a:xfrm>
            <a:off x="822036" y="4173402"/>
            <a:ext cx="99475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However, to access all your files and application, you need to </a:t>
            </a:r>
            <a:r>
              <a:rPr lang="en-GB" b="1"/>
              <a:t>rely</a:t>
            </a:r>
            <a:r>
              <a:rPr lang="en-GB"/>
              <a:t> on a </a:t>
            </a:r>
            <a:r>
              <a:rPr lang="en-GB" b="1"/>
              <a:t>fast Internet connection.</a:t>
            </a:r>
          </a:p>
          <a:p>
            <a:endParaRPr lang="en-GB"/>
          </a:p>
          <a:p>
            <a:r>
              <a:rPr lang="en-GB"/>
              <a:t>Also, separate </a:t>
            </a:r>
            <a:r>
              <a:rPr lang="en-GB" b="1"/>
              <a:t>backup plans are needed </a:t>
            </a:r>
            <a:r>
              <a:rPr lang="en-GB"/>
              <a:t>in the event of a hardware failure</a:t>
            </a:r>
          </a:p>
          <a:p>
            <a:endParaRPr lang="en-GB"/>
          </a:p>
          <a:p>
            <a:r>
              <a:rPr lang="en-GB"/>
              <a:t>Using a cloud storage provider may result in </a:t>
            </a:r>
            <a:r>
              <a:rPr lang="en-GB" b="1"/>
              <a:t>a loss of functionality </a:t>
            </a:r>
            <a:r>
              <a:rPr lang="en-GB"/>
              <a:t>and a compromise in your level of control</a:t>
            </a:r>
          </a:p>
          <a:p>
            <a:endParaRPr lang="en-GB"/>
          </a:p>
          <a:p>
            <a:r>
              <a:rPr lang="en-GB"/>
              <a:t>As well there is usually </a:t>
            </a:r>
            <a:r>
              <a:rPr lang="en-GB" b="1"/>
              <a:t>increasing fees </a:t>
            </a:r>
            <a:r>
              <a:rPr lang="en-GB"/>
              <a:t>the more you need to store on the virtual server.</a:t>
            </a:r>
          </a:p>
        </p:txBody>
      </p:sp>
      <p:pic>
        <p:nvPicPr>
          <p:cNvPr id="1026" name="Picture 2" descr="Virtual Storage Benefits: How Virtual Memory Can Protect Your Data - BizTech">
            <a:extLst>
              <a:ext uri="{FF2B5EF4-FFF2-40B4-BE49-F238E27FC236}">
                <a16:creationId xmlns:a16="http://schemas.microsoft.com/office/drawing/2014/main" id="{53C68B83-C837-2BB6-D730-9AEA6BFE6A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455" y="2199977"/>
            <a:ext cx="4368800" cy="151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4A97DDA-6AAA-3B0C-0117-199FA754993C}"/>
              </a:ext>
            </a:extLst>
          </p:cNvPr>
          <p:cNvSpPr/>
          <p:nvPr/>
        </p:nvSpPr>
        <p:spPr>
          <a:xfrm>
            <a:off x="494675" y="852904"/>
            <a:ext cx="8954125" cy="1171277"/>
          </a:xfrm>
          <a:prstGeom prst="rect">
            <a:avLst/>
          </a:prstGeom>
          <a:noFill/>
          <a:ln>
            <a:solidFill>
              <a:srgbClr val="7BC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809027-23A4-0991-5431-DF26B4C78359}"/>
              </a:ext>
            </a:extLst>
          </p:cNvPr>
          <p:cNvSpPr/>
          <p:nvPr/>
        </p:nvSpPr>
        <p:spPr>
          <a:xfrm>
            <a:off x="386411" y="2199976"/>
            <a:ext cx="4582753" cy="1797629"/>
          </a:xfrm>
          <a:prstGeom prst="rect">
            <a:avLst/>
          </a:prstGeom>
          <a:noFill/>
          <a:ln>
            <a:solidFill>
              <a:srgbClr val="7BC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33C2EA-92EE-4685-61D9-5A9016483C8C}"/>
              </a:ext>
            </a:extLst>
          </p:cNvPr>
          <p:cNvSpPr/>
          <p:nvPr/>
        </p:nvSpPr>
        <p:spPr>
          <a:xfrm>
            <a:off x="628603" y="4171295"/>
            <a:ext cx="10316488" cy="2357021"/>
          </a:xfrm>
          <a:prstGeom prst="rect">
            <a:avLst/>
          </a:prstGeom>
          <a:noFill/>
          <a:ln>
            <a:solidFill>
              <a:srgbClr val="7BCA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139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8EA77-6E59-9ACC-89EE-3D4288F46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F2FA0FC-2233-BADA-1F60-6BA0BCFA1C4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215C7D-207D-1CA0-06A6-76C3F8946752}"/>
              </a:ext>
            </a:extLst>
          </p:cNvPr>
          <p:cNvSpPr txBox="1"/>
          <p:nvPr/>
        </p:nvSpPr>
        <p:spPr>
          <a:xfrm>
            <a:off x="269823" y="252740"/>
            <a:ext cx="23684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BARCODES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BBED3D6-09E9-B626-3E4C-AD8810E5D66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8C6E83-9F9D-752C-9A46-1C2C0126B104}"/>
              </a:ext>
            </a:extLst>
          </p:cNvPr>
          <p:cNvSpPr txBox="1"/>
          <p:nvPr/>
        </p:nvSpPr>
        <p:spPr>
          <a:xfrm>
            <a:off x="2638269" y="155448"/>
            <a:ext cx="48506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4 different types of barcodes: </a:t>
            </a:r>
            <a:r>
              <a:rPr lang="en-GB" b="1" dirty="0"/>
              <a:t>Linear and 2d </a:t>
            </a:r>
            <a:r>
              <a:rPr lang="en-GB" dirty="0"/>
              <a:t>(QR codes)</a:t>
            </a:r>
          </a:p>
        </p:txBody>
      </p:sp>
      <p:pic>
        <p:nvPicPr>
          <p:cNvPr id="1026" name="Picture 2" descr="What is a 2D Barcode ? - Scanbot SDK">
            <a:extLst>
              <a:ext uri="{FF2B5EF4-FFF2-40B4-BE49-F238E27FC236}">
                <a16:creationId xmlns:a16="http://schemas.microsoft.com/office/drawing/2014/main" id="{437ED4D3-B6FC-867D-809F-E9CD190686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849" y="121158"/>
            <a:ext cx="1202532" cy="1235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Barcode - ICON Magazine">
            <a:extLst>
              <a:ext uri="{FF2B5EF4-FFF2-40B4-BE49-F238E27FC236}">
                <a16:creationId xmlns:a16="http://schemas.microsoft.com/office/drawing/2014/main" id="{176B1C44-C2DE-4D74-AC17-2856F60C5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548" y="478613"/>
            <a:ext cx="1175482" cy="74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0C9EA4-1261-98DA-8629-D9F8F1386CE1}"/>
              </a:ext>
            </a:extLst>
          </p:cNvPr>
          <p:cNvSpPr txBox="1"/>
          <p:nvPr/>
        </p:nvSpPr>
        <p:spPr>
          <a:xfrm>
            <a:off x="345891" y="889689"/>
            <a:ext cx="385023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Types of barcode readers:</a:t>
            </a:r>
          </a:p>
          <a:p>
            <a:endParaRPr lang="en-GB" b="1" dirty="0">
              <a:solidFill>
                <a:srgbClr val="4272C6"/>
              </a:solidFill>
            </a:endParaRPr>
          </a:p>
          <a:p>
            <a:r>
              <a:rPr lang="en-GB" b="1" dirty="0">
                <a:solidFill>
                  <a:srgbClr val="4272C6"/>
                </a:solidFill>
              </a:rPr>
              <a:t>Pen type: </a:t>
            </a:r>
          </a:p>
          <a:p>
            <a:r>
              <a:rPr lang="en-GB" dirty="0"/>
              <a:t>Uses a </a:t>
            </a:r>
            <a:r>
              <a:rPr lang="en-GB" b="1" dirty="0"/>
              <a:t>light source </a:t>
            </a:r>
            <a:r>
              <a:rPr lang="en-GB" dirty="0"/>
              <a:t>and a photo diode.</a:t>
            </a:r>
          </a:p>
          <a:p>
            <a:r>
              <a:rPr lang="en-GB" b="1" dirty="0"/>
              <a:t>Durable</a:t>
            </a:r>
            <a:r>
              <a:rPr lang="en-GB" dirty="0"/>
              <a:t>, tightly sealed from environmental hazards, light.</a:t>
            </a:r>
          </a:p>
          <a:p>
            <a:r>
              <a:rPr lang="en-GB" dirty="0"/>
              <a:t>Barcode </a:t>
            </a:r>
            <a:r>
              <a:rPr lang="en-GB" b="1" dirty="0"/>
              <a:t>must come into contact </a:t>
            </a:r>
            <a:r>
              <a:rPr lang="en-GB" dirty="0"/>
              <a:t>so is best suited for laptops.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AAE51-70EE-143F-C6D6-B8E41D319E88}"/>
              </a:ext>
            </a:extLst>
          </p:cNvPr>
          <p:cNvSpPr txBox="1"/>
          <p:nvPr/>
        </p:nvSpPr>
        <p:spPr>
          <a:xfrm>
            <a:off x="4470410" y="1164900"/>
            <a:ext cx="20405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4272C6"/>
                </a:solidFill>
              </a:rPr>
              <a:t>Laser Scanner:</a:t>
            </a:r>
          </a:p>
          <a:p>
            <a:r>
              <a:rPr lang="en-GB" dirty="0"/>
              <a:t>Use a </a:t>
            </a:r>
            <a:r>
              <a:rPr lang="en-GB" b="1" dirty="0"/>
              <a:t>laser beam </a:t>
            </a:r>
            <a:r>
              <a:rPr lang="en-GB" dirty="0"/>
              <a:t>as the light source. </a:t>
            </a:r>
          </a:p>
          <a:p>
            <a:r>
              <a:rPr lang="en-GB" dirty="0"/>
              <a:t>Reliable and are most used in supermarkets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FA329-7CBC-B77B-1FB1-8592300A5DE0}"/>
              </a:ext>
            </a:extLst>
          </p:cNvPr>
          <p:cNvSpPr txBox="1"/>
          <p:nvPr/>
        </p:nvSpPr>
        <p:spPr>
          <a:xfrm>
            <a:off x="7389308" y="1234963"/>
            <a:ext cx="49984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4272C6"/>
                </a:solidFill>
              </a:rPr>
              <a:t>Camera Based Reader:</a:t>
            </a:r>
          </a:p>
          <a:p>
            <a:r>
              <a:rPr lang="en-GB" dirty="0"/>
              <a:t>An </a:t>
            </a:r>
            <a:r>
              <a:rPr lang="en-GB" b="1" dirty="0"/>
              <a:t>imaging scanner </a:t>
            </a:r>
            <a:r>
              <a:rPr lang="en-GB" dirty="0"/>
              <a:t>uses a camera and image processing techniques </a:t>
            </a:r>
            <a:r>
              <a:rPr lang="en-GB" b="1" dirty="0"/>
              <a:t>to decode </a:t>
            </a:r>
            <a:r>
              <a:rPr lang="en-GB" dirty="0"/>
              <a:t>a barcode</a:t>
            </a:r>
          </a:p>
          <a:p>
            <a:endParaRPr lang="en-GB" dirty="0"/>
          </a:p>
          <a:p>
            <a:r>
              <a:rPr lang="en-GB" dirty="0"/>
              <a:t>Used in </a:t>
            </a:r>
            <a:r>
              <a:rPr lang="en-GB" b="1" dirty="0"/>
              <a:t>event ticketing</a:t>
            </a:r>
            <a:r>
              <a:rPr lang="en-GB" dirty="0"/>
              <a:t>, couponing, age verification (scanning driver licence), scanning QR codes.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E618E5-F669-77A4-BA23-F958048FDC3B}"/>
              </a:ext>
            </a:extLst>
          </p:cNvPr>
          <p:cNvSpPr txBox="1"/>
          <p:nvPr/>
        </p:nvSpPr>
        <p:spPr>
          <a:xfrm>
            <a:off x="310678" y="3662414"/>
            <a:ext cx="392065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4272C6"/>
                </a:solidFill>
              </a:rPr>
              <a:t>Digital Cameras:</a:t>
            </a:r>
          </a:p>
          <a:p>
            <a:r>
              <a:rPr lang="en-GB" dirty="0"/>
              <a:t>Uses a </a:t>
            </a:r>
            <a:r>
              <a:rPr lang="en-GB" b="1" dirty="0"/>
              <a:t>CCD</a:t>
            </a:r>
            <a:r>
              <a:rPr lang="en-GB" dirty="0"/>
              <a:t> or CMOS (Complimentary Metal Oxide Semiconductor) </a:t>
            </a:r>
            <a:r>
              <a:rPr lang="en-GB" b="1" dirty="0"/>
              <a:t>sensor</a:t>
            </a:r>
            <a:r>
              <a:rPr lang="en-GB" dirty="0"/>
              <a:t> comprising of </a:t>
            </a:r>
            <a:r>
              <a:rPr lang="en-GB" b="1" dirty="0"/>
              <a:t>millions of tiny light sensors in a grid.</a:t>
            </a:r>
          </a:p>
          <a:p>
            <a:r>
              <a:rPr lang="en-GB" dirty="0"/>
              <a:t> </a:t>
            </a:r>
            <a:r>
              <a:rPr lang="en-GB" b="1" dirty="0"/>
              <a:t>Binary data </a:t>
            </a:r>
            <a:r>
              <a:rPr lang="en-GB" dirty="0"/>
              <a:t>from each sensor is recorded onto camera’s memory card so the image can be reproduced on any software. </a:t>
            </a:r>
          </a:p>
          <a:p>
            <a:r>
              <a:rPr lang="en-GB" dirty="0"/>
              <a:t>It is used mainly in </a:t>
            </a:r>
            <a:r>
              <a:rPr lang="en-GB" b="1" dirty="0"/>
              <a:t>facial recognition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012C42-CCD3-A501-89B9-E71FE5AFBE4C}"/>
              </a:ext>
            </a:extLst>
          </p:cNvPr>
          <p:cNvSpPr txBox="1"/>
          <p:nvPr/>
        </p:nvSpPr>
        <p:spPr>
          <a:xfrm>
            <a:off x="4470410" y="3352410"/>
            <a:ext cx="351611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4272C6"/>
                </a:solidFill>
              </a:rPr>
              <a:t>Radio Frequency Identification (RFID)</a:t>
            </a:r>
          </a:p>
          <a:p>
            <a:r>
              <a:rPr lang="en-GB" dirty="0"/>
              <a:t>RFID </a:t>
            </a:r>
            <a:r>
              <a:rPr lang="en-GB" b="1" dirty="0"/>
              <a:t>tags</a:t>
            </a:r>
            <a:r>
              <a:rPr lang="en-GB" dirty="0"/>
              <a:t> are used to tag and </a:t>
            </a:r>
            <a:r>
              <a:rPr lang="en-GB" b="1" dirty="0"/>
              <a:t>track objects or animals</a:t>
            </a:r>
            <a:r>
              <a:rPr lang="en-GB" dirty="0"/>
              <a:t>. Unlike barcodes</a:t>
            </a:r>
            <a:r>
              <a:rPr lang="en-GB" b="1" dirty="0"/>
              <a:t>, RFID tags can be read from 300 metres away</a:t>
            </a:r>
          </a:p>
          <a:p>
            <a:endParaRPr lang="en-GB" dirty="0"/>
          </a:p>
          <a:p>
            <a:r>
              <a:rPr lang="en-GB" dirty="0"/>
              <a:t>Active tags have a </a:t>
            </a:r>
            <a:r>
              <a:rPr lang="en-GB" b="1" dirty="0"/>
              <a:t>battery</a:t>
            </a:r>
            <a:r>
              <a:rPr lang="en-GB" dirty="0"/>
              <a:t> and are larger so they can </a:t>
            </a:r>
            <a:r>
              <a:rPr lang="en-GB" b="1" dirty="0"/>
              <a:t>actively transmit a signal.</a:t>
            </a:r>
          </a:p>
          <a:p>
            <a:r>
              <a:rPr lang="en-GB" dirty="0"/>
              <a:t>Passive tags </a:t>
            </a:r>
            <a:r>
              <a:rPr lang="en-GB" b="1" dirty="0"/>
              <a:t>rely on radio waves from the reader </a:t>
            </a:r>
            <a:r>
              <a:rPr lang="en-GB" dirty="0"/>
              <a:t>to provide power.</a:t>
            </a:r>
          </a:p>
        </p:txBody>
      </p:sp>
      <p:pic>
        <p:nvPicPr>
          <p:cNvPr id="1030" name="Picture 6" descr="What is RFID? A Guide to RFID Tech, Applications &amp; Future | BradyID.com">
            <a:extLst>
              <a:ext uri="{FF2B5EF4-FFF2-40B4-BE49-F238E27FC236}">
                <a16:creationId xmlns:a16="http://schemas.microsoft.com/office/drawing/2014/main" id="{E42A782C-C3F0-277E-E4AD-C0207DAF1C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289" y="3808718"/>
            <a:ext cx="3770701" cy="2697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ECHNAXX CCD surveillance camera dummy TX-18 | Surveillance cameras at very  favourable prices | reichelt elektronik">
            <a:extLst>
              <a:ext uri="{FF2B5EF4-FFF2-40B4-BE49-F238E27FC236}">
                <a16:creationId xmlns:a16="http://schemas.microsoft.com/office/drawing/2014/main" id="{BE2A2D84-1B27-A212-DDAF-26C1BCF667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55998" flipH="1">
            <a:off x="3441690" y="3743032"/>
            <a:ext cx="650889" cy="762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C73AEB9-2B13-D166-9119-7C9C6F79CDEE}"/>
              </a:ext>
            </a:extLst>
          </p:cNvPr>
          <p:cNvSpPr/>
          <p:nvPr/>
        </p:nvSpPr>
        <p:spPr>
          <a:xfrm>
            <a:off x="269823" y="889689"/>
            <a:ext cx="3850230" cy="25560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3E929-5925-B31B-70F5-16BC255C1229}"/>
              </a:ext>
            </a:extLst>
          </p:cNvPr>
          <p:cNvSpPr/>
          <p:nvPr/>
        </p:nvSpPr>
        <p:spPr>
          <a:xfrm>
            <a:off x="260011" y="3636595"/>
            <a:ext cx="4035636" cy="31651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9D45D1-B500-2DA7-0F22-B85FA6CD15FF}"/>
              </a:ext>
            </a:extLst>
          </p:cNvPr>
          <p:cNvSpPr/>
          <p:nvPr/>
        </p:nvSpPr>
        <p:spPr>
          <a:xfrm>
            <a:off x="4345102" y="1028700"/>
            <a:ext cx="2101903" cy="2031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0CC9D-5C36-46D8-20D5-C55F6C36BE49}"/>
              </a:ext>
            </a:extLst>
          </p:cNvPr>
          <p:cNvSpPr/>
          <p:nvPr/>
        </p:nvSpPr>
        <p:spPr>
          <a:xfrm>
            <a:off x="7351250" y="1234963"/>
            <a:ext cx="4840750" cy="203132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1F761B-1F9D-FD2E-2246-790EACA3EB76}"/>
              </a:ext>
            </a:extLst>
          </p:cNvPr>
          <p:cNvSpPr/>
          <p:nvPr/>
        </p:nvSpPr>
        <p:spPr>
          <a:xfrm>
            <a:off x="4406098" y="3362422"/>
            <a:ext cx="3589783" cy="3439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90B2E7-953D-9BA0-3D7C-309B733CB25C}"/>
              </a:ext>
            </a:extLst>
          </p:cNvPr>
          <p:cNvSpPr/>
          <p:nvPr/>
        </p:nvSpPr>
        <p:spPr>
          <a:xfrm>
            <a:off x="2603922" y="147510"/>
            <a:ext cx="4885013" cy="65427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7698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2CC74-CB29-7475-87CD-3FA95263B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0D60DAF-6B85-2791-5CDE-4E1E69F46F8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54957-56B5-AE27-720B-77BB67542FDD}"/>
              </a:ext>
            </a:extLst>
          </p:cNvPr>
          <p:cNvSpPr txBox="1"/>
          <p:nvPr/>
        </p:nvSpPr>
        <p:spPr>
          <a:xfrm>
            <a:off x="292308" y="252740"/>
            <a:ext cx="6100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SLR4 OS AND SYSTEM SOFTWARE</a:t>
            </a:r>
          </a:p>
        </p:txBody>
      </p:sp>
      <p:sp>
        <p:nvSpPr>
          <p:cNvPr id="5" name="Action Button: Go Forward or Next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154AC0B-02A1-803E-54C1-F572F3E87B3E}"/>
              </a:ext>
            </a:extLst>
          </p:cNvPr>
          <p:cNvSpPr/>
          <p:nvPr/>
        </p:nvSpPr>
        <p:spPr>
          <a:xfrm>
            <a:off x="824460" y="1128209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ction Button: Go Forward or Nex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2C9CB06-294A-2C79-EFE6-539DC6B99D01}"/>
              </a:ext>
            </a:extLst>
          </p:cNvPr>
          <p:cNvSpPr/>
          <p:nvPr/>
        </p:nvSpPr>
        <p:spPr>
          <a:xfrm>
            <a:off x="824460" y="2075088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0861455D-213F-4B0E-B2BB-86B303EE6FC9}"/>
              </a:ext>
            </a:extLst>
          </p:cNvPr>
          <p:cNvSpPr/>
          <p:nvPr/>
        </p:nvSpPr>
        <p:spPr>
          <a:xfrm>
            <a:off x="824460" y="3021967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tion Button: Go Forward or Next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BE0B315-694F-E7FE-95D5-6541BD06B573}"/>
              </a:ext>
            </a:extLst>
          </p:cNvPr>
          <p:cNvSpPr/>
          <p:nvPr/>
        </p:nvSpPr>
        <p:spPr>
          <a:xfrm>
            <a:off x="824460" y="3968846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ction Button: Go Forward or Next 8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4DA3390-9F2F-0EED-EA95-BE30D936A08E}"/>
              </a:ext>
            </a:extLst>
          </p:cNvPr>
          <p:cNvSpPr/>
          <p:nvPr/>
        </p:nvSpPr>
        <p:spPr>
          <a:xfrm>
            <a:off x="824460" y="4915725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667B3-5D89-3EB0-5A36-16EBD33779CF}"/>
              </a:ext>
            </a:extLst>
          </p:cNvPr>
          <p:cNvSpPr txBox="1"/>
          <p:nvPr/>
        </p:nvSpPr>
        <p:spPr>
          <a:xfrm>
            <a:off x="1888761" y="1128209"/>
            <a:ext cx="479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FUNCTIONS AND PURPOSE OF 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A59285-D95D-E337-0FFC-2A54420C7159}"/>
              </a:ext>
            </a:extLst>
          </p:cNvPr>
          <p:cNvSpPr txBox="1"/>
          <p:nvPr/>
        </p:nvSpPr>
        <p:spPr>
          <a:xfrm>
            <a:off x="1888761" y="2218544"/>
            <a:ext cx="4207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MEMORY MANAGEMENT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DE7698-677F-42CA-6629-BE11DB656200}"/>
              </a:ext>
            </a:extLst>
          </p:cNvPr>
          <p:cNvSpPr txBox="1"/>
          <p:nvPr/>
        </p:nvSpPr>
        <p:spPr>
          <a:xfrm>
            <a:off x="1888761" y="3124213"/>
            <a:ext cx="3972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INTERRUPTS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C1F07B-0C33-B271-91A9-C79AC807985A}"/>
              </a:ext>
            </a:extLst>
          </p:cNvPr>
          <p:cNvSpPr txBox="1"/>
          <p:nvPr/>
        </p:nvSpPr>
        <p:spPr>
          <a:xfrm>
            <a:off x="1888761" y="4056315"/>
            <a:ext cx="4207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SCHEDULING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205F85-B517-F4A9-D3AC-EEAB35153AB0}"/>
              </a:ext>
            </a:extLst>
          </p:cNvPr>
          <p:cNvSpPr txBox="1"/>
          <p:nvPr/>
        </p:nvSpPr>
        <p:spPr>
          <a:xfrm>
            <a:off x="2041160" y="6060730"/>
            <a:ext cx="4207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VIRTUAL MACHINES</a:t>
            </a:r>
          </a:p>
        </p:txBody>
      </p:sp>
      <p:sp>
        <p:nvSpPr>
          <p:cNvPr id="3" name="Action Button: Go Forward or Next 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540C3394-1590-ECF1-E867-F7EA912E9129}"/>
              </a:ext>
            </a:extLst>
          </p:cNvPr>
          <p:cNvSpPr/>
          <p:nvPr/>
        </p:nvSpPr>
        <p:spPr>
          <a:xfrm>
            <a:off x="824460" y="5885533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279934-70F9-BB05-F8C8-D80E1090335D}"/>
              </a:ext>
            </a:extLst>
          </p:cNvPr>
          <p:cNvSpPr txBox="1"/>
          <p:nvPr/>
        </p:nvSpPr>
        <p:spPr>
          <a:xfrm>
            <a:off x="2041161" y="5174105"/>
            <a:ext cx="4207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TYPES OF OS</a:t>
            </a:r>
          </a:p>
        </p:txBody>
      </p:sp>
      <p:sp>
        <p:nvSpPr>
          <p:cNvPr id="16" name="Action Button: Go Forward or Next 1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9AF1C6C7-8A8A-AB2C-1ACA-BB9155F7773B}"/>
              </a:ext>
            </a:extLst>
          </p:cNvPr>
          <p:cNvSpPr/>
          <p:nvPr/>
        </p:nvSpPr>
        <p:spPr>
          <a:xfrm>
            <a:off x="6096000" y="1110222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ction Button: Go Forward or Next 16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E39735F9-F181-3EBA-E6C6-AF6B0C37FA09}"/>
              </a:ext>
            </a:extLst>
          </p:cNvPr>
          <p:cNvSpPr/>
          <p:nvPr/>
        </p:nvSpPr>
        <p:spPr>
          <a:xfrm>
            <a:off x="6096000" y="2088174"/>
            <a:ext cx="704538" cy="719727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5ABA02-2604-63A0-004E-9D2DD18BD942}"/>
              </a:ext>
            </a:extLst>
          </p:cNvPr>
          <p:cNvSpPr txBox="1"/>
          <p:nvPr/>
        </p:nvSpPr>
        <p:spPr>
          <a:xfrm>
            <a:off x="7045376" y="1191404"/>
            <a:ext cx="479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BIOS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991D252-2F3A-6EEB-5645-D781761B2DB0}"/>
              </a:ext>
            </a:extLst>
          </p:cNvPr>
          <p:cNvSpPr txBox="1"/>
          <p:nvPr/>
        </p:nvSpPr>
        <p:spPr>
          <a:xfrm>
            <a:off x="7045376" y="2263371"/>
            <a:ext cx="4796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DEVICE DRIVERS</a:t>
            </a:r>
          </a:p>
        </p:txBody>
      </p:sp>
    </p:spTree>
    <p:extLst>
      <p:ext uri="{BB962C8B-B14F-4D97-AF65-F5344CB8AC3E}">
        <p14:creationId xmlns:p14="http://schemas.microsoft.com/office/powerpoint/2010/main" val="4030675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F89F1-60A8-FE64-CB24-3B11C619A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92C9AE9-2033-55DE-EB5A-D787FFCA40A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E5A2C2-0F54-2F3C-2E23-836DE12BD5EB}"/>
              </a:ext>
            </a:extLst>
          </p:cNvPr>
          <p:cNvSpPr txBox="1"/>
          <p:nvPr/>
        </p:nvSpPr>
        <p:spPr>
          <a:xfrm>
            <a:off x="119922" y="74593"/>
            <a:ext cx="57712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FUNCTIONS AND PURPOSE OF OS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02EBA55-34ED-DBD8-7F98-939AA9211C3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47F733-D70D-F00A-373E-48D852DF8A10}"/>
              </a:ext>
            </a:extLst>
          </p:cNvPr>
          <p:cNvSpPr txBox="1"/>
          <p:nvPr/>
        </p:nvSpPr>
        <p:spPr>
          <a:xfrm>
            <a:off x="-12486" y="690325"/>
            <a:ext cx="49549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The Operating system </a:t>
            </a:r>
            <a:r>
              <a:rPr lang="en-GB"/>
              <a:t>refers to a collection of programs that work together to </a:t>
            </a:r>
            <a:r>
              <a:rPr lang="en-GB" b="1"/>
              <a:t>provide a user interface between the user and the hardware. </a:t>
            </a:r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97EBCF-41FE-3BD3-293C-C789818884D7}"/>
              </a:ext>
            </a:extLst>
          </p:cNvPr>
          <p:cNvSpPr txBox="1"/>
          <p:nvPr/>
        </p:nvSpPr>
        <p:spPr>
          <a:xfrm>
            <a:off x="4617720" y="2849880"/>
            <a:ext cx="3779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highlight>
                  <a:srgbClr val="FFFF00"/>
                </a:highlight>
              </a:rPr>
              <a:t>Functions of OS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976AF8-E3B5-A6DE-53A5-32746B67BB19}"/>
              </a:ext>
            </a:extLst>
          </p:cNvPr>
          <p:cNvSpPr/>
          <p:nvPr/>
        </p:nvSpPr>
        <p:spPr>
          <a:xfrm>
            <a:off x="4495800" y="2684026"/>
            <a:ext cx="2042160" cy="701040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3EDEC2-6698-2966-F374-0FDED875D63A}"/>
              </a:ext>
            </a:extLst>
          </p:cNvPr>
          <p:cNvSpPr txBox="1"/>
          <p:nvPr/>
        </p:nvSpPr>
        <p:spPr>
          <a:xfrm>
            <a:off x="21239" y="1741884"/>
            <a:ext cx="44745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Multitasking: </a:t>
            </a:r>
            <a:r>
              <a:rPr lang="en-GB"/>
              <a:t>Having more than one program open and running at the same time can be done by the processor allocating a </a:t>
            </a:r>
            <a:r>
              <a:rPr lang="en-GB" b="1"/>
              <a:t>small amount of time to each process </a:t>
            </a:r>
            <a:r>
              <a:rPr lang="en-GB"/>
              <a:t>and </a:t>
            </a:r>
            <a:r>
              <a:rPr lang="en-GB" b="1"/>
              <a:t>cycles </a:t>
            </a:r>
            <a:r>
              <a:rPr lang="en-GB"/>
              <a:t>between them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D88C2F-9BFB-6E21-38C6-C6AB5542CCF8}"/>
              </a:ext>
            </a:extLst>
          </p:cNvPr>
          <p:cNvSpPr txBox="1"/>
          <p:nvPr/>
        </p:nvSpPr>
        <p:spPr>
          <a:xfrm>
            <a:off x="66760" y="3175470"/>
            <a:ext cx="19587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As it happens quickly, it seems as if multiple programs are running at the </a:t>
            </a:r>
            <a:r>
              <a:rPr lang="en-GB" b="1"/>
              <a:t>same 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A9AB4-7025-DD27-6FCA-9F4122F03AFE}"/>
              </a:ext>
            </a:extLst>
          </p:cNvPr>
          <p:cNvSpPr txBox="1"/>
          <p:nvPr/>
        </p:nvSpPr>
        <p:spPr>
          <a:xfrm>
            <a:off x="6167824" y="210502"/>
            <a:ext cx="39455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User Management</a:t>
            </a:r>
            <a:r>
              <a:rPr lang="en-GB"/>
              <a:t>: Allows </a:t>
            </a:r>
            <a:r>
              <a:rPr lang="en-GB" b="1"/>
              <a:t>multiple users </a:t>
            </a:r>
            <a:r>
              <a:rPr lang="en-GB"/>
              <a:t>to log onto the same computer. </a:t>
            </a:r>
          </a:p>
          <a:p>
            <a:r>
              <a:rPr lang="en-GB"/>
              <a:t>OS will </a:t>
            </a:r>
            <a:r>
              <a:rPr lang="en-GB" b="1"/>
              <a:t>retain setting and access rights for each user.</a:t>
            </a:r>
          </a:p>
          <a:p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55749-8A0E-6E13-CB18-81EECB7F589B}"/>
              </a:ext>
            </a:extLst>
          </p:cNvPr>
          <p:cNvSpPr txBox="1"/>
          <p:nvPr/>
        </p:nvSpPr>
        <p:spPr>
          <a:xfrm>
            <a:off x="9706679" y="1437232"/>
            <a:ext cx="236419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User interface</a:t>
            </a:r>
            <a:r>
              <a:rPr lang="en-GB"/>
              <a:t>: Provides the user an interface for </a:t>
            </a:r>
            <a:r>
              <a:rPr lang="en-GB" b="1"/>
              <a:t>application software and hardware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They should have </a:t>
            </a:r>
            <a:r>
              <a:rPr lang="en-GB" b="1"/>
              <a:t>WIMP</a:t>
            </a:r>
            <a:r>
              <a:rPr lang="en-GB"/>
              <a:t>: Windows, icons menus and pointers.</a:t>
            </a:r>
          </a:p>
          <a:p>
            <a:endParaRPr lang="en-GB"/>
          </a:p>
          <a:p>
            <a:r>
              <a:rPr lang="en-GB"/>
              <a:t>Interfaces should be </a:t>
            </a:r>
            <a:r>
              <a:rPr lang="en-GB" b="1"/>
              <a:t>visual, interactive, intuitive </a:t>
            </a:r>
            <a:r>
              <a:rPr lang="en-GB"/>
              <a:t>and optimised for mouse or touch gesture inputs.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0333A0-3FE1-F515-55BA-4057B495CAAE}"/>
              </a:ext>
            </a:extLst>
          </p:cNvPr>
          <p:cNvSpPr txBox="1"/>
          <p:nvPr/>
        </p:nvSpPr>
        <p:spPr>
          <a:xfrm>
            <a:off x="4942514" y="1760696"/>
            <a:ext cx="3070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Utility Programs:</a:t>
            </a:r>
          </a:p>
          <a:p>
            <a:r>
              <a:rPr lang="en-GB" b="1"/>
              <a:t>Compression, encryption and defragmentation</a:t>
            </a:r>
            <a:r>
              <a:rPr lang="en-GB"/>
              <a:t>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145BEC-9E00-5464-A707-3030CE3B8DB6}"/>
              </a:ext>
            </a:extLst>
          </p:cNvPr>
          <p:cNvSpPr txBox="1"/>
          <p:nvPr/>
        </p:nvSpPr>
        <p:spPr>
          <a:xfrm>
            <a:off x="5214276" y="4616201"/>
            <a:ext cx="3599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Memory/resource management</a:t>
            </a:r>
            <a:r>
              <a:rPr lang="en-GB"/>
              <a:t>: Storing data after power is lost, multitasking and virtual memory.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CE48-9754-67F6-2731-5C342FDB25AD}"/>
              </a:ext>
            </a:extLst>
          </p:cNvPr>
          <p:cNvSpPr txBox="1"/>
          <p:nvPr/>
        </p:nvSpPr>
        <p:spPr>
          <a:xfrm>
            <a:off x="121920" y="5686573"/>
            <a:ext cx="4953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File Management</a:t>
            </a:r>
            <a:r>
              <a:rPr lang="en-GB"/>
              <a:t>: </a:t>
            </a:r>
            <a:r>
              <a:rPr lang="en-GB" b="1"/>
              <a:t>Sorting </a:t>
            </a:r>
            <a:r>
              <a:rPr lang="en-GB"/>
              <a:t>files, naming files, and where they are going to be loaded as of their </a:t>
            </a:r>
            <a:r>
              <a:rPr lang="en-GB" b="1"/>
              <a:t>extension in the filename </a:t>
            </a:r>
            <a:r>
              <a:rPr lang="en-GB"/>
              <a:t>like PNG or JPEG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5616D5-4FA9-9130-9A64-1273237444E7}"/>
              </a:ext>
            </a:extLst>
          </p:cNvPr>
          <p:cNvSpPr txBox="1"/>
          <p:nvPr/>
        </p:nvSpPr>
        <p:spPr>
          <a:xfrm>
            <a:off x="6400555" y="5713927"/>
            <a:ext cx="35998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Application Software</a:t>
            </a:r>
            <a:r>
              <a:rPr lang="en-GB"/>
              <a:t>: Word processors, spreadsheets, graphics programs are all run through the OS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6632C5-052B-D666-EC4A-F824FFEEA5CD}"/>
              </a:ext>
            </a:extLst>
          </p:cNvPr>
          <p:cNvSpPr txBox="1"/>
          <p:nvPr/>
        </p:nvSpPr>
        <p:spPr>
          <a:xfrm>
            <a:off x="2085199" y="3415872"/>
            <a:ext cx="3498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Device Drivers: Peripheral hardware</a:t>
            </a:r>
            <a:r>
              <a:rPr lang="en-GB"/>
              <a:t> connected to the computer has its instructions </a:t>
            </a:r>
            <a:r>
              <a:rPr lang="en-GB" b="1"/>
              <a:t>transcribed</a:t>
            </a:r>
            <a:r>
              <a:rPr lang="en-GB"/>
              <a:t> by the OS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707C28-0384-E400-F3B4-5EE16EC69A88}"/>
              </a:ext>
            </a:extLst>
          </p:cNvPr>
          <p:cNvSpPr txBox="1"/>
          <p:nvPr/>
        </p:nvSpPr>
        <p:spPr>
          <a:xfrm>
            <a:off x="6811997" y="2826111"/>
            <a:ext cx="26571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Interrupt handling</a:t>
            </a:r>
            <a:r>
              <a:rPr lang="en-GB"/>
              <a:t>: Deals with interrupts when any device requires </a:t>
            </a:r>
            <a:r>
              <a:rPr lang="en-GB" b="1"/>
              <a:t>the attention of the processor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C1BCF7-AB4C-29BB-EAAE-DD11AE87785E}"/>
              </a:ext>
            </a:extLst>
          </p:cNvPr>
          <p:cNvSpPr/>
          <p:nvPr/>
        </p:nvSpPr>
        <p:spPr>
          <a:xfrm>
            <a:off x="21239" y="1657243"/>
            <a:ext cx="4453224" cy="1551027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E02574-BDA7-35A0-F746-5490E52AA7FA}"/>
              </a:ext>
            </a:extLst>
          </p:cNvPr>
          <p:cNvSpPr/>
          <p:nvPr/>
        </p:nvSpPr>
        <p:spPr>
          <a:xfrm>
            <a:off x="7038" y="3199975"/>
            <a:ext cx="1797564" cy="171922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2B31BC7-18A0-5C22-96EE-9447CD1C964C}"/>
                  </a:ext>
                </a:extLst>
              </p14:cNvPr>
              <p14:cNvContentPartPr/>
              <p14:nvPr/>
            </p14:nvContentPartPr>
            <p14:xfrm>
              <a:off x="1466496" y="3163464"/>
              <a:ext cx="275040" cy="936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2B31BC7-18A0-5C22-96EE-9447CD1C96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8496" y="3145464"/>
                <a:ext cx="31068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AF4B37C-D23E-02EB-0570-9C46DA921187}"/>
                  </a:ext>
                </a:extLst>
              </p14:cNvPr>
              <p14:cNvContentPartPr/>
              <p14:nvPr/>
            </p14:nvContentPartPr>
            <p14:xfrm>
              <a:off x="22536" y="3143664"/>
              <a:ext cx="1675800" cy="1224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AF4B37C-D23E-02EB-0570-9C46DA92118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36" y="3125717"/>
                <a:ext cx="1711440" cy="157935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Rectangle 26">
            <a:extLst>
              <a:ext uri="{FF2B5EF4-FFF2-40B4-BE49-F238E27FC236}">
                <a16:creationId xmlns:a16="http://schemas.microsoft.com/office/drawing/2014/main" id="{A27C7252-0047-CEDF-5D1D-131A147A5D99}"/>
              </a:ext>
            </a:extLst>
          </p:cNvPr>
          <p:cNvSpPr/>
          <p:nvPr/>
        </p:nvSpPr>
        <p:spPr>
          <a:xfrm>
            <a:off x="2010813" y="3415872"/>
            <a:ext cx="3064108" cy="1200329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7E7989-9BFA-BA67-29E8-27F9096225D6}"/>
              </a:ext>
            </a:extLst>
          </p:cNvPr>
          <p:cNvSpPr/>
          <p:nvPr/>
        </p:nvSpPr>
        <p:spPr>
          <a:xfrm>
            <a:off x="84836" y="5539274"/>
            <a:ext cx="4990083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C92976-71D5-3C07-FEC5-B59DF10B3BA0}"/>
              </a:ext>
            </a:extLst>
          </p:cNvPr>
          <p:cNvSpPr/>
          <p:nvPr/>
        </p:nvSpPr>
        <p:spPr>
          <a:xfrm>
            <a:off x="5279519" y="4585395"/>
            <a:ext cx="3335455" cy="949179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E0DFA7A-0CA3-46B8-E833-311A9B0F828C}"/>
              </a:ext>
            </a:extLst>
          </p:cNvPr>
          <p:cNvSpPr/>
          <p:nvPr/>
        </p:nvSpPr>
        <p:spPr>
          <a:xfrm>
            <a:off x="4942512" y="1687573"/>
            <a:ext cx="2852207" cy="92333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4A70F8-683B-97D4-C346-2BA5A1F1C44A}"/>
              </a:ext>
            </a:extLst>
          </p:cNvPr>
          <p:cNvSpPr/>
          <p:nvPr/>
        </p:nvSpPr>
        <p:spPr>
          <a:xfrm>
            <a:off x="6155617" y="137635"/>
            <a:ext cx="3844819" cy="1277987"/>
          </a:xfrm>
          <a:prstGeom prst="rect">
            <a:avLst/>
          </a:prstGeom>
          <a:noFill/>
          <a:ln>
            <a:solidFill>
              <a:srgbClr val="F9C5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3066B4-EB03-041F-67FE-2FD114586DFF}"/>
              </a:ext>
            </a:extLst>
          </p:cNvPr>
          <p:cNvSpPr/>
          <p:nvPr/>
        </p:nvSpPr>
        <p:spPr>
          <a:xfrm>
            <a:off x="9632019" y="1422937"/>
            <a:ext cx="2433195" cy="4876328"/>
          </a:xfrm>
          <a:prstGeom prst="rect">
            <a:avLst/>
          </a:prstGeom>
          <a:noFill/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924EA7-EB85-524C-4AE6-430896CDD7ED}"/>
              </a:ext>
            </a:extLst>
          </p:cNvPr>
          <p:cNvSpPr/>
          <p:nvPr/>
        </p:nvSpPr>
        <p:spPr>
          <a:xfrm>
            <a:off x="6734054" y="2752987"/>
            <a:ext cx="2701870" cy="1550451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4A2ABE7-4B77-B40E-EB2D-D6583E5621A9}"/>
              </a:ext>
            </a:extLst>
          </p:cNvPr>
          <p:cNvSpPr/>
          <p:nvPr/>
        </p:nvSpPr>
        <p:spPr>
          <a:xfrm>
            <a:off x="6198306" y="5619094"/>
            <a:ext cx="3348030" cy="1238905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BF1CD27-76B1-4574-2AB1-52988621854B}"/>
                  </a:ext>
                </a:extLst>
              </p14:cNvPr>
              <p14:cNvContentPartPr/>
              <p14:nvPr/>
            </p14:nvContentPartPr>
            <p14:xfrm>
              <a:off x="5152176" y="3438000"/>
              <a:ext cx="158760" cy="3855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BF1CD27-76B1-4574-2AB1-52988621854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46056" y="3431880"/>
                <a:ext cx="171000" cy="3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B6F15B9-2A42-B8CF-8A3B-EF56BA67EB49}"/>
                  </a:ext>
                </a:extLst>
              </p14:cNvPr>
              <p14:cNvContentPartPr/>
              <p14:nvPr/>
            </p14:nvContentPartPr>
            <p14:xfrm>
              <a:off x="4696056" y="3337200"/>
              <a:ext cx="828000" cy="21855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B6F15B9-2A42-B8CF-8A3B-EF56BA67EB4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89933" y="3331080"/>
                <a:ext cx="840245" cy="219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7138E4A-E7B4-644D-05BA-208C916B276E}"/>
                  </a:ext>
                </a:extLst>
              </p14:cNvPr>
              <p14:cNvContentPartPr/>
              <p14:nvPr/>
            </p14:nvContentPartPr>
            <p14:xfrm>
              <a:off x="5933376" y="3364920"/>
              <a:ext cx="74880" cy="1188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7138E4A-E7B4-644D-05BA-208C916B27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927256" y="3358798"/>
                <a:ext cx="87120" cy="1200964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C659DC45-1060-60CE-5ECE-FCB9CEDCF415}"/>
              </a:ext>
            </a:extLst>
          </p:cNvPr>
          <p:cNvGrpSpPr/>
          <p:nvPr/>
        </p:nvGrpSpPr>
        <p:grpSpPr>
          <a:xfrm>
            <a:off x="6435216" y="3090600"/>
            <a:ext cx="2496600" cy="2546640"/>
            <a:chOff x="6435216" y="3090600"/>
            <a:chExt cx="2496600" cy="25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432203-8BC4-1C50-4616-EFEC0E1F7620}"/>
                    </a:ext>
                  </a:extLst>
                </p14:cNvPr>
                <p14:cNvContentPartPr/>
                <p14:nvPr/>
              </p14:nvContentPartPr>
              <p14:xfrm>
                <a:off x="6435216" y="3337200"/>
                <a:ext cx="2496600" cy="230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432203-8BC4-1C50-4616-EFEC0E1F762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429096" y="3331079"/>
                  <a:ext cx="2508840" cy="23122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A4ED41A-DD83-E080-D734-1B1936AA6CCB}"/>
                    </a:ext>
                  </a:extLst>
                </p14:cNvPr>
                <p14:cNvContentPartPr/>
                <p14:nvPr/>
              </p14:nvContentPartPr>
              <p14:xfrm>
                <a:off x="6519456" y="3090600"/>
                <a:ext cx="195840" cy="43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A4ED41A-DD83-E080-D734-1B1936AA6CC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513336" y="3084480"/>
                  <a:ext cx="20808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B175AFD-A4CE-48AD-B688-B95059BF71CC}"/>
                  </a:ext>
                </a:extLst>
              </p14:cNvPr>
              <p14:cNvContentPartPr/>
              <p14:nvPr/>
            </p14:nvContentPartPr>
            <p14:xfrm>
              <a:off x="6455376" y="2586600"/>
              <a:ext cx="3309840" cy="1659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B175AFD-A4CE-48AD-B688-B95059BF71C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449256" y="2580480"/>
                <a:ext cx="3322080" cy="17820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68E7C0AF-A318-5F29-B8B9-74861A1D0D8C}"/>
              </a:ext>
            </a:extLst>
          </p:cNvPr>
          <p:cNvGrpSpPr/>
          <p:nvPr/>
        </p:nvGrpSpPr>
        <p:grpSpPr>
          <a:xfrm>
            <a:off x="4487616" y="1161000"/>
            <a:ext cx="1688400" cy="1600560"/>
            <a:chOff x="4487616" y="1161000"/>
            <a:chExt cx="1688400" cy="160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CB4B162-0A0A-3670-3264-C15E070D2DD2}"/>
                    </a:ext>
                  </a:extLst>
                </p14:cNvPr>
                <p14:cNvContentPartPr/>
                <p14:nvPr/>
              </p14:nvContentPartPr>
              <p14:xfrm>
                <a:off x="4781736" y="2332080"/>
                <a:ext cx="137520" cy="39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CB4B162-0A0A-3670-3264-C15E070D2DD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75616" y="2325960"/>
                  <a:ext cx="14976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E191DC5-DBF7-867E-186C-F1FE2022FC3D}"/>
                    </a:ext>
                  </a:extLst>
                </p14:cNvPr>
                <p14:cNvContentPartPr/>
                <p14:nvPr/>
              </p14:nvContentPartPr>
              <p14:xfrm>
                <a:off x="4487616" y="2501640"/>
                <a:ext cx="157680" cy="2415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191DC5-DBF7-867E-186C-F1FE2022FC3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81496" y="2495520"/>
                  <a:ext cx="16992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9E28004-673B-6763-C013-FE1AA2A62B90}"/>
                    </a:ext>
                  </a:extLst>
                </p14:cNvPr>
                <p14:cNvContentPartPr/>
                <p14:nvPr/>
              </p14:nvContentPartPr>
              <p14:xfrm>
                <a:off x="4754376" y="1161000"/>
                <a:ext cx="1421640" cy="1600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9E28004-673B-6763-C013-FE1AA2A62B9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748256" y="1154881"/>
                  <a:ext cx="1433880" cy="1612797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76576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EEB90-01F0-E2D9-6D1C-5274FFA86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D4FB337-6F5E-5AD7-3508-05E04743B2C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01E352-8B93-EC2D-B685-4B0E825C6513}"/>
              </a:ext>
            </a:extLst>
          </p:cNvPr>
          <p:cNvSpPr txBox="1"/>
          <p:nvPr/>
        </p:nvSpPr>
        <p:spPr>
          <a:xfrm>
            <a:off x="7203" y="144957"/>
            <a:ext cx="4207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MEMORY MANAGEMENT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B4BA0ED-E638-22FD-14F8-F1D0A0770E0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3FA4245-FF51-1FC4-898A-B408AA8CC3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7" t="23269" r="11229" b="6353"/>
          <a:stretch/>
        </p:blipFill>
        <p:spPr bwMode="auto">
          <a:xfrm>
            <a:off x="239843" y="3974546"/>
            <a:ext cx="6949441" cy="2799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A73E63-F976-B65F-3956-84D68924DE48}"/>
              </a:ext>
            </a:extLst>
          </p:cNvPr>
          <p:cNvSpPr txBox="1"/>
          <p:nvPr/>
        </p:nvSpPr>
        <p:spPr>
          <a:xfrm>
            <a:off x="496382" y="1028700"/>
            <a:ext cx="30922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Computer memory must be </a:t>
            </a:r>
            <a:r>
              <a:rPr lang="en-GB" b="1"/>
              <a:t>shared fairly between multiple programs </a:t>
            </a:r>
            <a:r>
              <a:rPr lang="en-GB"/>
              <a:t>and applications being used. The OS, to ensure main memory is shared efficiently and all programs are run, uses </a:t>
            </a:r>
            <a:r>
              <a:rPr lang="en-GB" b="1"/>
              <a:t>segmentation, paging and virtual memory.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0F18C4-D80B-6553-60BD-CB79999BC111}"/>
              </a:ext>
            </a:extLst>
          </p:cNvPr>
          <p:cNvSpPr txBox="1"/>
          <p:nvPr/>
        </p:nvSpPr>
        <p:spPr>
          <a:xfrm>
            <a:off x="7717155" y="1156161"/>
            <a:ext cx="44581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Paging: </a:t>
            </a:r>
            <a:r>
              <a:rPr lang="en-GB"/>
              <a:t>When memory is split up into </a:t>
            </a:r>
            <a:r>
              <a:rPr lang="en-GB" b="1"/>
              <a:t>equal-sized sections physically k</a:t>
            </a:r>
            <a:r>
              <a:rPr lang="en-GB"/>
              <a:t>nown as </a:t>
            </a:r>
            <a:r>
              <a:rPr lang="en-GB" b="1"/>
              <a:t>pages </a:t>
            </a:r>
            <a:r>
              <a:rPr lang="en-GB"/>
              <a:t>which are a </a:t>
            </a:r>
            <a:r>
              <a:rPr lang="en-GB" b="1"/>
              <a:t>fixed size </a:t>
            </a:r>
            <a:r>
              <a:rPr lang="en-GB"/>
              <a:t>and can be </a:t>
            </a:r>
            <a:r>
              <a:rPr lang="en-GB" b="1"/>
              <a:t>swapped between main memory and hard disk </a:t>
            </a:r>
            <a:r>
              <a:rPr lang="en-GB"/>
              <a:t>as needed.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F2E2E2-3D95-1B92-4202-02393A048C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8252"/>
          <a:stretch/>
        </p:blipFill>
        <p:spPr>
          <a:xfrm>
            <a:off x="9577478" y="2589157"/>
            <a:ext cx="2476846" cy="11100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E5E272-A8A5-0608-0686-C3F4488E6B5D}"/>
              </a:ext>
            </a:extLst>
          </p:cNvPr>
          <p:cNvSpPr txBox="1"/>
          <p:nvPr/>
        </p:nvSpPr>
        <p:spPr>
          <a:xfrm>
            <a:off x="7536818" y="3699167"/>
            <a:ext cx="4754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Segmentation: </a:t>
            </a:r>
            <a:r>
              <a:rPr lang="en-GB"/>
              <a:t>When memory is split into </a:t>
            </a:r>
            <a:r>
              <a:rPr lang="en-GB" b="1"/>
              <a:t>logical sized divisions known as segments </a:t>
            </a:r>
            <a:r>
              <a:rPr lang="en-GB"/>
              <a:t>with each segment </a:t>
            </a:r>
            <a:r>
              <a:rPr lang="en-GB" b="1"/>
              <a:t>being complete sections of code</a:t>
            </a:r>
            <a:r>
              <a:rPr lang="en-GB"/>
              <a:t> and can be representative of the structure and logic of a program. They can be swapped </a:t>
            </a:r>
            <a:r>
              <a:rPr lang="en-GB" b="1"/>
              <a:t>between main memory and hard disk</a:t>
            </a:r>
            <a:r>
              <a:rPr lang="en-GB"/>
              <a:t> as needed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C8E651-ADA2-B47B-D5BB-863C342E43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2124" y="5653194"/>
            <a:ext cx="2200033" cy="115894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9A36FF0-E494-DA75-38A6-F71813009F8E}"/>
              </a:ext>
            </a:extLst>
          </p:cNvPr>
          <p:cNvSpPr txBox="1"/>
          <p:nvPr/>
        </p:nvSpPr>
        <p:spPr>
          <a:xfrm>
            <a:off x="3936137" y="144958"/>
            <a:ext cx="366458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Virtual Memory: Uses a section of the hard drive to act as RAM </a:t>
            </a:r>
            <a:r>
              <a:rPr lang="en-GB"/>
              <a:t>when there </a:t>
            </a:r>
            <a:r>
              <a:rPr lang="en-GB" b="1"/>
              <a:t>is insufficient space </a:t>
            </a:r>
            <a:r>
              <a:rPr lang="en-GB"/>
              <a:t>in main memory. Pages and segments that are not currently in use are temporarily moved to free up RAM. </a:t>
            </a:r>
          </a:p>
          <a:p>
            <a:endParaRPr lang="en-GB"/>
          </a:p>
          <a:p>
            <a:r>
              <a:rPr lang="en-GB"/>
              <a:t>However</a:t>
            </a:r>
            <a:r>
              <a:rPr lang="en-GB" b="1"/>
              <a:t>, disk thrashing </a:t>
            </a:r>
            <a:r>
              <a:rPr lang="en-GB"/>
              <a:t>can occur if pages and segments are swapped too frequently between the hard disk and main memory.</a:t>
            </a:r>
          </a:p>
          <a:p>
            <a:r>
              <a:rPr lang="en-GB"/>
              <a:t>This causes the OS to freeze and </a:t>
            </a:r>
            <a:r>
              <a:rPr lang="en-GB" b="1"/>
              <a:t>slows down programs</a:t>
            </a:r>
            <a:r>
              <a:rPr lang="en-GB"/>
              <a:t>.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4D91761-6C90-F48D-0173-003192EDE04F}"/>
              </a:ext>
            </a:extLst>
          </p:cNvPr>
          <p:cNvSpPr/>
          <p:nvPr/>
        </p:nvSpPr>
        <p:spPr>
          <a:xfrm>
            <a:off x="3989904" y="84040"/>
            <a:ext cx="3527634" cy="389050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DAE1E6-5DCE-8EFF-343A-B5105F43C7EC}"/>
              </a:ext>
            </a:extLst>
          </p:cNvPr>
          <p:cNvSpPr/>
          <p:nvPr/>
        </p:nvSpPr>
        <p:spPr>
          <a:xfrm>
            <a:off x="518160" y="1021080"/>
            <a:ext cx="3222843" cy="2678087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489176-1683-3B1E-9E13-017A2D13F5EF}"/>
              </a:ext>
            </a:extLst>
          </p:cNvPr>
          <p:cNvSpPr/>
          <p:nvPr/>
        </p:nvSpPr>
        <p:spPr>
          <a:xfrm>
            <a:off x="7669936" y="1028700"/>
            <a:ext cx="4458106" cy="1627000"/>
          </a:xfrm>
          <a:prstGeom prst="rect">
            <a:avLst/>
          </a:prstGeom>
          <a:noFill/>
          <a:ln>
            <a:solidFill>
              <a:srgbClr val="EF7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FD4F15-AD5E-A66D-1BB4-B224AC489386}"/>
              </a:ext>
            </a:extLst>
          </p:cNvPr>
          <p:cNvSpPr/>
          <p:nvPr/>
        </p:nvSpPr>
        <p:spPr>
          <a:xfrm>
            <a:off x="7593058" y="3743448"/>
            <a:ext cx="4582203" cy="1909748"/>
          </a:xfrm>
          <a:prstGeom prst="rect">
            <a:avLst/>
          </a:prstGeom>
          <a:noFill/>
          <a:ln>
            <a:solidFill>
              <a:srgbClr val="FFC5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9935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C2502-91A5-F2C8-3AD4-89C6CD59D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24E3C24-C77F-E5E3-CB33-BA841904170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9E639B-F56A-3FCD-FB33-6D63962D69BB}"/>
              </a:ext>
            </a:extLst>
          </p:cNvPr>
          <p:cNvSpPr txBox="1"/>
          <p:nvPr/>
        </p:nvSpPr>
        <p:spPr>
          <a:xfrm>
            <a:off x="314793" y="252740"/>
            <a:ext cx="39723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INTERRUPTS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E3216C7-0CAA-0D3D-27EA-2705B444E82C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DEC00-B64B-AB3C-8F0A-4118E3082D56}"/>
              </a:ext>
            </a:extLst>
          </p:cNvPr>
          <p:cNvSpPr txBox="1"/>
          <p:nvPr/>
        </p:nvSpPr>
        <p:spPr>
          <a:xfrm>
            <a:off x="393191" y="775960"/>
            <a:ext cx="5115929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An </a:t>
            </a:r>
            <a:r>
              <a:rPr lang="en-GB" b="1"/>
              <a:t>interrupt is a sign</a:t>
            </a:r>
            <a:r>
              <a:rPr lang="en-GB"/>
              <a:t>al from a software program, hardware device or internal clock </a:t>
            </a:r>
            <a:r>
              <a:rPr lang="en-GB" b="1"/>
              <a:t>to the CPU. </a:t>
            </a:r>
          </a:p>
          <a:p>
            <a:endParaRPr lang="en-GB"/>
          </a:p>
          <a:p>
            <a:r>
              <a:rPr lang="en-GB"/>
              <a:t>Software interrupt: </a:t>
            </a:r>
            <a:r>
              <a:rPr lang="en-GB" b="1"/>
              <a:t>An application program</a:t>
            </a:r>
            <a:r>
              <a:rPr lang="en-GB"/>
              <a:t> terminates or requests certain services from the OS.</a:t>
            </a:r>
          </a:p>
          <a:p>
            <a:endParaRPr lang="en-GB"/>
          </a:p>
          <a:p>
            <a:r>
              <a:rPr lang="en-GB"/>
              <a:t>Hardware interrupt: When an</a:t>
            </a:r>
            <a:r>
              <a:rPr lang="en-GB" b="1"/>
              <a:t> Input/Output</a:t>
            </a:r>
            <a:r>
              <a:rPr lang="en-GB"/>
              <a:t> operation is complete or a peripheral error.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D4BFA4-7C9E-A705-5AA7-04E13090D926}"/>
              </a:ext>
            </a:extLst>
          </p:cNvPr>
          <p:cNvSpPr txBox="1"/>
          <p:nvPr/>
        </p:nvSpPr>
        <p:spPr>
          <a:xfrm>
            <a:off x="5698285" y="50397"/>
            <a:ext cx="405079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Interrupts are also regularly tiggered at times to indicate that it is turn of the process to have </a:t>
            </a:r>
            <a:r>
              <a:rPr lang="en-GB" b="1"/>
              <a:t>processing time</a:t>
            </a:r>
            <a:r>
              <a:rPr lang="en-GB"/>
              <a:t>. It is because a processor can be interrupted that </a:t>
            </a:r>
            <a:r>
              <a:rPr lang="en-GB" b="1"/>
              <a:t>multi-tasking can occur.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BD60E6-A1BE-FC70-0E60-B803BC7D1823}"/>
              </a:ext>
            </a:extLst>
          </p:cNvPr>
          <p:cNvSpPr txBox="1"/>
          <p:nvPr/>
        </p:nvSpPr>
        <p:spPr>
          <a:xfrm>
            <a:off x="5815584" y="2013096"/>
            <a:ext cx="2359152" cy="480131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When the CPU receives an interrupt signal, </a:t>
            </a:r>
            <a:r>
              <a:rPr lang="en-GB" b="1"/>
              <a:t>it suspends current execution</a:t>
            </a:r>
            <a:r>
              <a:rPr lang="en-GB"/>
              <a:t> of program and disables all interrupts of a </a:t>
            </a:r>
            <a:r>
              <a:rPr lang="en-GB" b="1"/>
              <a:t>lower priority. </a:t>
            </a:r>
          </a:p>
          <a:p>
            <a:endParaRPr lang="en-GB"/>
          </a:p>
          <a:p>
            <a:r>
              <a:rPr lang="en-GB"/>
              <a:t>Then, puts the values of the Program Counter and registers </a:t>
            </a:r>
            <a:r>
              <a:rPr lang="en-GB" b="1"/>
              <a:t>onto the system stack</a:t>
            </a:r>
            <a:r>
              <a:rPr lang="en-GB"/>
              <a:t> while the </a:t>
            </a:r>
            <a:r>
              <a:rPr lang="en-GB" b="1"/>
              <a:t>Interrupt Service Routine is called</a:t>
            </a:r>
            <a:r>
              <a:rPr lang="en-GB"/>
              <a:t> to deal with the interrupt.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DDD5F-EC52-32DF-8672-239D2B71E93D}"/>
              </a:ext>
            </a:extLst>
          </p:cNvPr>
          <p:cNvSpPr txBox="1"/>
          <p:nvPr/>
        </p:nvSpPr>
        <p:spPr>
          <a:xfrm>
            <a:off x="8769096" y="1897254"/>
            <a:ext cx="3127248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Interrupts have different priorities, and lower priorities may be disabled if a</a:t>
            </a:r>
            <a:r>
              <a:rPr lang="en-GB" b="1"/>
              <a:t> higher priority interrupt needs to be serviced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5AC5C83-4851-3EEB-B133-F0F9A4B97F22}"/>
              </a:ext>
            </a:extLst>
          </p:cNvPr>
          <p:cNvSpPr/>
          <p:nvPr/>
        </p:nvSpPr>
        <p:spPr>
          <a:xfrm rot="5400000">
            <a:off x="8087868" y="4567428"/>
            <a:ext cx="1618488" cy="6766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PRIORITY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4B3C0D-6C90-0CFC-9A63-C177FAF3DA3E}"/>
              </a:ext>
            </a:extLst>
          </p:cNvPr>
          <p:cNvSpPr txBox="1"/>
          <p:nvPr/>
        </p:nvSpPr>
        <p:spPr>
          <a:xfrm>
            <a:off x="9491472" y="3749040"/>
            <a:ext cx="24963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GB"/>
              <a:t>Power fail interrupt</a:t>
            </a:r>
          </a:p>
          <a:p>
            <a:pPr marL="285750" indent="-285750">
              <a:buFontTx/>
              <a:buChar char="-"/>
            </a:pPr>
            <a:endParaRPr lang="en-GB"/>
          </a:p>
          <a:p>
            <a:pPr marL="285750" indent="-285750">
              <a:buFontTx/>
              <a:buChar char="-"/>
            </a:pPr>
            <a:r>
              <a:rPr lang="en-GB"/>
              <a:t>Clock interrupt</a:t>
            </a:r>
          </a:p>
          <a:p>
            <a:pPr marL="285750" indent="-285750">
              <a:buFontTx/>
              <a:buChar char="-"/>
            </a:pPr>
            <a:endParaRPr lang="en-GB"/>
          </a:p>
          <a:p>
            <a:pPr marL="285750" indent="-285750">
              <a:buFontTx/>
              <a:buChar char="-"/>
            </a:pPr>
            <a:r>
              <a:rPr lang="en-GB"/>
              <a:t>An I/O device sends a signal requesting service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4BE76E1-EF85-7027-EDCF-D345FEAB5BB0}"/>
              </a:ext>
            </a:extLst>
          </p:cNvPr>
          <p:cNvSpPr/>
          <p:nvPr/>
        </p:nvSpPr>
        <p:spPr>
          <a:xfrm>
            <a:off x="8287512" y="1565143"/>
            <a:ext cx="3904488" cy="452431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628B82-B30E-0DC0-C825-8FE640E88247}"/>
              </a:ext>
            </a:extLst>
          </p:cNvPr>
          <p:cNvSpPr txBox="1"/>
          <p:nvPr/>
        </p:nvSpPr>
        <p:spPr>
          <a:xfrm>
            <a:off x="51816" y="3524150"/>
            <a:ext cx="5559552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Once an interrupt has been serviced, the original values of the registers are retrieved from the system stack, the process resumes.</a:t>
            </a:r>
          </a:p>
          <a:p>
            <a:endParaRPr lang="en-GB"/>
          </a:p>
          <a:p>
            <a:r>
              <a:rPr lang="en-GB"/>
              <a:t>A test for the presence of interrupts is carried out at the</a:t>
            </a:r>
            <a:r>
              <a:rPr lang="en-GB" b="1"/>
              <a:t> end of each FDE cycle</a:t>
            </a:r>
            <a:r>
              <a:rPr lang="en-GB"/>
              <a:t> as well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0DAFC6F-B974-0516-B7CF-512D62B44E28}"/>
              </a:ext>
            </a:extLst>
          </p:cNvPr>
          <p:cNvSpPr/>
          <p:nvPr/>
        </p:nvSpPr>
        <p:spPr>
          <a:xfrm>
            <a:off x="51816" y="5932597"/>
            <a:ext cx="1045464" cy="4284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Start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F1D39635-AAC9-2AA9-84A2-57AC12FA6825}"/>
              </a:ext>
            </a:extLst>
          </p:cNvPr>
          <p:cNvSpPr/>
          <p:nvPr/>
        </p:nvSpPr>
        <p:spPr>
          <a:xfrm>
            <a:off x="1391161" y="5803903"/>
            <a:ext cx="909828" cy="631614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FDE cycle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1B160F52-6FE2-0925-3B25-727ACBB82815}"/>
              </a:ext>
            </a:extLst>
          </p:cNvPr>
          <p:cNvSpPr/>
          <p:nvPr/>
        </p:nvSpPr>
        <p:spPr>
          <a:xfrm>
            <a:off x="4533138" y="5766233"/>
            <a:ext cx="1036494" cy="631614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Transfer control to the IHS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F5AA3E28-F1CF-947F-1E49-C33E8DAEF913}"/>
              </a:ext>
            </a:extLst>
          </p:cNvPr>
          <p:cNvSpPr/>
          <p:nvPr/>
        </p:nvSpPr>
        <p:spPr>
          <a:xfrm>
            <a:off x="2502331" y="5563534"/>
            <a:ext cx="1784855" cy="1112351"/>
          </a:xfrm>
          <a:prstGeom prst="flowChartDecision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/>
              <a:t>Any interrupts to be processed?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68335F5-7D77-3E8E-FBA9-7E33590E10FB}"/>
              </a:ext>
            </a:extLst>
          </p:cNvPr>
          <p:cNvGrpSpPr/>
          <p:nvPr/>
        </p:nvGrpSpPr>
        <p:grpSpPr>
          <a:xfrm>
            <a:off x="1096848" y="6060816"/>
            <a:ext cx="219600" cy="141480"/>
            <a:chOff x="1096848" y="6060816"/>
            <a:chExt cx="219600" cy="14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2BC0188-E4C1-A4AA-FA0B-FB5CB301C9D6}"/>
                    </a:ext>
                  </a:extLst>
                </p14:cNvPr>
                <p14:cNvContentPartPr/>
                <p14:nvPr/>
              </p14:nvContentPartPr>
              <p14:xfrm>
                <a:off x="1096848" y="6141096"/>
                <a:ext cx="159120" cy="129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2BC0188-E4C1-A4AA-FA0B-FB5CB301C9D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90728" y="6134976"/>
                  <a:ext cx="171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53F24A2-F996-D8D0-23D4-A08B83692A47}"/>
                    </a:ext>
                  </a:extLst>
                </p14:cNvPr>
                <p14:cNvContentPartPr/>
                <p14:nvPr/>
              </p14:nvContentPartPr>
              <p14:xfrm>
                <a:off x="1207008" y="6060816"/>
                <a:ext cx="109440" cy="141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53F24A2-F996-D8D0-23D4-A08B83692A47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00908" y="6054696"/>
                  <a:ext cx="121640" cy="153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289B74C-8D9D-1B91-1A30-47F0ABFF2612}"/>
              </a:ext>
            </a:extLst>
          </p:cNvPr>
          <p:cNvGrpSpPr/>
          <p:nvPr/>
        </p:nvGrpSpPr>
        <p:grpSpPr>
          <a:xfrm>
            <a:off x="2240208" y="6034536"/>
            <a:ext cx="219240" cy="164880"/>
            <a:chOff x="2240208" y="6034536"/>
            <a:chExt cx="21924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1C6187D-482F-DDC2-7741-7B5482AADD77}"/>
                    </a:ext>
                  </a:extLst>
                </p14:cNvPr>
                <p14:cNvContentPartPr/>
                <p14:nvPr/>
              </p14:nvContentPartPr>
              <p14:xfrm>
                <a:off x="2240208" y="6117336"/>
                <a:ext cx="187920" cy="277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1C6187D-482F-DDC2-7741-7B5482AADD7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234100" y="6111216"/>
                  <a:ext cx="200137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D292EE9B-1245-C838-BA18-E6D6D2612D8C}"/>
                    </a:ext>
                  </a:extLst>
                </p14:cNvPr>
                <p14:cNvContentPartPr/>
                <p14:nvPr/>
              </p14:nvContentPartPr>
              <p14:xfrm>
                <a:off x="2362248" y="6034536"/>
                <a:ext cx="97200" cy="164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D292EE9B-1245-C838-BA18-E6D6D2612D8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356128" y="6028416"/>
                  <a:ext cx="10944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5D74388-8F62-337B-0117-09C496A592A1}"/>
              </a:ext>
            </a:extLst>
          </p:cNvPr>
          <p:cNvGrpSpPr/>
          <p:nvPr/>
        </p:nvGrpSpPr>
        <p:grpSpPr>
          <a:xfrm>
            <a:off x="4251888" y="6071256"/>
            <a:ext cx="172800" cy="126000"/>
            <a:chOff x="4251888" y="6071256"/>
            <a:chExt cx="172800" cy="12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F4A884A-D4FC-3E4D-3E6F-AD6ED480C883}"/>
                    </a:ext>
                  </a:extLst>
                </p14:cNvPr>
                <p14:cNvContentPartPr/>
                <p14:nvPr/>
              </p14:nvContentPartPr>
              <p14:xfrm>
                <a:off x="4251888" y="6126336"/>
                <a:ext cx="153000" cy="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F4A884A-D4FC-3E4D-3E6F-AD6ED480C8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245768" y="6120216"/>
                  <a:ext cx="16524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338C00C-D361-65BE-40E9-C40DD4EBA103}"/>
                    </a:ext>
                  </a:extLst>
                </p14:cNvPr>
                <p14:cNvContentPartPr/>
                <p14:nvPr/>
              </p14:nvContentPartPr>
              <p14:xfrm>
                <a:off x="4367808" y="6071256"/>
                <a:ext cx="56880" cy="126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338C00C-D361-65BE-40E9-C40DD4EBA103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361688" y="6065136"/>
                  <a:ext cx="69120" cy="13824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B0C126BB-1D5C-524F-E8EA-77B32082A909}"/>
              </a:ext>
            </a:extLst>
          </p:cNvPr>
          <p:cNvCxnSpPr>
            <a:cxnSpLocks/>
            <a:stCxn id="18" idx="0"/>
          </p:cNvCxnSpPr>
          <p:nvPr/>
        </p:nvCxnSpPr>
        <p:spPr>
          <a:xfrm rot="16200000" flipV="1">
            <a:off x="2956563" y="3671410"/>
            <a:ext cx="394228" cy="3795417"/>
          </a:xfrm>
          <a:prstGeom prst="bentConnector2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9D174DF-62AB-3B75-F0EB-9395540F401C}"/>
              </a:ext>
            </a:extLst>
          </p:cNvPr>
          <p:cNvCxnSpPr/>
          <p:nvPr/>
        </p:nvCxnSpPr>
        <p:spPr>
          <a:xfrm>
            <a:off x="1255968" y="5372004"/>
            <a:ext cx="0" cy="7174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C8A5FB9-558E-5A31-446E-C1112813936A}"/>
              </a:ext>
            </a:extLst>
          </p:cNvPr>
          <p:cNvCxnSpPr>
            <a:cxnSpLocks/>
          </p:cNvCxnSpPr>
          <p:nvPr/>
        </p:nvCxnSpPr>
        <p:spPr>
          <a:xfrm flipV="1">
            <a:off x="3394758" y="5372004"/>
            <a:ext cx="0" cy="2665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E577255-5812-376F-BD76-99B139EE03C5}"/>
              </a:ext>
            </a:extLst>
          </p:cNvPr>
          <p:cNvSpPr txBox="1"/>
          <p:nvPr/>
        </p:nvSpPr>
        <p:spPr>
          <a:xfrm>
            <a:off x="3554179" y="5396901"/>
            <a:ext cx="647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CD126A-296D-A37C-DAF1-3C8099E5BDA5}"/>
              </a:ext>
            </a:extLst>
          </p:cNvPr>
          <p:cNvSpPr txBox="1"/>
          <p:nvPr/>
        </p:nvSpPr>
        <p:spPr>
          <a:xfrm>
            <a:off x="4071806" y="6160462"/>
            <a:ext cx="6476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Yes</a:t>
            </a:r>
          </a:p>
        </p:txBody>
      </p:sp>
      <p:sp>
        <p:nvSpPr>
          <p:cNvPr id="53" name="Flowchart: Process 52">
            <a:extLst>
              <a:ext uri="{FF2B5EF4-FFF2-40B4-BE49-F238E27FC236}">
                <a16:creationId xmlns:a16="http://schemas.microsoft.com/office/drawing/2014/main" id="{8C0E8830-4FF0-3859-DD59-56F71401E13A}"/>
              </a:ext>
            </a:extLst>
          </p:cNvPr>
          <p:cNvSpPr/>
          <p:nvPr/>
        </p:nvSpPr>
        <p:spPr>
          <a:xfrm>
            <a:off x="314792" y="694527"/>
            <a:ext cx="5270717" cy="2748190"/>
          </a:xfrm>
          <a:prstGeom prst="flowChartProcess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3D9CEC1-93BC-2CCD-FFA2-9F78E2078178}"/>
              </a:ext>
            </a:extLst>
          </p:cNvPr>
          <p:cNvSpPr/>
          <p:nvPr/>
        </p:nvSpPr>
        <p:spPr>
          <a:xfrm>
            <a:off x="53389" y="3522997"/>
            <a:ext cx="5378142" cy="1781686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2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20882-FD6C-6BD2-C6C8-783FE4FE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E6C9176-8C7B-CF7B-0762-A73FD93CBC23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114E8-CBC3-4FD0-822C-95009FE99294}"/>
              </a:ext>
            </a:extLst>
          </p:cNvPr>
          <p:cNvSpPr txBox="1"/>
          <p:nvPr/>
        </p:nvSpPr>
        <p:spPr>
          <a:xfrm>
            <a:off x="251872" y="147537"/>
            <a:ext cx="42072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SCHEDULING</a:t>
            </a:r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96598D9-D5F1-ACAA-7FEB-D418BBE8638B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617B7-27DC-4985-786B-65EE7D960A1B}"/>
              </a:ext>
            </a:extLst>
          </p:cNvPr>
          <p:cNvSpPr txBox="1"/>
          <p:nvPr/>
        </p:nvSpPr>
        <p:spPr>
          <a:xfrm>
            <a:off x="210552" y="711868"/>
            <a:ext cx="733926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 scheduler manages which process to </a:t>
            </a:r>
            <a:r>
              <a:rPr lang="en-GB" b="1"/>
              <a:t>run next and </a:t>
            </a:r>
          </a:p>
          <a:p>
            <a:r>
              <a:rPr lang="en-GB" b="1"/>
              <a:t>the length of time the next process can execute for.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0E53A-B089-E708-4CF5-94F27C73304C}"/>
              </a:ext>
            </a:extLst>
          </p:cNvPr>
          <p:cNvSpPr txBox="1"/>
          <p:nvPr/>
        </p:nvSpPr>
        <p:spPr>
          <a:xfrm>
            <a:off x="7369342" y="190500"/>
            <a:ext cx="27440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>
                <a:solidFill>
                  <a:srgbClr val="00B0F0"/>
                </a:solidFill>
              </a:rPr>
              <a:t>Pre-emptive:</a:t>
            </a:r>
          </a:p>
          <a:p>
            <a:r>
              <a:rPr lang="en-GB"/>
              <a:t>Jobs are </a:t>
            </a:r>
            <a:r>
              <a:rPr lang="en-GB" b="1"/>
              <a:t>actively made to </a:t>
            </a:r>
          </a:p>
          <a:p>
            <a:r>
              <a:rPr lang="en-GB" b="1"/>
              <a:t>start and stop </a:t>
            </a:r>
            <a:r>
              <a:rPr lang="en-GB"/>
              <a:t>by the OS</a:t>
            </a:r>
          </a:p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58EF2-2D19-5FDB-DCCD-1D402CA7B5FF}"/>
              </a:ext>
            </a:extLst>
          </p:cNvPr>
          <p:cNvSpPr txBox="1"/>
          <p:nvPr/>
        </p:nvSpPr>
        <p:spPr>
          <a:xfrm>
            <a:off x="4463280" y="3179187"/>
            <a:ext cx="379997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Scheduling algorithms: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844FCA-7456-B636-6FFC-9BBD5BBC0125}"/>
              </a:ext>
            </a:extLst>
          </p:cNvPr>
          <p:cNvSpPr/>
          <p:nvPr/>
        </p:nvSpPr>
        <p:spPr>
          <a:xfrm>
            <a:off x="4391526" y="3128210"/>
            <a:ext cx="2526631" cy="49128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618CD-26B8-DDD8-4050-5E1BFC69F474}"/>
              </a:ext>
            </a:extLst>
          </p:cNvPr>
          <p:cNvSpPr txBox="1"/>
          <p:nvPr/>
        </p:nvSpPr>
        <p:spPr>
          <a:xfrm>
            <a:off x="516536" y="1607713"/>
            <a:ext cx="615990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00B0F0"/>
                </a:solidFill>
              </a:rPr>
              <a:t>Round Robin: </a:t>
            </a:r>
            <a:r>
              <a:rPr lang="en-GB"/>
              <a:t>Each process is allowed a </a:t>
            </a:r>
            <a:r>
              <a:rPr lang="en-GB" b="1"/>
              <a:t>fixed amount of time </a:t>
            </a:r>
            <a:r>
              <a:rPr lang="en-GB"/>
              <a:t>called </a:t>
            </a:r>
            <a:r>
              <a:rPr lang="en-GB" b="1"/>
              <a:t>a time slice</a:t>
            </a:r>
            <a:r>
              <a:rPr lang="en-GB"/>
              <a:t>/quantum. After their time is up, they must </a:t>
            </a:r>
            <a:r>
              <a:rPr lang="en-GB" b="1"/>
              <a:t>re-enter the queue </a:t>
            </a:r>
            <a:r>
              <a:rPr lang="en-GB"/>
              <a:t>if the process is not fully executed.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3E684F-5530-490B-FD06-05556D672E55}"/>
              </a:ext>
            </a:extLst>
          </p:cNvPr>
          <p:cNvSpPr txBox="1"/>
          <p:nvPr/>
        </p:nvSpPr>
        <p:spPr>
          <a:xfrm>
            <a:off x="8171447" y="2757237"/>
            <a:ext cx="355934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EE0000"/>
                </a:solidFill>
              </a:rPr>
              <a:t>First come, first serve</a:t>
            </a:r>
            <a:r>
              <a:rPr lang="en-GB"/>
              <a:t>: Processes are executed in </a:t>
            </a:r>
            <a:r>
              <a:rPr lang="en-GB" b="1"/>
              <a:t>the order they arrive.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242137-2A53-2D88-90B2-72FCE4A81DEC}"/>
              </a:ext>
            </a:extLst>
          </p:cNvPr>
          <p:cNvSpPr txBox="1"/>
          <p:nvPr/>
        </p:nvSpPr>
        <p:spPr>
          <a:xfrm>
            <a:off x="6406815" y="4561974"/>
            <a:ext cx="5504447" cy="2031325"/>
          </a:xfrm>
          <a:prstGeom prst="rect">
            <a:avLst/>
          </a:prstGeom>
          <a:noFill/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00B0F0"/>
                </a:solidFill>
              </a:rPr>
              <a:t>Multi-level feedback queues</a:t>
            </a:r>
            <a:r>
              <a:rPr lang="en-GB"/>
              <a:t>: If a </a:t>
            </a:r>
            <a:r>
              <a:rPr lang="en-GB" b="1"/>
              <a:t>computer has more than one core, it can use multiple queues, </a:t>
            </a:r>
            <a:r>
              <a:rPr lang="en-GB"/>
              <a:t>each which is ordered based on a </a:t>
            </a:r>
            <a:r>
              <a:rPr lang="en-GB" b="1"/>
              <a:t>different priority.</a:t>
            </a:r>
            <a:endParaRPr lang="en-US" b="1"/>
          </a:p>
          <a:p>
            <a:endParaRPr lang="en-GB"/>
          </a:p>
          <a:p>
            <a:r>
              <a:rPr lang="en-GB"/>
              <a:t>This can </a:t>
            </a:r>
            <a:r>
              <a:rPr lang="en-GB" b="1"/>
              <a:t>be difficult to implement </a:t>
            </a:r>
            <a:r>
              <a:rPr lang="en-GB"/>
              <a:t>due to deciding which job to prioritise based on a combination of priorities.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9D9F1E-45BF-2EB9-4A36-00C820B73713}"/>
              </a:ext>
            </a:extLst>
          </p:cNvPr>
          <p:cNvSpPr txBox="1"/>
          <p:nvPr/>
        </p:nvSpPr>
        <p:spPr>
          <a:xfrm>
            <a:off x="220207" y="3269939"/>
            <a:ext cx="261843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chemeClr val="accent4"/>
                </a:solidFill>
              </a:rPr>
              <a:t>Shortest remaining time</a:t>
            </a:r>
            <a:r>
              <a:rPr lang="en-GB"/>
              <a:t>: The queue is based on </a:t>
            </a:r>
            <a:r>
              <a:rPr lang="en-GB" b="1"/>
              <a:t>which process are closest to complete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There is a risk of </a:t>
            </a:r>
            <a:r>
              <a:rPr lang="en-GB" b="1"/>
              <a:t>processor starvation </a:t>
            </a:r>
            <a:r>
              <a:rPr lang="en-GB"/>
              <a:t>for longer jobs if short queues are added to the job queue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BFDD38-722F-345F-0F86-02AF8066E18D}"/>
              </a:ext>
            </a:extLst>
          </p:cNvPr>
          <p:cNvSpPr txBox="1"/>
          <p:nvPr/>
        </p:nvSpPr>
        <p:spPr>
          <a:xfrm>
            <a:off x="3408947" y="3809999"/>
            <a:ext cx="2265947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EE0000"/>
                </a:solidFill>
              </a:rPr>
              <a:t>Shortest job time: </a:t>
            </a:r>
            <a:r>
              <a:rPr lang="en-GB"/>
              <a:t>The process with the </a:t>
            </a:r>
            <a:r>
              <a:rPr lang="en-GB" b="1"/>
              <a:t>smallest estimated running time </a:t>
            </a:r>
            <a:r>
              <a:rPr lang="en-GB"/>
              <a:t>is run next</a:t>
            </a:r>
          </a:p>
          <a:p>
            <a:endParaRPr lang="en-GB"/>
          </a:p>
          <a:p>
            <a:r>
              <a:rPr lang="en-GB"/>
              <a:t>Very similar to shortest remaining time.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853CBD-E98B-6EBA-CA6B-072F811BDA6D}"/>
              </a:ext>
            </a:extLst>
          </p:cNvPr>
          <p:cNvSpPr/>
          <p:nvPr/>
        </p:nvSpPr>
        <p:spPr>
          <a:xfrm>
            <a:off x="461211" y="1401368"/>
            <a:ext cx="6601968" cy="1325880"/>
          </a:xfrm>
          <a:prstGeom prst="rect">
            <a:avLst/>
          </a:prstGeom>
          <a:noFill/>
          <a:ln>
            <a:solidFill>
              <a:srgbClr val="0F89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952B7A-A07A-F62F-7037-72C630C3C8BA}"/>
              </a:ext>
            </a:extLst>
          </p:cNvPr>
          <p:cNvSpPr/>
          <p:nvPr/>
        </p:nvSpPr>
        <p:spPr>
          <a:xfrm>
            <a:off x="0" y="3175025"/>
            <a:ext cx="3008376" cy="305215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D1404C-242C-BD56-C9AC-B583150095BA}"/>
              </a:ext>
            </a:extLst>
          </p:cNvPr>
          <p:cNvSpPr/>
          <p:nvPr/>
        </p:nvSpPr>
        <p:spPr>
          <a:xfrm>
            <a:off x="3408947" y="3772960"/>
            <a:ext cx="2146394" cy="27606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618190-9526-5390-4CB9-09EFF5C7A56D}"/>
              </a:ext>
            </a:extLst>
          </p:cNvPr>
          <p:cNvSpPr/>
          <p:nvPr/>
        </p:nvSpPr>
        <p:spPr>
          <a:xfrm>
            <a:off x="8171446" y="2757237"/>
            <a:ext cx="3432289" cy="98346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FFB3ED-B623-A825-B551-AEF4EF56F35B}"/>
              </a:ext>
            </a:extLst>
          </p:cNvPr>
          <p:cNvSpPr/>
          <p:nvPr/>
        </p:nvSpPr>
        <p:spPr>
          <a:xfrm>
            <a:off x="6355440" y="4548236"/>
            <a:ext cx="5504447" cy="19854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3A2240E-5DC7-31C8-27C5-78C5B4899A5E}"/>
              </a:ext>
            </a:extLst>
          </p:cNvPr>
          <p:cNvCxnSpPr>
            <a:stCxn id="8" idx="1"/>
          </p:cNvCxnSpPr>
          <p:nvPr/>
        </p:nvCxnSpPr>
        <p:spPr>
          <a:xfrm flipH="1">
            <a:off x="3008376" y="3373855"/>
            <a:ext cx="1383150" cy="1746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1897C6D-8F68-7065-7699-FE7F53298FBB}"/>
              </a:ext>
            </a:extLst>
          </p:cNvPr>
          <p:cNvCxnSpPr/>
          <p:nvPr/>
        </p:nvCxnSpPr>
        <p:spPr>
          <a:xfrm flipH="1">
            <a:off x="5555341" y="3619499"/>
            <a:ext cx="540659" cy="9424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C2E71C-D353-3611-0B7A-B8FC40019C4E}"/>
              </a:ext>
            </a:extLst>
          </p:cNvPr>
          <p:cNvCxnSpPr>
            <a:stCxn id="8" idx="0"/>
          </p:cNvCxnSpPr>
          <p:nvPr/>
        </p:nvCxnSpPr>
        <p:spPr>
          <a:xfrm flipH="1" flipV="1">
            <a:off x="5276088" y="2727248"/>
            <a:ext cx="378754" cy="400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8E094E1-AD5C-4306-01DD-C9D72B9A67B0}"/>
              </a:ext>
            </a:extLst>
          </p:cNvPr>
          <p:cNvCxnSpPr>
            <a:stCxn id="8" idx="3"/>
          </p:cNvCxnSpPr>
          <p:nvPr/>
        </p:nvCxnSpPr>
        <p:spPr>
          <a:xfrm flipV="1">
            <a:off x="6918157" y="3364855"/>
            <a:ext cx="1253289" cy="9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27ECEBF-F311-D1F7-CC72-893492D710CA}"/>
              </a:ext>
            </a:extLst>
          </p:cNvPr>
          <p:cNvCxnSpPr/>
          <p:nvPr/>
        </p:nvCxnSpPr>
        <p:spPr>
          <a:xfrm>
            <a:off x="6918157" y="3619499"/>
            <a:ext cx="1101131" cy="928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428BC17-E49E-01B0-0E97-EBCD83F420C9}"/>
              </a:ext>
            </a:extLst>
          </p:cNvPr>
          <p:cNvSpPr txBox="1"/>
          <p:nvPr/>
        </p:nvSpPr>
        <p:spPr>
          <a:xfrm>
            <a:off x="7369342" y="1200412"/>
            <a:ext cx="4541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Non-pre-emptive: </a:t>
            </a:r>
            <a:r>
              <a:rPr lang="en-GB"/>
              <a:t>Jobs are started and then left alone until it is completed.</a:t>
            </a:r>
          </a:p>
        </p:txBody>
      </p:sp>
    </p:spTree>
    <p:extLst>
      <p:ext uri="{BB962C8B-B14F-4D97-AF65-F5344CB8AC3E}">
        <p14:creationId xmlns:p14="http://schemas.microsoft.com/office/powerpoint/2010/main" val="5035691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3B4063-E3A2-DCF5-7238-59927A90836A}"/>
              </a:ext>
            </a:extLst>
          </p:cNvPr>
          <p:cNvSpPr txBox="1"/>
          <p:nvPr/>
        </p:nvSpPr>
        <p:spPr>
          <a:xfrm>
            <a:off x="3051871" y="126938"/>
            <a:ext cx="703142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A </a:t>
            </a:r>
            <a:r>
              <a:rPr lang="en-GB" b="1"/>
              <a:t>distributed operating system</a:t>
            </a:r>
            <a:r>
              <a:rPr lang="en-GB"/>
              <a:t> is a form of</a:t>
            </a:r>
            <a:r>
              <a:rPr lang="en-GB" b="1"/>
              <a:t> parallel </a:t>
            </a:r>
            <a:r>
              <a:rPr lang="en-GB"/>
              <a:t>processing system which spreads the </a:t>
            </a:r>
            <a:r>
              <a:rPr lang="en-GB" b="1"/>
              <a:t>load over multiple computer servers. </a:t>
            </a:r>
            <a:r>
              <a:rPr lang="en-GB"/>
              <a:t>For example, Linux has a distributed version </a:t>
            </a:r>
          </a:p>
          <a:p>
            <a:endParaRPr lang="en-GB"/>
          </a:p>
          <a:p>
            <a:r>
              <a:rPr lang="en-GB"/>
              <a:t>This is co-ordinated by the operating </a:t>
            </a:r>
          </a:p>
          <a:p>
            <a:r>
              <a:rPr lang="en-GB"/>
              <a:t>system to make it look like a </a:t>
            </a:r>
            <a:r>
              <a:rPr lang="en-GB" b="1"/>
              <a:t>single system</a:t>
            </a:r>
            <a:r>
              <a:rPr lang="en-GB"/>
              <a:t>. </a:t>
            </a:r>
          </a:p>
        </p:txBody>
      </p:sp>
      <p:pic>
        <p:nvPicPr>
          <p:cNvPr id="2052" name="Picture 4" descr="25 years of Linux – still open, still free and more exciting than ever -  Tech Monitor">
            <a:extLst>
              <a:ext uri="{FF2B5EF4-FFF2-40B4-BE49-F238E27FC236}">
                <a16:creationId xmlns:a16="http://schemas.microsoft.com/office/drawing/2014/main" id="{A1A71AE6-5D5F-5FEC-A688-472C2FCD90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3123" y="985651"/>
            <a:ext cx="1072055" cy="59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3E753C-AF1B-FA12-7F0C-864EB3559084}"/>
              </a:ext>
            </a:extLst>
          </p:cNvPr>
          <p:cNvSpPr txBox="1"/>
          <p:nvPr/>
        </p:nvSpPr>
        <p:spPr>
          <a:xfrm>
            <a:off x="5176787" y="3328925"/>
            <a:ext cx="29481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Multi-tasking Systems </a:t>
            </a:r>
            <a:r>
              <a:rPr lang="en-GB"/>
              <a:t>may run on a single computer and can run many jobs </a:t>
            </a:r>
            <a:r>
              <a:rPr lang="en-GB" b="1"/>
              <a:t>simultaneously, </a:t>
            </a:r>
            <a:r>
              <a:rPr lang="en-GB"/>
              <a:t>switching between them.</a:t>
            </a:r>
          </a:p>
          <a:p>
            <a:r>
              <a:rPr lang="en-GB"/>
              <a:t>E.G ORBIS and Windows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1DC476-E5E7-734A-A922-9FB7FD7890A5}"/>
              </a:ext>
            </a:extLst>
          </p:cNvPr>
          <p:cNvSpPr txBox="1"/>
          <p:nvPr/>
        </p:nvSpPr>
        <p:spPr>
          <a:xfrm>
            <a:off x="328600" y="2484422"/>
            <a:ext cx="49976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Multi-user systems </a:t>
            </a:r>
            <a:r>
              <a:rPr lang="en-GB"/>
              <a:t>involve a single powerful </a:t>
            </a:r>
            <a:r>
              <a:rPr lang="en-GB" b="1"/>
              <a:t>mainframe that is connected to dozens of terminals </a:t>
            </a:r>
            <a:r>
              <a:rPr lang="en-GB"/>
              <a:t>all using them mainframe CPU.</a:t>
            </a:r>
          </a:p>
          <a:p>
            <a:endParaRPr lang="en-GB"/>
          </a:p>
          <a:p>
            <a:r>
              <a:rPr lang="en-GB"/>
              <a:t>Each get a </a:t>
            </a:r>
            <a:r>
              <a:rPr lang="en-GB" b="1"/>
              <a:t>time slice </a:t>
            </a:r>
            <a:r>
              <a:rPr lang="en-GB"/>
              <a:t>of processing based on scheduling</a:t>
            </a:r>
          </a:p>
          <a:p>
            <a:endParaRPr lang="en-GB"/>
          </a:p>
          <a:p>
            <a:r>
              <a:rPr lang="en-GB"/>
              <a:t>The main computer can be called a big iron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6FC0D-A271-4B66-8D20-49C4006D7F8B}"/>
              </a:ext>
            </a:extLst>
          </p:cNvPr>
          <p:cNvSpPr txBox="1"/>
          <p:nvPr/>
        </p:nvSpPr>
        <p:spPr>
          <a:xfrm>
            <a:off x="8632361" y="2081686"/>
            <a:ext cx="29481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Real Time systems are safety critical </a:t>
            </a:r>
            <a:r>
              <a:rPr lang="en-GB"/>
              <a:t>and must respond very quickly to any inputs or sensors and it must be able to deal with many inputs simultaneously.</a:t>
            </a:r>
          </a:p>
          <a:p>
            <a:endParaRPr lang="en-GB"/>
          </a:p>
          <a:p>
            <a:endParaRPr lang="en-GB"/>
          </a:p>
          <a:p>
            <a:r>
              <a:rPr lang="en-GB" b="1"/>
              <a:t>Failsafe and extra components (redundancy) must be incorporated.</a:t>
            </a:r>
          </a:p>
          <a:p>
            <a:endParaRPr lang="en-GB"/>
          </a:p>
          <a:p>
            <a:r>
              <a:rPr lang="en-GB" sz="1800"/>
              <a:t>Rockwell Collins AFDS-770</a:t>
            </a:r>
          </a:p>
          <a:p>
            <a:r>
              <a:rPr lang="en-GB"/>
              <a:t>For example, is used for autopilot</a:t>
            </a:r>
          </a:p>
        </p:txBody>
      </p:sp>
      <p:pic>
        <p:nvPicPr>
          <p:cNvPr id="2056" name="Picture 8" descr="Nuclear Power Station - OurFuture.Energy">
            <a:extLst>
              <a:ext uri="{FF2B5EF4-FFF2-40B4-BE49-F238E27FC236}">
                <a16:creationId xmlns:a16="http://schemas.microsoft.com/office/drawing/2014/main" id="{23293A5C-FD9C-CB51-1CF5-044A099F27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9416" y="6240965"/>
            <a:ext cx="934142" cy="619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9503475-817B-ADF0-C40B-9291CD5D2602}"/>
              </a:ext>
            </a:extLst>
          </p:cNvPr>
          <p:cNvSpPr txBox="1"/>
          <p:nvPr/>
        </p:nvSpPr>
        <p:spPr>
          <a:xfrm>
            <a:off x="328599" y="5264429"/>
            <a:ext cx="525838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Embedded operating systems </a:t>
            </a:r>
            <a:r>
              <a:rPr lang="en-GB"/>
              <a:t>are smaller systems </a:t>
            </a:r>
            <a:r>
              <a:rPr lang="en-GB" b="1"/>
              <a:t>with minimal user interfaces </a:t>
            </a:r>
            <a:r>
              <a:rPr lang="en-GB"/>
              <a:t>and a </a:t>
            </a:r>
            <a:r>
              <a:rPr lang="en-GB" b="1"/>
              <a:t>limited amount of RAM</a:t>
            </a:r>
            <a:r>
              <a:rPr lang="en-GB"/>
              <a:t>	</a:t>
            </a:r>
          </a:p>
          <a:p>
            <a:r>
              <a:rPr lang="en-GB" b="1"/>
              <a:t>No permanent data storage </a:t>
            </a:r>
            <a:r>
              <a:rPr lang="en-GB"/>
              <a:t>devices to be managed with no complex memory management.</a:t>
            </a:r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38F459CE-DE92-9838-A4C1-C65F7F2A1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7284" y="1013679"/>
            <a:ext cx="697655" cy="591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How to Clean an Iron Plate with Toothpaste | Fantastic Cleaners">
            <a:extLst>
              <a:ext uri="{FF2B5EF4-FFF2-40B4-BE49-F238E27FC236}">
                <a16:creationId xmlns:a16="http://schemas.microsoft.com/office/drawing/2014/main" id="{F576387B-5F84-FF0E-E4AB-862236404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6565" y="3969829"/>
            <a:ext cx="1039539" cy="472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Plane PNGs for Free Download">
            <a:extLst>
              <a:ext uri="{FF2B5EF4-FFF2-40B4-BE49-F238E27FC236}">
                <a16:creationId xmlns:a16="http://schemas.microsoft.com/office/drawing/2014/main" id="{5C56E8EF-DD2F-C26C-CF9C-A6119F3054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5021" flipV="1">
            <a:off x="10069135" y="3680225"/>
            <a:ext cx="1864417" cy="74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39AE73-8924-AF1E-DD6D-DA70C8AD64B9}"/>
              </a:ext>
            </a:extLst>
          </p:cNvPr>
          <p:cNvSpPr txBox="1"/>
          <p:nvPr/>
        </p:nvSpPr>
        <p:spPr>
          <a:xfrm>
            <a:off x="508665" y="462431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TYPES OF OS</a:t>
            </a:r>
          </a:p>
        </p:txBody>
      </p:sp>
      <p:sp>
        <p:nvSpPr>
          <p:cNvPr id="6" name="Action Button: Go Home 5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CE766F3-946D-DFE3-128D-89B2304D340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ction Button: Go to Beginning 9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80C67649-99F9-15CB-5F3C-F0751D83B5D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B6631-267A-99A7-DF00-878E3A611594}"/>
              </a:ext>
            </a:extLst>
          </p:cNvPr>
          <p:cNvSpPr/>
          <p:nvPr/>
        </p:nvSpPr>
        <p:spPr>
          <a:xfrm>
            <a:off x="328600" y="2484422"/>
            <a:ext cx="4605654" cy="248273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E85EA3-50C7-0697-12F9-46EE2A2AB29C}"/>
              </a:ext>
            </a:extLst>
          </p:cNvPr>
          <p:cNvSpPr/>
          <p:nvPr/>
        </p:nvSpPr>
        <p:spPr>
          <a:xfrm>
            <a:off x="3021801" y="68241"/>
            <a:ext cx="7031419" cy="182260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A630F5-DF32-9582-1C5C-C2ADFD9A987C}"/>
              </a:ext>
            </a:extLst>
          </p:cNvPr>
          <p:cNvSpPr/>
          <p:nvPr/>
        </p:nvSpPr>
        <p:spPr>
          <a:xfrm>
            <a:off x="5032919" y="3104313"/>
            <a:ext cx="3092020" cy="19789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43F637E-6E06-8FB9-6F82-E892BAF3B870}"/>
              </a:ext>
            </a:extLst>
          </p:cNvPr>
          <p:cNvSpPr/>
          <p:nvPr/>
        </p:nvSpPr>
        <p:spPr>
          <a:xfrm>
            <a:off x="328599" y="5170012"/>
            <a:ext cx="4997669" cy="16197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C9FC61-B102-EF01-20A5-5084593B7A22}"/>
              </a:ext>
            </a:extLst>
          </p:cNvPr>
          <p:cNvSpPr/>
          <p:nvPr/>
        </p:nvSpPr>
        <p:spPr>
          <a:xfrm>
            <a:off x="8583122" y="1997821"/>
            <a:ext cx="3608877" cy="48601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0694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A13657-9E74-7239-BA98-D795ED64C49E}"/>
              </a:ext>
            </a:extLst>
          </p:cNvPr>
          <p:cNvSpPr txBox="1"/>
          <p:nvPr/>
        </p:nvSpPr>
        <p:spPr>
          <a:xfrm>
            <a:off x="314793" y="0"/>
            <a:ext cx="8184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VIRTUAL MACHINES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1FBF1DE-3078-6C16-A42D-78F92E94D95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5CD885C-D368-63DF-6CA5-6B24B0EE20F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D642F-5625-5DC5-6A59-ED21ED59A8EB}"/>
              </a:ext>
            </a:extLst>
          </p:cNvPr>
          <p:cNvSpPr txBox="1"/>
          <p:nvPr/>
        </p:nvSpPr>
        <p:spPr>
          <a:xfrm>
            <a:off x="58462" y="1028700"/>
            <a:ext cx="76392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virtual machine is </a:t>
            </a:r>
            <a:r>
              <a:rPr lang="en-GB" b="1"/>
              <a:t>a theoretical computer </a:t>
            </a:r>
            <a:r>
              <a:rPr lang="en-GB"/>
              <a:t>in that it is </a:t>
            </a:r>
            <a:r>
              <a:rPr lang="en-GB" b="1"/>
              <a:t>a software implementation of a computer system</a:t>
            </a:r>
            <a:r>
              <a:rPr lang="en-GB"/>
              <a:t>. It provides an </a:t>
            </a:r>
            <a:r>
              <a:rPr lang="en-GB" b="1"/>
              <a:t>environment with a translator for intermediate code.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E53201-8609-0C5C-1836-9A7728EDEEDF}"/>
              </a:ext>
            </a:extLst>
          </p:cNvPr>
          <p:cNvSpPr txBox="1"/>
          <p:nvPr/>
        </p:nvSpPr>
        <p:spPr>
          <a:xfrm>
            <a:off x="58460" y="2400321"/>
            <a:ext cx="48792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Intermediate code: Code that </a:t>
            </a:r>
            <a:r>
              <a:rPr lang="en-GB" b="1"/>
              <a:t>is halfway between machine code and object code</a:t>
            </a:r>
            <a:r>
              <a:rPr lang="en-GB"/>
              <a:t>. It is </a:t>
            </a:r>
            <a:r>
              <a:rPr lang="en-GB" b="1"/>
              <a:t>independent of the processor architecture </a:t>
            </a:r>
            <a:r>
              <a:rPr lang="en-GB"/>
              <a:t>so can be used across different machines and </a:t>
            </a:r>
            <a:r>
              <a:rPr lang="en-GB" b="1"/>
              <a:t>operating systems.</a:t>
            </a:r>
          </a:p>
          <a:p>
            <a:endParaRPr lang="en-GB"/>
          </a:p>
          <a:p>
            <a:r>
              <a:rPr lang="en-GB"/>
              <a:t>VMs are commonly used to create a development environment for programmers to </a:t>
            </a:r>
            <a:r>
              <a:rPr lang="en-GB" b="1"/>
              <a:t>test programs on different Operating System</a:t>
            </a:r>
            <a:r>
              <a:rPr lang="en-GB"/>
              <a:t>. This saves time and money by </a:t>
            </a:r>
            <a:r>
              <a:rPr lang="en-GB" b="1"/>
              <a:t>not having to buy multiple devices just for their OS.</a:t>
            </a:r>
          </a:p>
          <a:p>
            <a:endParaRPr lang="en-GB"/>
          </a:p>
          <a:p>
            <a:r>
              <a:rPr lang="en-GB"/>
              <a:t>However, running intermediate code on a VM can be </a:t>
            </a:r>
            <a:r>
              <a:rPr lang="en-GB" b="1"/>
              <a:t>considerably slower </a:t>
            </a:r>
            <a:r>
              <a:rPr lang="en-GB"/>
              <a:t>compared to running low level code on the device it was designed for.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10DBA2-998C-5B73-3617-657FEA9079A4}"/>
              </a:ext>
            </a:extLst>
          </p:cNvPr>
          <p:cNvSpPr txBox="1"/>
          <p:nvPr/>
        </p:nvSpPr>
        <p:spPr>
          <a:xfrm>
            <a:off x="5776709" y="2386390"/>
            <a:ext cx="3542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VMs other uses include:</a:t>
            </a:r>
          </a:p>
          <a:p>
            <a:endParaRPr lang="en-GB"/>
          </a:p>
          <a:p>
            <a:r>
              <a:rPr lang="en-GB" b="1"/>
              <a:t>PROTECTION FROM MALWARE:</a:t>
            </a:r>
          </a:p>
          <a:p>
            <a:r>
              <a:rPr lang="en-GB"/>
              <a:t>Malware </a:t>
            </a:r>
            <a:r>
              <a:rPr lang="en-GB" b="1"/>
              <a:t>will affect the virtual machine </a:t>
            </a:r>
            <a:r>
              <a:rPr lang="en-GB"/>
              <a:t>rather than the device being used.</a:t>
            </a:r>
          </a:p>
          <a:p>
            <a:endParaRPr lang="en-GB"/>
          </a:p>
          <a:p>
            <a:r>
              <a:rPr lang="en-GB" b="1"/>
              <a:t>RUNNING INCOMPATIBLE SOFTWARE:</a:t>
            </a:r>
          </a:p>
          <a:p>
            <a:r>
              <a:rPr lang="en-GB" b="1"/>
              <a:t>Programs specific to different OS </a:t>
            </a:r>
            <a:r>
              <a:rPr lang="en-GB"/>
              <a:t>or different versions of an OS can be </a:t>
            </a:r>
            <a:r>
              <a:rPr lang="en-GB" b="1"/>
              <a:t>run within a VM </a:t>
            </a:r>
            <a:r>
              <a:rPr lang="en-GB"/>
              <a:t>– saves time and money.</a:t>
            </a:r>
          </a:p>
          <a:p>
            <a:r>
              <a:rPr lang="en-GB"/>
              <a:t>For example, games consols being implemented on PCs.</a:t>
            </a:r>
          </a:p>
        </p:txBody>
      </p:sp>
      <p:pic>
        <p:nvPicPr>
          <p:cNvPr id="8" name="Picture 2" descr="mettaton from undertale.fandom.com">
            <a:extLst>
              <a:ext uri="{FF2B5EF4-FFF2-40B4-BE49-F238E27FC236}">
                <a16:creationId xmlns:a16="http://schemas.microsoft.com/office/drawing/2014/main" id="{E0A45C30-A91F-8B7E-2F38-65CA8F41E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8094" y="2709732"/>
            <a:ext cx="1814247" cy="18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CE13D48-0888-2B23-42AB-DE8BA0E918A1}"/>
              </a:ext>
            </a:extLst>
          </p:cNvPr>
          <p:cNvSpPr/>
          <p:nvPr/>
        </p:nvSpPr>
        <p:spPr>
          <a:xfrm>
            <a:off x="58461" y="1028700"/>
            <a:ext cx="7924251" cy="11506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D8E89-9076-ED2E-8E57-407D0BF593FE}"/>
              </a:ext>
            </a:extLst>
          </p:cNvPr>
          <p:cNvSpPr/>
          <p:nvPr/>
        </p:nvSpPr>
        <p:spPr>
          <a:xfrm>
            <a:off x="58462" y="2386390"/>
            <a:ext cx="4879297" cy="447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976B55-D4F9-8A88-B8D0-EB886830C7EF}"/>
              </a:ext>
            </a:extLst>
          </p:cNvPr>
          <p:cNvSpPr/>
          <p:nvPr/>
        </p:nvSpPr>
        <p:spPr>
          <a:xfrm>
            <a:off x="5638800" y="2278379"/>
            <a:ext cx="3818555" cy="43692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48760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688976-7D39-9D4B-5E7D-158FEB66E41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5948A44-3CEA-D828-4460-626AEB61929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6556D0-BC9F-6E78-6565-E91BE686DAE7}"/>
              </a:ext>
            </a:extLst>
          </p:cNvPr>
          <p:cNvSpPr txBox="1"/>
          <p:nvPr/>
        </p:nvSpPr>
        <p:spPr>
          <a:xfrm>
            <a:off x="309296" y="145018"/>
            <a:ext cx="47968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/>
              <a:t>BIOS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C28168-EAB5-EE5B-97A3-D9E699920E9A}"/>
              </a:ext>
            </a:extLst>
          </p:cNvPr>
          <p:cNvSpPr txBox="1"/>
          <p:nvPr/>
        </p:nvSpPr>
        <p:spPr>
          <a:xfrm>
            <a:off x="309295" y="1028700"/>
            <a:ext cx="94856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BIOS (</a:t>
            </a:r>
            <a:r>
              <a:rPr lang="en-GB" b="1"/>
              <a:t>Basic Input/Output System</a:t>
            </a:r>
            <a:r>
              <a:rPr lang="en-GB"/>
              <a:t>) is a piece of </a:t>
            </a:r>
            <a:r>
              <a:rPr lang="en-GB" b="1"/>
              <a:t>firmware</a:t>
            </a:r>
            <a:r>
              <a:rPr lang="en-GB"/>
              <a:t> that </a:t>
            </a:r>
            <a:r>
              <a:rPr lang="en-GB" b="1"/>
              <a:t>initialises and tests the hardware</a:t>
            </a:r>
            <a:r>
              <a:rPr lang="en-GB"/>
              <a:t> in a computer.</a:t>
            </a:r>
          </a:p>
          <a:p>
            <a:endParaRPr lang="en-GB"/>
          </a:p>
          <a:p>
            <a:r>
              <a:rPr lang="en-GB"/>
              <a:t>It is stored on a </a:t>
            </a:r>
            <a:r>
              <a:rPr lang="en-GB" b="1"/>
              <a:t>non-volatile ROM memory chip </a:t>
            </a:r>
            <a:r>
              <a:rPr lang="en-GB"/>
              <a:t>on the motherboard and is the </a:t>
            </a:r>
            <a:r>
              <a:rPr lang="en-GB" b="1"/>
              <a:t>first software to run </a:t>
            </a:r>
            <a:r>
              <a:rPr lang="en-GB"/>
              <a:t>when systems start.</a:t>
            </a:r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AEFC6-90DE-97C5-B6D2-2133591ADA92}"/>
              </a:ext>
            </a:extLst>
          </p:cNvPr>
          <p:cNvSpPr txBox="1"/>
          <p:nvPr/>
        </p:nvSpPr>
        <p:spPr>
          <a:xfrm>
            <a:off x="7568891" y="2875359"/>
            <a:ext cx="40295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If the BIOS encounters any errors during this test, it will either </a:t>
            </a:r>
            <a:r>
              <a:rPr lang="en-GB" b="1"/>
              <a:t>halt the process</a:t>
            </a:r>
            <a:r>
              <a:rPr lang="en-GB"/>
              <a:t> or issue an </a:t>
            </a:r>
            <a:r>
              <a:rPr lang="en-GB" b="1"/>
              <a:t>error message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55A05A-5241-D531-19CB-6D11C5BDABA4}"/>
              </a:ext>
            </a:extLst>
          </p:cNvPr>
          <p:cNvSpPr txBox="1"/>
          <p:nvPr/>
        </p:nvSpPr>
        <p:spPr>
          <a:xfrm>
            <a:off x="3879273" y="5367636"/>
            <a:ext cx="5778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If the POST succeeds, the BIOS will run </a:t>
            </a:r>
            <a:r>
              <a:rPr lang="en-GB" b="1"/>
              <a:t>the bootstrap loading sequence</a:t>
            </a:r>
            <a:r>
              <a:rPr lang="en-GB"/>
              <a:t> which is responsible for </a:t>
            </a:r>
            <a:r>
              <a:rPr lang="en-GB" b="1"/>
              <a:t>starting the operating system </a:t>
            </a:r>
            <a:r>
              <a:rPr lang="en-GB"/>
              <a:t>by loading it from the </a:t>
            </a:r>
            <a:r>
              <a:rPr lang="en-GB" b="1"/>
              <a:t>hard disk into RAM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4413E0-C4E3-3FB2-AE31-B9B66C54A8E6}"/>
              </a:ext>
            </a:extLst>
          </p:cNvPr>
          <p:cNvSpPr txBox="1"/>
          <p:nvPr/>
        </p:nvSpPr>
        <p:spPr>
          <a:xfrm>
            <a:off x="309296" y="2967335"/>
            <a:ext cx="376820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It performs a </a:t>
            </a:r>
            <a:r>
              <a:rPr lang="en-GB" b="1"/>
              <a:t>POST</a:t>
            </a:r>
            <a:r>
              <a:rPr lang="en-GB"/>
              <a:t> (Power-On-Self-Test), a </a:t>
            </a:r>
            <a:r>
              <a:rPr lang="en-GB" b="1"/>
              <a:t>diagnostic testing sequence </a:t>
            </a:r>
            <a:r>
              <a:rPr lang="en-GB"/>
              <a:t>that ensures </a:t>
            </a:r>
            <a:r>
              <a:rPr lang="en-GB" b="1"/>
              <a:t>all hardware component are working </a:t>
            </a:r>
            <a:r>
              <a:rPr lang="en-GB"/>
              <a:t>properly.</a:t>
            </a:r>
          </a:p>
        </p:txBody>
      </p:sp>
      <p:pic>
        <p:nvPicPr>
          <p:cNvPr id="2050" name="Picture 2" descr="How BIOS Works | HowStuffWorks">
            <a:extLst>
              <a:ext uri="{FF2B5EF4-FFF2-40B4-BE49-F238E27FC236}">
                <a16:creationId xmlns:a16="http://schemas.microsoft.com/office/drawing/2014/main" id="{0F9112AD-B8DA-5790-8CC0-88FB4BDB8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2869" y="3030142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3A0503E-502B-91EF-4E3F-F61CF11E9AE6}"/>
              </a:ext>
            </a:extLst>
          </p:cNvPr>
          <p:cNvSpPr/>
          <p:nvPr/>
        </p:nvSpPr>
        <p:spPr>
          <a:xfrm>
            <a:off x="230909" y="858488"/>
            <a:ext cx="9652000" cy="17447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0295AE-EAD6-504A-D4BA-01DF06A2C6F2}"/>
              </a:ext>
            </a:extLst>
          </p:cNvPr>
          <p:cNvSpPr/>
          <p:nvPr/>
        </p:nvSpPr>
        <p:spPr>
          <a:xfrm>
            <a:off x="7342908" y="2773491"/>
            <a:ext cx="4539795" cy="1200329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74989B-0A14-AEBC-E606-FC029EB7063F}"/>
              </a:ext>
            </a:extLst>
          </p:cNvPr>
          <p:cNvSpPr/>
          <p:nvPr/>
        </p:nvSpPr>
        <p:spPr>
          <a:xfrm>
            <a:off x="3826101" y="5237018"/>
            <a:ext cx="5831460" cy="147596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08FF80-6C4F-DF47-8EBF-CE49408538DB}"/>
              </a:ext>
            </a:extLst>
          </p:cNvPr>
          <p:cNvSpPr/>
          <p:nvPr/>
        </p:nvSpPr>
        <p:spPr>
          <a:xfrm>
            <a:off x="221314" y="2849488"/>
            <a:ext cx="3856188" cy="174479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906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7CB64CD-648B-DFBE-EE7A-2798CF72099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A3AC2A9-E094-6BC7-A1C2-C7DEC4EB79B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EC12C4-24A2-DCAA-4A5F-E35B89FF9F7D}"/>
              </a:ext>
            </a:extLst>
          </p:cNvPr>
          <p:cNvSpPr txBox="1"/>
          <p:nvPr/>
        </p:nvSpPr>
        <p:spPr>
          <a:xfrm>
            <a:off x="323850" y="252740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DEVICE DRIVERS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3D8B64-10F2-46C4-4F11-5E478FF8342B}"/>
              </a:ext>
            </a:extLst>
          </p:cNvPr>
          <p:cNvSpPr txBox="1"/>
          <p:nvPr/>
        </p:nvSpPr>
        <p:spPr>
          <a:xfrm>
            <a:off x="323850" y="1173480"/>
            <a:ext cx="48234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Device drivers are computer programs which are provided by the OS </a:t>
            </a:r>
            <a:r>
              <a:rPr lang="en-GB" b="1"/>
              <a:t>and allow the OS to interact with hardware.</a:t>
            </a:r>
          </a:p>
          <a:p>
            <a:endParaRPr lang="en-GB"/>
          </a:p>
          <a:p>
            <a:r>
              <a:rPr lang="en-GB"/>
              <a:t>The device driver </a:t>
            </a:r>
            <a:r>
              <a:rPr lang="en-GB" b="1"/>
              <a:t>translates the OS’s instructions </a:t>
            </a:r>
            <a:r>
              <a:rPr lang="en-GB"/>
              <a:t>to an </a:t>
            </a:r>
            <a:r>
              <a:rPr lang="en-GB" b="1"/>
              <a:t>external peripheral </a:t>
            </a:r>
            <a:r>
              <a:rPr lang="en-GB"/>
              <a:t>such as a printer and the device driver communicates the request of the hardware to the OS.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C433E-C169-A14F-20FE-BC4C0E65A2F3}"/>
              </a:ext>
            </a:extLst>
          </p:cNvPr>
          <p:cNvSpPr txBox="1"/>
          <p:nvPr/>
        </p:nvSpPr>
        <p:spPr>
          <a:xfrm>
            <a:off x="5926861" y="3041529"/>
            <a:ext cx="57454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Device drivers </a:t>
            </a:r>
            <a:r>
              <a:rPr lang="en-GB" b="1"/>
              <a:t>are specific to the computer’s architecture </a:t>
            </a:r>
            <a:r>
              <a:rPr lang="en-GB"/>
              <a:t>so different drivers must be used for different device types.</a:t>
            </a:r>
          </a:p>
          <a:p>
            <a:endParaRPr lang="en-GB"/>
          </a:p>
          <a:p>
            <a:r>
              <a:rPr lang="en-GB"/>
              <a:t>As drivers interact with the OS, they are </a:t>
            </a:r>
            <a:r>
              <a:rPr lang="en-GB" b="1"/>
              <a:t>also specific to the OS installed on the device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455CA-60B9-3772-D4BB-1FE4A333641E}"/>
              </a:ext>
            </a:extLst>
          </p:cNvPr>
          <p:cNvSpPr txBox="1"/>
          <p:nvPr/>
        </p:nvSpPr>
        <p:spPr>
          <a:xfrm>
            <a:off x="429768" y="5152537"/>
            <a:ext cx="5330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Device drivers are an </a:t>
            </a:r>
            <a:r>
              <a:rPr lang="en-GB" b="1"/>
              <a:t>example of abstraction </a:t>
            </a:r>
            <a:r>
              <a:rPr lang="en-GB"/>
              <a:t>as you as a user can interact with hardware without knowing details about how this works.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35C40A-B229-AF81-3286-5E7C52B6409A}"/>
              </a:ext>
            </a:extLst>
          </p:cNvPr>
          <p:cNvSpPr/>
          <p:nvPr/>
        </p:nvSpPr>
        <p:spPr>
          <a:xfrm>
            <a:off x="323850" y="1113193"/>
            <a:ext cx="4823460" cy="266700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0B923F-B2CE-BD86-D50C-1443DA9C83F4}"/>
              </a:ext>
            </a:extLst>
          </p:cNvPr>
          <p:cNvSpPr/>
          <p:nvPr/>
        </p:nvSpPr>
        <p:spPr>
          <a:xfrm>
            <a:off x="5809560" y="2910840"/>
            <a:ext cx="6058590" cy="182880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92B805-B458-D9BB-626E-5841D5992CA7}"/>
              </a:ext>
            </a:extLst>
          </p:cNvPr>
          <p:cNvSpPr/>
          <p:nvPr/>
        </p:nvSpPr>
        <p:spPr>
          <a:xfrm>
            <a:off x="429768" y="4876800"/>
            <a:ext cx="5379792" cy="1615440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6620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E5E6-D98F-D320-405C-7C99525B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340FF7D-6506-2542-FDA7-26C68C029A1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89CC3-5A53-5602-8AC5-DBE45E1DFDD9}"/>
              </a:ext>
            </a:extLst>
          </p:cNvPr>
          <p:cNvSpPr txBox="1"/>
          <p:nvPr/>
        </p:nvSpPr>
        <p:spPr>
          <a:xfrm>
            <a:off x="164891" y="164892"/>
            <a:ext cx="5741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 5 APPLICATION GENERATION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A2269D-8D71-9722-64BF-EB7917F8C1F0}"/>
              </a:ext>
            </a:extLst>
          </p:cNvPr>
          <p:cNvSpPr txBox="1"/>
          <p:nvPr/>
        </p:nvSpPr>
        <p:spPr>
          <a:xfrm>
            <a:off x="2008682" y="1028700"/>
            <a:ext cx="340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NATURE OF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C1D6BB-8FAA-18F9-0369-8200109C6FB4}"/>
              </a:ext>
            </a:extLst>
          </p:cNvPr>
          <p:cNvSpPr txBox="1"/>
          <p:nvPr/>
        </p:nvSpPr>
        <p:spPr>
          <a:xfrm>
            <a:off x="2008682" y="1943837"/>
            <a:ext cx="590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UTILITIES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51679A-29B9-1114-C7A6-A98424681D5D}"/>
              </a:ext>
            </a:extLst>
          </p:cNvPr>
          <p:cNvSpPr txBox="1"/>
          <p:nvPr/>
        </p:nvSpPr>
        <p:spPr>
          <a:xfrm>
            <a:off x="1818806" y="3007602"/>
            <a:ext cx="4087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OPEN SOURCE AND CLOSED SOURCE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42A7786-BD27-1AE4-CDBD-040666EFF803}"/>
              </a:ext>
            </a:extLst>
          </p:cNvPr>
          <p:cNvSpPr txBox="1"/>
          <p:nvPr/>
        </p:nvSpPr>
        <p:spPr>
          <a:xfrm>
            <a:off x="1908748" y="4071367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TRANSLATORS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67269D-BB87-3029-2DB9-B559A03F41C9}"/>
              </a:ext>
            </a:extLst>
          </p:cNvPr>
          <p:cNvSpPr txBox="1"/>
          <p:nvPr/>
        </p:nvSpPr>
        <p:spPr>
          <a:xfrm>
            <a:off x="1908748" y="5040844"/>
            <a:ext cx="5426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COMPILATION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1759F5-216F-759A-897B-9EC1C0BCE3FE}"/>
              </a:ext>
            </a:extLst>
          </p:cNvPr>
          <p:cNvSpPr txBox="1"/>
          <p:nvPr/>
        </p:nvSpPr>
        <p:spPr>
          <a:xfrm>
            <a:off x="1793824" y="6010321"/>
            <a:ext cx="61009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LINKERS LOADERS AND LIBRARIES</a:t>
            </a:r>
          </a:p>
        </p:txBody>
      </p:sp>
      <p:sp>
        <p:nvSpPr>
          <p:cNvPr id="14" name="Action Button: Go Forward or Next 1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01D5E62-CD46-D9E9-06AA-84E4F2726440}"/>
              </a:ext>
            </a:extLst>
          </p:cNvPr>
          <p:cNvSpPr/>
          <p:nvPr/>
        </p:nvSpPr>
        <p:spPr>
          <a:xfrm>
            <a:off x="614597" y="755129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9DEF141-D762-1D88-645B-9E7E9F2AAB5C}"/>
              </a:ext>
            </a:extLst>
          </p:cNvPr>
          <p:cNvSpPr/>
          <p:nvPr/>
        </p:nvSpPr>
        <p:spPr>
          <a:xfrm>
            <a:off x="614597" y="2779201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ction Button: Go Forward or Next 1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BD5349A-2879-6254-07DC-F346EBBC578D}"/>
              </a:ext>
            </a:extLst>
          </p:cNvPr>
          <p:cNvSpPr/>
          <p:nvPr/>
        </p:nvSpPr>
        <p:spPr>
          <a:xfrm>
            <a:off x="614597" y="1767165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ction Button: Go Forward or Next 1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42275726-3E62-24FD-1937-B9555FADCD06}"/>
              </a:ext>
            </a:extLst>
          </p:cNvPr>
          <p:cNvSpPr/>
          <p:nvPr/>
        </p:nvSpPr>
        <p:spPr>
          <a:xfrm>
            <a:off x="614597" y="3842966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Action Button: Go Forward or Next 17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830CE3EB-19A7-60B3-878F-43BE3288332B}"/>
              </a:ext>
            </a:extLst>
          </p:cNvPr>
          <p:cNvSpPr/>
          <p:nvPr/>
        </p:nvSpPr>
        <p:spPr>
          <a:xfrm>
            <a:off x="644577" y="4906731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ction Button: Go Forward or Next 1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1317CD4-140F-5FE8-EAF0-43DC02D00F2F}"/>
              </a:ext>
            </a:extLst>
          </p:cNvPr>
          <p:cNvSpPr/>
          <p:nvPr/>
        </p:nvSpPr>
        <p:spPr>
          <a:xfrm>
            <a:off x="644577" y="5878883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Forward or Next 1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C12BD3BA-81DB-35C1-3108-AD755F8B76B7}"/>
              </a:ext>
            </a:extLst>
          </p:cNvPr>
          <p:cNvSpPr/>
          <p:nvPr/>
        </p:nvSpPr>
        <p:spPr>
          <a:xfrm>
            <a:off x="6670392" y="755435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3A6A2-CC11-CF3E-222D-6C10A0A20015}"/>
              </a:ext>
            </a:extLst>
          </p:cNvPr>
          <p:cNvSpPr txBox="1"/>
          <p:nvPr/>
        </p:nvSpPr>
        <p:spPr>
          <a:xfrm>
            <a:off x="7894820" y="798285"/>
            <a:ext cx="2805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OFF THE SHELF AND BESPOKE SOFTWARE</a:t>
            </a:r>
          </a:p>
        </p:txBody>
      </p:sp>
    </p:spTree>
    <p:extLst>
      <p:ext uri="{BB962C8B-B14F-4D97-AF65-F5344CB8AC3E}">
        <p14:creationId xmlns:p14="http://schemas.microsoft.com/office/powerpoint/2010/main" val="14860953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69345-2214-0B01-1C50-4676DF2DD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BDDA0AD-522E-3F92-9C99-61423B9865E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B2C0218-4392-1116-9EE1-F946B1DF4BD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63B1BF-4738-C35B-8EBD-D03AD7C21A48}"/>
              </a:ext>
            </a:extLst>
          </p:cNvPr>
          <p:cNvSpPr txBox="1"/>
          <p:nvPr/>
        </p:nvSpPr>
        <p:spPr>
          <a:xfrm>
            <a:off x="254833" y="261610"/>
            <a:ext cx="47818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NATURE OF APPLICATIONS</a:t>
            </a:r>
          </a:p>
        </p:txBody>
      </p:sp>
      <p:pic>
        <p:nvPicPr>
          <p:cNvPr id="5" name="Picture 4" descr="A diagram of software&#10;&#10;AI-generated content may be incorrect.">
            <a:extLst>
              <a:ext uri="{FF2B5EF4-FFF2-40B4-BE49-F238E27FC236}">
                <a16:creationId xmlns:a16="http://schemas.microsoft.com/office/drawing/2014/main" id="{E20C1122-E9EE-8505-6CB4-12E177EDF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58" y="1029223"/>
            <a:ext cx="5564606" cy="27541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25563D-43F2-1520-6420-ABB5B7900B8C}"/>
              </a:ext>
            </a:extLst>
          </p:cNvPr>
          <p:cNvSpPr txBox="1"/>
          <p:nvPr/>
        </p:nvSpPr>
        <p:spPr>
          <a:xfrm>
            <a:off x="491289" y="5367112"/>
            <a:ext cx="1147010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Application software is software designed to be used by </a:t>
            </a:r>
            <a:r>
              <a:rPr lang="en-GB" b="1"/>
              <a:t>the end-user to perform one specific task. </a:t>
            </a:r>
          </a:p>
          <a:p>
            <a:endParaRPr lang="en-GB" b="1"/>
          </a:p>
          <a:p>
            <a:r>
              <a:rPr lang="en-GB"/>
              <a:t>Application </a:t>
            </a:r>
            <a:r>
              <a:rPr lang="en-GB" b="1"/>
              <a:t>software requires system software</a:t>
            </a:r>
            <a:r>
              <a:rPr lang="en-GB"/>
              <a:t>, an example would be spreadsheets, web browsers etc.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A1A9B6-1F88-6FEA-838A-2518F5E52A44}"/>
              </a:ext>
            </a:extLst>
          </p:cNvPr>
          <p:cNvSpPr txBox="1"/>
          <p:nvPr/>
        </p:nvSpPr>
        <p:spPr>
          <a:xfrm>
            <a:off x="491289" y="3850105"/>
            <a:ext cx="1117934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Systems Software is </a:t>
            </a:r>
            <a:r>
              <a:rPr lang="en-GB" b="1"/>
              <a:t>a low-level software </a:t>
            </a:r>
            <a:r>
              <a:rPr lang="en-GB"/>
              <a:t>that is needed to </a:t>
            </a:r>
            <a:r>
              <a:rPr lang="en-GB" b="1"/>
              <a:t>run the computer's hardware and application programs. </a:t>
            </a:r>
            <a:endParaRPr lang="en-US" b="1"/>
          </a:p>
          <a:p>
            <a:endParaRPr lang="en-GB" b="1"/>
          </a:p>
          <a:p>
            <a:r>
              <a:rPr lang="en-GB"/>
              <a:t>This includes the </a:t>
            </a:r>
            <a:r>
              <a:rPr lang="en-GB" b="1"/>
              <a:t>Operating System</a:t>
            </a:r>
            <a:r>
              <a:rPr lang="en-GB"/>
              <a:t>, utility programs, libraries and translators.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283C01-E971-9B38-FBE2-81AAAC78D308}"/>
              </a:ext>
            </a:extLst>
          </p:cNvPr>
          <p:cNvSpPr txBox="1"/>
          <p:nvPr/>
        </p:nvSpPr>
        <p:spPr>
          <a:xfrm>
            <a:off x="5733288" y="228261"/>
            <a:ext cx="43800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General-purpose software: Word-processor, spreadsheet, graphics package are example as they can be used for </a:t>
            </a:r>
            <a:r>
              <a:rPr lang="en-GB" b="1"/>
              <a:t>many different processes, </a:t>
            </a:r>
          </a:p>
          <a:p>
            <a:endParaRPr lang="en-GB"/>
          </a:p>
          <a:p>
            <a:r>
              <a:rPr lang="en-GB"/>
              <a:t>Specific-purpose software: Fingerprint scanners, hotel booking systems, payroll as they are all </a:t>
            </a:r>
            <a:r>
              <a:rPr lang="en-GB" b="1"/>
              <a:t>designed for a single task</a:t>
            </a:r>
            <a:r>
              <a:rPr lang="en-GB"/>
              <a:t>. This software may be bought off the shelf or bespoke.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5F212D-2204-53C8-C1FC-437B8B4849A6}"/>
              </a:ext>
            </a:extLst>
          </p:cNvPr>
          <p:cNvSpPr/>
          <p:nvPr/>
        </p:nvSpPr>
        <p:spPr>
          <a:xfrm>
            <a:off x="5733285" y="194912"/>
            <a:ext cx="4279393" cy="2862322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9E5E1E-24AF-143C-F4DD-53FF524B5D3C}"/>
              </a:ext>
            </a:extLst>
          </p:cNvPr>
          <p:cNvSpPr/>
          <p:nvPr/>
        </p:nvSpPr>
        <p:spPr>
          <a:xfrm>
            <a:off x="491289" y="3767418"/>
            <a:ext cx="10746687" cy="287831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50947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B97E5-8E90-5FEA-1EEB-989CB42DD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7DCD403-845F-9462-679F-E3D7E0668B3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46C7249-34AD-C91C-5361-EF7FBA4CD88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B7C6D-93DA-8914-D149-69FB659D61EC}"/>
              </a:ext>
            </a:extLst>
          </p:cNvPr>
          <p:cNvSpPr txBox="1"/>
          <p:nvPr/>
        </p:nvSpPr>
        <p:spPr>
          <a:xfrm>
            <a:off x="359764" y="145018"/>
            <a:ext cx="5901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UTILITIES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90E32-4908-E9A0-51B9-76C0056B27A3}"/>
              </a:ext>
            </a:extLst>
          </p:cNvPr>
          <p:cNvSpPr txBox="1"/>
          <p:nvPr/>
        </p:nvSpPr>
        <p:spPr>
          <a:xfrm>
            <a:off x="259180" y="668238"/>
            <a:ext cx="8701940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Utilities are part of system software that </a:t>
            </a:r>
            <a:r>
              <a:rPr lang="en-GB"/>
              <a:t>handles</a:t>
            </a:r>
            <a:r>
              <a:rPr lang="en-GB" dirty="0"/>
              <a:t> </a:t>
            </a:r>
            <a:r>
              <a:rPr lang="en-GB" b="1" dirty="0"/>
              <a:t>ensuring consistent, high performance of the OS. </a:t>
            </a:r>
            <a:r>
              <a:rPr lang="en-GB" dirty="0"/>
              <a:t>Each utility program has </a:t>
            </a:r>
            <a:r>
              <a:rPr lang="en-GB" b="1" dirty="0"/>
              <a:t>a specific function </a:t>
            </a:r>
            <a:r>
              <a:rPr lang="en-GB" dirty="0"/>
              <a:t>linked to the  </a:t>
            </a:r>
            <a:r>
              <a:rPr lang="en-GB" b="1" dirty="0"/>
              <a:t>maintenance </a:t>
            </a:r>
            <a:r>
              <a:rPr lang="en-GB" dirty="0"/>
              <a:t>of the OS.</a:t>
            </a:r>
          </a:p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28832A-CB8E-1420-CC1D-8439232A6064}"/>
              </a:ext>
            </a:extLst>
          </p:cNvPr>
          <p:cNvSpPr txBox="1"/>
          <p:nvPr/>
        </p:nvSpPr>
        <p:spPr>
          <a:xfrm>
            <a:off x="23059" y="1742108"/>
            <a:ext cx="63427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7030A0"/>
                </a:solidFill>
              </a:rPr>
              <a:t>Compression: </a:t>
            </a:r>
            <a:r>
              <a:rPr lang="en-GB"/>
              <a:t>Compressing larger files to be transmitted across the Internet so </a:t>
            </a:r>
            <a:r>
              <a:rPr lang="en-GB" b="1"/>
              <a:t>they can be transported quickly</a:t>
            </a:r>
            <a:r>
              <a:rPr lang="en-GB"/>
              <a:t>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E182CA-26D4-7CAB-B01D-B97A1AF6D7E1}"/>
              </a:ext>
            </a:extLst>
          </p:cNvPr>
          <p:cNvSpPr txBox="1"/>
          <p:nvPr/>
        </p:nvSpPr>
        <p:spPr>
          <a:xfrm>
            <a:off x="6260892" y="1525038"/>
            <a:ext cx="5931108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Disk defragmentation: </a:t>
            </a:r>
            <a:r>
              <a:rPr lang="en-GB" dirty="0"/>
              <a:t>As the magnetic hard disk becomes full</a:t>
            </a:r>
            <a:r>
              <a:rPr lang="en-GB" b="1" dirty="0"/>
              <a:t>, read/write times slow down </a:t>
            </a:r>
            <a:r>
              <a:rPr lang="en-GB" dirty="0"/>
              <a:t>as files become fragmented as they are </a:t>
            </a:r>
            <a:r>
              <a:rPr lang="en-GB" b="1" dirty="0"/>
              <a:t>stored in </a:t>
            </a:r>
            <a:r>
              <a:rPr lang="en-GB" b="1"/>
              <a:t>various parts</a:t>
            </a:r>
            <a:r>
              <a:rPr lang="en-GB" b="1" dirty="0"/>
              <a:t> </a:t>
            </a:r>
            <a:r>
              <a:rPr lang="en-GB" dirty="0"/>
              <a:t>of memory.</a:t>
            </a:r>
          </a:p>
          <a:p>
            <a:endParaRPr lang="en-GB"/>
          </a:p>
          <a:p>
            <a:r>
              <a:rPr lang="en-GB"/>
              <a:t>Disk defragmenter utility </a:t>
            </a:r>
            <a:r>
              <a:rPr lang="en-GB" b="1"/>
              <a:t>rearranges the contents of the hard drive,</a:t>
            </a:r>
            <a:r>
              <a:rPr lang="en-GB"/>
              <a:t> removing free spaces and moving files closer. This means </a:t>
            </a:r>
            <a:r>
              <a:rPr lang="en-GB" b="1"/>
              <a:t>files can be accessed faster </a:t>
            </a:r>
            <a:r>
              <a:rPr lang="en-GB"/>
              <a:t>as the movement of the read/write head is reduced.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3A64FF-88EA-8A89-7D40-175A673C5FB9}"/>
              </a:ext>
            </a:extLst>
          </p:cNvPr>
          <p:cNvSpPr txBox="1"/>
          <p:nvPr/>
        </p:nvSpPr>
        <p:spPr>
          <a:xfrm>
            <a:off x="259180" y="2715234"/>
            <a:ext cx="5102352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Antivirus: </a:t>
            </a:r>
            <a:r>
              <a:rPr lang="en-GB" dirty="0"/>
              <a:t>Is responsible for </a:t>
            </a:r>
            <a:r>
              <a:rPr lang="en-GB" b="1" dirty="0"/>
              <a:t>detecting potential threats </a:t>
            </a:r>
            <a:r>
              <a:rPr lang="en-GB" dirty="0"/>
              <a:t>to the computer, alerting the user, and removing these threats.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237F1E-E2AC-39AA-8DCB-78D08FA9547E}"/>
              </a:ext>
            </a:extLst>
          </p:cNvPr>
          <p:cNvSpPr txBox="1"/>
          <p:nvPr/>
        </p:nvSpPr>
        <p:spPr>
          <a:xfrm>
            <a:off x="3726246" y="4435107"/>
            <a:ext cx="48363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7030A0"/>
                </a:solidFill>
              </a:rPr>
              <a:t>Automatic updating: </a:t>
            </a:r>
            <a:r>
              <a:rPr lang="en-GB"/>
              <a:t>Makes sure any software installed is kept up to date </a:t>
            </a:r>
            <a:r>
              <a:rPr lang="en-GB" b="1"/>
              <a:t>by installing updates automatically</a:t>
            </a:r>
            <a:r>
              <a:rPr lang="en-GB"/>
              <a:t> when the computer is restarted.</a:t>
            </a:r>
          </a:p>
          <a:p>
            <a:endParaRPr lang="en-GB"/>
          </a:p>
          <a:p>
            <a:r>
              <a:rPr lang="en-GB"/>
              <a:t>Firewalls and antivirus software need to be regularly updated as of </a:t>
            </a:r>
            <a:r>
              <a:rPr lang="en-GB" b="1"/>
              <a:t>new threats </a:t>
            </a:r>
            <a:r>
              <a:rPr lang="en-GB"/>
              <a:t>being constantly used.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F5D26-EAA0-6FB2-52F2-B4B3EC52D0BF}"/>
              </a:ext>
            </a:extLst>
          </p:cNvPr>
          <p:cNvSpPr txBox="1"/>
          <p:nvPr/>
        </p:nvSpPr>
        <p:spPr>
          <a:xfrm>
            <a:off x="23059" y="3957207"/>
            <a:ext cx="33662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7030A0"/>
                </a:solidFill>
              </a:rPr>
              <a:t>Automatic Backups: </a:t>
            </a:r>
            <a:r>
              <a:rPr lang="en-GB"/>
              <a:t>Automatically creates </a:t>
            </a:r>
            <a:r>
              <a:rPr lang="en-GB" b="1"/>
              <a:t>routine copies of specific files</a:t>
            </a:r>
            <a:r>
              <a:rPr lang="en-GB"/>
              <a:t> selected by the user.</a:t>
            </a:r>
          </a:p>
          <a:p>
            <a:endParaRPr lang="en-GB"/>
          </a:p>
          <a:p>
            <a:r>
              <a:rPr lang="en-GB"/>
              <a:t>How often files are backed up and where to is also </a:t>
            </a:r>
            <a:r>
              <a:rPr lang="en-GB" b="1"/>
              <a:t>specified by the user </a:t>
            </a:r>
            <a:r>
              <a:rPr lang="en-GB"/>
              <a:t>so important files to user can be </a:t>
            </a:r>
            <a:r>
              <a:rPr lang="en-GB" b="1"/>
              <a:t>recovered</a:t>
            </a:r>
            <a:r>
              <a:rPr lang="en-GB"/>
              <a:t> easily.</a:t>
            </a:r>
          </a:p>
        </p:txBody>
      </p:sp>
      <p:pic>
        <p:nvPicPr>
          <p:cNvPr id="1026" name="Picture 2" descr="How to Defrag a Mac - Disk Defragmenters for Mac | Nektony">
            <a:extLst>
              <a:ext uri="{FF2B5EF4-FFF2-40B4-BE49-F238E27FC236}">
                <a16:creationId xmlns:a16="http://schemas.microsoft.com/office/drawing/2014/main" id="{E007F920-7774-4F9F-AC71-6E4586790B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9" r="5629"/>
          <a:stretch>
            <a:fillRect/>
          </a:stretch>
        </p:blipFill>
        <p:spPr bwMode="auto">
          <a:xfrm>
            <a:off x="8562641" y="4435107"/>
            <a:ext cx="3366289" cy="200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9539A05-AF27-3707-1D70-232245714E02}"/>
              </a:ext>
            </a:extLst>
          </p:cNvPr>
          <p:cNvSpPr/>
          <p:nvPr/>
        </p:nvSpPr>
        <p:spPr>
          <a:xfrm>
            <a:off x="259180" y="668238"/>
            <a:ext cx="8701940" cy="84666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1EF317-7E7E-87EA-B7E7-CB64A742BA61}"/>
              </a:ext>
            </a:extLst>
          </p:cNvPr>
          <p:cNvSpPr/>
          <p:nvPr/>
        </p:nvSpPr>
        <p:spPr>
          <a:xfrm>
            <a:off x="3596" y="3892739"/>
            <a:ext cx="3385752" cy="275494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B88F9C-3D4B-C36D-60A1-EDADDC0C5EF4}"/>
              </a:ext>
            </a:extLst>
          </p:cNvPr>
          <p:cNvSpPr/>
          <p:nvPr/>
        </p:nvSpPr>
        <p:spPr>
          <a:xfrm>
            <a:off x="6154012" y="1558834"/>
            <a:ext cx="6037988" cy="2585323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FA1A98C-2263-A676-A86D-71E372BB826D}"/>
              </a:ext>
            </a:extLst>
          </p:cNvPr>
          <p:cNvSpPr/>
          <p:nvPr/>
        </p:nvSpPr>
        <p:spPr>
          <a:xfrm>
            <a:off x="155448" y="2692410"/>
            <a:ext cx="5513832" cy="946154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F3B67C-D952-CAB6-17E2-9DE7A63CF184}"/>
              </a:ext>
            </a:extLst>
          </p:cNvPr>
          <p:cNvSpPr/>
          <p:nvPr/>
        </p:nvSpPr>
        <p:spPr>
          <a:xfrm>
            <a:off x="3596" y="1705019"/>
            <a:ext cx="5908050" cy="84666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EA6D17-857E-6241-2302-7D26BF5BC4C3}"/>
              </a:ext>
            </a:extLst>
          </p:cNvPr>
          <p:cNvSpPr/>
          <p:nvPr/>
        </p:nvSpPr>
        <p:spPr>
          <a:xfrm>
            <a:off x="3726246" y="4321683"/>
            <a:ext cx="4768530" cy="2391299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2563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4764-6873-45E8-786E-3267FCA0D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7402F77-81BE-24A0-E092-6CB76C8F2CD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E04E77A-30EB-368D-BC39-8671C044AC4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974675-5B25-D8B3-0C57-93A4AD12F3D4}"/>
              </a:ext>
            </a:extLst>
          </p:cNvPr>
          <p:cNvSpPr txBox="1"/>
          <p:nvPr/>
        </p:nvSpPr>
        <p:spPr>
          <a:xfrm>
            <a:off x="472189" y="329684"/>
            <a:ext cx="66031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OPEN SOURCE AND CLOSED SOURCE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76BD36-9554-1CD7-C841-1EEECB8A9B93}"/>
              </a:ext>
            </a:extLst>
          </p:cNvPr>
          <p:cNvSpPr txBox="1"/>
          <p:nvPr/>
        </p:nvSpPr>
        <p:spPr>
          <a:xfrm>
            <a:off x="219456" y="880530"/>
            <a:ext cx="47823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Source code is written by a programmer and refers to </a:t>
            </a:r>
            <a:r>
              <a:rPr lang="en-GB" b="1"/>
              <a:t>object code </a:t>
            </a:r>
            <a:r>
              <a:rPr lang="en-GB"/>
              <a:t>before it has been </a:t>
            </a:r>
            <a:r>
              <a:rPr lang="en-GB" b="1"/>
              <a:t>compiled.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435C72-B0BE-5447-3CBF-5CF5572E2E01}"/>
              </a:ext>
            </a:extLst>
          </p:cNvPr>
          <p:cNvSpPr txBox="1"/>
          <p:nvPr/>
        </p:nvSpPr>
        <p:spPr>
          <a:xfrm>
            <a:off x="213677" y="1740490"/>
            <a:ext cx="51724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Open-source code can be used by </a:t>
            </a:r>
            <a:r>
              <a:rPr lang="en-GB" b="1"/>
              <a:t>anyone without a licence </a:t>
            </a:r>
            <a:r>
              <a:rPr lang="en-GB"/>
              <a:t>and is </a:t>
            </a:r>
            <a:r>
              <a:rPr lang="en-GB" b="1"/>
              <a:t>distributed with the source code.</a:t>
            </a:r>
          </a:p>
          <a:p>
            <a:endParaRPr lang="en-GB"/>
          </a:p>
          <a:p>
            <a:r>
              <a:rPr lang="en-GB"/>
              <a:t>Developers can </a:t>
            </a:r>
            <a:r>
              <a:rPr lang="en-GB" b="1"/>
              <a:t>sell the software </a:t>
            </a:r>
            <a:r>
              <a:rPr lang="en-GB"/>
              <a:t>they have created with open-source code and any new software created from open-source software must also be “open” (able to be </a:t>
            </a:r>
            <a:r>
              <a:rPr lang="en-GB" b="1"/>
              <a:t>modified by anyone.)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1CCDAB-028E-FC45-5329-92E8C63AE343}"/>
              </a:ext>
            </a:extLst>
          </p:cNvPr>
          <p:cNvSpPr txBox="1"/>
          <p:nvPr/>
        </p:nvSpPr>
        <p:spPr>
          <a:xfrm>
            <a:off x="6419088" y="1572767"/>
            <a:ext cx="50017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Closed source/ proprietary software is sold in the </a:t>
            </a:r>
            <a:r>
              <a:rPr lang="en-GB" b="1"/>
              <a:t>form of a licence </a:t>
            </a:r>
            <a:r>
              <a:rPr lang="en-GB"/>
              <a:t>to use it.</a:t>
            </a:r>
          </a:p>
          <a:p>
            <a:endParaRPr lang="en-GB"/>
          </a:p>
          <a:p>
            <a:r>
              <a:rPr lang="en-GB"/>
              <a:t>There will </a:t>
            </a:r>
            <a:r>
              <a:rPr lang="en-GB" b="1"/>
              <a:t>be restrictions </a:t>
            </a:r>
            <a:r>
              <a:rPr lang="en-GB"/>
              <a:t>on how the software can be used, users </a:t>
            </a:r>
            <a:r>
              <a:rPr lang="en-GB" b="1"/>
              <a:t>cannot access the source code</a:t>
            </a:r>
            <a:r>
              <a:rPr lang="en-GB"/>
              <a:t>, and </a:t>
            </a:r>
            <a:r>
              <a:rPr lang="en-GB" b="1"/>
              <a:t>the company owns the copyright licence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45DEB0-3058-2A54-C4F3-3E8D15E39201}"/>
              </a:ext>
            </a:extLst>
          </p:cNvPr>
          <p:cNvSpPr txBox="1"/>
          <p:nvPr/>
        </p:nvSpPr>
        <p:spPr>
          <a:xfrm>
            <a:off x="274429" y="4123943"/>
            <a:ext cx="28677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Open +</a:t>
            </a:r>
          </a:p>
          <a:p>
            <a:r>
              <a:rPr lang="en-GB"/>
              <a:t>Can be </a:t>
            </a:r>
            <a:r>
              <a:rPr lang="en-GB" b="1"/>
              <a:t>improved/modified by anyone.</a:t>
            </a:r>
          </a:p>
          <a:p>
            <a:endParaRPr lang="en-GB"/>
          </a:p>
          <a:p>
            <a:r>
              <a:rPr lang="en-GB"/>
              <a:t>Technical support from </a:t>
            </a:r>
            <a:r>
              <a:rPr lang="en-GB" b="1"/>
              <a:t>online community.</a:t>
            </a:r>
          </a:p>
          <a:p>
            <a:endParaRPr lang="en-GB"/>
          </a:p>
          <a:p>
            <a:r>
              <a:rPr lang="en-GB"/>
              <a:t>Can be modified and </a:t>
            </a:r>
            <a:r>
              <a:rPr lang="en-GB" b="1"/>
              <a:t>sold.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7ADE3-FCA6-E1EC-701D-2C09ECCCBC15}"/>
              </a:ext>
            </a:extLst>
          </p:cNvPr>
          <p:cNvSpPr txBox="1"/>
          <p:nvPr/>
        </p:nvSpPr>
        <p:spPr>
          <a:xfrm>
            <a:off x="3234395" y="4123943"/>
            <a:ext cx="2710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Open –</a:t>
            </a:r>
          </a:p>
          <a:p>
            <a:r>
              <a:rPr lang="en-GB"/>
              <a:t>Support available online may be </a:t>
            </a:r>
            <a:r>
              <a:rPr lang="en-GB" b="1"/>
              <a:t>insufficient</a:t>
            </a:r>
            <a:r>
              <a:rPr lang="en-GB"/>
              <a:t> or incorrect.</a:t>
            </a:r>
          </a:p>
          <a:p>
            <a:endParaRPr lang="en-GB"/>
          </a:p>
          <a:p>
            <a:r>
              <a:rPr lang="en-GB" b="1"/>
              <a:t>Lower security </a:t>
            </a:r>
            <a:r>
              <a:rPr lang="en-GB"/>
              <a:t>as not developed in controlled environment.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82E400-A09C-A840-42E0-B1976F51F467}"/>
              </a:ext>
            </a:extLst>
          </p:cNvPr>
          <p:cNvSpPr txBox="1"/>
          <p:nvPr/>
        </p:nvSpPr>
        <p:spPr>
          <a:xfrm>
            <a:off x="6391634" y="3995678"/>
            <a:ext cx="22463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Closed +</a:t>
            </a:r>
          </a:p>
          <a:p>
            <a:r>
              <a:rPr lang="en-GB" b="1"/>
              <a:t>Regular, well-tested updates.</a:t>
            </a:r>
          </a:p>
          <a:p>
            <a:endParaRPr lang="en-GB"/>
          </a:p>
          <a:p>
            <a:r>
              <a:rPr lang="en-GB"/>
              <a:t>User manuals and </a:t>
            </a:r>
            <a:r>
              <a:rPr lang="en-GB" b="1"/>
              <a:t>expert support </a:t>
            </a:r>
            <a:r>
              <a:rPr lang="en-GB"/>
              <a:t>provided.</a:t>
            </a:r>
          </a:p>
          <a:p>
            <a:endParaRPr lang="en-GB"/>
          </a:p>
          <a:p>
            <a:r>
              <a:rPr lang="en-GB"/>
              <a:t>High levels of </a:t>
            </a:r>
            <a:r>
              <a:rPr lang="en-GB" b="1"/>
              <a:t>security.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4C8EDC-3C89-5E2C-2764-0A69A7A970F3}"/>
              </a:ext>
            </a:extLst>
          </p:cNvPr>
          <p:cNvSpPr txBox="1"/>
          <p:nvPr/>
        </p:nvSpPr>
        <p:spPr>
          <a:xfrm>
            <a:off x="9208008" y="3966903"/>
            <a:ext cx="26700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Closed –</a:t>
            </a:r>
          </a:p>
          <a:p>
            <a:r>
              <a:rPr lang="en-GB"/>
              <a:t>Licence may </a:t>
            </a:r>
            <a:r>
              <a:rPr lang="en-GB" b="1"/>
              <a:t>restrict</a:t>
            </a:r>
            <a:r>
              <a:rPr lang="en-GB"/>
              <a:t> how many people can use the software at once.</a:t>
            </a:r>
          </a:p>
          <a:p>
            <a:endParaRPr lang="en-GB"/>
          </a:p>
          <a:p>
            <a:r>
              <a:rPr lang="en-GB"/>
              <a:t>Users </a:t>
            </a:r>
            <a:r>
              <a:rPr lang="en-GB" b="1"/>
              <a:t>cannot modify/improve </a:t>
            </a:r>
            <a:r>
              <a:rPr lang="en-GB"/>
              <a:t>software themselves.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FEBC67-C5E0-B4F3-E19E-082C0E8176AB}"/>
              </a:ext>
            </a:extLst>
          </p:cNvPr>
          <p:cNvSpPr txBox="1"/>
          <p:nvPr/>
        </p:nvSpPr>
        <p:spPr>
          <a:xfrm>
            <a:off x="7190234" y="259194"/>
            <a:ext cx="2726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Note: Freeware is free to use but</a:t>
            </a:r>
            <a:r>
              <a:rPr lang="en-GB" b="1"/>
              <a:t> no access to source code</a:t>
            </a:r>
          </a:p>
        </p:txBody>
      </p:sp>
      <p:pic>
        <p:nvPicPr>
          <p:cNvPr id="1026" name="Picture 2" descr="Open Door Green Images – Browse 189,478 Stock Photos, Vectors, and Video |  Adobe Stock">
            <a:extLst>
              <a:ext uri="{FF2B5EF4-FFF2-40B4-BE49-F238E27FC236}">
                <a16:creationId xmlns:a16="http://schemas.microsoft.com/office/drawing/2014/main" id="{5EC1ED20-9D29-EE6D-945B-C354CDBF8A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30" r="33466"/>
          <a:stretch>
            <a:fillRect/>
          </a:stretch>
        </p:blipFill>
        <p:spPr bwMode="auto">
          <a:xfrm>
            <a:off x="5339708" y="923393"/>
            <a:ext cx="756292" cy="1367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osed door clipart Images - Free Download on Freepik">
            <a:extLst>
              <a:ext uri="{FF2B5EF4-FFF2-40B4-BE49-F238E27FC236}">
                <a16:creationId xmlns:a16="http://schemas.microsoft.com/office/drawing/2014/main" id="{E8A840C3-AF2D-F0E6-DDBA-9360F3BBA5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45" t="3780" r="27808" b="4807"/>
          <a:stretch>
            <a:fillRect/>
          </a:stretch>
        </p:blipFill>
        <p:spPr bwMode="auto">
          <a:xfrm>
            <a:off x="5718602" y="2576159"/>
            <a:ext cx="671646" cy="139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9A1C85D-7C92-7DA0-F69D-ED598F0B1174}"/>
              </a:ext>
            </a:extLst>
          </p:cNvPr>
          <p:cNvSpPr/>
          <p:nvPr/>
        </p:nvSpPr>
        <p:spPr>
          <a:xfrm>
            <a:off x="260101" y="809983"/>
            <a:ext cx="5128405" cy="1861013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205BBB-855A-5242-F7E3-F3C2D9BF9BDB}"/>
              </a:ext>
            </a:extLst>
          </p:cNvPr>
          <p:cNvSpPr/>
          <p:nvPr/>
        </p:nvSpPr>
        <p:spPr>
          <a:xfrm>
            <a:off x="111960" y="2846457"/>
            <a:ext cx="5182552" cy="1202357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9022F4-D843-68F8-25B0-CB988746471F}"/>
              </a:ext>
            </a:extLst>
          </p:cNvPr>
          <p:cNvSpPr/>
          <p:nvPr/>
        </p:nvSpPr>
        <p:spPr>
          <a:xfrm>
            <a:off x="162066" y="4123943"/>
            <a:ext cx="2867700" cy="2585323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C6A8C3-DF31-4D4C-FB85-05254216E702}"/>
              </a:ext>
            </a:extLst>
          </p:cNvPr>
          <p:cNvSpPr/>
          <p:nvPr/>
        </p:nvSpPr>
        <p:spPr>
          <a:xfrm>
            <a:off x="3254492" y="4119303"/>
            <a:ext cx="2484207" cy="2489268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739D8E6-F935-B12D-F8A3-68054F0999C6}"/>
              </a:ext>
            </a:extLst>
          </p:cNvPr>
          <p:cNvSpPr/>
          <p:nvPr/>
        </p:nvSpPr>
        <p:spPr>
          <a:xfrm>
            <a:off x="6419088" y="1404975"/>
            <a:ext cx="5290047" cy="2188365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CAC85-1667-32F1-7B13-FAF3D3CAF3F4}"/>
              </a:ext>
            </a:extLst>
          </p:cNvPr>
          <p:cNvSpPr/>
          <p:nvPr/>
        </p:nvSpPr>
        <p:spPr>
          <a:xfrm>
            <a:off x="6419087" y="3815791"/>
            <a:ext cx="1929385" cy="3013434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5AB75B-E323-27CB-8087-A12BCFFA142D}"/>
              </a:ext>
            </a:extLst>
          </p:cNvPr>
          <p:cNvSpPr/>
          <p:nvPr/>
        </p:nvSpPr>
        <p:spPr>
          <a:xfrm>
            <a:off x="9116567" y="3956150"/>
            <a:ext cx="2761489" cy="2325777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3B2AA7-F8DC-F69E-023A-A7BFAF298978}"/>
              </a:ext>
            </a:extLst>
          </p:cNvPr>
          <p:cNvSpPr/>
          <p:nvPr/>
        </p:nvSpPr>
        <p:spPr>
          <a:xfrm>
            <a:off x="7075357" y="156968"/>
            <a:ext cx="2699579" cy="106374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2870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FE758-EF8F-C050-2E64-E42952EE1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0ADFC9F-D4A3-FFB4-2B4C-57E750B134C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CE7ECC-A7FA-024C-28D9-674CD8F05356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BE9A73-591F-4B8C-6EFD-61E21094A0D3}"/>
              </a:ext>
            </a:extLst>
          </p:cNvPr>
          <p:cNvSpPr txBox="1"/>
          <p:nvPr/>
        </p:nvSpPr>
        <p:spPr>
          <a:xfrm>
            <a:off x="239843" y="179882"/>
            <a:ext cx="6355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TRANSLATORS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264D1-4E9B-D048-0B91-163A5A3AA7FA}"/>
              </a:ext>
            </a:extLst>
          </p:cNvPr>
          <p:cNvSpPr txBox="1"/>
          <p:nvPr/>
        </p:nvSpPr>
        <p:spPr>
          <a:xfrm>
            <a:off x="3037907" y="179882"/>
            <a:ext cx="69839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Translators convert </a:t>
            </a:r>
            <a:r>
              <a:rPr lang="en-GB" b="1"/>
              <a:t>high level source code into low level object code, </a:t>
            </a:r>
            <a:r>
              <a:rPr lang="en-GB"/>
              <a:t>which is then ready to be executed by a computer</a:t>
            </a:r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D6CC0-BC9C-AD97-1ADC-4CF5C3C2408B}"/>
              </a:ext>
            </a:extLst>
          </p:cNvPr>
          <p:cNvSpPr txBox="1"/>
          <p:nvPr/>
        </p:nvSpPr>
        <p:spPr>
          <a:xfrm>
            <a:off x="164592" y="1234440"/>
            <a:ext cx="367588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</a:t>
            </a:r>
            <a:r>
              <a:rPr lang="en-GB" b="1"/>
              <a:t>compiler </a:t>
            </a:r>
            <a:r>
              <a:rPr lang="en-GB"/>
              <a:t>translates high level code </a:t>
            </a:r>
            <a:r>
              <a:rPr lang="en-GB" b="1"/>
              <a:t>all at once</a:t>
            </a:r>
            <a:r>
              <a:rPr lang="en-GB"/>
              <a:t>, after carrying out </a:t>
            </a:r>
            <a:r>
              <a:rPr lang="en-GB" b="1"/>
              <a:t>several checks </a:t>
            </a:r>
            <a:r>
              <a:rPr lang="en-GB"/>
              <a:t>and reporting back any error.</a:t>
            </a:r>
          </a:p>
          <a:p>
            <a:endParaRPr lang="en-GB"/>
          </a:p>
          <a:p>
            <a:r>
              <a:rPr lang="en-GB"/>
              <a:t>Object code can be saved on disk and run whenever required</a:t>
            </a:r>
            <a:r>
              <a:rPr lang="en-GB" b="1"/>
              <a:t> without the need to recompile.</a:t>
            </a:r>
          </a:p>
          <a:p>
            <a:endParaRPr lang="en-GB"/>
          </a:p>
          <a:p>
            <a:r>
              <a:rPr lang="en-GB"/>
              <a:t>It </a:t>
            </a:r>
            <a:r>
              <a:rPr lang="en-GB" b="1"/>
              <a:t>executes faster</a:t>
            </a:r>
            <a:r>
              <a:rPr lang="en-GB"/>
              <a:t> than interpreted code and a </a:t>
            </a:r>
            <a:r>
              <a:rPr lang="en-GB" b="1"/>
              <a:t>compiler is not needed </a:t>
            </a:r>
            <a:r>
              <a:rPr lang="en-GB"/>
              <a:t>when the object code is executed and is </a:t>
            </a:r>
            <a:r>
              <a:rPr lang="en-GB" b="1"/>
              <a:t>more secure.</a:t>
            </a:r>
          </a:p>
          <a:p>
            <a:endParaRPr lang="en-GB"/>
          </a:p>
          <a:p>
            <a:r>
              <a:rPr lang="en-GB"/>
              <a:t>Best used for a program that runs </a:t>
            </a:r>
            <a:r>
              <a:rPr lang="en-GB" b="1"/>
              <a:t>frequently with only occasional change</a:t>
            </a:r>
            <a:r>
              <a:rPr lang="en-GB"/>
              <a:t> or when the object code is distributed out of the company as source code is not present.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DF6A17-CDC8-763F-6FAD-63FE7B789ABF}"/>
              </a:ext>
            </a:extLst>
          </p:cNvPr>
          <p:cNvSpPr txBox="1"/>
          <p:nvPr/>
        </p:nvSpPr>
        <p:spPr>
          <a:xfrm>
            <a:off x="4370933" y="1046988"/>
            <a:ext cx="357005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Interpreters translate and executes code </a:t>
            </a:r>
            <a:r>
              <a:rPr lang="en-GB" b="1"/>
              <a:t>line by line </a:t>
            </a:r>
            <a:r>
              <a:rPr lang="en-GB"/>
              <a:t>and </a:t>
            </a:r>
            <a:r>
              <a:rPr lang="en-GB" b="1"/>
              <a:t>stops and produces an error </a:t>
            </a:r>
            <a:r>
              <a:rPr lang="en-GB"/>
              <a:t>if a line contains an error.</a:t>
            </a:r>
          </a:p>
          <a:p>
            <a:endParaRPr lang="en-GB"/>
          </a:p>
          <a:p>
            <a:r>
              <a:rPr lang="en-GB"/>
              <a:t>Initially appear faster as code </a:t>
            </a:r>
            <a:r>
              <a:rPr lang="en-GB" b="1"/>
              <a:t>is instantly executed </a:t>
            </a:r>
            <a:r>
              <a:rPr lang="en-GB"/>
              <a:t>by slower than running compiled code as code must be translated each time it is executed </a:t>
            </a:r>
            <a:r>
              <a:rPr lang="en-GB" b="1"/>
              <a:t>with an interpreter.</a:t>
            </a:r>
          </a:p>
          <a:p>
            <a:endParaRPr lang="en-GB"/>
          </a:p>
          <a:p>
            <a:r>
              <a:rPr lang="en-GB"/>
              <a:t>They are useful for </a:t>
            </a:r>
            <a:r>
              <a:rPr lang="en-GB" b="1"/>
              <a:t>testing </a:t>
            </a:r>
            <a:r>
              <a:rPr lang="en-GB"/>
              <a:t>sections of code as time is not wasted compiling the entire program.</a:t>
            </a:r>
          </a:p>
          <a:p>
            <a:endParaRPr lang="en-GB"/>
          </a:p>
          <a:p>
            <a:r>
              <a:rPr lang="en-GB"/>
              <a:t>Interpreted source code can be run on any machine as it has </a:t>
            </a:r>
            <a:r>
              <a:rPr lang="en-GB" b="1"/>
              <a:t>platform independence</a:t>
            </a:r>
            <a:r>
              <a:rPr lang="en-GB"/>
              <a:t>.</a:t>
            </a:r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FD6C4F-BACA-2C9A-2D7D-5F28E38604E0}"/>
              </a:ext>
            </a:extLst>
          </p:cNvPr>
          <p:cNvSpPr txBox="1"/>
          <p:nvPr/>
        </p:nvSpPr>
        <p:spPr>
          <a:xfrm>
            <a:off x="8266176" y="1234440"/>
            <a:ext cx="36758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 assembler translates</a:t>
            </a:r>
            <a:r>
              <a:rPr lang="en-GB" b="1"/>
              <a:t> assembly code into machine code, </a:t>
            </a:r>
            <a:r>
              <a:rPr lang="en-GB"/>
              <a:t>or an intermediate form called bytecode.</a:t>
            </a:r>
          </a:p>
          <a:p>
            <a:endParaRPr lang="en-GB"/>
          </a:p>
          <a:p>
            <a:r>
              <a:rPr lang="en-GB"/>
              <a:t>Each line of assembly code is equivalent to one line of machine code, so code is translated on almost a </a:t>
            </a:r>
            <a:r>
              <a:rPr lang="en-GB" b="1"/>
              <a:t>one-to-one basis.</a:t>
            </a:r>
          </a:p>
        </p:txBody>
      </p:sp>
      <p:pic>
        <p:nvPicPr>
          <p:cNvPr id="1026" name="Picture 2" descr="Introduction to Interpreters - GeeksforGeeks">
            <a:extLst>
              <a:ext uri="{FF2B5EF4-FFF2-40B4-BE49-F238E27FC236}">
                <a16:creationId xmlns:a16="http://schemas.microsoft.com/office/drawing/2014/main" id="{AB9C52C2-D734-5C73-AE7F-A9A61127E4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6764" y="4148971"/>
            <a:ext cx="4253196" cy="108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19AB21-C835-9FDE-955A-1574B81FFFF4}"/>
              </a:ext>
            </a:extLst>
          </p:cNvPr>
          <p:cNvSpPr/>
          <p:nvPr/>
        </p:nvSpPr>
        <p:spPr>
          <a:xfrm>
            <a:off x="164592" y="1028700"/>
            <a:ext cx="3600637" cy="55427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2B117D-C29D-CA36-F550-9BD2C37BA647}"/>
              </a:ext>
            </a:extLst>
          </p:cNvPr>
          <p:cNvSpPr/>
          <p:nvPr/>
        </p:nvSpPr>
        <p:spPr>
          <a:xfrm>
            <a:off x="4295681" y="1028700"/>
            <a:ext cx="3600637" cy="5542764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89EBEAB-B548-5BDD-71B6-4F3EBDABC3CF}"/>
              </a:ext>
            </a:extLst>
          </p:cNvPr>
          <p:cNvSpPr/>
          <p:nvPr/>
        </p:nvSpPr>
        <p:spPr>
          <a:xfrm>
            <a:off x="8221505" y="1140714"/>
            <a:ext cx="3720559" cy="277051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3BA5DF-2750-086A-3452-E86B6573312F}"/>
              </a:ext>
            </a:extLst>
          </p:cNvPr>
          <p:cNvSpPr/>
          <p:nvPr/>
        </p:nvSpPr>
        <p:spPr>
          <a:xfrm>
            <a:off x="2916936" y="179882"/>
            <a:ext cx="6967728" cy="685583"/>
          </a:xfrm>
          <a:prstGeom prst="rect">
            <a:avLst/>
          </a:prstGeom>
          <a:noFill/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5304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6C6A7-54D4-1230-6ECB-6786746A7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C2E4D64-05EA-F3CF-EB9B-B546DAD39F2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06EC947-BA82-F530-CBDB-6EA527670D5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C1A8C-7AD3-5451-5F1F-CE1798C4CE43}"/>
              </a:ext>
            </a:extLst>
          </p:cNvPr>
          <p:cNvSpPr txBox="1"/>
          <p:nvPr/>
        </p:nvSpPr>
        <p:spPr>
          <a:xfrm>
            <a:off x="464695" y="145018"/>
            <a:ext cx="54264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COMPILATION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344057-5947-097F-DFE7-14CC573CA603}"/>
              </a:ext>
            </a:extLst>
          </p:cNvPr>
          <p:cNvSpPr txBox="1"/>
          <p:nvPr/>
        </p:nvSpPr>
        <p:spPr>
          <a:xfrm>
            <a:off x="4031991" y="199166"/>
            <a:ext cx="587500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EE0000"/>
                </a:solidFill>
              </a:rPr>
              <a:t>LEXICAL ANALYSIS</a:t>
            </a:r>
          </a:p>
          <a:p>
            <a:endParaRPr lang="en-GB"/>
          </a:p>
          <a:p>
            <a:r>
              <a:rPr lang="en-GB" b="1"/>
              <a:t>Whitespace and comments are removed from the code</a:t>
            </a:r>
          </a:p>
          <a:p>
            <a:r>
              <a:rPr lang="en-GB"/>
              <a:t>The remaining code is analysed for keywords and names of variables and constants. These are replaced with </a:t>
            </a:r>
            <a:r>
              <a:rPr lang="en-GB" b="1"/>
              <a:t>tokens</a:t>
            </a:r>
            <a:r>
              <a:rPr lang="en-GB"/>
              <a:t> and information about the token associated with each keyword or identifier is </a:t>
            </a:r>
            <a:r>
              <a:rPr lang="en-GB" b="1"/>
              <a:t>stored in a symbol table.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CAE065-DF23-9CBC-08A8-9570C676A22E}"/>
              </a:ext>
            </a:extLst>
          </p:cNvPr>
          <p:cNvSpPr txBox="1"/>
          <p:nvPr/>
        </p:nvSpPr>
        <p:spPr>
          <a:xfrm>
            <a:off x="274901" y="1238428"/>
            <a:ext cx="30906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EE0000"/>
                </a:solidFill>
              </a:rPr>
              <a:t>SYNTAX ANALYSIS</a:t>
            </a:r>
          </a:p>
          <a:p>
            <a:endParaRPr lang="en-GB"/>
          </a:p>
          <a:p>
            <a:r>
              <a:rPr lang="en-GB"/>
              <a:t>Tokens are analysed against the grammar and </a:t>
            </a:r>
            <a:r>
              <a:rPr lang="en-GB" b="1"/>
              <a:t>rules of the programming language</a:t>
            </a:r>
            <a:r>
              <a:rPr lang="en-GB"/>
              <a:t>. Any tokens that break the rules of the programming language are </a:t>
            </a:r>
            <a:r>
              <a:rPr lang="en-GB" b="1"/>
              <a:t>flagged as syntax errors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 b="1"/>
              <a:t>Semantic analysis</a:t>
            </a:r>
            <a:r>
              <a:rPr lang="en-GB"/>
              <a:t> is also carried out where </a:t>
            </a:r>
            <a:r>
              <a:rPr lang="en-GB" b="1"/>
              <a:t>logic mistakes </a:t>
            </a:r>
            <a:r>
              <a:rPr lang="en-GB"/>
              <a:t>within the program are </a:t>
            </a:r>
            <a:r>
              <a:rPr lang="en-GB" b="1"/>
              <a:t>detected.</a:t>
            </a:r>
          </a:p>
          <a:p>
            <a:endParaRPr lang="en-GB"/>
          </a:p>
          <a:p>
            <a:r>
              <a:rPr lang="en-GB"/>
              <a:t>An </a:t>
            </a:r>
            <a:r>
              <a:rPr lang="en-GB" b="1"/>
              <a:t>abstract syntax tree </a:t>
            </a:r>
            <a:r>
              <a:rPr lang="en-GB"/>
              <a:t>is produced at the end of this stage, a representation of the source code.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2FCE1F-1CC2-7996-275B-DB83AF63F669}"/>
              </a:ext>
            </a:extLst>
          </p:cNvPr>
          <p:cNvSpPr txBox="1"/>
          <p:nvPr/>
        </p:nvSpPr>
        <p:spPr>
          <a:xfrm>
            <a:off x="4276918" y="4528358"/>
            <a:ext cx="24379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EE0000"/>
                </a:solidFill>
              </a:rPr>
              <a:t>CODE GENERATION</a:t>
            </a:r>
          </a:p>
          <a:p>
            <a:endParaRPr lang="en-GB"/>
          </a:p>
          <a:p>
            <a:r>
              <a:rPr lang="en-GB"/>
              <a:t>Abstract syntax tree produced is used to </a:t>
            </a:r>
            <a:r>
              <a:rPr lang="en-GB" b="1"/>
              <a:t>produce machine code.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EA84B7-174C-1F29-4984-696FF78F67D9}"/>
              </a:ext>
            </a:extLst>
          </p:cNvPr>
          <p:cNvSpPr txBox="1"/>
          <p:nvPr/>
        </p:nvSpPr>
        <p:spPr>
          <a:xfrm>
            <a:off x="7672482" y="2817072"/>
            <a:ext cx="44690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EE0000"/>
                </a:solidFill>
              </a:rPr>
              <a:t>OPTIMISATION</a:t>
            </a:r>
          </a:p>
          <a:p>
            <a:endParaRPr lang="en-GB"/>
          </a:p>
          <a:p>
            <a:r>
              <a:rPr lang="en-GB"/>
              <a:t>Searches code for areas that could be </a:t>
            </a:r>
            <a:r>
              <a:rPr lang="en-GB" b="1"/>
              <a:t>more efficient</a:t>
            </a:r>
            <a:r>
              <a:rPr lang="en-GB"/>
              <a:t>, so code is faster to execute. Insignificant, </a:t>
            </a:r>
            <a:r>
              <a:rPr lang="en-GB" b="1"/>
              <a:t>redundant parts of the code are detected and removed.</a:t>
            </a:r>
            <a:r>
              <a:rPr lang="en-GB"/>
              <a:t> Repeated sections of code may be grouped and </a:t>
            </a:r>
            <a:r>
              <a:rPr lang="en-GB" b="1"/>
              <a:t>replaced with more efficient code </a:t>
            </a:r>
            <a:r>
              <a:rPr lang="en-GB"/>
              <a:t>which produces the same result.</a:t>
            </a:r>
          </a:p>
          <a:p>
            <a:endParaRPr lang="en-GB"/>
          </a:p>
          <a:p>
            <a:r>
              <a:rPr lang="en-GB"/>
              <a:t>However, </a:t>
            </a:r>
            <a:r>
              <a:rPr lang="en-GB" b="1"/>
              <a:t>excessive </a:t>
            </a:r>
            <a:r>
              <a:rPr lang="en-GB"/>
              <a:t>optimisation may alter how </a:t>
            </a:r>
            <a:r>
              <a:rPr lang="en-GB" b="1"/>
              <a:t>the program behaves.</a:t>
            </a:r>
          </a:p>
        </p:txBody>
      </p:sp>
      <p:pic>
        <p:nvPicPr>
          <p:cNvPr id="10" name="Picture 9" descr="A close-up of a table&#10;&#10;AI-generated content may be incorrect.">
            <a:extLst>
              <a:ext uri="{FF2B5EF4-FFF2-40B4-BE49-F238E27FC236}">
                <a16:creationId xmlns:a16="http://schemas.microsoft.com/office/drawing/2014/main" id="{A3FC06CF-F1D0-7CD3-718F-7A82C2316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014" y="2618490"/>
            <a:ext cx="3090672" cy="1226983"/>
          </a:xfrm>
          <a:prstGeom prst="rect">
            <a:avLst/>
          </a:prstGeom>
        </p:spPr>
      </p:pic>
      <p:pic>
        <p:nvPicPr>
          <p:cNvPr id="2050" name="Picture 2" descr="125,800+ Red Arrow Sign Stock Photos, Pictures &amp; Royalty-Free Images -  iStock">
            <a:extLst>
              <a:ext uri="{FF2B5EF4-FFF2-40B4-BE49-F238E27FC236}">
                <a16:creationId xmlns:a16="http://schemas.microsoft.com/office/drawing/2014/main" id="{BB86FCA0-F313-69F8-0800-CC98CFB4F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701110">
            <a:off x="2652581" y="457639"/>
            <a:ext cx="1275117" cy="716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125,800+ Red Arrow Sign Stock Photos, Pictures &amp; Royalty-Free Images -  iStock">
            <a:extLst>
              <a:ext uri="{FF2B5EF4-FFF2-40B4-BE49-F238E27FC236}">
                <a16:creationId xmlns:a16="http://schemas.microsoft.com/office/drawing/2014/main" id="{B6A83179-3808-E34C-373A-AE5DA9B607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499" b="21358"/>
          <a:stretch>
            <a:fillRect/>
          </a:stretch>
        </p:blipFill>
        <p:spPr bwMode="auto">
          <a:xfrm rot="19520281">
            <a:off x="3171750" y="4760196"/>
            <a:ext cx="1128487" cy="56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 descr="125,800+ Red Arrow Sign Stock Photos, Pictures &amp; Royalty-Free Images -  iStock">
            <a:extLst>
              <a:ext uri="{FF2B5EF4-FFF2-40B4-BE49-F238E27FC236}">
                <a16:creationId xmlns:a16="http://schemas.microsoft.com/office/drawing/2014/main" id="{B229EC3E-D4E8-9956-D536-569E348321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13" t="20632"/>
          <a:stretch>
            <a:fillRect/>
          </a:stretch>
        </p:blipFill>
        <p:spPr bwMode="auto">
          <a:xfrm rot="19825803">
            <a:off x="6649155" y="4507212"/>
            <a:ext cx="1113021" cy="568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0FC8709-170B-70E9-0D7B-5E1B7633BE5F}"/>
              </a:ext>
            </a:extLst>
          </p:cNvPr>
          <p:cNvSpPr/>
          <p:nvPr/>
        </p:nvSpPr>
        <p:spPr>
          <a:xfrm>
            <a:off x="237744" y="1163515"/>
            <a:ext cx="3081528" cy="5228141"/>
          </a:xfrm>
          <a:prstGeom prst="rect">
            <a:avLst/>
          </a:prstGeom>
          <a:noFill/>
          <a:ln>
            <a:solidFill>
              <a:srgbClr val="EF7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A0217A-255B-766E-749D-842E08015F51}"/>
              </a:ext>
            </a:extLst>
          </p:cNvPr>
          <p:cNvSpPr/>
          <p:nvPr/>
        </p:nvSpPr>
        <p:spPr>
          <a:xfrm>
            <a:off x="4242060" y="4269627"/>
            <a:ext cx="2339218" cy="2417955"/>
          </a:xfrm>
          <a:prstGeom prst="rect">
            <a:avLst/>
          </a:prstGeom>
          <a:noFill/>
          <a:ln>
            <a:solidFill>
              <a:srgbClr val="EF7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2198B47-B6D0-E2A7-A5D8-A42E3CC3D32E}"/>
              </a:ext>
            </a:extLst>
          </p:cNvPr>
          <p:cNvSpPr/>
          <p:nvPr/>
        </p:nvSpPr>
        <p:spPr>
          <a:xfrm>
            <a:off x="7589018" y="2706624"/>
            <a:ext cx="4552491" cy="3728252"/>
          </a:xfrm>
          <a:prstGeom prst="rect">
            <a:avLst/>
          </a:prstGeom>
          <a:noFill/>
          <a:ln>
            <a:solidFill>
              <a:srgbClr val="EF7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CA35C7-FFE6-A0D1-A2E0-CD2E64BEF4BB}"/>
              </a:ext>
            </a:extLst>
          </p:cNvPr>
          <p:cNvSpPr/>
          <p:nvPr/>
        </p:nvSpPr>
        <p:spPr>
          <a:xfrm>
            <a:off x="4041134" y="85507"/>
            <a:ext cx="5971546" cy="2326667"/>
          </a:xfrm>
          <a:prstGeom prst="rect">
            <a:avLst/>
          </a:prstGeom>
          <a:noFill/>
          <a:ln>
            <a:solidFill>
              <a:srgbClr val="EF7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31502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781D-0D71-AA1A-AEFE-94D43C84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B04EAAF-DA53-DD9C-9E20-777CFC602013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A39EE6D-43C7-BF02-CF78-3E456100E41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25AE77-A3F9-D0C6-146D-1E6FFBF80A2A}"/>
              </a:ext>
            </a:extLst>
          </p:cNvPr>
          <p:cNvSpPr txBox="1"/>
          <p:nvPr/>
        </p:nvSpPr>
        <p:spPr>
          <a:xfrm>
            <a:off x="269821" y="269824"/>
            <a:ext cx="6310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LINKERS LOADERS AND LIBRARIES</a:t>
            </a:r>
          </a:p>
        </p:txBody>
      </p:sp>
      <p:pic>
        <p:nvPicPr>
          <p:cNvPr id="1026" name="Picture 2" descr="Libraries, Linkers, and Loaders">
            <a:extLst>
              <a:ext uri="{FF2B5EF4-FFF2-40B4-BE49-F238E27FC236}">
                <a16:creationId xmlns:a16="http://schemas.microsoft.com/office/drawing/2014/main" id="{EFC3E357-BC65-E49D-7089-DE73463C5E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3" t="20339" b="36949"/>
          <a:stretch>
            <a:fillRect/>
          </a:stretch>
        </p:blipFill>
        <p:spPr bwMode="auto">
          <a:xfrm>
            <a:off x="858756" y="2125011"/>
            <a:ext cx="8130260" cy="199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556880-165F-CD8A-06F6-12FDCB179627}"/>
              </a:ext>
            </a:extLst>
          </p:cNvPr>
          <p:cNvSpPr txBox="1"/>
          <p:nvPr/>
        </p:nvSpPr>
        <p:spPr>
          <a:xfrm>
            <a:off x="455801" y="945992"/>
            <a:ext cx="63108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Any separately </a:t>
            </a:r>
            <a:r>
              <a:rPr lang="en-GB" b="1"/>
              <a:t>compiled subroutines </a:t>
            </a:r>
            <a:r>
              <a:rPr lang="en-GB"/>
              <a:t>must be </a:t>
            </a:r>
            <a:r>
              <a:rPr lang="en-GB" b="1"/>
              <a:t>linked into the object code. </a:t>
            </a:r>
            <a:r>
              <a:rPr lang="en-GB"/>
              <a:t>The linker puts appropriate machine addresses in all external call and return instructions so that the modules are linked together correctly.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3039ED-A982-FB2F-4ABF-987A277D389F}"/>
              </a:ext>
            </a:extLst>
          </p:cNvPr>
          <p:cNvSpPr txBox="1"/>
          <p:nvPr/>
        </p:nvSpPr>
        <p:spPr>
          <a:xfrm>
            <a:off x="7191214" y="269824"/>
            <a:ext cx="2324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Linkers can be </a:t>
            </a:r>
            <a:r>
              <a:rPr lang="en-GB" b="1"/>
              <a:t>static </a:t>
            </a:r>
            <a:r>
              <a:rPr lang="en-GB"/>
              <a:t>(libraries are added to the main file) or </a:t>
            </a:r>
            <a:r>
              <a:rPr lang="en-GB" b="1"/>
              <a:t>dynamic</a:t>
            </a:r>
            <a:r>
              <a:rPr lang="en-GB"/>
              <a:t> (libraries addresses are referenced in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BD32BC-1768-1E52-80B1-2585BEF2E73F}"/>
              </a:ext>
            </a:extLst>
          </p:cNvPr>
          <p:cNvSpPr txBox="1"/>
          <p:nvPr/>
        </p:nvSpPr>
        <p:spPr>
          <a:xfrm>
            <a:off x="9509444" y="1898377"/>
            <a:ext cx="26037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Loaders are programs </a:t>
            </a:r>
            <a:r>
              <a:rPr lang="en-GB" b="1"/>
              <a:t>provided by the OS. </a:t>
            </a:r>
            <a:r>
              <a:rPr lang="en-GB"/>
              <a:t>When a file is executed, the loader retrieves the library or subroutine from the </a:t>
            </a:r>
            <a:r>
              <a:rPr lang="en-GB" b="1"/>
              <a:t>given memory location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D51BA8-2320-65F1-2910-46F462ADEBBC}"/>
              </a:ext>
            </a:extLst>
          </p:cNvPr>
          <p:cNvSpPr txBox="1"/>
          <p:nvPr/>
        </p:nvSpPr>
        <p:spPr>
          <a:xfrm>
            <a:off x="573437" y="4448013"/>
            <a:ext cx="1075582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Libraries are </a:t>
            </a:r>
            <a:r>
              <a:rPr lang="en-GB" b="1"/>
              <a:t>pre-compiled programs </a:t>
            </a:r>
            <a:r>
              <a:rPr lang="en-GB"/>
              <a:t>which are </a:t>
            </a:r>
            <a:r>
              <a:rPr lang="en-GB" b="1"/>
              <a:t>ready to use and error free, </a:t>
            </a:r>
            <a:r>
              <a:rPr lang="en-GB"/>
              <a:t>saves time developing and testing modules.</a:t>
            </a:r>
          </a:p>
          <a:p>
            <a:endParaRPr lang="en-GB"/>
          </a:p>
          <a:p>
            <a:r>
              <a:rPr lang="en-GB" dirty="0"/>
              <a:t>They can be re used in multiple programs and </a:t>
            </a:r>
            <a:r>
              <a:rPr lang="en-GB"/>
              <a:t>offer</a:t>
            </a:r>
            <a:r>
              <a:rPr lang="en-GB" dirty="0"/>
              <a:t> a </a:t>
            </a:r>
            <a:r>
              <a:rPr lang="en-GB" b="1" dirty="0"/>
              <a:t>specialised range of functions</a:t>
            </a:r>
            <a:r>
              <a:rPr lang="en-GB" dirty="0"/>
              <a:t>.</a:t>
            </a:r>
          </a:p>
          <a:p>
            <a:endParaRPr lang="en-GB"/>
          </a:p>
          <a:p>
            <a:r>
              <a:rPr lang="en-GB"/>
              <a:t>Examples include mathematical and graphical 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BA39E15-6821-0A02-F251-4A663DDA0C25}"/>
              </a:ext>
            </a:extLst>
          </p:cNvPr>
          <p:cNvSpPr/>
          <p:nvPr/>
        </p:nvSpPr>
        <p:spPr>
          <a:xfrm>
            <a:off x="338328" y="868680"/>
            <a:ext cx="6428332" cy="1408176"/>
          </a:xfrm>
          <a:prstGeom prst="rect">
            <a:avLst/>
          </a:prstGeom>
          <a:noFill/>
          <a:ln>
            <a:solidFill>
              <a:srgbClr val="C26C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0A52C3-CDEF-D5BD-CDFC-EBB1A4A99378}"/>
              </a:ext>
            </a:extLst>
          </p:cNvPr>
          <p:cNvSpPr/>
          <p:nvPr/>
        </p:nvSpPr>
        <p:spPr>
          <a:xfrm>
            <a:off x="6987593" y="88670"/>
            <a:ext cx="2439871" cy="1935480"/>
          </a:xfrm>
          <a:prstGeom prst="rect">
            <a:avLst/>
          </a:prstGeom>
          <a:noFill/>
          <a:ln>
            <a:solidFill>
              <a:srgbClr val="C26CB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D453FA-3EE1-D865-3DA8-F0E6CFE51C9D}"/>
              </a:ext>
            </a:extLst>
          </p:cNvPr>
          <p:cNvSpPr/>
          <p:nvPr/>
        </p:nvSpPr>
        <p:spPr>
          <a:xfrm>
            <a:off x="298704" y="4297680"/>
            <a:ext cx="10853977" cy="212140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707E21C-E6B2-DD1B-0569-750849F15C52}"/>
              </a:ext>
            </a:extLst>
          </p:cNvPr>
          <p:cNvSpPr/>
          <p:nvPr/>
        </p:nvSpPr>
        <p:spPr>
          <a:xfrm>
            <a:off x="9515958" y="1898376"/>
            <a:ext cx="2597201" cy="2031325"/>
          </a:xfrm>
          <a:prstGeom prst="rect">
            <a:avLst/>
          </a:prstGeom>
          <a:noFill/>
          <a:ln>
            <a:solidFill>
              <a:srgbClr val="E06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7696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62099-8DCF-67A9-73DB-08BD7246E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D19D865-889E-5794-D386-1DBF57B21DB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470D6FA-1993-51FF-AFDA-EB1B0EFFEE8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854EBE-A540-2508-C720-9E6D11E3EF87}"/>
              </a:ext>
            </a:extLst>
          </p:cNvPr>
          <p:cNvSpPr txBox="1"/>
          <p:nvPr/>
        </p:nvSpPr>
        <p:spPr>
          <a:xfrm>
            <a:off x="269821" y="269824"/>
            <a:ext cx="63108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OFF THE SHELF AND BESPOKE SOFTWARE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1033C6-1C9F-308D-CB19-B1D5D7CDDF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087490"/>
              </p:ext>
            </p:extLst>
          </p:nvPr>
        </p:nvGraphicFramePr>
        <p:xfrm>
          <a:off x="196669" y="1964322"/>
          <a:ext cx="631086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5430">
                  <a:extLst>
                    <a:ext uri="{9D8B030D-6E8A-4147-A177-3AD203B41FA5}">
                      <a16:colId xmlns:a16="http://schemas.microsoft.com/office/drawing/2014/main" val="2641116539"/>
                    </a:ext>
                  </a:extLst>
                </a:gridCol>
                <a:gridCol w="3155430">
                  <a:extLst>
                    <a:ext uri="{9D8B030D-6E8A-4147-A177-3AD203B41FA5}">
                      <a16:colId xmlns:a16="http://schemas.microsoft.com/office/drawing/2014/main" val="463441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OFF THE SHELF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BESPOKE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83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General, </a:t>
                      </a:r>
                      <a:r>
                        <a:rPr lang="en-GB" b="1"/>
                        <a:t>ready to use software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Software </a:t>
                      </a:r>
                      <a:r>
                        <a:rPr lang="en-GB" b="1"/>
                        <a:t>custom made </a:t>
                      </a:r>
                      <a:r>
                        <a:rPr lang="en-GB"/>
                        <a:t>to fit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415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May contain a lot of unwanted features and some </a:t>
                      </a:r>
                      <a:r>
                        <a:rPr lang="en-GB" b="1"/>
                        <a:t>desirable features may be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Features </a:t>
                      </a:r>
                      <a:r>
                        <a:rPr lang="en-GB" b="1"/>
                        <a:t>customised to user </a:t>
                      </a:r>
                      <a:r>
                        <a:rPr lang="en-GB"/>
                        <a:t>requirements and other features can be added as needs arise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21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b="1"/>
                        <a:t>Less 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More costly </a:t>
                      </a:r>
                      <a:r>
                        <a:rPr lang="en-GB"/>
                        <a:t>and requires expertise to analyse requirements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052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Ready to be </a:t>
                      </a:r>
                      <a:r>
                        <a:rPr lang="en-GB" b="1"/>
                        <a:t>installed instantly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May take </a:t>
                      </a:r>
                      <a:r>
                        <a:rPr lang="en-GB" b="1"/>
                        <a:t>a long time to develop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7439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Well documented, </a:t>
                      </a:r>
                      <a:r>
                        <a:rPr lang="en-GB" b="1"/>
                        <a:t>tested, error 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May contain errors </a:t>
                      </a:r>
                      <a:r>
                        <a:rPr lang="en-GB"/>
                        <a:t>which do not surface immediately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489974"/>
                  </a:ext>
                </a:extLst>
              </a:tr>
            </a:tbl>
          </a:graphicData>
        </a:graphic>
      </p:graphicFrame>
      <p:pic>
        <p:nvPicPr>
          <p:cNvPr id="2050" name="Picture 2" descr="Building your own vs Off-The-Shelf-Software - Co-Operative Computing">
            <a:extLst>
              <a:ext uri="{FF2B5EF4-FFF2-40B4-BE49-F238E27FC236}">
                <a16:creationId xmlns:a16="http://schemas.microsoft.com/office/drawing/2014/main" id="{EF7862E9-05DB-138E-EA15-4249D1C8D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0023" y="2381739"/>
            <a:ext cx="5232249" cy="2362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342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2994018-4D50-DD5A-5CA6-B33D5C10ED3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DDC83A-E8C6-1D19-99A3-94EDF7051000}"/>
              </a:ext>
            </a:extLst>
          </p:cNvPr>
          <p:cNvSpPr txBox="1"/>
          <p:nvPr/>
        </p:nvSpPr>
        <p:spPr>
          <a:xfrm>
            <a:off x="128016" y="118872"/>
            <a:ext cx="6958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SLR6 SOFTWARE GENERATION</a:t>
            </a:r>
          </a:p>
        </p:txBody>
      </p:sp>
      <p:sp>
        <p:nvSpPr>
          <p:cNvPr id="5" name="Action Button: Go Forward or Next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2E8367B-5024-65B8-AF7C-C8E47C968404}"/>
              </a:ext>
            </a:extLst>
          </p:cNvPr>
          <p:cNvSpPr/>
          <p:nvPr/>
        </p:nvSpPr>
        <p:spPr>
          <a:xfrm>
            <a:off x="214547" y="895549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E6768B-3223-3067-CEE9-B6466BD2227C}"/>
              </a:ext>
            </a:extLst>
          </p:cNvPr>
          <p:cNvSpPr txBox="1"/>
          <p:nvPr/>
        </p:nvSpPr>
        <p:spPr>
          <a:xfrm>
            <a:off x="1447800" y="1123950"/>
            <a:ext cx="2905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SDLC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23A407-666F-06AA-7CEC-251EB2355946}"/>
              </a:ext>
            </a:extLst>
          </p:cNvPr>
          <p:cNvSpPr txBox="1"/>
          <p:nvPr/>
        </p:nvSpPr>
        <p:spPr>
          <a:xfrm>
            <a:off x="1447800" y="2325171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WATERFALL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B8777A-AC34-1BBE-A474-3432AFF05554}"/>
              </a:ext>
            </a:extLst>
          </p:cNvPr>
          <p:cNvSpPr txBox="1"/>
          <p:nvPr/>
        </p:nvSpPr>
        <p:spPr>
          <a:xfrm>
            <a:off x="1447799" y="3466204"/>
            <a:ext cx="227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AGILE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0EE911-F82D-1221-0E2E-8BC166C058E3}"/>
              </a:ext>
            </a:extLst>
          </p:cNvPr>
          <p:cNvSpPr txBox="1"/>
          <p:nvPr/>
        </p:nvSpPr>
        <p:spPr>
          <a:xfrm>
            <a:off x="1447800" y="4743621"/>
            <a:ext cx="2149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SPIRAL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B98ADB-BD43-B338-3490-0113FF1E3776}"/>
              </a:ext>
            </a:extLst>
          </p:cNvPr>
          <p:cNvSpPr txBox="1"/>
          <p:nvPr/>
        </p:nvSpPr>
        <p:spPr>
          <a:xfrm>
            <a:off x="1447800" y="6021039"/>
            <a:ext cx="2276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RAD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AD2503-E4EE-E4A7-7257-7E044A35EAD9}"/>
              </a:ext>
            </a:extLst>
          </p:cNvPr>
          <p:cNvSpPr txBox="1"/>
          <p:nvPr/>
        </p:nvSpPr>
        <p:spPr>
          <a:xfrm>
            <a:off x="4991725" y="1123950"/>
            <a:ext cx="3207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EXTREME PROGRAMMING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7C0DBE-5E96-7D35-A44D-2E166E129465}"/>
              </a:ext>
            </a:extLst>
          </p:cNvPr>
          <p:cNvSpPr txBox="1"/>
          <p:nvPr/>
        </p:nvSpPr>
        <p:spPr>
          <a:xfrm>
            <a:off x="4991725" y="2323125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TESTING</a:t>
            </a:r>
          </a:p>
        </p:txBody>
      </p:sp>
      <p:sp>
        <p:nvSpPr>
          <p:cNvPr id="12" name="Action Button: Go Forward or Next 1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63DF6A8-7391-D58C-5668-39C1B4DFEE1E}"/>
              </a:ext>
            </a:extLst>
          </p:cNvPr>
          <p:cNvSpPr/>
          <p:nvPr/>
        </p:nvSpPr>
        <p:spPr>
          <a:xfrm>
            <a:off x="214547" y="209677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ction Button: Go Forward or Next 1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3AF0033A-1E7F-527D-ACA0-05225BEA478F}"/>
              </a:ext>
            </a:extLst>
          </p:cNvPr>
          <p:cNvSpPr/>
          <p:nvPr/>
        </p:nvSpPr>
        <p:spPr>
          <a:xfrm>
            <a:off x="214547" y="324565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ction Button: Go Forward or Next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01D14F4F-59B3-8E3C-3735-94DDFB148013}"/>
              </a:ext>
            </a:extLst>
          </p:cNvPr>
          <p:cNvSpPr/>
          <p:nvPr/>
        </p:nvSpPr>
        <p:spPr>
          <a:xfrm>
            <a:off x="214547" y="451522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56F61E9F-352C-BAEA-8211-907A4F20FCFB}"/>
              </a:ext>
            </a:extLst>
          </p:cNvPr>
          <p:cNvSpPr/>
          <p:nvPr/>
        </p:nvSpPr>
        <p:spPr>
          <a:xfrm>
            <a:off x="214547" y="579638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ction Button: Go Forward or Next 15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C7C77C44-D42F-5A54-970E-8C565A4200EE}"/>
              </a:ext>
            </a:extLst>
          </p:cNvPr>
          <p:cNvSpPr/>
          <p:nvPr/>
        </p:nvSpPr>
        <p:spPr>
          <a:xfrm>
            <a:off x="3658731" y="895549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Action Button: Go Forward or Next 16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238A9EB-F8B4-BD4C-47D2-5DFBE1FB1D28}"/>
              </a:ext>
            </a:extLst>
          </p:cNvPr>
          <p:cNvSpPr/>
          <p:nvPr/>
        </p:nvSpPr>
        <p:spPr>
          <a:xfrm>
            <a:off x="3658731" y="2080317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30345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9FC01-848D-3151-8E04-C6BF05C29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urved Arrows PNG Transparent Images Free Download | Vector Files | Pngtree">
            <a:extLst>
              <a:ext uri="{FF2B5EF4-FFF2-40B4-BE49-F238E27FC236}">
                <a16:creationId xmlns:a16="http://schemas.microsoft.com/office/drawing/2014/main" id="{BB1F6856-769A-AD2F-4E85-EEDCAD689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4724923">
            <a:off x="9566123" y="897370"/>
            <a:ext cx="1094474" cy="109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313E486-D5DE-C115-02E2-E3F1B52C8D0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641E68B-7685-770E-F923-B2F9593BBE6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0D6420-92B5-9275-B3EC-05F299FCBB8B}"/>
              </a:ext>
            </a:extLst>
          </p:cNvPr>
          <p:cNvSpPr txBox="1"/>
          <p:nvPr/>
        </p:nvSpPr>
        <p:spPr>
          <a:xfrm>
            <a:off x="161925" y="142875"/>
            <a:ext cx="2905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SDLC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F9B5D6-D9BC-DC70-47EC-AE0015C3DDE3}"/>
              </a:ext>
            </a:extLst>
          </p:cNvPr>
          <p:cNvSpPr txBox="1"/>
          <p:nvPr/>
        </p:nvSpPr>
        <p:spPr>
          <a:xfrm>
            <a:off x="208053" y="779550"/>
            <a:ext cx="4378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7030A0"/>
                </a:solidFill>
              </a:rPr>
              <a:t>Software development life cycle </a:t>
            </a:r>
            <a:r>
              <a:rPr lang="en-GB"/>
              <a:t>follows these stages when software is being developed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0C540E-FF96-EA86-11D2-F502CA4AD688}"/>
              </a:ext>
            </a:extLst>
          </p:cNvPr>
          <p:cNvSpPr txBox="1"/>
          <p:nvPr/>
        </p:nvSpPr>
        <p:spPr>
          <a:xfrm>
            <a:off x="5191933" y="142875"/>
            <a:ext cx="46029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Analysis:</a:t>
            </a:r>
          </a:p>
          <a:p>
            <a:r>
              <a:rPr lang="en-GB" b="1"/>
              <a:t>Stakeholders'</a:t>
            </a:r>
            <a:r>
              <a:rPr lang="en-GB"/>
              <a:t> states what they require, the info is used to clearly </a:t>
            </a:r>
            <a:r>
              <a:rPr lang="en-GB" b="1"/>
              <a:t>define the problem and system requirements.</a:t>
            </a:r>
          </a:p>
          <a:p>
            <a:r>
              <a:rPr lang="en-GB"/>
              <a:t>Consider inputs, outputs and storage of data.</a:t>
            </a:r>
          </a:p>
          <a:p>
            <a:r>
              <a:rPr lang="en-GB"/>
              <a:t>Analyse</a:t>
            </a:r>
            <a:r>
              <a:rPr lang="en-GB" b="1"/>
              <a:t> strengths and weaknesses of current solution.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F7347-DAB3-73F4-D595-ACAF57CA2F1D}"/>
              </a:ext>
            </a:extLst>
          </p:cNvPr>
          <p:cNvSpPr txBox="1"/>
          <p:nvPr/>
        </p:nvSpPr>
        <p:spPr>
          <a:xfrm>
            <a:off x="9624446" y="1997839"/>
            <a:ext cx="23268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C000"/>
                </a:solidFill>
              </a:rPr>
              <a:t>Design:</a:t>
            </a:r>
          </a:p>
          <a:p>
            <a:r>
              <a:rPr lang="en-GB" b="1"/>
              <a:t>Designs</a:t>
            </a:r>
            <a:r>
              <a:rPr lang="en-GB"/>
              <a:t> of the following are usually created:</a:t>
            </a:r>
          </a:p>
          <a:p>
            <a:endParaRPr lang="en-GB"/>
          </a:p>
          <a:p>
            <a:r>
              <a:rPr lang="en-GB"/>
              <a:t>Inputs, outputs, security features, hardware, user interface, processing, data structures, compatibility.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1A759E-84E6-2ADD-66BB-28F4A39B16C2}"/>
              </a:ext>
            </a:extLst>
          </p:cNvPr>
          <p:cNvSpPr txBox="1"/>
          <p:nvPr/>
        </p:nvSpPr>
        <p:spPr>
          <a:xfrm>
            <a:off x="5968157" y="5481447"/>
            <a:ext cx="48197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92D050"/>
                </a:solidFill>
              </a:rPr>
              <a:t>Development, Testing and Implementation</a:t>
            </a:r>
            <a:r>
              <a:rPr lang="en-GB" b="1">
                <a:solidFill>
                  <a:srgbClr val="FFFF00"/>
                </a:solidFill>
              </a:rPr>
              <a:t>:</a:t>
            </a:r>
          </a:p>
          <a:p>
            <a:r>
              <a:rPr lang="en-GB"/>
              <a:t>Design is coded in </a:t>
            </a:r>
            <a:r>
              <a:rPr lang="en-GB" b="1"/>
              <a:t>modules, tested </a:t>
            </a:r>
            <a:r>
              <a:rPr lang="en-GB"/>
              <a:t>and then when all is satisfactory, the software will be </a:t>
            </a:r>
            <a:r>
              <a:rPr lang="en-GB" b="1"/>
              <a:t>installed on the user’s system.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6191AC-2227-A410-33B4-35C78645D38E}"/>
              </a:ext>
            </a:extLst>
          </p:cNvPr>
          <p:cNvSpPr txBox="1"/>
          <p:nvPr/>
        </p:nvSpPr>
        <p:spPr>
          <a:xfrm>
            <a:off x="323579" y="4834727"/>
            <a:ext cx="467659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00B0F0"/>
                </a:solidFill>
              </a:rPr>
              <a:t>Evaluation:</a:t>
            </a:r>
          </a:p>
          <a:p>
            <a:r>
              <a:rPr lang="en-GB"/>
              <a:t> The </a:t>
            </a:r>
            <a:r>
              <a:rPr lang="en-GB" b="1"/>
              <a:t>effectiveness</a:t>
            </a:r>
            <a:r>
              <a:rPr lang="en-GB"/>
              <a:t> of the software is </a:t>
            </a:r>
            <a:r>
              <a:rPr lang="en-GB" b="1"/>
              <a:t>evaluated</a:t>
            </a:r>
            <a:r>
              <a:rPr lang="en-GB"/>
              <a:t> against the </a:t>
            </a:r>
            <a:r>
              <a:rPr lang="en-GB" b="1"/>
              <a:t>system</a:t>
            </a:r>
            <a:r>
              <a:rPr lang="en-GB"/>
              <a:t> </a:t>
            </a:r>
            <a:r>
              <a:rPr lang="en-GB" b="1"/>
              <a:t>requirements</a:t>
            </a:r>
            <a:r>
              <a:rPr lang="en-GB"/>
              <a:t> defined in Analysis.</a:t>
            </a:r>
          </a:p>
          <a:p>
            <a:r>
              <a:rPr lang="en-GB"/>
              <a:t>Different criteria are considered e.g. </a:t>
            </a:r>
            <a:r>
              <a:rPr lang="en-GB" b="1"/>
              <a:t>robustness, portability, reliability, maintainability.</a:t>
            </a:r>
          </a:p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D0EA8-E004-9B08-5397-33E008612FEA}"/>
              </a:ext>
            </a:extLst>
          </p:cNvPr>
          <p:cNvSpPr txBox="1"/>
          <p:nvPr/>
        </p:nvSpPr>
        <p:spPr>
          <a:xfrm>
            <a:off x="399723" y="1855073"/>
            <a:ext cx="37820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002060"/>
                </a:solidFill>
              </a:rPr>
              <a:t>Maintenance:</a:t>
            </a:r>
          </a:p>
          <a:p>
            <a:r>
              <a:rPr lang="en-GB"/>
              <a:t>Any </a:t>
            </a:r>
            <a:r>
              <a:rPr lang="en-GB" b="1"/>
              <a:t>errors or improvements </a:t>
            </a:r>
            <a:r>
              <a:rPr lang="en-GB"/>
              <a:t>that can be made to the software are flagged up by the </a:t>
            </a:r>
            <a:r>
              <a:rPr lang="en-GB" b="1"/>
              <a:t>end-users</a:t>
            </a:r>
            <a:r>
              <a:rPr lang="en-GB"/>
              <a:t>. </a:t>
            </a:r>
            <a:r>
              <a:rPr lang="en-GB" b="1"/>
              <a:t>Regular software updates </a:t>
            </a:r>
            <a:r>
              <a:rPr lang="en-GB"/>
              <a:t>are sent out to fix bugs and security issues.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CE58EC-9C6D-3ED2-A885-9178070DAFD5}"/>
              </a:ext>
            </a:extLst>
          </p:cNvPr>
          <p:cNvSpPr txBox="1"/>
          <p:nvPr/>
        </p:nvSpPr>
        <p:spPr>
          <a:xfrm>
            <a:off x="5968157" y="3283013"/>
            <a:ext cx="2448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b="1">
                <a:solidFill>
                  <a:schemeClr val="accent5">
                    <a:lumMod val="50000"/>
                  </a:schemeClr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SDLC</a:t>
            </a:r>
          </a:p>
        </p:txBody>
      </p:sp>
      <p:pic>
        <p:nvPicPr>
          <p:cNvPr id="1026" name="Picture 2" descr="Curved Arrows PNG Transparent Images Free Download | Vector Files | Pngtree">
            <a:extLst>
              <a:ext uri="{FF2B5EF4-FFF2-40B4-BE49-F238E27FC236}">
                <a16:creationId xmlns:a16="http://schemas.microsoft.com/office/drawing/2014/main" id="{82578A46-96E7-2637-0B60-C852E53F1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568" y="1155643"/>
            <a:ext cx="1094474" cy="109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Curved Arrows PNG Transparent Images Free Download | Vector Files | Pngtree">
            <a:extLst>
              <a:ext uri="{FF2B5EF4-FFF2-40B4-BE49-F238E27FC236}">
                <a16:creationId xmlns:a16="http://schemas.microsoft.com/office/drawing/2014/main" id="{EE1B947A-EA5B-7BD8-72CB-B2FA252FB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354833">
            <a:off x="10676413" y="5185576"/>
            <a:ext cx="1094474" cy="109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Curved Arrows PNG Transparent Images Free Download | Vector Files | Pngtree">
            <a:extLst>
              <a:ext uri="{FF2B5EF4-FFF2-40B4-BE49-F238E27FC236}">
                <a16:creationId xmlns:a16="http://schemas.microsoft.com/office/drawing/2014/main" id="{8EAC34D3-1DDB-51E5-E1A3-56F8ED560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4943446">
            <a:off x="4842078" y="5559625"/>
            <a:ext cx="1094474" cy="109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Curved Arrows PNG Transparent Images Free Download | Vector Files | Pngtree">
            <a:extLst>
              <a:ext uri="{FF2B5EF4-FFF2-40B4-BE49-F238E27FC236}">
                <a16:creationId xmlns:a16="http://schemas.microsoft.com/office/drawing/2014/main" id="{B65A8A40-1ECF-D3EA-652B-1B17DA4D0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7185925">
            <a:off x="1849834" y="3607802"/>
            <a:ext cx="1094474" cy="10944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520F1D47-2230-09D0-D01B-DCEBFCE5376A}"/>
              </a:ext>
            </a:extLst>
          </p:cNvPr>
          <p:cNvSpPr/>
          <p:nvPr/>
        </p:nvSpPr>
        <p:spPr>
          <a:xfrm>
            <a:off x="270598" y="1847857"/>
            <a:ext cx="3751970" cy="175432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6CFDBB8-CC2C-FA1F-5E62-9E9B2BB59E02}"/>
              </a:ext>
            </a:extLst>
          </p:cNvPr>
          <p:cNvSpPr/>
          <p:nvPr/>
        </p:nvSpPr>
        <p:spPr>
          <a:xfrm>
            <a:off x="5191932" y="100748"/>
            <a:ext cx="4388388" cy="23504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E1E6EF-4C10-FEBD-6282-B7788A41BEBA}"/>
              </a:ext>
            </a:extLst>
          </p:cNvPr>
          <p:cNvSpPr/>
          <p:nvPr/>
        </p:nvSpPr>
        <p:spPr>
          <a:xfrm>
            <a:off x="9624445" y="2012051"/>
            <a:ext cx="2370989" cy="312510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69D729C-908C-0DB6-485E-A4306C9B8F5A}"/>
              </a:ext>
            </a:extLst>
          </p:cNvPr>
          <p:cNvSpPr/>
          <p:nvPr/>
        </p:nvSpPr>
        <p:spPr>
          <a:xfrm>
            <a:off x="5968156" y="5400176"/>
            <a:ext cx="4676590" cy="135707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05C58C-725C-8501-FA55-E7B27304C203}"/>
              </a:ext>
            </a:extLst>
          </p:cNvPr>
          <p:cNvSpPr/>
          <p:nvPr/>
        </p:nvSpPr>
        <p:spPr>
          <a:xfrm>
            <a:off x="323580" y="4701308"/>
            <a:ext cx="4553219" cy="215669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8293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3A45-FDA1-2527-30F7-C603C0AEB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aterfall Model in Software Engineering | Board Infinity">
            <a:extLst>
              <a:ext uri="{FF2B5EF4-FFF2-40B4-BE49-F238E27FC236}">
                <a16:creationId xmlns:a16="http://schemas.microsoft.com/office/drawing/2014/main" id="{A12EC9B6-84F8-D007-6EEA-494A3D51C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693" y="144521"/>
            <a:ext cx="6472569" cy="3640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2CC7C3E-B569-6181-ED15-A8F8FB964093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C69F20E-8360-4691-F057-08E101A18C5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79212-AD82-6CC2-D354-D905F8ADA7C9}"/>
              </a:ext>
            </a:extLst>
          </p:cNvPr>
          <p:cNvSpPr txBox="1"/>
          <p:nvPr/>
        </p:nvSpPr>
        <p:spPr>
          <a:xfrm>
            <a:off x="142875" y="85725"/>
            <a:ext cx="4286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WATERFALL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C1D0ED-00BE-876C-16DE-7FFFBD508EA2}"/>
              </a:ext>
            </a:extLst>
          </p:cNvPr>
          <p:cNvSpPr txBox="1"/>
          <p:nvPr/>
        </p:nvSpPr>
        <p:spPr>
          <a:xfrm>
            <a:off x="262949" y="1524001"/>
            <a:ext cx="3237634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waterfall methodology </a:t>
            </a:r>
            <a:r>
              <a:rPr lang="en-GB" dirty="0"/>
              <a:t>is where each step is </a:t>
            </a:r>
            <a:r>
              <a:rPr lang="en-GB" b="1" dirty="0"/>
              <a:t>completed individually from beginning to end</a:t>
            </a:r>
            <a:r>
              <a:rPr lang="en-GB" dirty="0"/>
              <a:t> with clear</a:t>
            </a:r>
            <a:r>
              <a:rPr lang="en-GB" b="1" dirty="0"/>
              <a:t> documentation</a:t>
            </a:r>
          </a:p>
          <a:p>
            <a:endParaRPr lang="en-GB"/>
          </a:p>
          <a:p>
            <a:r>
              <a:rPr lang="en-GB"/>
              <a:t>Each step has specific outputs that </a:t>
            </a:r>
            <a:r>
              <a:rPr lang="en-GB" b="1"/>
              <a:t>lead into the next step</a:t>
            </a:r>
          </a:p>
          <a:p>
            <a:endParaRPr lang="en-GB"/>
          </a:p>
          <a:p>
            <a:r>
              <a:rPr lang="en-GB"/>
              <a:t>It is possible to move back up the stages as well</a:t>
            </a:r>
          </a:p>
          <a:p>
            <a:endParaRPr lang="en-GB"/>
          </a:p>
          <a:p>
            <a:r>
              <a:rPr lang="en-GB"/>
              <a:t>The </a:t>
            </a:r>
            <a:r>
              <a:rPr lang="en-GB" b="1"/>
              <a:t>user</a:t>
            </a:r>
            <a:r>
              <a:rPr lang="en-GB"/>
              <a:t> is involved</a:t>
            </a:r>
            <a:r>
              <a:rPr lang="en-GB" b="1"/>
              <a:t> heavily at the start </a:t>
            </a:r>
            <a:r>
              <a:rPr lang="en-GB"/>
              <a:t>of the process (Analysis) but there is a </a:t>
            </a:r>
            <a:r>
              <a:rPr lang="en-GB" b="1"/>
              <a:t>little input at the end </a:t>
            </a:r>
            <a:r>
              <a:rPr lang="en-GB"/>
              <a:t>(Evaluation)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347BA-3761-B825-623B-BB1277516C72}"/>
              </a:ext>
            </a:extLst>
          </p:cNvPr>
          <p:cNvSpPr txBox="1"/>
          <p:nvPr/>
        </p:nvSpPr>
        <p:spPr>
          <a:xfrm>
            <a:off x="5225605" y="4520472"/>
            <a:ext cx="571887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The model is </a:t>
            </a:r>
            <a:r>
              <a:rPr lang="en-GB" b="1" dirty="0"/>
              <a:t>inflexible</a:t>
            </a:r>
            <a:r>
              <a:rPr lang="en-GB" dirty="0"/>
              <a:t> and </a:t>
            </a:r>
            <a:r>
              <a:rPr lang="en-GB" b="1" dirty="0"/>
              <a:t>unsuitable to projects with changing requirements. No risk analy</a:t>
            </a:r>
            <a:r>
              <a:rPr lang="en-GB" dirty="0"/>
              <a:t>si</a:t>
            </a:r>
            <a:r>
              <a:rPr lang="en-GB"/>
              <a:t>s as well</a:t>
            </a:r>
            <a:endParaRPr lang="en-GB" dirty="0"/>
          </a:p>
          <a:p>
            <a:endParaRPr lang="en-GB"/>
          </a:p>
          <a:p>
            <a:r>
              <a:rPr lang="en-GB" dirty="0"/>
              <a:t>It is </a:t>
            </a:r>
            <a:r>
              <a:rPr lang="en-GB" b="1" dirty="0"/>
              <a:t>suitable for small and low risk projects </a:t>
            </a:r>
            <a:r>
              <a:rPr lang="en-GB" dirty="0"/>
              <a:t>e.g. student projects.</a:t>
            </a:r>
          </a:p>
          <a:p>
            <a:endParaRPr lang="en-GB"/>
          </a:p>
          <a:p>
            <a:r>
              <a:rPr lang="en-GB"/>
              <a:t>The </a:t>
            </a:r>
            <a:r>
              <a:rPr lang="en-GB" b="1"/>
              <a:t>absence of user involvement </a:t>
            </a:r>
            <a:r>
              <a:rPr lang="en-GB"/>
              <a:t>is a serious drawback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09FA79-9883-80F3-3096-338D86A72570}"/>
              </a:ext>
            </a:extLst>
          </p:cNvPr>
          <p:cNvSpPr/>
          <p:nvPr/>
        </p:nvSpPr>
        <p:spPr>
          <a:xfrm>
            <a:off x="262949" y="1385455"/>
            <a:ext cx="3237634" cy="4692072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8E7914-3652-B30C-63B0-3BC79036AC4F}"/>
              </a:ext>
            </a:extLst>
          </p:cNvPr>
          <p:cNvSpPr/>
          <p:nvPr/>
        </p:nvSpPr>
        <p:spPr>
          <a:xfrm>
            <a:off x="4820608" y="4383493"/>
            <a:ext cx="6936441" cy="2445394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7798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51598-FE23-6B62-4344-D91AA344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7B408ACB-B355-D8E3-2DF0-00E85A913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2708878"/>
            <a:ext cx="4541361" cy="2161061"/>
          </a:xfrm>
          <a:prstGeom prst="rect">
            <a:avLst/>
          </a:prstGeom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EFBCE44-0E96-1E0F-D494-7A86B0DB726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4AB5E48-051A-D342-ABE6-EC52E6A4552B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4A1AE2-080B-3A30-E1E9-2EEC969720FF}"/>
              </a:ext>
            </a:extLst>
          </p:cNvPr>
          <p:cNvSpPr txBox="1"/>
          <p:nvPr/>
        </p:nvSpPr>
        <p:spPr>
          <a:xfrm>
            <a:off x="333375" y="116443"/>
            <a:ext cx="2276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AGILE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D7C3FA-4AD1-DF48-0A1A-9791FB85E289}"/>
              </a:ext>
            </a:extLst>
          </p:cNvPr>
          <p:cNvSpPr txBox="1"/>
          <p:nvPr/>
        </p:nvSpPr>
        <p:spPr>
          <a:xfrm>
            <a:off x="333375" y="886691"/>
            <a:ext cx="66770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 An </a:t>
            </a:r>
            <a:r>
              <a:rPr lang="en-GB" b="1"/>
              <a:t>agile</a:t>
            </a:r>
            <a:r>
              <a:rPr lang="en-GB"/>
              <a:t> approach/methodology involves an </a:t>
            </a:r>
            <a:r>
              <a:rPr lang="en-GB" b="1"/>
              <a:t>iterative process </a:t>
            </a:r>
            <a:r>
              <a:rPr lang="en-GB"/>
              <a:t>where </a:t>
            </a:r>
            <a:r>
              <a:rPr lang="en-GB" b="1"/>
              <a:t>feedback</a:t>
            </a:r>
            <a:r>
              <a:rPr lang="en-GB"/>
              <a:t> will be </a:t>
            </a:r>
            <a:r>
              <a:rPr lang="en-GB" b="1"/>
              <a:t>continually</a:t>
            </a:r>
            <a:r>
              <a:rPr lang="en-GB"/>
              <a:t> gathered as the software is being developed.</a:t>
            </a:r>
          </a:p>
          <a:p>
            <a:endParaRPr lang="en-GB"/>
          </a:p>
          <a:p>
            <a:r>
              <a:rPr lang="en-GB"/>
              <a:t>The stages of a software may </a:t>
            </a:r>
            <a:r>
              <a:rPr lang="en-GB" b="1"/>
              <a:t>not be completed in a linear sequence,</a:t>
            </a:r>
            <a:r>
              <a:rPr lang="en-GB"/>
              <a:t> and its aim is to improve </a:t>
            </a:r>
            <a:r>
              <a:rPr lang="en-GB" b="1"/>
              <a:t>flexibility</a:t>
            </a:r>
            <a:r>
              <a:rPr lang="en-GB"/>
              <a:t> of software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F86F0-F838-642C-631D-337F6B5BAF71}"/>
              </a:ext>
            </a:extLst>
          </p:cNvPr>
          <p:cNvSpPr txBox="1"/>
          <p:nvPr/>
        </p:nvSpPr>
        <p:spPr>
          <a:xfrm>
            <a:off x="7516678" y="1503337"/>
            <a:ext cx="43419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approach can </a:t>
            </a:r>
            <a:r>
              <a:rPr lang="en-GB" b="1"/>
              <a:t>adapt to changes in user requirements faster</a:t>
            </a:r>
          </a:p>
          <a:p>
            <a:endParaRPr lang="en-GB"/>
          </a:p>
          <a:p>
            <a:r>
              <a:rPr lang="en-GB"/>
              <a:t>The problem is </a:t>
            </a:r>
            <a:r>
              <a:rPr lang="en-GB" b="1"/>
              <a:t>broken into sections </a:t>
            </a:r>
            <a:r>
              <a:rPr lang="en-GB"/>
              <a:t>which are developed in </a:t>
            </a:r>
            <a:r>
              <a:rPr lang="en-GB" b="1"/>
              <a:t>parallel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 b="1"/>
              <a:t>Prototypes</a:t>
            </a:r>
            <a:r>
              <a:rPr lang="en-GB"/>
              <a:t> are created to ensure the software </a:t>
            </a:r>
            <a:r>
              <a:rPr lang="en-GB" b="1"/>
              <a:t>meets the requirements </a:t>
            </a:r>
            <a:r>
              <a:rPr lang="en-GB"/>
              <a:t>and are delivered regularly to the user over the development cycle.</a:t>
            </a:r>
          </a:p>
          <a:p>
            <a:endParaRPr lang="en-GB"/>
          </a:p>
          <a:p>
            <a:r>
              <a:rPr lang="en-GB"/>
              <a:t>Less of a focus on documentation, priority is given to </a:t>
            </a:r>
            <a:r>
              <a:rPr lang="en-GB" b="1"/>
              <a:t>user satisfaction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52A132-4C26-9418-3ED9-1BCD31C75274}"/>
              </a:ext>
            </a:extLst>
          </p:cNvPr>
          <p:cNvSpPr txBox="1"/>
          <p:nvPr/>
        </p:nvSpPr>
        <p:spPr>
          <a:xfrm>
            <a:off x="619932" y="4987231"/>
            <a:ext cx="68967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success of the development depends on:</a:t>
            </a:r>
          </a:p>
          <a:p>
            <a:endParaRPr lang="en-GB"/>
          </a:p>
          <a:p>
            <a:r>
              <a:rPr lang="en-GB"/>
              <a:t>Keeping model </a:t>
            </a:r>
            <a:r>
              <a:rPr lang="en-GB" b="1"/>
              <a:t>simple</a:t>
            </a:r>
          </a:p>
          <a:p>
            <a:r>
              <a:rPr lang="en-GB" b="1"/>
              <a:t>Rapid feedback</a:t>
            </a:r>
          </a:p>
          <a:p>
            <a:r>
              <a:rPr lang="en-GB"/>
              <a:t>Understanding requirements may change</a:t>
            </a:r>
          </a:p>
          <a:p>
            <a:r>
              <a:rPr lang="en-GB" b="1"/>
              <a:t>Incremental changes </a:t>
            </a:r>
            <a:r>
              <a:rPr lang="en-GB"/>
              <a:t>as the model develops.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B481A-77AE-9B6A-10B4-B61A03C94B16}"/>
              </a:ext>
            </a:extLst>
          </p:cNvPr>
          <p:cNvSpPr/>
          <p:nvPr/>
        </p:nvSpPr>
        <p:spPr>
          <a:xfrm>
            <a:off x="221673" y="766618"/>
            <a:ext cx="6677025" cy="2151398"/>
          </a:xfrm>
          <a:prstGeom prst="rect">
            <a:avLst/>
          </a:prstGeom>
          <a:noFill/>
          <a:ln>
            <a:solidFill>
              <a:srgbClr val="4272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257774-DF4C-436A-6926-6C0ACB49F629}"/>
              </a:ext>
            </a:extLst>
          </p:cNvPr>
          <p:cNvSpPr/>
          <p:nvPr/>
        </p:nvSpPr>
        <p:spPr>
          <a:xfrm>
            <a:off x="7516678" y="1391857"/>
            <a:ext cx="4341947" cy="3962806"/>
          </a:xfrm>
          <a:prstGeom prst="rect">
            <a:avLst/>
          </a:prstGeom>
          <a:noFill/>
          <a:ln>
            <a:solidFill>
              <a:srgbClr val="4272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BA3F69-61E1-2211-F6EF-FB9B6883D773}"/>
              </a:ext>
            </a:extLst>
          </p:cNvPr>
          <p:cNvSpPr/>
          <p:nvPr/>
        </p:nvSpPr>
        <p:spPr>
          <a:xfrm>
            <a:off x="474186" y="4869939"/>
            <a:ext cx="5280069" cy="1871618"/>
          </a:xfrm>
          <a:prstGeom prst="rect">
            <a:avLst/>
          </a:prstGeom>
          <a:noFill/>
          <a:ln>
            <a:solidFill>
              <a:srgbClr val="4272C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5300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E3E1C-5BA3-FECE-3010-24DFB87C6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ABE12B6-286A-38B5-E191-C6BF02B62C2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01FC825-0F66-6129-8833-BE17B809CA2C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2197D2-CA37-C9AC-2FA0-C54A15650D08}"/>
              </a:ext>
            </a:extLst>
          </p:cNvPr>
          <p:cNvSpPr txBox="1"/>
          <p:nvPr/>
        </p:nvSpPr>
        <p:spPr>
          <a:xfrm>
            <a:off x="428469" y="145018"/>
            <a:ext cx="21498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SPIRAL</a:t>
            </a:r>
            <a:endParaRPr lang="en-GB" sz="24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FB915-E25F-4348-0FE8-109FFA79C34B}"/>
              </a:ext>
            </a:extLst>
          </p:cNvPr>
          <p:cNvSpPr txBox="1"/>
          <p:nvPr/>
        </p:nvSpPr>
        <p:spPr>
          <a:xfrm>
            <a:off x="934027" y="928744"/>
            <a:ext cx="729557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</a:t>
            </a:r>
            <a:r>
              <a:rPr lang="en-GB" b="1"/>
              <a:t>spiral model </a:t>
            </a:r>
            <a:r>
              <a:rPr lang="en-GB"/>
              <a:t>uses the same </a:t>
            </a:r>
            <a:r>
              <a:rPr lang="en-GB" b="1"/>
              <a:t>structured steps </a:t>
            </a:r>
            <a:r>
              <a:rPr lang="en-GB"/>
              <a:t>as in waterfall, but development is </a:t>
            </a:r>
            <a:r>
              <a:rPr lang="en-GB" b="1"/>
              <a:t>iterative.</a:t>
            </a:r>
          </a:p>
          <a:p>
            <a:endParaRPr lang="en-GB"/>
          </a:p>
          <a:p>
            <a:r>
              <a:rPr lang="en-GB"/>
              <a:t>Each </a:t>
            </a:r>
            <a:r>
              <a:rPr lang="en-GB" b="1"/>
              <a:t>successful cycle </a:t>
            </a:r>
            <a:r>
              <a:rPr lang="en-GB"/>
              <a:t>around the spiral generates a </a:t>
            </a:r>
            <a:r>
              <a:rPr lang="en-GB" b="1"/>
              <a:t>refined prototype </a:t>
            </a:r>
            <a:r>
              <a:rPr lang="en-GB"/>
              <a:t>until the product is finished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7FDB0D-82CE-3E7A-0232-81022B4B80C8}"/>
              </a:ext>
            </a:extLst>
          </p:cNvPr>
          <p:cNvSpPr txBox="1"/>
          <p:nvPr/>
        </p:nvSpPr>
        <p:spPr>
          <a:xfrm>
            <a:off x="8499079" y="2546928"/>
            <a:ext cx="322856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It is mostly used for </a:t>
            </a:r>
            <a:r>
              <a:rPr lang="en-GB" b="1"/>
              <a:t>large scale products with changing requirements</a:t>
            </a:r>
            <a:r>
              <a:rPr lang="en-GB"/>
              <a:t> over that period</a:t>
            </a:r>
          </a:p>
          <a:p>
            <a:endParaRPr lang="en-GB"/>
          </a:p>
          <a:p>
            <a:r>
              <a:rPr lang="en-GB"/>
              <a:t>In comparison with agile, they are both adapted for clients with </a:t>
            </a:r>
            <a:r>
              <a:rPr lang="en-GB" b="1"/>
              <a:t>changing requirements </a:t>
            </a:r>
            <a:r>
              <a:rPr lang="en-GB"/>
              <a:t>but agile is more suited for </a:t>
            </a:r>
            <a:r>
              <a:rPr lang="en-GB" b="1"/>
              <a:t>smaller projects </a:t>
            </a:r>
            <a:r>
              <a:rPr lang="en-GB"/>
              <a:t>due to modules being developed in </a:t>
            </a:r>
            <a:r>
              <a:rPr lang="en-GB" b="1"/>
              <a:t>parallel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16012B-4210-2492-3971-ABB272A43BA6}"/>
              </a:ext>
            </a:extLst>
          </p:cNvPr>
          <p:cNvSpPr txBox="1"/>
          <p:nvPr/>
        </p:nvSpPr>
        <p:spPr>
          <a:xfrm>
            <a:off x="338283" y="3583710"/>
            <a:ext cx="3810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It effectively </a:t>
            </a:r>
            <a:r>
              <a:rPr lang="en-GB" b="1"/>
              <a:t>manages and mitigates risks</a:t>
            </a:r>
            <a:r>
              <a:rPr lang="en-GB"/>
              <a:t>. However, hiring</a:t>
            </a:r>
            <a:r>
              <a:rPr lang="en-GB" b="1"/>
              <a:t> risk assessors </a:t>
            </a:r>
            <a:r>
              <a:rPr lang="en-GB"/>
              <a:t>to analyse the risks involved can be </a:t>
            </a:r>
            <a:r>
              <a:rPr lang="en-GB" b="1"/>
              <a:t>expensive.</a:t>
            </a:r>
          </a:p>
          <a:p>
            <a:endParaRPr lang="en-GB"/>
          </a:p>
          <a:p>
            <a:r>
              <a:rPr lang="en-GB"/>
              <a:t>If project is found to be </a:t>
            </a:r>
            <a:r>
              <a:rPr lang="en-GB" b="1"/>
              <a:t>too risky = project terminated.</a:t>
            </a:r>
          </a:p>
        </p:txBody>
      </p:sp>
      <p:pic>
        <p:nvPicPr>
          <p:cNvPr id="1028" name="Picture 4" descr="Teach-ICT A Level Computing - System Life Cycle Spiral model">
            <a:extLst>
              <a:ext uri="{FF2B5EF4-FFF2-40B4-BE49-F238E27FC236}">
                <a16:creationId xmlns:a16="http://schemas.microsoft.com/office/drawing/2014/main" id="{B4F5D964-D2BE-6498-DE6C-DD1566D5B2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818" y="2546928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958CEB-783F-1E67-B800-F0ED206FCAE4}"/>
              </a:ext>
            </a:extLst>
          </p:cNvPr>
          <p:cNvSpPr/>
          <p:nvPr/>
        </p:nvSpPr>
        <p:spPr>
          <a:xfrm>
            <a:off x="849745" y="858982"/>
            <a:ext cx="7379855" cy="1547090"/>
          </a:xfrm>
          <a:prstGeom prst="rect">
            <a:avLst/>
          </a:prstGeom>
          <a:noFill/>
          <a:ln>
            <a:solidFill>
              <a:srgbClr val="DEA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84A828-10AC-B9B9-830D-06C10E17D093}"/>
              </a:ext>
            </a:extLst>
          </p:cNvPr>
          <p:cNvSpPr/>
          <p:nvPr/>
        </p:nvSpPr>
        <p:spPr>
          <a:xfrm>
            <a:off x="235528" y="3191162"/>
            <a:ext cx="3912756" cy="2807855"/>
          </a:xfrm>
          <a:prstGeom prst="rect">
            <a:avLst/>
          </a:prstGeom>
          <a:noFill/>
          <a:ln>
            <a:solidFill>
              <a:srgbClr val="DEA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98A92D-275E-DA08-7860-BC1109B7F54F}"/>
              </a:ext>
            </a:extLst>
          </p:cNvPr>
          <p:cNvSpPr/>
          <p:nvPr/>
        </p:nvSpPr>
        <p:spPr>
          <a:xfrm>
            <a:off x="8423564" y="2337955"/>
            <a:ext cx="3619497" cy="3661061"/>
          </a:xfrm>
          <a:prstGeom prst="rect">
            <a:avLst/>
          </a:prstGeom>
          <a:noFill/>
          <a:ln>
            <a:solidFill>
              <a:srgbClr val="DEAF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2775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E06C7-F3F4-D0A6-0BA0-F3028B72C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rad process&#10;&#10;AI-generated content may be incorrect.">
            <a:extLst>
              <a:ext uri="{FF2B5EF4-FFF2-40B4-BE49-F238E27FC236}">
                <a16:creationId xmlns:a16="http://schemas.microsoft.com/office/drawing/2014/main" id="{531C8EFB-7DF9-5D3C-6B16-DAA29BE3D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1861" y="3850302"/>
            <a:ext cx="5431730" cy="2882291"/>
          </a:xfrm>
          <a:prstGeom prst="rect">
            <a:avLst/>
          </a:prstGeom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141DC56-AE37-5902-B884-D59E81BF697D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F01247B-2726-5A22-0FEB-3BDD5173712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75B75D-B878-3232-6E41-8DE9889807E0}"/>
              </a:ext>
            </a:extLst>
          </p:cNvPr>
          <p:cNvSpPr txBox="1"/>
          <p:nvPr/>
        </p:nvSpPr>
        <p:spPr>
          <a:xfrm>
            <a:off x="518410" y="252740"/>
            <a:ext cx="22764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RAD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C5B456-3280-C159-925E-6D96DD042CE0}"/>
              </a:ext>
            </a:extLst>
          </p:cNvPr>
          <p:cNvSpPr txBox="1"/>
          <p:nvPr/>
        </p:nvSpPr>
        <p:spPr>
          <a:xfrm>
            <a:off x="271160" y="1033162"/>
            <a:ext cx="7177216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Rapid application development</a:t>
            </a:r>
            <a:r>
              <a:rPr lang="en-US" dirty="0"/>
              <a:t> is an </a:t>
            </a:r>
            <a:r>
              <a:rPr lang="en-US" b="1" dirty="0"/>
              <a:t>iterative methodology </a:t>
            </a:r>
            <a:r>
              <a:rPr lang="en-US" dirty="0"/>
              <a:t>which uses</a:t>
            </a:r>
            <a:r>
              <a:rPr lang="en-US" b="1" dirty="0"/>
              <a:t> partially functioning prototypes</a:t>
            </a:r>
            <a:r>
              <a:rPr lang="en-US" dirty="0"/>
              <a:t> that are continually built upon. Focus is kept on</a:t>
            </a:r>
            <a:r>
              <a:rPr lang="en-US" b="1" dirty="0"/>
              <a:t> core features</a:t>
            </a:r>
          </a:p>
          <a:p>
            <a:endParaRPr lang="en-US" dirty="0"/>
          </a:p>
          <a:p>
            <a:r>
              <a:rPr lang="en-US" b="1" dirty="0"/>
              <a:t>Workshops and focus groups </a:t>
            </a:r>
            <a:r>
              <a:rPr lang="en-US" dirty="0"/>
              <a:t>are used to gather </a:t>
            </a:r>
            <a:r>
              <a:rPr lang="en-US" b="1" dirty="0"/>
              <a:t>initial requirements </a:t>
            </a:r>
            <a:r>
              <a:rPr lang="en-US" b="1"/>
              <a:t>and feedback</a:t>
            </a:r>
            <a:r>
              <a:rPr lang="en-US"/>
              <a:t> from</a:t>
            </a:r>
            <a:r>
              <a:rPr lang="en-US" dirty="0"/>
              <a:t> partially completed solutions before they are </a:t>
            </a:r>
            <a:r>
              <a:rPr lang="en-US" b="1" dirty="0"/>
              <a:t>improved using the feedback.</a:t>
            </a:r>
          </a:p>
          <a:p>
            <a:endParaRPr lang="en-US" dirty="0"/>
          </a:p>
          <a:p>
            <a:r>
              <a:rPr lang="en-US" dirty="0"/>
              <a:t>The prototype is </a:t>
            </a:r>
            <a:r>
              <a:rPr lang="en-US" b="1" dirty="0"/>
              <a:t>continually refined </a:t>
            </a:r>
            <a:r>
              <a:rPr lang="en-US" dirty="0"/>
              <a:t>with each </a:t>
            </a:r>
            <a:r>
              <a:rPr lang="en-US"/>
              <a:t>prototype having a s</a:t>
            </a:r>
            <a:r>
              <a:rPr lang="en-US" b="1"/>
              <a:t>trict time limit.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FF251-E978-A0EB-EFD6-1D70DC0F5129}"/>
              </a:ext>
            </a:extLst>
          </p:cNvPr>
          <p:cNvSpPr txBox="1"/>
          <p:nvPr/>
        </p:nvSpPr>
        <p:spPr>
          <a:xfrm>
            <a:off x="7831862" y="2206535"/>
            <a:ext cx="3837737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is commonly used where </a:t>
            </a:r>
            <a:r>
              <a:rPr lang="en-US" b="1" dirty="0"/>
              <a:t>user requirements are unclear</a:t>
            </a:r>
            <a:r>
              <a:rPr lang="en-US" dirty="0"/>
              <a:t> or incomplete at the start whilst focusing on </a:t>
            </a:r>
            <a:r>
              <a:rPr lang="en-US" b="1" dirty="0"/>
              <a:t>fast completion of </a:t>
            </a:r>
            <a:r>
              <a:rPr lang="en-US" b="1"/>
              <a:t>large projects </a:t>
            </a:r>
            <a:r>
              <a:rPr lang="en-US"/>
              <a:t>as well.</a:t>
            </a:r>
          </a:p>
          <a:p>
            <a:endParaRPr lang="en-US" dirty="0"/>
          </a:p>
          <a:p>
            <a:r>
              <a:rPr lang="en-US" dirty="0"/>
              <a:t>It prevents the </a:t>
            </a:r>
            <a:r>
              <a:rPr lang="en-US" b="1" dirty="0"/>
              <a:t>danger of getting </a:t>
            </a:r>
            <a:r>
              <a:rPr lang="en-US" b="1"/>
              <a:t>sidetracked</a:t>
            </a:r>
            <a:r>
              <a:rPr lang="en-US"/>
              <a:t> by having developers "chase a moving a target"</a:t>
            </a:r>
            <a:endParaRPr lang="en-US" dirty="0"/>
          </a:p>
          <a:p>
            <a:endParaRPr lang="en-US" dirty="0"/>
          </a:p>
          <a:p>
            <a:r>
              <a:rPr lang="en-US" dirty="0"/>
              <a:t>Reusing of code is vital for saving time however </a:t>
            </a:r>
            <a:r>
              <a:rPr lang="en-US" b="1" dirty="0"/>
              <a:t>constant additions</a:t>
            </a:r>
            <a:r>
              <a:rPr lang="en-US" dirty="0"/>
              <a:t> to a </a:t>
            </a:r>
            <a:r>
              <a:rPr lang="en-US"/>
              <a:t>prototype can make</a:t>
            </a:r>
            <a:r>
              <a:rPr lang="en-US" b="1"/>
              <a:t> code inefficient</a:t>
            </a:r>
            <a:r>
              <a:rPr lang="en-US"/>
              <a:t>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387326-A915-DBDF-4F4E-6A3F617447CB}"/>
              </a:ext>
            </a:extLst>
          </p:cNvPr>
          <p:cNvSpPr/>
          <p:nvPr/>
        </p:nvSpPr>
        <p:spPr>
          <a:xfrm>
            <a:off x="41383" y="1008292"/>
            <a:ext cx="7366258" cy="28836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F040F2-F31B-293D-198B-D058C6702700}"/>
              </a:ext>
            </a:extLst>
          </p:cNvPr>
          <p:cNvSpPr/>
          <p:nvPr/>
        </p:nvSpPr>
        <p:spPr>
          <a:xfrm>
            <a:off x="7609701" y="1891269"/>
            <a:ext cx="4242487" cy="4657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586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777F4-DA9D-FDAC-DECC-334A0103B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F96EE6C-AD87-D82C-F9F2-671B56300D4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C8B7BA4-A633-A77B-6D5F-D87BFB0E9BD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2874B5-05D4-4E74-F1F2-29D7634FD631}"/>
              </a:ext>
            </a:extLst>
          </p:cNvPr>
          <p:cNvSpPr txBox="1"/>
          <p:nvPr/>
        </p:nvSpPr>
        <p:spPr>
          <a:xfrm>
            <a:off x="284814" y="252740"/>
            <a:ext cx="4542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EXTREME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5CBF00-2FD9-04AC-61EC-F1A8018ED975}"/>
              </a:ext>
            </a:extLst>
          </p:cNvPr>
          <p:cNvSpPr txBox="1"/>
          <p:nvPr/>
        </p:nvSpPr>
        <p:spPr>
          <a:xfrm>
            <a:off x="297620" y="1347124"/>
            <a:ext cx="938287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This is an </a:t>
            </a:r>
            <a:r>
              <a:rPr lang="en-US" b="1" dirty="0"/>
              <a:t>agile framewor</a:t>
            </a:r>
            <a:r>
              <a:rPr lang="en-US" dirty="0"/>
              <a:t>k </a:t>
            </a:r>
            <a:r>
              <a:rPr lang="en-US"/>
              <a:t>involving regular, </a:t>
            </a:r>
            <a:r>
              <a:rPr lang="en-US" b="1"/>
              <a:t>small, iterative software releases</a:t>
            </a:r>
            <a:r>
              <a:rPr lang="en-US"/>
              <a:t>.</a:t>
            </a:r>
          </a:p>
          <a:p>
            <a:endParaRPr lang="en-US" dirty="0"/>
          </a:p>
          <a:p>
            <a:r>
              <a:rPr lang="en-US" dirty="0"/>
              <a:t>It aims to produce </a:t>
            </a:r>
            <a:r>
              <a:rPr lang="en-US" b="1" dirty="0"/>
              <a:t>very </a:t>
            </a:r>
            <a:r>
              <a:rPr lang="en-US" b="1"/>
              <a:t>high-quality code</a:t>
            </a:r>
            <a:r>
              <a:rPr lang="en-US"/>
              <a:t> and promotes collective ownership and</a:t>
            </a:r>
            <a:r>
              <a:rPr lang="en-US" b="1"/>
              <a:t> teamwork</a:t>
            </a:r>
            <a:r>
              <a:rPr lang="en-US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7CD27-7F34-983F-A0EE-D8FC5C3B0FFB}"/>
              </a:ext>
            </a:extLst>
          </p:cNvPr>
          <p:cNvSpPr txBox="1"/>
          <p:nvPr/>
        </p:nvSpPr>
        <p:spPr>
          <a:xfrm>
            <a:off x="6539622" y="2639543"/>
            <a:ext cx="65319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Extreme programming core </a:t>
            </a:r>
            <a:r>
              <a:rPr lang="en-US"/>
              <a:t>practices:</a:t>
            </a:r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44735037-648E-BB00-7D9F-151D8B2F7A63}"/>
              </a:ext>
            </a:extLst>
          </p:cNvPr>
          <p:cNvSpPr/>
          <p:nvPr/>
        </p:nvSpPr>
        <p:spPr>
          <a:xfrm>
            <a:off x="9307357" y="3189740"/>
            <a:ext cx="1942365" cy="1566423"/>
          </a:xfrm>
          <a:prstGeom prst="hexagon">
            <a:avLst/>
          </a:prstGeom>
          <a:solidFill>
            <a:schemeClr val="accent6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Code standards</a:t>
            </a:r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B40DCDAC-B16D-377E-3667-E6B7537DA7C9}"/>
              </a:ext>
            </a:extLst>
          </p:cNvPr>
          <p:cNvSpPr/>
          <p:nvPr/>
        </p:nvSpPr>
        <p:spPr>
          <a:xfrm>
            <a:off x="9308484" y="4736404"/>
            <a:ext cx="2071577" cy="1584667"/>
          </a:xfrm>
          <a:prstGeom prst="hexag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Refactoring</a:t>
            </a:r>
            <a:r>
              <a:rPr lang="en-US" dirty="0"/>
              <a:t> (    Improving </a:t>
            </a:r>
            <a:r>
              <a:rPr lang="en-US"/>
              <a:t>design, preserving </a:t>
            </a:r>
            <a:r>
              <a:rPr lang="en-US" dirty="0"/>
              <a:t>function)</a:t>
            </a:r>
          </a:p>
        </p:txBody>
      </p:sp>
      <p:sp>
        <p:nvSpPr>
          <p:cNvPr id="13" name="Hexagon 12">
            <a:extLst>
              <a:ext uri="{FF2B5EF4-FFF2-40B4-BE49-F238E27FC236}">
                <a16:creationId xmlns:a16="http://schemas.microsoft.com/office/drawing/2014/main" id="{72059E2B-9D58-29A6-0F67-68E01FAC8FAC}"/>
              </a:ext>
            </a:extLst>
          </p:cNvPr>
          <p:cNvSpPr/>
          <p:nvPr/>
        </p:nvSpPr>
        <p:spPr>
          <a:xfrm>
            <a:off x="6096950" y="3185413"/>
            <a:ext cx="1942365" cy="1566423"/>
          </a:xfrm>
          <a:prstGeom prst="hexagon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Continuous integration</a:t>
            </a:r>
          </a:p>
        </p:txBody>
      </p:sp>
      <p:sp>
        <p:nvSpPr>
          <p:cNvPr id="14" name="Hexagon 13">
            <a:extLst>
              <a:ext uri="{FF2B5EF4-FFF2-40B4-BE49-F238E27FC236}">
                <a16:creationId xmlns:a16="http://schemas.microsoft.com/office/drawing/2014/main" id="{E204518B-D7AB-1B5D-5306-58CD0C87937C}"/>
              </a:ext>
            </a:extLst>
          </p:cNvPr>
          <p:cNvSpPr/>
          <p:nvPr/>
        </p:nvSpPr>
        <p:spPr>
          <a:xfrm>
            <a:off x="6094316" y="4753141"/>
            <a:ext cx="1942365" cy="1566423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dirty="0"/>
              <a:t>Collective code </a:t>
            </a:r>
            <a:r>
              <a:rPr lang="en-US" b="1"/>
              <a:t>ownership</a:t>
            </a:r>
            <a:endParaRPr lang="en-US" b="1" dirty="0"/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13C1664F-D207-0564-3312-37C36F5F25CC}"/>
              </a:ext>
            </a:extLst>
          </p:cNvPr>
          <p:cNvSpPr/>
          <p:nvPr/>
        </p:nvSpPr>
        <p:spPr>
          <a:xfrm>
            <a:off x="7639474" y="3970544"/>
            <a:ext cx="2046749" cy="1566424"/>
          </a:xfrm>
          <a:prstGeom prst="hexagon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/>
              <a:t>Paired programming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26B3D1-DD32-6096-9274-5BD6C5D228ED}"/>
              </a:ext>
            </a:extLst>
          </p:cNvPr>
          <p:cNvSpPr txBox="1"/>
          <p:nvPr/>
        </p:nvSpPr>
        <p:spPr>
          <a:xfrm>
            <a:off x="908947" y="3190916"/>
            <a:ext cx="3641259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Best suited for medium </a:t>
            </a:r>
            <a:r>
              <a:rPr lang="en-US"/>
              <a:t>requirement that need </a:t>
            </a:r>
            <a:r>
              <a:rPr lang="en-US" b="1"/>
              <a:t>excellent </a:t>
            </a:r>
            <a:r>
              <a:rPr lang="en-US" b="1" dirty="0"/>
              <a:t>usability.</a:t>
            </a:r>
          </a:p>
          <a:p>
            <a:endParaRPr lang="en-US" dirty="0"/>
          </a:p>
          <a:p>
            <a:r>
              <a:rPr lang="en-US" dirty="0"/>
              <a:t>Requires </a:t>
            </a:r>
            <a:r>
              <a:rPr lang="en-US" b="1" dirty="0"/>
              <a:t>teamwork and clear communication</a:t>
            </a:r>
            <a:r>
              <a:rPr lang="en-US" dirty="0"/>
              <a:t> between team </a:t>
            </a:r>
            <a:r>
              <a:rPr lang="en-US"/>
              <a:t>members and the user. </a:t>
            </a:r>
          </a:p>
          <a:p>
            <a:endParaRPr lang="en-US" b="1" dirty="0"/>
          </a:p>
          <a:p>
            <a:r>
              <a:rPr lang="en-US" b="1"/>
              <a:t>Excessive costs</a:t>
            </a:r>
            <a:r>
              <a:rPr lang="en-US" dirty="0"/>
              <a:t> potentially due to </a:t>
            </a:r>
            <a:r>
              <a:rPr lang="en-US"/>
              <a:t>more programmers needed.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9B22F15-BC83-67D2-F6F7-DA31A9A7792C}"/>
              </a:ext>
            </a:extLst>
          </p:cNvPr>
          <p:cNvSpPr/>
          <p:nvPr/>
        </p:nvSpPr>
        <p:spPr>
          <a:xfrm>
            <a:off x="370702" y="1070919"/>
            <a:ext cx="9545594" cy="1369540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7B0E15-ABB1-F3EB-C30B-6686E4B5F260}"/>
              </a:ext>
            </a:extLst>
          </p:cNvPr>
          <p:cNvSpPr/>
          <p:nvPr/>
        </p:nvSpPr>
        <p:spPr>
          <a:xfrm>
            <a:off x="569783" y="3006811"/>
            <a:ext cx="3991919" cy="3428999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650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DFB2B-C34F-9A0A-CC6C-E1FCF66B5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159028C-77EB-57BD-82BD-DB2EF77A10A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C055D81-7FDE-5041-A761-03B7AC55A61D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7B257C-0B94-FE3B-7F7C-0C248875B8F6}"/>
              </a:ext>
            </a:extLst>
          </p:cNvPr>
          <p:cNvSpPr txBox="1"/>
          <p:nvPr/>
        </p:nvSpPr>
        <p:spPr>
          <a:xfrm>
            <a:off x="434716" y="252740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57C2F-024F-75BA-39BC-F79773698300}"/>
              </a:ext>
            </a:extLst>
          </p:cNvPr>
          <p:cNvSpPr txBox="1"/>
          <p:nvPr/>
        </p:nvSpPr>
        <p:spPr>
          <a:xfrm>
            <a:off x="441027" y="887699"/>
            <a:ext cx="388048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Programs need to be </a:t>
            </a:r>
            <a:r>
              <a:rPr lang="en-US" b="1" dirty="0"/>
              <a:t>tested against the test plan formed in the design</a:t>
            </a:r>
            <a:r>
              <a:rPr lang="en-US" dirty="0"/>
              <a:t> stage of the SDLC so all e</a:t>
            </a:r>
            <a:r>
              <a:rPr lang="en-US" b="1" dirty="0"/>
              <a:t>rrors can be discovered and corrected </a:t>
            </a:r>
            <a:r>
              <a:rPr lang="en-US" dirty="0"/>
              <a:t>before the software i</a:t>
            </a:r>
            <a:r>
              <a:rPr lang="en-US"/>
              <a:t>s installed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706425-E73B-B231-1275-86FBAFE00E5B}"/>
              </a:ext>
            </a:extLst>
          </p:cNvPr>
          <p:cNvSpPr txBox="1"/>
          <p:nvPr/>
        </p:nvSpPr>
        <p:spPr>
          <a:xfrm>
            <a:off x="438718" y="2683756"/>
            <a:ext cx="492984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Alpha testing: </a:t>
            </a:r>
          </a:p>
          <a:p>
            <a:endParaRPr lang="en-US" dirty="0"/>
          </a:p>
          <a:p>
            <a:r>
              <a:rPr lang="en-US" dirty="0"/>
              <a:t>Carried out by software developer's own</a:t>
            </a:r>
            <a:r>
              <a:rPr lang="en-US" b="1" dirty="0"/>
              <a:t> testing team. </a:t>
            </a:r>
            <a:r>
              <a:rPr lang="en-US" dirty="0"/>
              <a:t>Often reveals </a:t>
            </a:r>
            <a:r>
              <a:rPr lang="en-US" b="1" dirty="0"/>
              <a:t>errors and omissions</a:t>
            </a:r>
            <a:r>
              <a:rPr lang="en-US" dirty="0"/>
              <a:t> in the system requirements </a:t>
            </a:r>
            <a:r>
              <a:rPr lang="en-US"/>
              <a:t>definition</a:t>
            </a:r>
            <a:r>
              <a:rPr lang="en-US" dirty="0"/>
              <a:t>.</a:t>
            </a:r>
          </a:p>
        </p:txBody>
      </p:sp>
      <p:pic>
        <p:nvPicPr>
          <p:cNvPr id="7" name="Picture 6" descr="Computer hardware diagnostics hi-res stock photography and images - Alamy">
            <a:extLst>
              <a:ext uri="{FF2B5EF4-FFF2-40B4-BE49-F238E27FC236}">
                <a16:creationId xmlns:a16="http://schemas.microsoft.com/office/drawing/2014/main" id="{06D688F1-3500-42AE-4000-458C094CC8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12" r="7012" b="9146"/>
          <a:stretch>
            <a:fillRect/>
          </a:stretch>
        </p:blipFill>
        <p:spPr>
          <a:xfrm>
            <a:off x="8092806" y="1033398"/>
            <a:ext cx="3577883" cy="25668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FCC725-5472-C2B8-EAF1-E8C75BC5D4A7}"/>
              </a:ext>
            </a:extLst>
          </p:cNvPr>
          <p:cNvSpPr txBox="1"/>
          <p:nvPr/>
        </p:nvSpPr>
        <p:spPr>
          <a:xfrm>
            <a:off x="308180" y="4751396"/>
            <a:ext cx="460145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Beta testing:</a:t>
            </a:r>
          </a:p>
          <a:p>
            <a:endParaRPr lang="en-US" dirty="0"/>
          </a:p>
          <a:p>
            <a:r>
              <a:rPr lang="en-US" dirty="0"/>
              <a:t>Carried out by </a:t>
            </a:r>
            <a:r>
              <a:rPr lang="en-US" b="1" dirty="0"/>
              <a:t>end-users</a:t>
            </a:r>
            <a:r>
              <a:rPr lang="en-US" dirty="0"/>
              <a:t> after alpha testing. Exposes the </a:t>
            </a:r>
            <a:r>
              <a:rPr lang="en-US" b="1" dirty="0"/>
              <a:t>product to real use</a:t>
            </a:r>
            <a:r>
              <a:rPr lang="en-US" dirty="0"/>
              <a:t> and reveals unanticipated probl</a:t>
            </a:r>
            <a:r>
              <a:rPr lang="en-US"/>
              <a:t>ems to developers.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ED7DF6-4068-2DFA-F5EA-CAD6FD786460}"/>
              </a:ext>
            </a:extLst>
          </p:cNvPr>
          <p:cNvSpPr txBox="1"/>
          <p:nvPr/>
        </p:nvSpPr>
        <p:spPr>
          <a:xfrm>
            <a:off x="5827082" y="4338564"/>
            <a:ext cx="584742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White box testing:</a:t>
            </a:r>
          </a:p>
          <a:p>
            <a:endParaRPr lang="en-US" dirty="0"/>
          </a:p>
          <a:p>
            <a:r>
              <a:rPr lang="en-US" dirty="0"/>
              <a:t>Form of testing carried out by </a:t>
            </a:r>
            <a:r>
              <a:rPr lang="en-US" b="1" dirty="0"/>
              <a:t>software development teams</a:t>
            </a:r>
            <a:r>
              <a:rPr lang="en-US" dirty="0"/>
              <a:t> with test plan being</a:t>
            </a:r>
            <a:r>
              <a:rPr lang="en-US" b="1" dirty="0"/>
              <a:t> based on the internal structure of the program</a:t>
            </a:r>
            <a:r>
              <a:rPr lang="en-US" dirty="0"/>
              <a:t> and the corresponding </a:t>
            </a:r>
            <a:r>
              <a:rPr lang="en-US" b="1" dirty="0"/>
              <a:t>logic</a:t>
            </a:r>
            <a:r>
              <a:rPr lang="en-US" dirty="0"/>
              <a:t>. </a:t>
            </a:r>
            <a:r>
              <a:rPr lang="en-US" b="1" dirty="0"/>
              <a:t>All possible</a:t>
            </a:r>
            <a:r>
              <a:rPr lang="en-US" dirty="0"/>
              <a:t> </a:t>
            </a:r>
            <a:r>
              <a:rPr lang="en-US" b="1" dirty="0"/>
              <a:t>routes through the program are tested</a:t>
            </a:r>
            <a:r>
              <a:rPr lang="en-US" dirty="0"/>
              <a:t>. A weakness is that missing functions may not be detected in this type of testing.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251880-7E52-0571-2819-E19DE00482E2}"/>
              </a:ext>
            </a:extLst>
          </p:cNvPr>
          <p:cNvSpPr txBox="1"/>
          <p:nvPr/>
        </p:nvSpPr>
        <p:spPr>
          <a:xfrm>
            <a:off x="4743455" y="249942"/>
            <a:ext cx="303237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7030A0"/>
                </a:solidFill>
              </a:rPr>
              <a:t>Black box testing:</a:t>
            </a:r>
          </a:p>
          <a:p>
            <a:endParaRPr lang="en-US" dirty="0"/>
          </a:p>
          <a:p>
            <a:r>
              <a:rPr lang="en-US" b="1" dirty="0"/>
              <a:t>Internal structure is not </a:t>
            </a:r>
            <a:r>
              <a:rPr lang="en-US" b="1"/>
              <a:t>shown </a:t>
            </a:r>
            <a:r>
              <a:rPr lang="en-US"/>
              <a:t>to testers and can be carried out by anyone. </a:t>
            </a:r>
            <a:r>
              <a:rPr lang="en-US" dirty="0"/>
              <a:t>It </a:t>
            </a:r>
            <a:r>
              <a:rPr lang="en-US" b="1" dirty="0"/>
              <a:t>traces inputs and outputs </a:t>
            </a:r>
            <a:r>
              <a:rPr lang="en-US" dirty="0"/>
              <a:t>within the program.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F8A90A-A12B-1BD4-0AD2-17AD4708506C}"/>
              </a:ext>
            </a:extLst>
          </p:cNvPr>
          <p:cNvSpPr/>
          <p:nvPr/>
        </p:nvSpPr>
        <p:spPr>
          <a:xfrm>
            <a:off x="305486" y="830648"/>
            <a:ext cx="4273378" cy="159608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865AC0-94D2-9248-04DE-BD84BCA98D8D}"/>
              </a:ext>
            </a:extLst>
          </p:cNvPr>
          <p:cNvSpPr/>
          <p:nvPr/>
        </p:nvSpPr>
        <p:spPr>
          <a:xfrm>
            <a:off x="305486" y="2670432"/>
            <a:ext cx="5055973" cy="167159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397843-26BB-D152-A1CD-FE613F3D8022}"/>
              </a:ext>
            </a:extLst>
          </p:cNvPr>
          <p:cNvSpPr/>
          <p:nvPr/>
        </p:nvSpPr>
        <p:spPr>
          <a:xfrm>
            <a:off x="305486" y="4633783"/>
            <a:ext cx="4740188" cy="176083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D1C507-D5C9-BBD3-0056-6365E07A44C6}"/>
              </a:ext>
            </a:extLst>
          </p:cNvPr>
          <p:cNvSpPr/>
          <p:nvPr/>
        </p:nvSpPr>
        <p:spPr>
          <a:xfrm>
            <a:off x="5824837" y="4160107"/>
            <a:ext cx="5920945" cy="257089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409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4282E-A038-37E6-B71D-93A8EAA1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FAA7694-2A37-87AF-C7A5-E387F157D10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1CE08D-804D-E07A-6A5B-2457AC57C76C}"/>
              </a:ext>
            </a:extLst>
          </p:cNvPr>
          <p:cNvSpPr txBox="1"/>
          <p:nvPr/>
        </p:nvSpPr>
        <p:spPr>
          <a:xfrm>
            <a:off x="442207" y="191924"/>
            <a:ext cx="746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SLR7 PROGRAMMING LANGUAGES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E6A57D-55BF-3DF3-B17C-C09CDEDDB5C5}"/>
              </a:ext>
            </a:extLst>
          </p:cNvPr>
          <p:cNvSpPr txBox="1"/>
          <p:nvPr/>
        </p:nvSpPr>
        <p:spPr>
          <a:xfrm>
            <a:off x="1798817" y="1257101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PROGRAMMING PARADIGMS</a:t>
            </a:r>
          </a:p>
        </p:txBody>
      </p:sp>
      <p:sp>
        <p:nvSpPr>
          <p:cNvPr id="6" name="Action Button: Go Forward or Nex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46D9EA2-7DB8-9568-D92E-CA3C8574478A}"/>
              </a:ext>
            </a:extLst>
          </p:cNvPr>
          <p:cNvSpPr/>
          <p:nvPr/>
        </p:nvSpPr>
        <p:spPr>
          <a:xfrm>
            <a:off x="539642" y="102870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65FD2FC-A69C-95AF-7983-9A48D6853115}"/>
              </a:ext>
            </a:extLst>
          </p:cNvPr>
          <p:cNvSpPr/>
          <p:nvPr/>
        </p:nvSpPr>
        <p:spPr>
          <a:xfrm>
            <a:off x="539642" y="2150452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tion Button: Go Forward or Next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D1EB3A2B-9933-D1BB-155C-B75EAD0DC4FA}"/>
              </a:ext>
            </a:extLst>
          </p:cNvPr>
          <p:cNvSpPr/>
          <p:nvPr/>
        </p:nvSpPr>
        <p:spPr>
          <a:xfrm>
            <a:off x="539642" y="327220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ction Button: Go Forward or Next 8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F13C0ED7-33E0-00C2-8AF3-F21895AA0FB6}"/>
              </a:ext>
            </a:extLst>
          </p:cNvPr>
          <p:cNvSpPr/>
          <p:nvPr/>
        </p:nvSpPr>
        <p:spPr>
          <a:xfrm>
            <a:off x="539642" y="4351697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ction Button: Go Forward or Next 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53485C1A-7D1B-01FC-7EE9-CA7157AA1F0A}"/>
              </a:ext>
            </a:extLst>
          </p:cNvPr>
          <p:cNvSpPr/>
          <p:nvPr/>
        </p:nvSpPr>
        <p:spPr>
          <a:xfrm>
            <a:off x="539642" y="543119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A737BE-BD97-D11A-3E5C-3FAE46A8A6BA}"/>
              </a:ext>
            </a:extLst>
          </p:cNvPr>
          <p:cNvSpPr txBox="1"/>
          <p:nvPr/>
        </p:nvSpPr>
        <p:spPr>
          <a:xfrm>
            <a:off x="1798817" y="2351383"/>
            <a:ext cx="368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PROCEDURAL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319996-3EAA-1382-9292-E9D3E976C211}"/>
              </a:ext>
            </a:extLst>
          </p:cNvPr>
          <p:cNvSpPr txBox="1"/>
          <p:nvPr/>
        </p:nvSpPr>
        <p:spPr>
          <a:xfrm>
            <a:off x="1866273" y="3424216"/>
            <a:ext cx="418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ADDRESSING METHODS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DBED5-345E-85D1-B313-3F22852BAEE4}"/>
              </a:ext>
            </a:extLst>
          </p:cNvPr>
          <p:cNvSpPr txBox="1"/>
          <p:nvPr/>
        </p:nvSpPr>
        <p:spPr>
          <a:xfrm>
            <a:off x="1866273" y="4497049"/>
            <a:ext cx="461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ASSEMBLY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A97B46-95DC-CF47-631F-AADCAE6FC5B0}"/>
              </a:ext>
            </a:extLst>
          </p:cNvPr>
          <p:cNvSpPr txBox="1"/>
          <p:nvPr/>
        </p:nvSpPr>
        <p:spPr>
          <a:xfrm>
            <a:off x="1933731" y="5591331"/>
            <a:ext cx="461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OOL</a:t>
            </a:r>
          </a:p>
        </p:txBody>
      </p:sp>
    </p:spTree>
    <p:extLst>
      <p:ext uri="{BB962C8B-B14F-4D97-AF65-F5344CB8AC3E}">
        <p14:creationId xmlns:p14="http://schemas.microsoft.com/office/powerpoint/2010/main" val="18007990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E95F6-F717-8BB4-1A81-0E9C8A1C9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8F08577D-C971-F876-E402-ACD3C371B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949" y="0"/>
            <a:ext cx="4967856" cy="2465583"/>
          </a:xfrm>
          <a:prstGeom prst="rect">
            <a:avLst/>
          </a:prstGeom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9BFBC5E-488A-7FFA-EDFF-999DBBA0474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1BF438-421F-0FA9-FC7C-12584AFFCCBA}"/>
              </a:ext>
            </a:extLst>
          </p:cNvPr>
          <p:cNvSpPr txBox="1"/>
          <p:nvPr/>
        </p:nvSpPr>
        <p:spPr>
          <a:xfrm>
            <a:off x="284811" y="329684"/>
            <a:ext cx="49767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PROGRAMMING PARADIGMS</a:t>
            </a:r>
          </a:p>
        </p:txBody>
      </p:sp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DA85DB3-E741-E2D7-88CD-C0BDDFBE3EE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886E14-2C61-16AC-AC86-70EA399168B4}"/>
              </a:ext>
            </a:extLst>
          </p:cNvPr>
          <p:cNvSpPr txBox="1"/>
          <p:nvPr/>
        </p:nvSpPr>
        <p:spPr>
          <a:xfrm>
            <a:off x="401053" y="1232791"/>
            <a:ext cx="486049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paradigm</a:t>
            </a:r>
            <a:r>
              <a:rPr lang="en-GB" dirty="0"/>
              <a:t> is a </a:t>
            </a:r>
            <a:r>
              <a:rPr lang="en-GB" b="1" dirty="0"/>
              <a:t>style of computer programming </a:t>
            </a:r>
          </a:p>
          <a:p>
            <a:r>
              <a:rPr lang="en-GB" dirty="0"/>
              <a:t>A </a:t>
            </a:r>
            <a:r>
              <a:rPr lang="en-GB" b="1" dirty="0"/>
              <a:t>language</a:t>
            </a:r>
            <a:r>
              <a:rPr lang="en-GB" dirty="0"/>
              <a:t> is </a:t>
            </a:r>
            <a:r>
              <a:rPr lang="en-GB" b="1" dirty="0"/>
              <a:t>the specific syntax </a:t>
            </a:r>
            <a:r>
              <a:rPr lang="en-GB" dirty="0"/>
              <a:t>to write code</a:t>
            </a:r>
          </a:p>
          <a:p>
            <a:endParaRPr lang="en-GB" dirty="0"/>
          </a:p>
          <a:p>
            <a:r>
              <a:rPr lang="en-GB" b="1" dirty="0"/>
              <a:t>High level languages </a:t>
            </a:r>
            <a:r>
              <a:rPr lang="en-GB" dirty="0"/>
              <a:t>broadly fit into two paradigm categories:</a:t>
            </a:r>
          </a:p>
          <a:p>
            <a:endParaRPr lang="en-GB" dirty="0"/>
          </a:p>
          <a:p>
            <a:r>
              <a:rPr lang="en-GB" b="1" dirty="0">
                <a:solidFill>
                  <a:srgbClr val="FF0000"/>
                </a:solidFill>
              </a:rPr>
              <a:t>IMPERATIVE: </a:t>
            </a:r>
            <a:r>
              <a:rPr lang="en-GB" dirty="0"/>
              <a:t>Use statements that </a:t>
            </a:r>
            <a:r>
              <a:rPr lang="en-GB" b="1" dirty="0"/>
              <a:t>change a program’s state </a:t>
            </a:r>
            <a:r>
              <a:rPr lang="en-GB" dirty="0"/>
              <a:t>in the form of sequence selection iteration etc. Consist of commands for a computer to perform, </a:t>
            </a:r>
            <a:r>
              <a:rPr lang="en-GB" b="1" dirty="0"/>
              <a:t>describes how a program operates</a:t>
            </a:r>
          </a:p>
          <a:p>
            <a:endParaRPr lang="en-GB" dirty="0"/>
          </a:p>
          <a:p>
            <a:r>
              <a:rPr lang="en-GB" b="1" dirty="0">
                <a:solidFill>
                  <a:srgbClr val="2965F1"/>
                </a:solidFill>
              </a:rPr>
              <a:t>DECLARATIVE: </a:t>
            </a:r>
            <a:r>
              <a:rPr lang="en-GB" dirty="0"/>
              <a:t>Focuses on </a:t>
            </a:r>
            <a:r>
              <a:rPr lang="en-GB" b="1" dirty="0"/>
              <a:t>what the program should accomplish</a:t>
            </a:r>
            <a:r>
              <a:rPr lang="en-GB" dirty="0"/>
              <a:t>. Do not need to cover much about it but </a:t>
            </a:r>
            <a:r>
              <a:rPr lang="en-GB" b="1" dirty="0"/>
              <a:t>SQL is an example </a:t>
            </a:r>
            <a:r>
              <a:rPr lang="en-GB" dirty="0"/>
              <a:t>and it is also used in AI.</a:t>
            </a:r>
          </a:p>
          <a:p>
            <a:endParaRPr lang="en-GB" dirty="0"/>
          </a:p>
          <a:p>
            <a:r>
              <a:rPr lang="en-GB" dirty="0"/>
              <a:t>Some languages e.g. Python can support more than one programming paradigm.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76488-0A0A-7954-962C-348128FF013F}"/>
              </a:ext>
            </a:extLst>
          </p:cNvPr>
          <p:cNvSpPr txBox="1"/>
          <p:nvPr/>
        </p:nvSpPr>
        <p:spPr>
          <a:xfrm>
            <a:off x="5887452" y="3361148"/>
            <a:ext cx="59034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Procedural: </a:t>
            </a:r>
            <a:r>
              <a:rPr lang="en-GB" dirty="0"/>
              <a:t>Where a program is built from functions, sequence, selection, iteration etc. Relatively </a:t>
            </a:r>
            <a:r>
              <a:rPr lang="en-GB" b="1" dirty="0"/>
              <a:t>easy to write and interpret</a:t>
            </a:r>
            <a:r>
              <a:rPr lang="en-GB" dirty="0"/>
              <a:t>. Instructions are </a:t>
            </a:r>
            <a:r>
              <a:rPr lang="en-GB" b="1" dirty="0"/>
              <a:t>carried step by step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E.g. Python, Pascal, 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9A82E-3154-7D4A-0B6D-07B1F1C58988}"/>
              </a:ext>
            </a:extLst>
          </p:cNvPr>
          <p:cNvSpPr txBox="1"/>
          <p:nvPr/>
        </p:nvSpPr>
        <p:spPr>
          <a:xfrm>
            <a:off x="5887452" y="5030522"/>
            <a:ext cx="55986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Object-Orientated</a:t>
            </a:r>
            <a:r>
              <a:rPr lang="en-GB" dirty="0"/>
              <a:t>: Makes </a:t>
            </a:r>
            <a:r>
              <a:rPr lang="en-GB" b="1" dirty="0"/>
              <a:t>code reusable and easy to maintain</a:t>
            </a:r>
            <a:r>
              <a:rPr lang="en-GB" dirty="0"/>
              <a:t> by focusing on a more </a:t>
            </a:r>
            <a:r>
              <a:rPr lang="en-GB" b="1" dirty="0"/>
              <a:t>modular approach </a:t>
            </a:r>
            <a:r>
              <a:rPr lang="en-GB" dirty="0"/>
              <a:t>to programming. It is built from</a:t>
            </a:r>
            <a:r>
              <a:rPr lang="en-GB" b="1" dirty="0"/>
              <a:t> classes, objects, attributes and methods.</a:t>
            </a:r>
          </a:p>
          <a:p>
            <a:endParaRPr lang="en-GB" dirty="0"/>
          </a:p>
          <a:p>
            <a:r>
              <a:rPr lang="en-GB" dirty="0"/>
              <a:t>E.g. Java C#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E36872-D2C2-A374-D927-F4C747C2EAC5}"/>
              </a:ext>
            </a:extLst>
          </p:cNvPr>
          <p:cNvSpPr txBox="1"/>
          <p:nvPr/>
        </p:nvSpPr>
        <p:spPr>
          <a:xfrm>
            <a:off x="6073647" y="2544033"/>
            <a:ext cx="4251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Imperative Paradigm examples: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476AC3-0434-5A95-9454-6015FB3F197D}"/>
              </a:ext>
            </a:extLst>
          </p:cNvPr>
          <p:cNvSpPr/>
          <p:nvPr/>
        </p:nvSpPr>
        <p:spPr>
          <a:xfrm>
            <a:off x="284811" y="1028700"/>
            <a:ext cx="4967856" cy="57561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6DE30F-7258-FAE5-332B-EDB07AE252F3}"/>
              </a:ext>
            </a:extLst>
          </p:cNvPr>
          <p:cNvSpPr/>
          <p:nvPr/>
        </p:nvSpPr>
        <p:spPr>
          <a:xfrm>
            <a:off x="5888415" y="2465582"/>
            <a:ext cx="5902532" cy="431926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09117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558EF-335B-24EF-0229-43F9AB7B9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9D7C126-A615-30A0-9481-872E70C0582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A1FC75-D1CC-ADEC-141C-B519EF914886}"/>
              </a:ext>
            </a:extLst>
          </p:cNvPr>
          <p:cNvSpPr txBox="1"/>
          <p:nvPr/>
        </p:nvSpPr>
        <p:spPr>
          <a:xfrm>
            <a:off x="389742" y="252740"/>
            <a:ext cx="3687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PROCEDURAL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AD97642-F734-76FD-DE5D-EAEB88C5BFD7}"/>
              </a:ext>
            </a:extLst>
          </p:cNvPr>
          <p:cNvSpPr/>
          <p:nvPr/>
        </p:nvSpPr>
        <p:spPr>
          <a:xfrm>
            <a:off x="10113363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C5790-D55A-8847-D321-C64C63D31AC0}"/>
              </a:ext>
            </a:extLst>
          </p:cNvPr>
          <p:cNvSpPr txBox="1"/>
          <p:nvPr/>
        </p:nvSpPr>
        <p:spPr>
          <a:xfrm>
            <a:off x="299406" y="975277"/>
            <a:ext cx="90531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Procedural programming is used for a wide range of software development </a:t>
            </a:r>
            <a:r>
              <a:rPr lang="en-GB" b="1" dirty="0"/>
              <a:t>due to its simplicity </a:t>
            </a:r>
            <a:r>
              <a:rPr lang="en-GB" dirty="0"/>
              <a:t>however it </a:t>
            </a:r>
            <a:r>
              <a:rPr lang="en-GB" b="1" dirty="0"/>
              <a:t>is not possible to solve all problems </a:t>
            </a:r>
            <a:r>
              <a:rPr lang="en-GB" dirty="0"/>
              <a:t>with these languages, or it may be too inefficient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5CC5A4-6323-6B25-EB28-79485F39C00A}"/>
              </a:ext>
            </a:extLst>
          </p:cNvPr>
          <p:cNvSpPr txBox="1"/>
          <p:nvPr/>
        </p:nvSpPr>
        <p:spPr>
          <a:xfrm>
            <a:off x="299406" y="2486526"/>
            <a:ext cx="59034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They </a:t>
            </a:r>
            <a:r>
              <a:rPr lang="en-GB" b="1" dirty="0"/>
              <a:t>use traditional data types </a:t>
            </a:r>
            <a:r>
              <a:rPr lang="en-GB" dirty="0"/>
              <a:t>and provide </a:t>
            </a:r>
            <a:r>
              <a:rPr lang="en-GB" b="1" dirty="0"/>
              <a:t>data structures like arrays.</a:t>
            </a:r>
          </a:p>
          <a:p>
            <a:endParaRPr lang="en-GB" dirty="0"/>
          </a:p>
          <a:p>
            <a:r>
              <a:rPr lang="en-GB" b="1" dirty="0"/>
              <a:t>Sequence, selection, iteration and recursion </a:t>
            </a:r>
            <a:r>
              <a:rPr lang="en-GB" dirty="0"/>
              <a:t>are the main 4 programming structures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0F88BA-83FF-96BD-4AAF-C539126373C6}"/>
              </a:ext>
            </a:extLst>
          </p:cNvPr>
          <p:cNvSpPr txBox="1"/>
          <p:nvPr/>
        </p:nvSpPr>
        <p:spPr>
          <a:xfrm>
            <a:off x="240632" y="4850934"/>
            <a:ext cx="67537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</a:t>
            </a:r>
            <a:r>
              <a:rPr lang="en-GB" b="1" dirty="0"/>
              <a:t>abstract data structures </a:t>
            </a:r>
            <a:r>
              <a:rPr lang="en-GB" dirty="0"/>
              <a:t>however like stacks, it can be implemented in many ways, but every programmer must write specific subroutines for each structure they create which can be </a:t>
            </a:r>
            <a:r>
              <a:rPr lang="en-GB" b="1" dirty="0"/>
              <a:t>inefficient.</a:t>
            </a:r>
          </a:p>
          <a:p>
            <a:endParaRPr lang="en-GB" dirty="0"/>
          </a:p>
          <a:p>
            <a:r>
              <a:rPr lang="en-GB" dirty="0"/>
              <a:t>The solution </a:t>
            </a:r>
            <a:r>
              <a:rPr lang="en-GB" b="1" dirty="0"/>
              <a:t>is Object Orientated Programming.</a:t>
            </a:r>
          </a:p>
        </p:txBody>
      </p:sp>
      <p:pic>
        <p:nvPicPr>
          <p:cNvPr id="1026" name="Picture 2" descr="What is procedural programming? | Hamers Virtual Assistant Services">
            <a:extLst>
              <a:ext uri="{FF2B5EF4-FFF2-40B4-BE49-F238E27FC236}">
                <a16:creationId xmlns:a16="http://schemas.microsoft.com/office/drawing/2014/main" id="{0E46253A-1F4D-327D-61C8-E6FD330EDF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1961" y="2270701"/>
            <a:ext cx="5099407" cy="382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D6A37A-309B-B527-147F-B6FBEE5F993F}"/>
              </a:ext>
            </a:extLst>
          </p:cNvPr>
          <p:cNvSpPr/>
          <p:nvPr/>
        </p:nvSpPr>
        <p:spPr>
          <a:xfrm>
            <a:off x="299406" y="775960"/>
            <a:ext cx="8774639" cy="1242001"/>
          </a:xfrm>
          <a:prstGeom prst="rect">
            <a:avLst/>
          </a:prstGeom>
          <a:noFill/>
          <a:ln>
            <a:solidFill>
              <a:srgbClr val="525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2D1BDA-46C4-9841-F33C-607340C53BB2}"/>
              </a:ext>
            </a:extLst>
          </p:cNvPr>
          <p:cNvSpPr/>
          <p:nvPr/>
        </p:nvSpPr>
        <p:spPr>
          <a:xfrm>
            <a:off x="240632" y="2270701"/>
            <a:ext cx="5855367" cy="2012541"/>
          </a:xfrm>
          <a:prstGeom prst="rect">
            <a:avLst/>
          </a:prstGeom>
          <a:noFill/>
          <a:ln>
            <a:solidFill>
              <a:srgbClr val="525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DE7895-B650-E404-4A17-2D7AE6EE5CF4}"/>
              </a:ext>
            </a:extLst>
          </p:cNvPr>
          <p:cNvSpPr/>
          <p:nvPr/>
        </p:nvSpPr>
        <p:spPr>
          <a:xfrm>
            <a:off x="240632" y="4675795"/>
            <a:ext cx="6611329" cy="2012541"/>
          </a:xfrm>
          <a:prstGeom prst="rect">
            <a:avLst/>
          </a:prstGeom>
          <a:noFill/>
          <a:ln>
            <a:solidFill>
              <a:srgbClr val="5252A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1591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5BFC9-2D21-DE70-7C8F-F383D857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6F4581C-CB9D-0295-1D5E-0C5881D62D0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2B4092-8717-3861-F323-EFCD1023BCB2}"/>
              </a:ext>
            </a:extLst>
          </p:cNvPr>
          <p:cNvSpPr txBox="1"/>
          <p:nvPr/>
        </p:nvSpPr>
        <p:spPr>
          <a:xfrm>
            <a:off x="292306" y="329684"/>
            <a:ext cx="4182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ADDRESSING METHODS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96683FF-6ED5-1094-CBF4-0C7AA0B880B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573068-E91A-9424-7899-34206A0E09C0}"/>
              </a:ext>
            </a:extLst>
          </p:cNvPr>
          <p:cNvSpPr txBox="1"/>
          <p:nvPr/>
        </p:nvSpPr>
        <p:spPr>
          <a:xfrm>
            <a:off x="107150" y="979389"/>
            <a:ext cx="6924357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Machine code</a:t>
            </a:r>
            <a:r>
              <a:rPr lang="en-US" dirty="0"/>
              <a:t> instructions are made of </a:t>
            </a:r>
            <a:r>
              <a:rPr lang="en-US" b="1" dirty="0"/>
              <a:t>opcode and operand.</a:t>
            </a:r>
          </a:p>
          <a:p>
            <a:r>
              <a:rPr lang="en-US" dirty="0"/>
              <a:t>Opcodes </a:t>
            </a:r>
            <a:r>
              <a:rPr lang="en-US" b="1" dirty="0"/>
              <a:t>specifies the instruction</a:t>
            </a:r>
            <a:r>
              <a:rPr lang="en-US" dirty="0"/>
              <a:t> to be preformed; </a:t>
            </a:r>
            <a:r>
              <a:rPr lang="en-US" b="1" dirty="0"/>
              <a:t>operand holds a value</a:t>
            </a:r>
            <a:r>
              <a:rPr lang="en-US" dirty="0"/>
              <a:t> related to the data on which the instruction is to be performed.</a:t>
            </a:r>
          </a:p>
          <a:p>
            <a:endParaRPr lang="en-US" dirty="0"/>
          </a:p>
          <a:p>
            <a:r>
              <a:rPr lang="en-US" dirty="0"/>
              <a:t>Usually, the operand </a:t>
            </a:r>
            <a:r>
              <a:rPr lang="en-US" b="1" dirty="0"/>
              <a:t>holds the address </a:t>
            </a:r>
            <a:r>
              <a:rPr lang="en-US" dirty="0"/>
              <a:t>related to where the data is stored.</a:t>
            </a:r>
          </a:p>
          <a:p>
            <a:r>
              <a:rPr lang="en-US" b="1" dirty="0"/>
              <a:t>Addressing modes</a:t>
            </a:r>
            <a:r>
              <a:rPr lang="en-US" dirty="0"/>
              <a:t> allow for a much</a:t>
            </a:r>
            <a:r>
              <a:rPr lang="en-US" b="1" dirty="0"/>
              <a:t> greater number of locations for data to be stored</a:t>
            </a:r>
            <a:r>
              <a:rPr lang="en-US" dirty="0"/>
              <a:t>. The addressing mode specifies</a:t>
            </a:r>
            <a:r>
              <a:rPr lang="en-US" b="1" dirty="0"/>
              <a:t> how the opcode should be interpreted</a:t>
            </a:r>
          </a:p>
        </p:txBody>
      </p:sp>
      <p:pic>
        <p:nvPicPr>
          <p:cNvPr id="6" name="Picture 5" descr="A rectangular object with text&#10;&#10;AI-generated content may be incorrect.">
            <a:extLst>
              <a:ext uri="{FF2B5EF4-FFF2-40B4-BE49-F238E27FC236}">
                <a16:creationId xmlns:a16="http://schemas.microsoft.com/office/drawing/2014/main" id="{A6A13B27-CF62-EE34-72F0-86B13E12C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485" y="-5154"/>
            <a:ext cx="4752975" cy="981075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D25234-C543-F8A0-CEE7-D4412C86E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5052" y="1093394"/>
            <a:ext cx="4741150" cy="403964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C81361-02D2-6BD8-F3FB-6710112F414C}"/>
              </a:ext>
            </a:extLst>
          </p:cNvPr>
          <p:cNvSpPr txBox="1"/>
          <p:nvPr/>
        </p:nvSpPr>
        <p:spPr>
          <a:xfrm>
            <a:off x="8234243" y="3678556"/>
            <a:ext cx="212497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0000 1000                       8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0874D8-8B79-E47A-8EBB-3C063FFB9529}"/>
              </a:ext>
            </a:extLst>
          </p:cNvPr>
          <p:cNvSpPr txBox="1"/>
          <p:nvPr/>
        </p:nvSpPr>
        <p:spPr>
          <a:xfrm>
            <a:off x="8234242" y="3908199"/>
            <a:ext cx="212497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0000 0101                       5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BCC967-63D0-8263-0B92-72F702B7C44F}"/>
              </a:ext>
            </a:extLst>
          </p:cNvPr>
          <p:cNvSpPr txBox="1"/>
          <p:nvPr/>
        </p:nvSpPr>
        <p:spPr>
          <a:xfrm>
            <a:off x="8234242" y="4148281"/>
            <a:ext cx="212497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0000 0000                       0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80CD16-4CB9-25FC-8CD7-EE7BD39203B3}"/>
              </a:ext>
            </a:extLst>
          </p:cNvPr>
          <p:cNvSpPr txBox="1"/>
          <p:nvPr/>
        </p:nvSpPr>
        <p:spPr>
          <a:xfrm>
            <a:off x="8234242" y="4409240"/>
            <a:ext cx="2124976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/>
              <a:t>0001 0111                       23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C5EB1B-8728-6BD5-3B6C-81FF346C8ADA}"/>
              </a:ext>
            </a:extLst>
          </p:cNvPr>
          <p:cNvSpPr txBox="1"/>
          <p:nvPr/>
        </p:nvSpPr>
        <p:spPr>
          <a:xfrm>
            <a:off x="178486" y="4129217"/>
            <a:ext cx="674472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16529"/>
                </a:solidFill>
              </a:rPr>
              <a:t>IMMEDIATE:</a:t>
            </a:r>
            <a:r>
              <a:rPr lang="en-US" dirty="0"/>
              <a:t> </a:t>
            </a:r>
            <a:r>
              <a:rPr lang="en-US" b="1" dirty="0"/>
              <a:t>Operand is the actual value</a:t>
            </a:r>
            <a:r>
              <a:rPr lang="en-US" dirty="0"/>
              <a:t> to be operated on. Operand 1000, value is 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99332D-F6BD-08CA-263F-0064797C57CB}"/>
              </a:ext>
            </a:extLst>
          </p:cNvPr>
          <p:cNvSpPr txBox="1"/>
          <p:nvPr/>
        </p:nvSpPr>
        <p:spPr>
          <a:xfrm>
            <a:off x="106405" y="4891215"/>
            <a:ext cx="70227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16529"/>
                </a:solidFill>
              </a:rPr>
              <a:t>DIRECT: </a:t>
            </a:r>
            <a:r>
              <a:rPr lang="en-US" b="1" dirty="0"/>
              <a:t>Operand holds memory address of value</a:t>
            </a:r>
            <a:r>
              <a:rPr lang="en-US" dirty="0"/>
              <a:t> to be operated on, is used in LMC. Operand 1000, go to memory address 8, value 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E3774-B645-FA17-3E9B-3DA4E899E2E0}"/>
              </a:ext>
            </a:extLst>
          </p:cNvPr>
          <p:cNvSpPr txBox="1"/>
          <p:nvPr/>
        </p:nvSpPr>
        <p:spPr>
          <a:xfrm>
            <a:off x="178485" y="5824837"/>
            <a:ext cx="580424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16529"/>
                </a:solidFill>
              </a:rPr>
              <a:t>INDIRECT:</a:t>
            </a:r>
            <a:r>
              <a:rPr lang="en-US" dirty="0"/>
              <a:t> </a:t>
            </a:r>
            <a:r>
              <a:rPr lang="en-US" b="1" dirty="0"/>
              <a:t>Operand holds the location of the address of the value.</a:t>
            </a:r>
            <a:r>
              <a:rPr lang="en-US" dirty="0"/>
              <a:t> Operand 1000, go to memory </a:t>
            </a:r>
            <a:r>
              <a:rPr lang="en-US"/>
              <a:t>address 8, value 5, go to memory </a:t>
            </a:r>
            <a:r>
              <a:rPr lang="en-US" dirty="0"/>
              <a:t>address 5, value 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2136E10-E2B8-F483-F337-05B163999B5C}"/>
              </a:ext>
            </a:extLst>
          </p:cNvPr>
          <p:cNvSpPr txBox="1"/>
          <p:nvPr/>
        </p:nvSpPr>
        <p:spPr>
          <a:xfrm>
            <a:off x="7132594" y="5104027"/>
            <a:ext cx="499762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solidFill>
                  <a:srgbClr val="F16529"/>
                </a:solidFill>
              </a:rPr>
              <a:t>INDEXED:</a:t>
            </a:r>
            <a:r>
              <a:rPr lang="en-US" dirty="0"/>
              <a:t> Address of value obtained by </a:t>
            </a:r>
            <a:r>
              <a:rPr lang="en-US" b="1" dirty="0"/>
              <a:t>adding index register value to operand.</a:t>
            </a:r>
            <a:r>
              <a:rPr lang="en-US" dirty="0"/>
              <a:t> Necessary to add an </a:t>
            </a:r>
            <a:r>
              <a:rPr lang="en-US"/>
              <a:t>offset to access data </a:t>
            </a:r>
            <a:r>
              <a:rPr lang="en-US" dirty="0"/>
              <a:t>stored contiguously like </a:t>
            </a:r>
            <a:r>
              <a:rPr lang="en-US" b="1" dirty="0"/>
              <a:t>array.</a:t>
            </a:r>
          </a:p>
          <a:p>
            <a:r>
              <a:rPr lang="en-US" dirty="0"/>
              <a:t>Operand 1000, index register 0100, go to </a:t>
            </a:r>
            <a:r>
              <a:rPr lang="en-US"/>
              <a:t>memory address 12, value 23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136A208-C1AD-0849-6BFA-90B51C927681}"/>
              </a:ext>
            </a:extLst>
          </p:cNvPr>
          <p:cNvSpPr/>
          <p:nvPr/>
        </p:nvSpPr>
        <p:spPr>
          <a:xfrm>
            <a:off x="106405" y="971377"/>
            <a:ext cx="6809945" cy="2927864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8C3E19-0B3E-44A0-AE0A-DBF862638AE7}"/>
              </a:ext>
            </a:extLst>
          </p:cNvPr>
          <p:cNvSpPr/>
          <p:nvPr/>
        </p:nvSpPr>
        <p:spPr>
          <a:xfrm>
            <a:off x="106406" y="4142943"/>
            <a:ext cx="6912917" cy="635003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E752DFE-BB86-6604-D9D7-E537AE4EB79B}"/>
              </a:ext>
            </a:extLst>
          </p:cNvPr>
          <p:cNvSpPr/>
          <p:nvPr/>
        </p:nvSpPr>
        <p:spPr>
          <a:xfrm>
            <a:off x="120136" y="4891213"/>
            <a:ext cx="6912917" cy="635003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8A8F93-E1CD-5C25-59E3-2867AAFD4F43}"/>
              </a:ext>
            </a:extLst>
          </p:cNvPr>
          <p:cNvSpPr/>
          <p:nvPr/>
        </p:nvSpPr>
        <p:spPr>
          <a:xfrm>
            <a:off x="175054" y="5749321"/>
            <a:ext cx="5594863" cy="1094948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8D08D5-65B7-055B-3A01-B2EBA95E95B8}"/>
              </a:ext>
            </a:extLst>
          </p:cNvPr>
          <p:cNvSpPr/>
          <p:nvPr/>
        </p:nvSpPr>
        <p:spPr>
          <a:xfrm>
            <a:off x="7142892" y="5124618"/>
            <a:ext cx="4990755" cy="1740246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37110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15E26-8E25-D954-11FF-8E8AE330B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BE56877-BD15-BECE-B6E3-D16517351D9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754E10-193F-15EE-5BE5-BBFAD1661F99}"/>
              </a:ext>
            </a:extLst>
          </p:cNvPr>
          <p:cNvSpPr txBox="1"/>
          <p:nvPr/>
        </p:nvSpPr>
        <p:spPr>
          <a:xfrm>
            <a:off x="283030" y="24664"/>
            <a:ext cx="4616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ASSEMBLY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4444F8-CAF9-42E1-0E9A-6890B8D48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473" y="1028700"/>
            <a:ext cx="6211167" cy="5620534"/>
          </a:xfrm>
          <a:prstGeom prst="rect">
            <a:avLst/>
          </a:prstGeom>
        </p:spPr>
      </p:pic>
      <p:pic>
        <p:nvPicPr>
          <p:cNvPr id="2050" name="Picture 2" descr="3,500+ Nerd Emoji Stock Illustrations, Royalty-Free Vector ...">
            <a:extLst>
              <a:ext uri="{FF2B5EF4-FFF2-40B4-BE49-F238E27FC236}">
                <a16:creationId xmlns:a16="http://schemas.microsoft.com/office/drawing/2014/main" id="{D56414D9-EB50-C6C6-7698-6CD406436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7210" y="60204"/>
            <a:ext cx="935873" cy="88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D5F581-1B1B-EAB5-8F29-4CA36E65C88F}"/>
              </a:ext>
            </a:extLst>
          </p:cNvPr>
          <p:cNvSpPr txBox="1"/>
          <p:nvPr/>
        </p:nvSpPr>
        <p:spPr>
          <a:xfrm>
            <a:off x="37461" y="500615"/>
            <a:ext cx="311699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Assembly language is the </a:t>
            </a:r>
            <a:r>
              <a:rPr lang="en-GB" b="1"/>
              <a:t>next level up from machine code </a:t>
            </a:r>
            <a:r>
              <a:rPr lang="en-GB"/>
              <a:t>and is </a:t>
            </a:r>
            <a:r>
              <a:rPr lang="en-GB" b="1"/>
              <a:t>a low-level </a:t>
            </a:r>
            <a:r>
              <a:rPr lang="en-GB"/>
              <a:t>language. This code is converted to machine code using an </a:t>
            </a:r>
            <a:r>
              <a:rPr lang="en-GB" b="1"/>
              <a:t>assembler when it is executed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Assembly language uses </a:t>
            </a:r>
            <a:r>
              <a:rPr lang="en-GB" b="1"/>
              <a:t>mnemonics </a:t>
            </a:r>
            <a:r>
              <a:rPr lang="en-GB"/>
              <a:t>rather than binary which makes it easier to use than direct machine code. </a:t>
            </a:r>
          </a:p>
          <a:p>
            <a:endParaRPr lang="en-GB"/>
          </a:p>
          <a:p>
            <a:r>
              <a:rPr lang="en-GB"/>
              <a:t>However, the commands that assembly language uses are </a:t>
            </a:r>
            <a:r>
              <a:rPr lang="en-GB" b="1"/>
              <a:t>processor specific </a:t>
            </a:r>
            <a:r>
              <a:rPr lang="en-GB"/>
              <a:t>as it </a:t>
            </a:r>
            <a:r>
              <a:rPr lang="en-GB" b="1"/>
              <a:t>directly interacts with the CPU’s special purpose registers. </a:t>
            </a:r>
            <a:r>
              <a:rPr lang="en-GB"/>
              <a:t>This allows for direct interaction with hardware so is </a:t>
            </a:r>
            <a:r>
              <a:rPr lang="en-GB" b="1"/>
              <a:t>useful in embedded systems.</a:t>
            </a:r>
          </a:p>
          <a:p>
            <a:endParaRPr lang="en-GB"/>
          </a:p>
          <a:p>
            <a:r>
              <a:rPr lang="en-GB"/>
              <a:t>LMC uses assembly as well.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33548-E1D0-8C35-7B43-DEAD45530ACB}"/>
              </a:ext>
            </a:extLst>
          </p:cNvPr>
          <p:cNvSpPr txBox="1"/>
          <p:nvPr/>
        </p:nvSpPr>
        <p:spPr>
          <a:xfrm>
            <a:off x="3934019" y="1028700"/>
            <a:ext cx="6103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INP  </a:t>
            </a:r>
          </a:p>
          <a:p>
            <a:r>
              <a:rPr lang="en-GB"/>
              <a:t>STA num1  </a:t>
            </a:r>
          </a:p>
          <a:p>
            <a:r>
              <a:rPr lang="en-GB"/>
              <a:t>INP  </a:t>
            </a:r>
          </a:p>
          <a:p>
            <a:r>
              <a:rPr lang="en-GB"/>
              <a:t>STA num2 </a:t>
            </a:r>
          </a:p>
          <a:p>
            <a:r>
              <a:rPr lang="en-GB"/>
              <a:t>LDA num1 </a:t>
            </a:r>
          </a:p>
          <a:p>
            <a:r>
              <a:rPr lang="en-GB"/>
              <a:t>positive STA num1 </a:t>
            </a:r>
          </a:p>
          <a:p>
            <a:r>
              <a:rPr lang="en-GB"/>
              <a:t>SUB num2 </a:t>
            </a:r>
          </a:p>
          <a:p>
            <a:r>
              <a:rPr lang="en-GB"/>
              <a:t>BRP positive  </a:t>
            </a:r>
          </a:p>
          <a:p>
            <a:r>
              <a:rPr lang="en-GB"/>
              <a:t>LDA num1  </a:t>
            </a:r>
          </a:p>
          <a:p>
            <a:r>
              <a:rPr lang="en-GB"/>
              <a:t>OUT  </a:t>
            </a:r>
          </a:p>
          <a:p>
            <a:r>
              <a:rPr lang="en-GB"/>
              <a:t>HLT  </a:t>
            </a:r>
          </a:p>
          <a:p>
            <a:r>
              <a:rPr lang="en-GB"/>
              <a:t>num1 DAT  </a:t>
            </a:r>
          </a:p>
          <a:p>
            <a:r>
              <a:rPr lang="en-GB"/>
              <a:t>num2 DAT 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0D372F-0B6D-3B1D-6323-74377A09A607}"/>
              </a:ext>
            </a:extLst>
          </p:cNvPr>
          <p:cNvSpPr txBox="1"/>
          <p:nvPr/>
        </p:nvSpPr>
        <p:spPr>
          <a:xfrm>
            <a:off x="4008120" y="115014"/>
            <a:ext cx="4785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LMC PROGRAM TO WRITE MOD IN A LOW-LEVEL LANGUAGE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83492FC-F822-6F48-7ECE-B5889210FE80}"/>
              </a:ext>
            </a:extLst>
          </p:cNvPr>
          <p:cNvGrpSpPr/>
          <p:nvPr/>
        </p:nvGrpSpPr>
        <p:grpSpPr>
          <a:xfrm>
            <a:off x="4830840" y="899280"/>
            <a:ext cx="322560" cy="303840"/>
            <a:chOff x="4830840" y="899280"/>
            <a:chExt cx="32256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1E3E6C-EC58-7416-40EC-CE8A33A1A72E}"/>
                    </a:ext>
                  </a:extLst>
                </p14:cNvPr>
                <p14:cNvContentPartPr/>
                <p14:nvPr/>
              </p14:nvContentPartPr>
              <p14:xfrm>
                <a:off x="5013720" y="899280"/>
                <a:ext cx="16560" cy="198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1E3E6C-EC58-7416-40EC-CE8A33A1A7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007600" y="893160"/>
                  <a:ext cx="2880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37FA63F-A886-8298-4649-7BA9E71DFD5C}"/>
                    </a:ext>
                  </a:extLst>
                </p14:cNvPr>
                <p14:cNvContentPartPr/>
                <p14:nvPr/>
              </p14:nvContentPartPr>
              <p14:xfrm>
                <a:off x="4830840" y="1068480"/>
                <a:ext cx="322560" cy="13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37FA63F-A886-8298-4649-7BA9E71DFD5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824720" y="1062360"/>
                  <a:ext cx="334800" cy="146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6E344F9-2D6E-A80E-58C2-841829A28DE8}"/>
              </a:ext>
            </a:extLst>
          </p:cNvPr>
          <p:cNvSpPr txBox="1"/>
          <p:nvPr/>
        </p:nvSpPr>
        <p:spPr>
          <a:xfrm>
            <a:off x="3070793" y="4979868"/>
            <a:ext cx="28786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Branches back to the “positive” flag when num1 – num2 is positive – essentially dividing num1 by num2 with num1s last value being the remainder.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4EE0D0-D859-828C-3DAE-17F5D561D845}"/>
              </a:ext>
            </a:extLst>
          </p:cNvPr>
          <p:cNvGrpSpPr/>
          <p:nvPr/>
        </p:nvGrpSpPr>
        <p:grpSpPr>
          <a:xfrm>
            <a:off x="3243600" y="2514240"/>
            <a:ext cx="811080" cy="2628000"/>
            <a:chOff x="3243600" y="2514240"/>
            <a:chExt cx="811080" cy="26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D1A3C5D-B80D-0CB1-6370-6AD3345140FB}"/>
                    </a:ext>
                  </a:extLst>
                </p14:cNvPr>
                <p14:cNvContentPartPr/>
                <p14:nvPr/>
              </p14:nvContentPartPr>
              <p14:xfrm>
                <a:off x="3243600" y="2574000"/>
                <a:ext cx="504720" cy="2568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D1A3C5D-B80D-0CB1-6370-6AD3345140F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37480" y="2567879"/>
                  <a:ext cx="516960" cy="25804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1AA736E-2BAB-DDA4-C57F-A0EA2FE7D5B5}"/>
                    </a:ext>
                  </a:extLst>
                </p14:cNvPr>
                <p14:cNvContentPartPr/>
                <p14:nvPr/>
              </p14:nvContentPartPr>
              <p14:xfrm>
                <a:off x="3809880" y="2514240"/>
                <a:ext cx="149400" cy="109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1AA736E-2BAB-DDA4-C57F-A0EA2FE7D5B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803760" y="2508100"/>
                  <a:ext cx="161640" cy="12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A51DB73-E926-7E41-C725-641E571AEDD6}"/>
                    </a:ext>
                  </a:extLst>
                </p14:cNvPr>
                <p14:cNvContentPartPr/>
                <p14:nvPr/>
              </p14:nvContentPartPr>
              <p14:xfrm>
                <a:off x="3535560" y="3163680"/>
                <a:ext cx="332280" cy="82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A51DB73-E926-7E41-C725-641E571AEDD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529447" y="3157560"/>
                  <a:ext cx="344507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AB8A32-D38C-7E45-C710-B8F7E687D1B4}"/>
                    </a:ext>
                  </a:extLst>
                </p14:cNvPr>
                <p14:cNvContentPartPr/>
                <p14:nvPr/>
              </p14:nvContentPartPr>
              <p14:xfrm>
                <a:off x="3847320" y="3063240"/>
                <a:ext cx="207360" cy="162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AB8A32-D38C-7E45-C710-B8F7E687D1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841200" y="3057120"/>
                  <a:ext cx="219600" cy="174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E9281388-73F0-AE06-A31E-75941A4390AE}"/>
              </a:ext>
            </a:extLst>
          </p:cNvPr>
          <p:cNvSpPr/>
          <p:nvPr/>
        </p:nvSpPr>
        <p:spPr>
          <a:xfrm>
            <a:off x="37461" y="547885"/>
            <a:ext cx="3035226" cy="628545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335984-7C5F-BBED-F660-8A0325257685}"/>
              </a:ext>
            </a:extLst>
          </p:cNvPr>
          <p:cNvSpPr/>
          <p:nvPr/>
        </p:nvSpPr>
        <p:spPr>
          <a:xfrm>
            <a:off x="3110128" y="4933674"/>
            <a:ext cx="2613016" cy="182288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D6E1ED8-3616-D11B-8C27-F0F1BB71FE78}"/>
              </a:ext>
            </a:extLst>
          </p:cNvPr>
          <p:cNvSpPr/>
          <p:nvPr/>
        </p:nvSpPr>
        <p:spPr>
          <a:xfrm>
            <a:off x="3768530" y="101440"/>
            <a:ext cx="5024949" cy="869382"/>
          </a:xfrm>
          <a:prstGeom prst="rect">
            <a:avLst/>
          </a:prstGeom>
          <a:noFill/>
          <a:ln>
            <a:solidFill>
              <a:srgbClr val="EF7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16" action="ppaction://hlinksldjump" highlightClick="1"/>
            <a:extLst>
              <a:ext uri="{FF2B5EF4-FFF2-40B4-BE49-F238E27FC236}">
                <a16:creationId xmlns:a16="http://schemas.microsoft.com/office/drawing/2014/main" id="{902EF49C-A96A-D5EC-80E2-267517E7E58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8235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04D62-F0C2-8FDE-6080-5862E044A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F61015A-2276-8B7D-CE26-B05747AA5F2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B16AB-589A-11B6-C2FC-25C13A205A4E}"/>
              </a:ext>
            </a:extLst>
          </p:cNvPr>
          <p:cNvSpPr txBox="1"/>
          <p:nvPr/>
        </p:nvSpPr>
        <p:spPr>
          <a:xfrm>
            <a:off x="344774" y="329684"/>
            <a:ext cx="4616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OOL</a:t>
            </a:r>
          </a:p>
        </p:txBody>
      </p:sp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A3A0F8B-3FDC-2B44-55F7-4C1120A7B21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450877-232C-8A6D-0445-FA82ED0F81AF}"/>
              </a:ext>
            </a:extLst>
          </p:cNvPr>
          <p:cNvSpPr txBox="1"/>
          <p:nvPr/>
        </p:nvSpPr>
        <p:spPr>
          <a:xfrm>
            <a:off x="1207008" y="329684"/>
            <a:ext cx="4206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Object Orientated Languages </a:t>
            </a:r>
            <a:r>
              <a:rPr lang="en-GB" dirty="0"/>
              <a:t>involve defining a class which is </a:t>
            </a:r>
            <a:r>
              <a:rPr lang="en-GB" b="1" dirty="0"/>
              <a:t>a blueprint </a:t>
            </a:r>
            <a:r>
              <a:rPr lang="en-GB" dirty="0"/>
              <a:t>containing the description of what the data looks like (</a:t>
            </a:r>
            <a:r>
              <a:rPr lang="en-GB" b="1" dirty="0"/>
              <a:t>STATE</a:t>
            </a:r>
            <a:r>
              <a:rPr lang="en-GB" dirty="0"/>
              <a:t>) and what it can do </a:t>
            </a:r>
            <a:r>
              <a:rPr lang="en-GB" b="1" dirty="0"/>
              <a:t>(BEHAVIOUR</a:t>
            </a:r>
            <a:r>
              <a:rPr lang="en-GB" dirty="0"/>
              <a:t>.) Data items are called </a:t>
            </a:r>
            <a:r>
              <a:rPr lang="en-GB" b="1" dirty="0"/>
              <a:t>objects which are instances of a class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b="1" dirty="0"/>
              <a:t>Attributes control state and methods control behaviour. </a:t>
            </a:r>
            <a:r>
              <a:rPr lang="en-GB" dirty="0"/>
              <a:t>Attributes are usually set to </a:t>
            </a:r>
            <a:r>
              <a:rPr lang="en-GB" b="1" dirty="0"/>
              <a:t>private</a:t>
            </a:r>
            <a:r>
              <a:rPr lang="en-GB" dirty="0"/>
              <a:t> whilst methods are usually </a:t>
            </a:r>
            <a:r>
              <a:rPr lang="en-GB" b="1" dirty="0"/>
              <a:t>public</a:t>
            </a:r>
            <a:r>
              <a:rPr lang="en-GB" dirty="0"/>
              <a:t>. Objects share the same methods and attributes but may have different attribute values.</a:t>
            </a:r>
          </a:p>
        </p:txBody>
      </p:sp>
      <p:sp>
        <p:nvSpPr>
          <p:cNvPr id="6" name="AutoShape 2" descr="Class and Object in OOP - DEV Community">
            <a:extLst>
              <a:ext uri="{FF2B5EF4-FFF2-40B4-BE49-F238E27FC236}">
                <a16:creationId xmlns:a16="http://schemas.microsoft.com/office/drawing/2014/main" id="{A4AD3F65-206A-8494-6BC4-6BB3113F52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8" name="Picture 7" descr="A diagram of a car&#10;&#10;AI-generated content may be incorrect.">
            <a:extLst>
              <a:ext uri="{FF2B5EF4-FFF2-40B4-BE49-F238E27FC236}">
                <a16:creationId xmlns:a16="http://schemas.microsoft.com/office/drawing/2014/main" id="{1B2929F8-1CC8-2584-9738-1F2325CAF3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0057" y="276003"/>
            <a:ext cx="3924675" cy="30005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F217C7-28BB-C53A-FC28-51750B3D207D}"/>
              </a:ext>
            </a:extLst>
          </p:cNvPr>
          <p:cNvSpPr txBox="1"/>
          <p:nvPr/>
        </p:nvSpPr>
        <p:spPr>
          <a:xfrm>
            <a:off x="539190" y="4174643"/>
            <a:ext cx="73978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Instantiation: A constructor </a:t>
            </a:r>
            <a:r>
              <a:rPr lang="en-GB" dirty="0"/>
              <a:t>is used to </a:t>
            </a:r>
            <a:r>
              <a:rPr lang="en-GB" b="1" dirty="0"/>
              <a:t>create objects </a:t>
            </a:r>
            <a:r>
              <a:rPr lang="en-GB" dirty="0"/>
              <a:t>from a class. In pseudocode, a procedure called “</a:t>
            </a:r>
            <a:r>
              <a:rPr lang="en-GB" b="1" dirty="0"/>
              <a:t>new</a:t>
            </a:r>
            <a:r>
              <a:rPr lang="en-GB" dirty="0"/>
              <a:t>” is the constructor E.g.</a:t>
            </a:r>
          </a:p>
          <a:p>
            <a:endParaRPr lang="en-GB" dirty="0"/>
          </a:p>
          <a:p>
            <a:r>
              <a:rPr lang="en-GB" dirty="0"/>
              <a:t>BOOK1 = new Book(“Computer Science”, 128)</a:t>
            </a:r>
          </a:p>
          <a:p>
            <a:r>
              <a:rPr lang="en-GB" dirty="0"/>
              <a:t>Object = new Class(Attributes)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9AA719-03F8-B804-A0BD-E620AC252B19}"/>
              </a:ext>
            </a:extLst>
          </p:cNvPr>
          <p:cNvSpPr txBox="1"/>
          <p:nvPr/>
        </p:nvSpPr>
        <p:spPr>
          <a:xfrm>
            <a:off x="198441" y="5815532"/>
            <a:ext cx="94661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Messages in object orientated programming can be </a:t>
            </a:r>
            <a:r>
              <a:rPr lang="en-GB" b="1" dirty="0"/>
              <a:t>“getter” </a:t>
            </a:r>
            <a:r>
              <a:rPr lang="en-GB" dirty="0"/>
              <a:t>messages </a:t>
            </a:r>
            <a:r>
              <a:rPr lang="en-GB" b="1" dirty="0"/>
              <a:t>involving functions and retrieving values</a:t>
            </a:r>
            <a:r>
              <a:rPr lang="en-GB" dirty="0"/>
              <a:t> or </a:t>
            </a:r>
            <a:r>
              <a:rPr lang="en-GB" b="1" dirty="0"/>
              <a:t>“setter” </a:t>
            </a:r>
            <a:r>
              <a:rPr lang="en-GB" dirty="0"/>
              <a:t>messages </a:t>
            </a:r>
            <a:r>
              <a:rPr lang="en-GB" b="1" dirty="0"/>
              <a:t>involving procedures and setting attributes to a particular value.</a:t>
            </a:r>
            <a:r>
              <a:rPr lang="en-GB" dirty="0"/>
              <a:t> This is used so attributes </a:t>
            </a:r>
            <a:r>
              <a:rPr lang="en-GB" b="1" dirty="0"/>
              <a:t>cannot be accessed and edited directly </a:t>
            </a:r>
            <a:r>
              <a:rPr lang="en-GB" dirty="0"/>
              <a:t>by users.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8A67E7-2225-C6B1-59CE-C293C3C6AF73}"/>
              </a:ext>
            </a:extLst>
          </p:cNvPr>
          <p:cNvSpPr txBox="1"/>
          <p:nvPr/>
        </p:nvSpPr>
        <p:spPr>
          <a:xfrm>
            <a:off x="9704113" y="1134867"/>
            <a:ext cx="245122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main benefit of OOLs/OOP is </a:t>
            </a:r>
            <a:r>
              <a:rPr lang="en-GB" b="1" dirty="0"/>
              <a:t>encapsulation</a:t>
            </a:r>
            <a:r>
              <a:rPr lang="en-GB" dirty="0"/>
              <a:t>. An object encapsulates its </a:t>
            </a:r>
            <a:r>
              <a:rPr lang="en-GB" b="1" dirty="0"/>
              <a:t>attributes + methods </a:t>
            </a:r>
            <a:r>
              <a:rPr lang="en-GB" dirty="0"/>
              <a:t>so the changing of one attribute in one object does not change the other. </a:t>
            </a:r>
            <a:r>
              <a:rPr lang="en-GB" b="1" dirty="0"/>
              <a:t>Multiple programmers </a:t>
            </a:r>
            <a:r>
              <a:rPr lang="en-GB" dirty="0"/>
              <a:t>can </a:t>
            </a:r>
            <a:r>
              <a:rPr lang="en-GB" b="1" dirty="0"/>
              <a:t>work on different classes </a:t>
            </a:r>
            <a:r>
              <a:rPr lang="en-GB" dirty="0"/>
              <a:t>and not have to worry about how one class affects the other classes as each object encapsulates its methods and attributes.</a:t>
            </a:r>
          </a:p>
        </p:txBody>
      </p:sp>
      <p:sp>
        <p:nvSpPr>
          <p:cNvPr id="7" name="Action Button: Go Forward or Next 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AD93E51-D76B-498D-25A2-9030ADCF6511}"/>
              </a:ext>
            </a:extLst>
          </p:cNvPr>
          <p:cNvSpPr/>
          <p:nvPr/>
        </p:nvSpPr>
        <p:spPr>
          <a:xfrm>
            <a:off x="8247574" y="4174643"/>
            <a:ext cx="1014984" cy="901999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7D23E6-E0A4-4282-74B4-42D66E78C0BE}"/>
              </a:ext>
            </a:extLst>
          </p:cNvPr>
          <p:cNvSpPr/>
          <p:nvPr/>
        </p:nvSpPr>
        <p:spPr>
          <a:xfrm>
            <a:off x="1207008" y="276003"/>
            <a:ext cx="4233202" cy="373507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DD0E5E-89E7-B105-B11B-BC4EC5D5736D}"/>
              </a:ext>
            </a:extLst>
          </p:cNvPr>
          <p:cNvSpPr/>
          <p:nvPr/>
        </p:nvSpPr>
        <p:spPr>
          <a:xfrm>
            <a:off x="410818" y="4064763"/>
            <a:ext cx="7397801" cy="16396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436668-7836-B54A-76E1-33B113135DDA}"/>
              </a:ext>
            </a:extLst>
          </p:cNvPr>
          <p:cNvSpPr/>
          <p:nvPr/>
        </p:nvSpPr>
        <p:spPr>
          <a:xfrm>
            <a:off x="137168" y="5758138"/>
            <a:ext cx="9466138" cy="10227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F66A17-1E75-D526-97D2-B33B1EE08C1A}"/>
              </a:ext>
            </a:extLst>
          </p:cNvPr>
          <p:cNvSpPr/>
          <p:nvPr/>
        </p:nvSpPr>
        <p:spPr>
          <a:xfrm>
            <a:off x="9725852" y="1134867"/>
            <a:ext cx="2328980" cy="53553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4044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74ED7DF-B767-D817-87A6-93783DD87C7D}"/>
              </a:ext>
            </a:extLst>
          </p:cNvPr>
          <p:cNvSpPr/>
          <p:nvPr/>
        </p:nvSpPr>
        <p:spPr>
          <a:xfrm>
            <a:off x="3971118" y="136539"/>
            <a:ext cx="8126394" cy="260483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B96114-E1CC-316E-6E48-39E7D6C55DE6}"/>
              </a:ext>
            </a:extLst>
          </p:cNvPr>
          <p:cNvSpPr txBox="1"/>
          <p:nvPr/>
        </p:nvSpPr>
        <p:spPr>
          <a:xfrm>
            <a:off x="344774" y="329684"/>
            <a:ext cx="46169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OOL CONTINUED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5E9193-E691-B1C6-5FF3-993997CD0F68}"/>
              </a:ext>
            </a:extLst>
          </p:cNvPr>
          <p:cNvSpPr txBox="1"/>
          <p:nvPr/>
        </p:nvSpPr>
        <p:spPr>
          <a:xfrm>
            <a:off x="4174846" y="289699"/>
            <a:ext cx="59385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Inheritance </a:t>
            </a:r>
            <a:r>
              <a:rPr lang="en-GB" dirty="0"/>
              <a:t>is where classes can </a:t>
            </a:r>
            <a:r>
              <a:rPr lang="en-GB" b="1" dirty="0"/>
              <a:t>inherit data and behaviour </a:t>
            </a:r>
            <a:r>
              <a:rPr lang="en-GB" dirty="0"/>
              <a:t>from a parent class. </a:t>
            </a:r>
            <a:r>
              <a:rPr lang="en-GB" b="1" dirty="0"/>
              <a:t>Subclasses inherit from super classes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9DE693-0509-3A66-EA95-CEA7AFFBC234}"/>
              </a:ext>
            </a:extLst>
          </p:cNvPr>
          <p:cNvSpPr/>
          <p:nvPr/>
        </p:nvSpPr>
        <p:spPr>
          <a:xfrm>
            <a:off x="204566" y="900232"/>
            <a:ext cx="1673352" cy="73173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Animal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6D459F-1924-9244-EAA3-D305C4FE48EB}"/>
              </a:ext>
            </a:extLst>
          </p:cNvPr>
          <p:cNvSpPr/>
          <p:nvPr/>
        </p:nvSpPr>
        <p:spPr>
          <a:xfrm>
            <a:off x="237744" y="2359152"/>
            <a:ext cx="1783080" cy="86868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ADF0BC-3112-30FB-A345-846FAAA53B17}"/>
              </a:ext>
            </a:extLst>
          </p:cNvPr>
          <p:cNvSpPr/>
          <p:nvPr/>
        </p:nvSpPr>
        <p:spPr>
          <a:xfrm>
            <a:off x="2145205" y="2359152"/>
            <a:ext cx="1783080" cy="86868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EA6BB5D-0368-83D8-E58C-C4C7B4134910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H="1" flipV="1">
            <a:off x="1041242" y="1631966"/>
            <a:ext cx="88042" cy="72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6CD53F-19B0-D8FB-7CA7-3F96C3506A76}"/>
              </a:ext>
            </a:extLst>
          </p:cNvPr>
          <p:cNvCxnSpPr>
            <a:stCxn id="6" idx="0"/>
            <a:endCxn id="4" idx="2"/>
          </p:cNvCxnSpPr>
          <p:nvPr/>
        </p:nvCxnSpPr>
        <p:spPr>
          <a:xfrm flipH="1" flipV="1">
            <a:off x="1041242" y="1631966"/>
            <a:ext cx="1995503" cy="7271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3C9D4A1B-063D-DC80-9070-C98908279D94}"/>
              </a:ext>
            </a:extLst>
          </p:cNvPr>
          <p:cNvSpPr txBox="1"/>
          <p:nvPr/>
        </p:nvSpPr>
        <p:spPr>
          <a:xfrm>
            <a:off x="4114025" y="1332008"/>
            <a:ext cx="78402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in this inheritance diagram the dog and cat classes may have the </a:t>
            </a:r>
            <a:r>
              <a:rPr lang="en-GB" b="1" dirty="0"/>
              <a:t>same methods </a:t>
            </a:r>
            <a:r>
              <a:rPr lang="en-GB" dirty="0"/>
              <a:t>(Moving(), Jumping()) and </a:t>
            </a:r>
            <a:r>
              <a:rPr lang="en-GB" b="1" dirty="0"/>
              <a:t>same attributes </a:t>
            </a:r>
            <a:r>
              <a:rPr lang="en-GB" dirty="0"/>
              <a:t>(Size) which are all </a:t>
            </a:r>
            <a:r>
              <a:rPr lang="en-GB" b="1" dirty="0"/>
              <a:t>derived from the superclass </a:t>
            </a:r>
            <a:r>
              <a:rPr lang="en-GB" dirty="0"/>
              <a:t>Animal. However, may have </a:t>
            </a:r>
            <a:r>
              <a:rPr lang="en-GB" b="1" dirty="0"/>
              <a:t>different, new methods </a:t>
            </a:r>
            <a:r>
              <a:rPr lang="en-GB" dirty="0"/>
              <a:t>like dog having a method Bark() or a cat having a method Meow().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B8E9C1-7B24-17F1-6710-1663166CC330}"/>
              </a:ext>
            </a:extLst>
          </p:cNvPr>
          <p:cNvSpPr txBox="1"/>
          <p:nvPr/>
        </p:nvSpPr>
        <p:spPr>
          <a:xfrm>
            <a:off x="204566" y="3656279"/>
            <a:ext cx="530926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Polymorphism</a:t>
            </a:r>
            <a:r>
              <a:rPr lang="en-GB" dirty="0"/>
              <a:t> refers to a programming language’s ability to </a:t>
            </a:r>
            <a:r>
              <a:rPr lang="en-GB" b="1" dirty="0"/>
              <a:t>process objects differently depending on their class</a:t>
            </a:r>
            <a:r>
              <a:rPr lang="en-GB" dirty="0"/>
              <a:t>; therefore, the </a:t>
            </a:r>
            <a:r>
              <a:rPr lang="en-GB" b="1" dirty="0"/>
              <a:t>same method can give different outputs.</a:t>
            </a:r>
          </a:p>
          <a:p>
            <a:endParaRPr lang="en-GB" dirty="0"/>
          </a:p>
          <a:p>
            <a:r>
              <a:rPr lang="en-GB" dirty="0"/>
              <a:t>This is mostly done by </a:t>
            </a:r>
            <a:r>
              <a:rPr lang="en-GB" b="1" dirty="0"/>
              <a:t>overriding existing methods </a:t>
            </a:r>
            <a:r>
              <a:rPr lang="en-GB" dirty="0"/>
              <a:t>inherited from the superclass via </a:t>
            </a:r>
            <a:r>
              <a:rPr lang="en-GB" b="1" dirty="0"/>
              <a:t>creating a new method with the same name </a:t>
            </a:r>
            <a:r>
              <a:rPr lang="en-GB" dirty="0"/>
              <a:t>and formal argument types. E.g. cat’s Moving() method allows it to move 2 steps, whilst dog’s Moving() method allows it to move 3 steps.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175BC4-E85A-FB8C-B280-AB4AA46D761C}"/>
              </a:ext>
            </a:extLst>
          </p:cNvPr>
          <p:cNvSpPr txBox="1"/>
          <p:nvPr/>
        </p:nvSpPr>
        <p:spPr>
          <a:xfrm>
            <a:off x="5769864" y="2887682"/>
            <a:ext cx="632764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Advantage of OOLs: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Encapsulation</a:t>
            </a:r>
            <a:r>
              <a:rPr lang="en-GB" dirty="0"/>
              <a:t> protects attribute making code more reliable</a:t>
            </a:r>
          </a:p>
          <a:p>
            <a:pPr marL="285750" indent="-285750">
              <a:buFontTx/>
              <a:buChar char="-"/>
            </a:pPr>
            <a:r>
              <a:rPr lang="en-GB" dirty="0"/>
              <a:t>Modular structure makes code </a:t>
            </a:r>
            <a:r>
              <a:rPr lang="en-GB" b="1" dirty="0"/>
              <a:t>easy to maintain</a:t>
            </a:r>
          </a:p>
          <a:p>
            <a:pPr marL="285750" indent="-285750">
              <a:buFontTx/>
              <a:buChar char="-"/>
            </a:pPr>
            <a:r>
              <a:rPr lang="en-GB" dirty="0"/>
              <a:t>Allows for high levels of </a:t>
            </a:r>
            <a:r>
              <a:rPr lang="en-GB" b="1" dirty="0"/>
              <a:t>reusability</a:t>
            </a:r>
          </a:p>
          <a:p>
            <a:pPr marL="285750" indent="-285750">
              <a:buFontTx/>
              <a:buChar char="-"/>
            </a:pPr>
            <a:r>
              <a:rPr lang="en-GB" dirty="0"/>
              <a:t>High level of </a:t>
            </a:r>
            <a:r>
              <a:rPr lang="en-GB" b="1" dirty="0"/>
              <a:t>abstraction</a:t>
            </a:r>
          </a:p>
          <a:p>
            <a:pPr marL="285750" indent="-285750">
              <a:buFontTx/>
              <a:buChar char="-"/>
            </a:pPr>
            <a:r>
              <a:rPr lang="en-GB" dirty="0"/>
              <a:t>Classes can be used </a:t>
            </a:r>
            <a:r>
              <a:rPr lang="en-GB" b="1" dirty="0"/>
              <a:t>across multiple projects</a:t>
            </a:r>
          </a:p>
          <a:p>
            <a:pPr marL="285750" indent="-285750">
              <a:buFontTx/>
              <a:buChar char="-"/>
            </a:pPr>
            <a:r>
              <a:rPr lang="en-GB" dirty="0"/>
              <a:t>Good framework for code libraries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r>
              <a:rPr lang="en-GB" dirty="0"/>
              <a:t>Disadvantages: </a:t>
            </a:r>
          </a:p>
          <a:p>
            <a:pPr marL="285750" indent="-285750">
              <a:buFontTx/>
              <a:buChar char="-"/>
            </a:pPr>
            <a:r>
              <a:rPr lang="en-GB" dirty="0"/>
              <a:t>Requires an alternative style of thinking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Not suited to all types of problems </a:t>
            </a:r>
            <a:r>
              <a:rPr lang="en-GB" dirty="0"/>
              <a:t>e.g. a project with little reusing of components.</a:t>
            </a:r>
          </a:p>
          <a:p>
            <a:pPr marL="285750" indent="-285750">
              <a:buFontTx/>
              <a:buChar char="-"/>
            </a:pPr>
            <a:r>
              <a:rPr lang="en-GB" dirty="0"/>
              <a:t>Generally </a:t>
            </a:r>
            <a:r>
              <a:rPr lang="en-GB" b="1" dirty="0"/>
              <a:t>unsuitable for smaller problems</a:t>
            </a:r>
          </a:p>
          <a:p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D45337-05C5-9B60-0131-6388AB49C1B4}"/>
              </a:ext>
            </a:extLst>
          </p:cNvPr>
          <p:cNvSpPr/>
          <p:nvPr/>
        </p:nvSpPr>
        <p:spPr>
          <a:xfrm>
            <a:off x="204566" y="3520440"/>
            <a:ext cx="5309266" cy="327516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49D77B-65D5-93F6-B159-3B574A558E77}"/>
              </a:ext>
            </a:extLst>
          </p:cNvPr>
          <p:cNvSpPr/>
          <p:nvPr/>
        </p:nvSpPr>
        <p:spPr>
          <a:xfrm>
            <a:off x="5748528" y="2898070"/>
            <a:ext cx="6348984" cy="3897530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ction Button: Go Home 2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ABFF6D0-E532-886D-B972-DF13A928DED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ction Button: Go to Beginning 2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5D5776-4FB9-A334-4A3D-FB698D8832F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52614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5822F-0F03-88C7-8AC1-E6D683EA3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08C75CB-1961-7665-965F-A5B07A0E470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F149EF-9333-46B8-4037-694446FBB23C}"/>
              </a:ext>
            </a:extLst>
          </p:cNvPr>
          <p:cNvSpPr txBox="1"/>
          <p:nvPr/>
        </p:nvSpPr>
        <p:spPr>
          <a:xfrm>
            <a:off x="442207" y="191924"/>
            <a:ext cx="746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SLR9 CEH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400C14-FEE4-C326-EFF5-4180BCF122D9}"/>
              </a:ext>
            </a:extLst>
          </p:cNvPr>
          <p:cNvSpPr txBox="1"/>
          <p:nvPr/>
        </p:nvSpPr>
        <p:spPr>
          <a:xfrm>
            <a:off x="1798817" y="1257101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COMPRESSION</a:t>
            </a:r>
          </a:p>
        </p:txBody>
      </p:sp>
      <p:sp>
        <p:nvSpPr>
          <p:cNvPr id="6" name="Action Button: Go Forward or Nex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BA02FB1-6E45-4438-1030-B9A1567D0B22}"/>
              </a:ext>
            </a:extLst>
          </p:cNvPr>
          <p:cNvSpPr/>
          <p:nvPr/>
        </p:nvSpPr>
        <p:spPr>
          <a:xfrm>
            <a:off x="539642" y="102870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1B8E8BB-871A-4FB7-1219-7FEAFC4C6E44}"/>
              </a:ext>
            </a:extLst>
          </p:cNvPr>
          <p:cNvSpPr/>
          <p:nvPr/>
        </p:nvSpPr>
        <p:spPr>
          <a:xfrm>
            <a:off x="539642" y="2150452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tion Button: Go Forward or Next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5B4B9E4E-334A-EE87-114A-18FBD06E1AD6}"/>
              </a:ext>
            </a:extLst>
          </p:cNvPr>
          <p:cNvSpPr/>
          <p:nvPr/>
        </p:nvSpPr>
        <p:spPr>
          <a:xfrm>
            <a:off x="539642" y="327220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B14F19-3E1E-B094-F554-B51B03FDB0B1}"/>
              </a:ext>
            </a:extLst>
          </p:cNvPr>
          <p:cNvSpPr txBox="1"/>
          <p:nvPr/>
        </p:nvSpPr>
        <p:spPr>
          <a:xfrm>
            <a:off x="1798817" y="2351383"/>
            <a:ext cx="368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69F20-8BDA-0C85-30C8-6EB93ED5A3D7}"/>
              </a:ext>
            </a:extLst>
          </p:cNvPr>
          <p:cNvSpPr txBox="1"/>
          <p:nvPr/>
        </p:nvSpPr>
        <p:spPr>
          <a:xfrm>
            <a:off x="1866273" y="3424216"/>
            <a:ext cx="418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HASHING</a:t>
            </a:r>
          </a:p>
        </p:txBody>
      </p:sp>
    </p:spTree>
    <p:extLst>
      <p:ext uri="{BB962C8B-B14F-4D97-AF65-F5344CB8AC3E}">
        <p14:creationId xmlns:p14="http://schemas.microsoft.com/office/powerpoint/2010/main" val="35396750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AAEDC-2D24-8EC3-4D65-126857366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B00A393-CD6A-BE3A-E8A2-977ACCEAB7B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6DDBB-34E5-C24F-897E-49071865D82A}"/>
              </a:ext>
            </a:extLst>
          </p:cNvPr>
          <p:cNvSpPr txBox="1"/>
          <p:nvPr/>
        </p:nvSpPr>
        <p:spPr>
          <a:xfrm>
            <a:off x="371959" y="216976"/>
            <a:ext cx="61063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COMPRESSION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485F64-A7C4-42CB-54C9-6368080E0A1C}"/>
              </a:ext>
            </a:extLst>
          </p:cNvPr>
          <p:cNvSpPr/>
          <p:nvPr/>
        </p:nvSpPr>
        <p:spPr>
          <a:xfrm>
            <a:off x="10113363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953277-9BC2-4807-963A-9F30E80B48DF}"/>
              </a:ext>
            </a:extLst>
          </p:cNvPr>
          <p:cNvSpPr txBox="1"/>
          <p:nvPr/>
        </p:nvSpPr>
        <p:spPr>
          <a:xfrm>
            <a:off x="237744" y="995936"/>
            <a:ext cx="40170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Process used </a:t>
            </a:r>
            <a:r>
              <a:rPr lang="en-GB" b="1"/>
              <a:t>to reduce the storage space</a:t>
            </a:r>
            <a:r>
              <a:rPr lang="en-GB"/>
              <a:t> required by a file. Particularly important when </a:t>
            </a:r>
            <a:r>
              <a:rPr lang="en-GB" b="1"/>
              <a:t>sharing files </a:t>
            </a:r>
            <a:r>
              <a:rPr lang="en-GB"/>
              <a:t>over networks or the internet.</a:t>
            </a:r>
          </a:p>
          <a:p>
            <a:endParaRPr lang="en-GB"/>
          </a:p>
          <a:p>
            <a:r>
              <a:rPr lang="en-GB" b="1"/>
              <a:t>Larger</a:t>
            </a:r>
            <a:r>
              <a:rPr lang="en-GB"/>
              <a:t> files </a:t>
            </a:r>
            <a:r>
              <a:rPr lang="en-GB" b="1"/>
              <a:t>take longer to transfer</a:t>
            </a:r>
            <a:r>
              <a:rPr lang="en-GB"/>
              <a:t>, compressed files therefore take less time to transfer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3A6381-56C3-3834-F178-3D36A9130C5B}"/>
              </a:ext>
            </a:extLst>
          </p:cNvPr>
          <p:cNvSpPr txBox="1"/>
          <p:nvPr/>
        </p:nvSpPr>
        <p:spPr>
          <a:xfrm>
            <a:off x="5093207" y="216976"/>
            <a:ext cx="50201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Lossy</a:t>
            </a:r>
            <a:r>
              <a:rPr lang="en-GB"/>
              <a:t> compression works by </a:t>
            </a:r>
            <a:r>
              <a:rPr lang="en-GB" b="1"/>
              <a:t>removing non-essential information.</a:t>
            </a:r>
          </a:p>
          <a:p>
            <a:endParaRPr lang="en-GB"/>
          </a:p>
          <a:p>
            <a:r>
              <a:rPr lang="en-GB"/>
              <a:t>Used for </a:t>
            </a:r>
            <a:r>
              <a:rPr lang="en-GB" b="1"/>
              <a:t>sound, images and video files.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9992D7-EC93-721F-C5E1-26B2D18E02FF}"/>
              </a:ext>
            </a:extLst>
          </p:cNvPr>
          <p:cNvSpPr txBox="1"/>
          <p:nvPr/>
        </p:nvSpPr>
        <p:spPr>
          <a:xfrm>
            <a:off x="184718" y="3882924"/>
            <a:ext cx="3867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Lossless</a:t>
            </a:r>
            <a:r>
              <a:rPr lang="en-GB"/>
              <a:t> compression, the original file can be </a:t>
            </a:r>
            <a:r>
              <a:rPr lang="en-GB" b="1"/>
              <a:t>recovered</a:t>
            </a:r>
            <a:r>
              <a:rPr lang="en-GB"/>
              <a:t> from the compressed version with no data lost</a:t>
            </a:r>
          </a:p>
          <a:p>
            <a:endParaRPr lang="en-GB"/>
          </a:p>
          <a:p>
            <a:r>
              <a:rPr lang="en-GB"/>
              <a:t>Used for </a:t>
            </a:r>
            <a:r>
              <a:rPr lang="en-GB" b="1"/>
              <a:t>program</a:t>
            </a:r>
            <a:r>
              <a:rPr lang="en-GB"/>
              <a:t> files and text files as all data must be recovered when the program is decompressed.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3CA6C8-607E-06A1-B0CD-5C44C50B973C}"/>
              </a:ext>
            </a:extLst>
          </p:cNvPr>
          <p:cNvSpPr txBox="1"/>
          <p:nvPr/>
        </p:nvSpPr>
        <p:spPr>
          <a:xfrm>
            <a:off x="8455952" y="1674674"/>
            <a:ext cx="348162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Run length encoding </a:t>
            </a:r>
            <a:r>
              <a:rPr lang="en-GB"/>
              <a:t>is where </a:t>
            </a:r>
            <a:r>
              <a:rPr lang="en-GB" b="1"/>
              <a:t>repeated values are removed </a:t>
            </a:r>
            <a:r>
              <a:rPr lang="en-GB"/>
              <a:t>and replaced with </a:t>
            </a:r>
            <a:r>
              <a:rPr lang="en-GB" b="1"/>
              <a:t>one occurrence </a:t>
            </a:r>
            <a:r>
              <a:rPr lang="en-GB"/>
              <a:t>of the data followed by the number of times it should be </a:t>
            </a:r>
            <a:r>
              <a:rPr lang="en-GB" b="1"/>
              <a:t>repeated</a:t>
            </a:r>
            <a:r>
              <a:rPr lang="en-GB"/>
              <a:t> - </a:t>
            </a:r>
            <a:r>
              <a:rPr lang="en-GB" b="1"/>
              <a:t>lossless</a:t>
            </a:r>
          </a:p>
        </p:txBody>
      </p:sp>
      <p:pic>
        <p:nvPicPr>
          <p:cNvPr id="1026" name="Picture 2" descr="What is run-length encoding (RLE)? | api.video Glossary">
            <a:extLst>
              <a:ext uri="{FF2B5EF4-FFF2-40B4-BE49-F238E27FC236}">
                <a16:creationId xmlns:a16="http://schemas.microsoft.com/office/drawing/2014/main" id="{C6B303B8-C93D-5BDC-5F84-41A33A238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061" y="1539696"/>
            <a:ext cx="4161493" cy="2855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16A95F8-B478-E4CC-196F-216E705CCD21}"/>
              </a:ext>
            </a:extLst>
          </p:cNvPr>
          <p:cNvSpPr txBox="1"/>
          <p:nvPr/>
        </p:nvSpPr>
        <p:spPr>
          <a:xfrm>
            <a:off x="9398169" y="3890664"/>
            <a:ext cx="260911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Dictionary based compression</a:t>
            </a:r>
            <a:r>
              <a:rPr lang="en-GB"/>
              <a:t> is where the compression algorithm searches through the text to find suitable entries in its own </a:t>
            </a:r>
            <a:r>
              <a:rPr lang="en-GB" b="1"/>
              <a:t>dictionary </a:t>
            </a:r>
            <a:r>
              <a:rPr lang="en-GB"/>
              <a:t>and </a:t>
            </a:r>
            <a:r>
              <a:rPr lang="en-GB" b="1"/>
              <a:t>translates the message accordingly - lossless</a:t>
            </a:r>
          </a:p>
        </p:txBody>
      </p:sp>
      <p:pic>
        <p:nvPicPr>
          <p:cNvPr id="10" name="Picture 2" descr="Compression Techniques in ClickHouse | ChistaDATA Blog">
            <a:extLst>
              <a:ext uri="{FF2B5EF4-FFF2-40B4-BE49-F238E27FC236}">
                <a16:creationId xmlns:a16="http://schemas.microsoft.com/office/drawing/2014/main" id="{0F364A8E-E267-BEE6-981D-09C9B92568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7365" y="4300358"/>
            <a:ext cx="5042757" cy="2262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D8AD1A8-0350-6F8A-FAEA-C6C04527238A}"/>
              </a:ext>
            </a:extLst>
          </p:cNvPr>
          <p:cNvSpPr/>
          <p:nvPr/>
        </p:nvSpPr>
        <p:spPr>
          <a:xfrm>
            <a:off x="150570" y="963279"/>
            <a:ext cx="3806342" cy="24657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8AC174-646A-25EC-8E37-9E4BCC5FB18E}"/>
              </a:ext>
            </a:extLst>
          </p:cNvPr>
          <p:cNvSpPr/>
          <p:nvPr/>
        </p:nvSpPr>
        <p:spPr>
          <a:xfrm>
            <a:off x="237743" y="3785616"/>
            <a:ext cx="3727919" cy="23539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35CE2D-7971-FCFA-97DD-511CE2990D48}"/>
              </a:ext>
            </a:extLst>
          </p:cNvPr>
          <p:cNvSpPr/>
          <p:nvPr/>
        </p:nvSpPr>
        <p:spPr>
          <a:xfrm>
            <a:off x="8426354" y="1497417"/>
            <a:ext cx="3511224" cy="203216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5FA528-ED90-EBCC-039D-ED266101E9FB}"/>
              </a:ext>
            </a:extLst>
          </p:cNvPr>
          <p:cNvSpPr/>
          <p:nvPr/>
        </p:nvSpPr>
        <p:spPr>
          <a:xfrm>
            <a:off x="9364922" y="3793941"/>
            <a:ext cx="2572656" cy="284708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E90FA6-1B07-29A7-0930-1ED701BBA160}"/>
              </a:ext>
            </a:extLst>
          </p:cNvPr>
          <p:cNvSpPr/>
          <p:nvPr/>
        </p:nvSpPr>
        <p:spPr>
          <a:xfrm>
            <a:off x="5004168" y="133300"/>
            <a:ext cx="4734191" cy="12635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8036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5BA8F-22F6-42D7-9931-6F3887B5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375E4511-976E-4AE8-8D67-6FA8A675F793}"/>
              </a:ext>
            </a:extLst>
          </p:cNvPr>
          <p:cNvSpPr/>
          <p:nvPr/>
        </p:nvSpPr>
        <p:spPr>
          <a:xfrm>
            <a:off x="3694175" y="65065"/>
            <a:ext cx="6364224" cy="2732999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4F05F6D-7E0C-C127-907D-4828E92382F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AA7114-6265-7BBD-2083-2E8F1D79D91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8D4287-AD67-1918-4E7D-F9D14754E7A5}"/>
              </a:ext>
            </a:extLst>
          </p:cNvPr>
          <p:cNvSpPr txBox="1"/>
          <p:nvPr/>
        </p:nvSpPr>
        <p:spPr>
          <a:xfrm>
            <a:off x="449450" y="252740"/>
            <a:ext cx="54089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ENCRYPTION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863DBF-EF8B-50FC-E33E-093429E97293}"/>
              </a:ext>
            </a:extLst>
          </p:cNvPr>
          <p:cNvSpPr txBox="1"/>
          <p:nvPr/>
        </p:nvSpPr>
        <p:spPr>
          <a:xfrm>
            <a:off x="228500" y="890776"/>
            <a:ext cx="34107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Encryption is the </a:t>
            </a:r>
            <a:r>
              <a:rPr lang="en-GB" b="1"/>
              <a:t>transformation of data</a:t>
            </a:r>
            <a:r>
              <a:rPr lang="en-GB"/>
              <a:t> to prevent an unauthorised third party from being </a:t>
            </a:r>
            <a:r>
              <a:rPr lang="en-GB" b="1"/>
              <a:t>able to understand it.</a:t>
            </a:r>
          </a:p>
          <a:p>
            <a:endParaRPr lang="en-GB"/>
          </a:p>
          <a:p>
            <a:r>
              <a:rPr lang="en-GB"/>
              <a:t>Original data = Plaintext</a:t>
            </a:r>
          </a:p>
          <a:p>
            <a:r>
              <a:rPr lang="en-GB"/>
              <a:t>Encrypted data = Ciphertext</a:t>
            </a:r>
          </a:p>
          <a:p>
            <a:r>
              <a:rPr lang="en-GB"/>
              <a:t>Encryption method = Cipher</a:t>
            </a:r>
          </a:p>
          <a:p>
            <a:r>
              <a:rPr lang="en-GB" b="1"/>
              <a:t>Info to lock or unlock the message = Key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1F50EA-AAB3-DF59-1B19-900A1A782BF6}"/>
              </a:ext>
            </a:extLst>
          </p:cNvPr>
          <p:cNvSpPr txBox="1"/>
          <p:nvPr/>
        </p:nvSpPr>
        <p:spPr>
          <a:xfrm>
            <a:off x="3749137" y="145625"/>
            <a:ext cx="63642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EF7B30"/>
                </a:solidFill>
              </a:rPr>
              <a:t>Symmetric encryption </a:t>
            </a:r>
            <a:r>
              <a:rPr lang="en-GB"/>
              <a:t>uses the </a:t>
            </a:r>
            <a:r>
              <a:rPr lang="en-GB" b="1"/>
              <a:t>same key to encrypt and decrypt data</a:t>
            </a:r>
            <a:r>
              <a:rPr lang="en-GB"/>
              <a:t>. It is a private key that is transferred via </a:t>
            </a:r>
            <a:r>
              <a:rPr lang="en-GB" b="1"/>
              <a:t>a key exchange </a:t>
            </a:r>
            <a:r>
              <a:rPr lang="en-GB"/>
              <a:t>between the sender and receiver.</a:t>
            </a:r>
          </a:p>
          <a:p>
            <a:endParaRPr lang="en-GB"/>
          </a:p>
          <a:p>
            <a:r>
              <a:rPr lang="en-GB"/>
              <a:t>The key can be </a:t>
            </a:r>
            <a:r>
              <a:rPr lang="en-GB" b="1"/>
              <a:t>intercepted</a:t>
            </a:r>
            <a:r>
              <a:rPr lang="en-GB"/>
              <a:t> as easily</a:t>
            </a:r>
          </a:p>
          <a:p>
            <a:r>
              <a:rPr lang="en-GB"/>
              <a:t> as the ciphertext message to </a:t>
            </a:r>
          </a:p>
          <a:p>
            <a:r>
              <a:rPr lang="en-GB"/>
              <a:t>decrypt the data </a:t>
            </a:r>
            <a:r>
              <a:rPr lang="en-GB" b="1"/>
              <a:t>– security issue</a:t>
            </a:r>
          </a:p>
          <a:p>
            <a:endParaRPr lang="en-GB"/>
          </a:p>
          <a:p>
            <a:r>
              <a:rPr lang="en-GB"/>
              <a:t>The key MUST be kept private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91054-CE85-5011-1A05-FC1CEE0BAB70}"/>
              </a:ext>
            </a:extLst>
          </p:cNvPr>
          <p:cNvSpPr txBox="1"/>
          <p:nvPr/>
        </p:nvSpPr>
        <p:spPr>
          <a:xfrm>
            <a:off x="210312" y="4225091"/>
            <a:ext cx="8183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EF7B30"/>
                </a:solidFill>
              </a:rPr>
              <a:t>Asymmetric encryption </a:t>
            </a:r>
            <a:r>
              <a:rPr lang="en-GB"/>
              <a:t>uses </a:t>
            </a:r>
            <a:r>
              <a:rPr lang="en-GB" b="1"/>
              <a:t>two separate but related keys, one public, one private.</a:t>
            </a:r>
          </a:p>
          <a:p>
            <a:endParaRPr lang="en-GB"/>
          </a:p>
          <a:p>
            <a:r>
              <a:rPr lang="en-GB"/>
              <a:t>The public key is made public so that others wishing to send you data can use this to </a:t>
            </a:r>
            <a:r>
              <a:rPr lang="en-GB" b="1"/>
              <a:t>encrypt the data.</a:t>
            </a:r>
          </a:p>
          <a:p>
            <a:r>
              <a:rPr lang="en-GB"/>
              <a:t>The private key is </a:t>
            </a:r>
            <a:r>
              <a:rPr lang="en-GB" b="1"/>
              <a:t>known only by you </a:t>
            </a:r>
            <a:r>
              <a:rPr lang="en-GB"/>
              <a:t>and can only be used </a:t>
            </a:r>
            <a:r>
              <a:rPr lang="en-GB" b="1"/>
              <a:t>to decrypt the data</a:t>
            </a:r>
            <a:r>
              <a:rPr lang="en-GB"/>
              <a:t>. The private key cannot be deduced from the public key making this </a:t>
            </a:r>
            <a:r>
              <a:rPr lang="en-GB" b="1"/>
              <a:t>very secure</a:t>
            </a:r>
          </a:p>
          <a:p>
            <a:endParaRPr lang="en-GB"/>
          </a:p>
          <a:p>
            <a:r>
              <a:rPr lang="en-GB"/>
              <a:t>Even if the ciphertext is intercepted, it </a:t>
            </a:r>
            <a:r>
              <a:rPr lang="en-GB" b="1"/>
              <a:t>cannot be deciphered without private key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72395D-7B2F-BA64-4C98-DB244A936EF5}"/>
              </a:ext>
            </a:extLst>
          </p:cNvPr>
          <p:cNvSpPr txBox="1"/>
          <p:nvPr/>
        </p:nvSpPr>
        <p:spPr>
          <a:xfrm>
            <a:off x="8855989" y="4156198"/>
            <a:ext cx="28163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However, a message could be encrypted using the public key and maliciously sent to you from an </a:t>
            </a:r>
            <a:r>
              <a:rPr lang="en-GB" b="1"/>
              <a:t>impersonator</a:t>
            </a:r>
            <a:r>
              <a:rPr lang="en-GB"/>
              <a:t> – to prevent this a message can be </a:t>
            </a:r>
            <a:r>
              <a:rPr lang="en-GB" b="1"/>
              <a:t>digitally “signed” to authenticate the sender</a:t>
            </a:r>
          </a:p>
        </p:txBody>
      </p:sp>
      <p:pic>
        <p:nvPicPr>
          <p:cNvPr id="11" name="Picture 10" descr="A diagram of keys and a keyword&#10;&#10;AI-generated content may be incorrect.">
            <a:extLst>
              <a:ext uri="{FF2B5EF4-FFF2-40B4-BE49-F238E27FC236}">
                <a16:creationId xmlns:a16="http://schemas.microsoft.com/office/drawing/2014/main" id="{411F5DD5-A5AE-CBAB-7262-C121C54CC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8045" y="1187390"/>
            <a:ext cx="3947442" cy="2120848"/>
          </a:xfrm>
          <a:prstGeom prst="rect">
            <a:avLst/>
          </a:prstGeom>
        </p:spPr>
      </p:pic>
      <p:pic>
        <p:nvPicPr>
          <p:cNvPr id="15" name="Picture 14" descr="A diagram of a key to a key&#10;&#10;AI-generated content may be incorrect.">
            <a:extLst>
              <a:ext uri="{FF2B5EF4-FFF2-40B4-BE49-F238E27FC236}">
                <a16:creationId xmlns:a16="http://schemas.microsoft.com/office/drawing/2014/main" id="{D8788DA6-0B3C-CD18-A331-FA218F9E5F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3" t="9783" b="-128"/>
          <a:stretch>
            <a:fillRect/>
          </a:stretch>
        </p:blipFill>
        <p:spPr>
          <a:xfrm>
            <a:off x="3956406" y="2838062"/>
            <a:ext cx="3803904" cy="127221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39753F6-70DB-9124-07CD-315A5FEB2ADE}"/>
              </a:ext>
            </a:extLst>
          </p:cNvPr>
          <p:cNvSpPr/>
          <p:nvPr/>
        </p:nvSpPr>
        <p:spPr>
          <a:xfrm>
            <a:off x="137160" y="945937"/>
            <a:ext cx="3483863" cy="3049524"/>
          </a:xfrm>
          <a:prstGeom prst="rect">
            <a:avLst/>
          </a:prstGeom>
          <a:noFill/>
          <a:ln>
            <a:solidFill>
              <a:srgbClr val="FEC3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724B60-52E3-D5CE-4E23-B676CB191AF4}"/>
              </a:ext>
            </a:extLst>
          </p:cNvPr>
          <p:cNvSpPr/>
          <p:nvPr/>
        </p:nvSpPr>
        <p:spPr>
          <a:xfrm>
            <a:off x="8638032" y="3891021"/>
            <a:ext cx="3267455" cy="2816529"/>
          </a:xfrm>
          <a:prstGeom prst="rect">
            <a:avLst/>
          </a:prstGeom>
          <a:noFill/>
          <a:ln>
            <a:solidFill>
              <a:srgbClr val="FEC3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B3D6ED2-8F0A-68EF-DC32-7E7A6070DE95}"/>
              </a:ext>
            </a:extLst>
          </p:cNvPr>
          <p:cNvSpPr/>
          <p:nvPr/>
        </p:nvSpPr>
        <p:spPr>
          <a:xfrm>
            <a:off x="173736" y="4225091"/>
            <a:ext cx="8183880" cy="259895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65231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98C9E-F677-AFE3-367F-3B4D6942D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22F0713-B2D0-E47C-2C63-7A79999E4BAD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A60EA9B-04E2-8AC7-1772-4ACB6A071A3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3EE09-60CF-2C94-6761-D46371F2E987}"/>
              </a:ext>
            </a:extLst>
          </p:cNvPr>
          <p:cNvSpPr txBox="1"/>
          <p:nvPr/>
        </p:nvSpPr>
        <p:spPr>
          <a:xfrm>
            <a:off x="340963" y="247973"/>
            <a:ext cx="64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HASHING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B54ED2-2C5E-F74E-806D-121C8F2C4541}"/>
              </a:ext>
            </a:extLst>
          </p:cNvPr>
          <p:cNvSpPr txBox="1"/>
          <p:nvPr/>
        </p:nvSpPr>
        <p:spPr>
          <a:xfrm>
            <a:off x="2123267" y="294759"/>
            <a:ext cx="7237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Hashing is the process in which an input (</a:t>
            </a:r>
            <a:r>
              <a:rPr lang="en-GB" b="1"/>
              <a:t>key</a:t>
            </a:r>
            <a:r>
              <a:rPr lang="en-GB"/>
              <a:t>) is turned into a </a:t>
            </a:r>
            <a:r>
              <a:rPr lang="en-GB" b="1"/>
              <a:t>fixed size value (hash) using a hash function.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F8210-A246-1164-A792-1B9B26C7BCD1}"/>
              </a:ext>
            </a:extLst>
          </p:cNvPr>
          <p:cNvSpPr txBox="1"/>
          <p:nvPr/>
        </p:nvSpPr>
        <p:spPr>
          <a:xfrm>
            <a:off x="123986" y="1332060"/>
            <a:ext cx="57763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output of a hash function </a:t>
            </a:r>
            <a:r>
              <a:rPr lang="en-GB" b="1"/>
              <a:t>cannot be reversed </a:t>
            </a:r>
            <a:r>
              <a:rPr lang="en-GB"/>
              <a:t>to form the key – makes it useful for storing </a:t>
            </a:r>
            <a:r>
              <a:rPr lang="en-GB" b="1"/>
              <a:t>passwords.</a:t>
            </a:r>
          </a:p>
          <a:p>
            <a:endParaRPr lang="en-GB"/>
          </a:p>
          <a:p>
            <a:r>
              <a:rPr lang="en-GB"/>
              <a:t>When password entered, password hashed and checked against key to see if it is correct – </a:t>
            </a:r>
            <a:r>
              <a:rPr lang="en-GB" b="1"/>
              <a:t>a hacker could only gain access to the keys.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8A14F9-EB31-37BB-6F0C-614D9DBBC1BA}"/>
              </a:ext>
            </a:extLst>
          </p:cNvPr>
          <p:cNvSpPr txBox="1"/>
          <p:nvPr/>
        </p:nvSpPr>
        <p:spPr>
          <a:xfrm>
            <a:off x="56827" y="3217616"/>
            <a:ext cx="52157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Hash tables </a:t>
            </a:r>
            <a:r>
              <a:rPr lang="en-GB"/>
              <a:t>are data structures which holds </a:t>
            </a:r>
            <a:r>
              <a:rPr lang="en-GB" b="1"/>
              <a:t>key-value pairs</a:t>
            </a:r>
            <a:r>
              <a:rPr lang="en-GB"/>
              <a:t>. Formed via </a:t>
            </a:r>
            <a:r>
              <a:rPr lang="en-GB" b="1"/>
              <a:t>an array + hash function</a:t>
            </a:r>
            <a:r>
              <a:rPr lang="en-GB"/>
              <a:t>, they can be used to </a:t>
            </a:r>
            <a:r>
              <a:rPr lang="en-GB" b="1"/>
              <a:t>lookup data </a:t>
            </a:r>
            <a:r>
              <a:rPr lang="en-GB"/>
              <a:t>in an array in </a:t>
            </a:r>
            <a:r>
              <a:rPr lang="en-GB" b="1"/>
              <a:t>constant time.</a:t>
            </a:r>
          </a:p>
          <a:p>
            <a:endParaRPr lang="en-GB"/>
          </a:p>
          <a:p>
            <a:r>
              <a:rPr lang="en-GB"/>
              <a:t>They are best </a:t>
            </a:r>
            <a:r>
              <a:rPr lang="en-GB" b="1"/>
              <a:t>when lots of data needs to be stored </a:t>
            </a:r>
            <a:r>
              <a:rPr lang="en-GB"/>
              <a:t>with </a:t>
            </a:r>
            <a:r>
              <a:rPr lang="en-GB" b="1"/>
              <a:t>constant access times e.g. caches, databases.</a:t>
            </a:r>
          </a:p>
        </p:txBody>
      </p:sp>
      <p:pic>
        <p:nvPicPr>
          <p:cNvPr id="8" name="Picture 7" descr="A white table with black text&#10;&#10;AI-generated content may be incorrect.">
            <a:extLst>
              <a:ext uri="{FF2B5EF4-FFF2-40B4-BE49-F238E27FC236}">
                <a16:creationId xmlns:a16="http://schemas.microsoft.com/office/drawing/2014/main" id="{3F511EAE-A141-F414-04E7-236DE74573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58" b="3455"/>
          <a:stretch>
            <a:fillRect/>
          </a:stretch>
        </p:blipFill>
        <p:spPr>
          <a:xfrm>
            <a:off x="5900378" y="1419670"/>
            <a:ext cx="6234795" cy="4018659"/>
          </a:xfrm>
          <a:prstGeom prst="rect">
            <a:avLst/>
          </a:prstGeom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8FA0E5E-5E81-19B0-E625-7C7B1960A01E}"/>
              </a:ext>
            </a:extLst>
          </p:cNvPr>
          <p:cNvSpPr txBox="1"/>
          <p:nvPr/>
        </p:nvSpPr>
        <p:spPr>
          <a:xfrm>
            <a:off x="5964609" y="5438329"/>
            <a:ext cx="61063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>
                <a:cs typeface="Segoe UI"/>
              </a:rPr>
              <a:t>Good hash function:</a:t>
            </a:r>
          </a:p>
          <a:p>
            <a:pPr marL="285750" indent="-285750">
              <a:buFont typeface="Calibri"/>
              <a:buChar char="-"/>
            </a:pPr>
            <a:r>
              <a:rPr lang="en-GB" b="1">
                <a:cs typeface="Segoe UI"/>
              </a:rPr>
              <a:t>Low chance of collision</a:t>
            </a:r>
          </a:p>
          <a:p>
            <a:pPr marL="285750" indent="-285750">
              <a:buFont typeface="Calibri"/>
              <a:buChar char="-"/>
            </a:pPr>
            <a:r>
              <a:rPr lang="en-GB" b="1">
                <a:cs typeface="Segoe UI"/>
              </a:rPr>
              <a:t>Quick</a:t>
            </a:r>
            <a:r>
              <a:rPr lang="en-GB">
                <a:cs typeface="Segoe UI"/>
              </a:rPr>
              <a:t> to calculate</a:t>
            </a:r>
          </a:p>
          <a:p>
            <a:pPr marL="285750" indent="-285750">
              <a:buFont typeface="Calibri"/>
              <a:buChar char="-"/>
            </a:pPr>
            <a:r>
              <a:rPr lang="en-GB">
                <a:cs typeface="Segoe UI"/>
              </a:rPr>
              <a:t>Provide an</a:t>
            </a:r>
            <a:r>
              <a:rPr lang="en-GB" b="1">
                <a:cs typeface="Segoe UI"/>
              </a:rPr>
              <a:t> output </a:t>
            </a:r>
            <a:r>
              <a:rPr lang="en-GB">
                <a:cs typeface="Segoe UI"/>
              </a:rPr>
              <a:t>which is </a:t>
            </a:r>
            <a:r>
              <a:rPr lang="en-GB" b="1">
                <a:cs typeface="Segoe UI"/>
              </a:rPr>
              <a:t>smaller than the input</a:t>
            </a:r>
            <a:r>
              <a:rPr lang="en-GB">
                <a:cs typeface="Segoe UI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0556A-8A6F-CD23-501C-8D50A0ECBB5D}"/>
              </a:ext>
            </a:extLst>
          </p:cNvPr>
          <p:cNvSpPr txBox="1"/>
          <p:nvPr/>
        </p:nvSpPr>
        <p:spPr>
          <a:xfrm>
            <a:off x="73309" y="5657671"/>
            <a:ext cx="47455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Collisions</a:t>
            </a:r>
            <a:r>
              <a:rPr lang="en-GB"/>
              <a:t> are where </a:t>
            </a:r>
            <a:r>
              <a:rPr lang="en-GB" b="1"/>
              <a:t>two keys produce the same hash </a:t>
            </a:r>
            <a:r>
              <a:rPr lang="en-GB"/>
              <a:t>– this can be overcome by storing the items together </a:t>
            </a:r>
            <a:r>
              <a:rPr lang="en-GB" b="1"/>
              <a:t>in a list </a:t>
            </a:r>
            <a:r>
              <a:rPr lang="en-GB"/>
              <a:t>under the hash value or using a </a:t>
            </a:r>
            <a:r>
              <a:rPr lang="en-GB" b="1"/>
              <a:t>second hash function.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68DC48D-F25A-741B-E8A2-452ECEF2B8F4}"/>
              </a:ext>
            </a:extLst>
          </p:cNvPr>
          <p:cNvSpPr/>
          <p:nvPr/>
        </p:nvSpPr>
        <p:spPr>
          <a:xfrm>
            <a:off x="2123267" y="247973"/>
            <a:ext cx="7237709" cy="780727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B337E2-5D91-0183-18A5-D95F38C2DB55}"/>
              </a:ext>
            </a:extLst>
          </p:cNvPr>
          <p:cNvSpPr/>
          <p:nvPr/>
        </p:nvSpPr>
        <p:spPr>
          <a:xfrm>
            <a:off x="130083" y="1286714"/>
            <a:ext cx="5770296" cy="1930902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8A5FFA-4795-39FD-C6C4-F32F6B8DD9E8}"/>
              </a:ext>
            </a:extLst>
          </p:cNvPr>
          <p:cNvSpPr/>
          <p:nvPr/>
        </p:nvSpPr>
        <p:spPr>
          <a:xfrm>
            <a:off x="106837" y="3250020"/>
            <a:ext cx="5165760" cy="232126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5169D3-B195-61BF-FBC9-A2D4BA73A5BC}"/>
              </a:ext>
            </a:extLst>
          </p:cNvPr>
          <p:cNvSpPr/>
          <p:nvPr/>
        </p:nvSpPr>
        <p:spPr>
          <a:xfrm>
            <a:off x="0" y="5648129"/>
            <a:ext cx="5545295" cy="120032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414E21-8C88-DD27-D029-AD35271E8B75}"/>
              </a:ext>
            </a:extLst>
          </p:cNvPr>
          <p:cNvSpPr/>
          <p:nvPr/>
        </p:nvSpPr>
        <p:spPr>
          <a:xfrm>
            <a:off x="5900377" y="5438328"/>
            <a:ext cx="5545295" cy="1200329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74" name="Picture 2" descr="Nuclear explosion - Wikipedia">
            <a:extLst>
              <a:ext uri="{FF2B5EF4-FFF2-40B4-BE49-F238E27FC236}">
                <a16:creationId xmlns:a16="http://schemas.microsoft.com/office/drawing/2014/main" id="{1A6FAB9B-5B1A-268A-4185-FA4C3162C2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3096" y="5829216"/>
            <a:ext cx="812199" cy="689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645000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4D22D-B8D9-B799-E12F-3DC62D5B2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53D3BFA-1337-8D69-A77E-9253E91382A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3A8C6E-AA43-5013-B135-C54BB3D7DA6A}"/>
              </a:ext>
            </a:extLst>
          </p:cNvPr>
          <p:cNvSpPr txBox="1"/>
          <p:nvPr/>
        </p:nvSpPr>
        <p:spPr>
          <a:xfrm>
            <a:off x="539642" y="209862"/>
            <a:ext cx="7465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SLR10 DATABASES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D3BE03-B5EE-FA8D-468F-3BB0EDE625EA}"/>
              </a:ext>
            </a:extLst>
          </p:cNvPr>
          <p:cNvSpPr txBox="1"/>
          <p:nvPr/>
        </p:nvSpPr>
        <p:spPr>
          <a:xfrm>
            <a:off x="1798817" y="1257101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RELATIONAL DATABASES</a:t>
            </a:r>
          </a:p>
        </p:txBody>
      </p:sp>
      <p:sp>
        <p:nvSpPr>
          <p:cNvPr id="6" name="Action Button: Go Forward or Next 5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D4B5ACD-CBDF-C431-82D7-EF869F0215D1}"/>
              </a:ext>
            </a:extLst>
          </p:cNvPr>
          <p:cNvSpPr/>
          <p:nvPr/>
        </p:nvSpPr>
        <p:spPr>
          <a:xfrm>
            <a:off x="539642" y="102870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8B68254-9E10-7F79-BD82-09398FDB799C}"/>
              </a:ext>
            </a:extLst>
          </p:cNvPr>
          <p:cNvSpPr/>
          <p:nvPr/>
        </p:nvSpPr>
        <p:spPr>
          <a:xfrm>
            <a:off x="539642" y="2150452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tion Button: Go Forward or Next 7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91D012B-C46E-F7A5-A662-BB5C8CACFE04}"/>
              </a:ext>
            </a:extLst>
          </p:cNvPr>
          <p:cNvSpPr/>
          <p:nvPr/>
        </p:nvSpPr>
        <p:spPr>
          <a:xfrm>
            <a:off x="539642" y="327220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D3BF5E-C30E-9669-6F4C-FE6A9EC07945}"/>
              </a:ext>
            </a:extLst>
          </p:cNvPr>
          <p:cNvSpPr txBox="1"/>
          <p:nvPr/>
        </p:nvSpPr>
        <p:spPr>
          <a:xfrm>
            <a:off x="1798817" y="2351383"/>
            <a:ext cx="368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MANAGING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2BBF5-FF10-2A43-A482-DF31595710CD}"/>
              </a:ext>
            </a:extLst>
          </p:cNvPr>
          <p:cNvSpPr txBox="1"/>
          <p:nvPr/>
        </p:nvSpPr>
        <p:spPr>
          <a:xfrm>
            <a:off x="1866273" y="3424216"/>
            <a:ext cx="418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NORMALISATION (DATABASES)</a:t>
            </a:r>
          </a:p>
        </p:txBody>
      </p:sp>
      <p:sp>
        <p:nvSpPr>
          <p:cNvPr id="11" name="Action Button: Go Forward or Next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08E65E5-842F-7DF5-8583-579F81DECDE2}"/>
              </a:ext>
            </a:extLst>
          </p:cNvPr>
          <p:cNvSpPr/>
          <p:nvPr/>
        </p:nvSpPr>
        <p:spPr>
          <a:xfrm>
            <a:off x="539642" y="4393956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60713D2B-CA24-132E-BC9F-BAB199457068}"/>
              </a:ext>
            </a:extLst>
          </p:cNvPr>
          <p:cNvSpPr/>
          <p:nvPr/>
        </p:nvSpPr>
        <p:spPr>
          <a:xfrm>
            <a:off x="539642" y="5506803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9A2C52-36C7-DE6A-39AC-0D705786F5D7}"/>
              </a:ext>
            </a:extLst>
          </p:cNvPr>
          <p:cNvSpPr txBox="1"/>
          <p:nvPr/>
        </p:nvSpPr>
        <p:spPr>
          <a:xfrm>
            <a:off x="1866273" y="4590288"/>
            <a:ext cx="3282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SQL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095AB8-10AF-632C-2E47-DB2847937058}"/>
              </a:ext>
            </a:extLst>
          </p:cNvPr>
          <p:cNvSpPr txBox="1"/>
          <p:nvPr/>
        </p:nvSpPr>
        <p:spPr>
          <a:xfrm>
            <a:off x="1866273" y="5678424"/>
            <a:ext cx="3620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REFERENTIAL INTEGRITY</a:t>
            </a:r>
          </a:p>
        </p:txBody>
      </p:sp>
    </p:spTree>
    <p:extLst>
      <p:ext uri="{BB962C8B-B14F-4D97-AF65-F5344CB8AC3E}">
        <p14:creationId xmlns:p14="http://schemas.microsoft.com/office/powerpoint/2010/main" val="12399346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A25A2-DF6D-6551-611B-8982801CF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1F28D28-8AD6-B13E-A4D6-90535A93C701}"/>
              </a:ext>
            </a:extLst>
          </p:cNvPr>
          <p:cNvSpPr/>
          <p:nvPr/>
        </p:nvSpPr>
        <p:spPr>
          <a:xfrm>
            <a:off x="8431010" y="1059139"/>
            <a:ext cx="3672101" cy="382420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A22C4D3-7C0D-D001-36BB-C5C7231C211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A73C294-E632-162D-7F78-013085D05AE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C50D2-619B-09E5-AE97-4E15035945EB}"/>
              </a:ext>
            </a:extLst>
          </p:cNvPr>
          <p:cNvSpPr txBox="1"/>
          <p:nvPr/>
        </p:nvSpPr>
        <p:spPr>
          <a:xfrm>
            <a:off x="152897" y="95813"/>
            <a:ext cx="431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RELATIONAL DATABASES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9E9CAB-7F55-3F91-8861-E9658B3B843E}"/>
              </a:ext>
            </a:extLst>
          </p:cNvPr>
          <p:cNvSpPr txBox="1"/>
          <p:nvPr/>
        </p:nvSpPr>
        <p:spPr>
          <a:xfrm>
            <a:off x="152897" y="696779"/>
            <a:ext cx="61394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</a:t>
            </a:r>
            <a:r>
              <a:rPr lang="en-GB" b="1"/>
              <a:t>relational databases</a:t>
            </a:r>
            <a:r>
              <a:rPr lang="en-GB"/>
              <a:t>, data is held in tables, and the tables are </a:t>
            </a:r>
            <a:r>
              <a:rPr lang="en-GB" b="1"/>
              <a:t>linked by means of common attributes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Entities are a </a:t>
            </a:r>
            <a:r>
              <a:rPr lang="en-GB" b="1"/>
              <a:t>category</a:t>
            </a:r>
            <a:r>
              <a:rPr lang="en-GB"/>
              <a:t> with attributes.</a:t>
            </a:r>
          </a:p>
          <a:p>
            <a:r>
              <a:rPr lang="en-GB"/>
              <a:t>FOR EXAMPLE, Entity = Movies, Attribute = Movie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AFD3AE-0CE4-76B4-590C-978CAE1A23A6}"/>
              </a:ext>
            </a:extLst>
          </p:cNvPr>
          <p:cNvSpPr txBox="1"/>
          <p:nvPr/>
        </p:nvSpPr>
        <p:spPr>
          <a:xfrm>
            <a:off x="8431010" y="2575019"/>
            <a:ext cx="36618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They are saved as a </a:t>
            </a:r>
            <a:r>
              <a:rPr lang="en-GB" b="1"/>
              <a:t>CSV</a:t>
            </a:r>
            <a:r>
              <a:rPr lang="en-GB"/>
              <a:t> (Comma separated values)</a:t>
            </a:r>
          </a:p>
          <a:p>
            <a:r>
              <a:rPr lang="en-GB"/>
              <a:t>They </a:t>
            </a:r>
            <a:r>
              <a:rPr lang="en-GB" b="1"/>
              <a:t>are quick to set up</a:t>
            </a:r>
            <a:r>
              <a:rPr lang="en-GB"/>
              <a:t>, </a:t>
            </a:r>
            <a:r>
              <a:rPr lang="en-GB" b="1"/>
              <a:t>little expertise </a:t>
            </a:r>
            <a:r>
              <a:rPr lang="en-GB"/>
              <a:t>needed to maintain and suitable for </a:t>
            </a:r>
            <a:r>
              <a:rPr lang="en-GB" b="1"/>
              <a:t>storing small amounts </a:t>
            </a:r>
            <a:r>
              <a:rPr lang="en-GB"/>
              <a:t>of data – not good for large amounts of data and multiple entities</a:t>
            </a:r>
          </a:p>
        </p:txBody>
      </p:sp>
      <p:pic>
        <p:nvPicPr>
          <p:cNvPr id="4098" name="Picture 2" descr="Relational Databases - Computer Science: OCR A Level">
            <a:extLst>
              <a:ext uri="{FF2B5EF4-FFF2-40B4-BE49-F238E27FC236}">
                <a16:creationId xmlns:a16="http://schemas.microsoft.com/office/drawing/2014/main" id="{3AF364EE-A520-1F64-5BBA-2E92C01FAF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1" b="41327"/>
          <a:stretch>
            <a:fillRect/>
          </a:stretch>
        </p:blipFill>
        <p:spPr bwMode="auto">
          <a:xfrm>
            <a:off x="0" y="2251853"/>
            <a:ext cx="3631423" cy="1477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omponents of a table (of a database) - w3resource">
            <a:extLst>
              <a:ext uri="{FF2B5EF4-FFF2-40B4-BE49-F238E27FC236}">
                <a16:creationId xmlns:a16="http://schemas.microsoft.com/office/drawing/2014/main" id="{02AEB7EB-2BA0-3D80-3426-C5A1A6223B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-198" b="549"/>
          <a:stretch>
            <a:fillRect/>
          </a:stretch>
        </p:blipFill>
        <p:spPr>
          <a:xfrm>
            <a:off x="6292311" y="0"/>
            <a:ext cx="3631423" cy="23477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62B064-27BC-2C4E-A940-2176CE7A96C1}"/>
              </a:ext>
            </a:extLst>
          </p:cNvPr>
          <p:cNvSpPr txBox="1"/>
          <p:nvPr/>
        </p:nvSpPr>
        <p:spPr>
          <a:xfrm>
            <a:off x="86458" y="3963533"/>
            <a:ext cx="37557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</a:t>
            </a:r>
            <a:r>
              <a:rPr lang="en-GB" b="1">
                <a:solidFill>
                  <a:srgbClr val="BCEB00"/>
                </a:solidFill>
              </a:rPr>
              <a:t>primary key </a:t>
            </a:r>
            <a:r>
              <a:rPr lang="en-GB"/>
              <a:t>is a </a:t>
            </a:r>
            <a:r>
              <a:rPr lang="en-GB" b="1"/>
              <a:t>unique identifier for each record </a:t>
            </a:r>
            <a:r>
              <a:rPr lang="en-GB"/>
              <a:t>in the table; secondary keys also are used.</a:t>
            </a:r>
          </a:p>
          <a:p>
            <a:endParaRPr lang="en-GB"/>
          </a:p>
          <a:p>
            <a:r>
              <a:rPr lang="en-GB" b="1">
                <a:solidFill>
                  <a:srgbClr val="BCEB00"/>
                </a:solidFill>
              </a:rPr>
              <a:t>Foreign key </a:t>
            </a:r>
            <a:r>
              <a:rPr lang="en-GB"/>
              <a:t>is the </a:t>
            </a:r>
            <a:r>
              <a:rPr lang="en-GB" b="1"/>
              <a:t>attribute which links two tables </a:t>
            </a:r>
            <a:r>
              <a:rPr lang="en-GB"/>
              <a:t>together.</a:t>
            </a:r>
          </a:p>
          <a:p>
            <a:endParaRPr lang="en-GB"/>
          </a:p>
          <a:p>
            <a:r>
              <a:rPr lang="en-GB" b="1">
                <a:solidFill>
                  <a:srgbClr val="BCEB00"/>
                </a:solidFill>
              </a:rPr>
              <a:t>Composite key </a:t>
            </a:r>
            <a:r>
              <a:rPr lang="en-GB"/>
              <a:t>is where a </a:t>
            </a:r>
            <a:r>
              <a:rPr lang="en-GB" b="1"/>
              <a:t>primary key </a:t>
            </a:r>
            <a:r>
              <a:rPr lang="en-GB"/>
              <a:t>consists of </a:t>
            </a:r>
            <a:r>
              <a:rPr lang="en-GB" b="1"/>
              <a:t>two or more attributes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0CFF84-86B3-0F43-1C72-02E8895C290C}"/>
              </a:ext>
            </a:extLst>
          </p:cNvPr>
          <p:cNvSpPr txBox="1"/>
          <p:nvPr/>
        </p:nvSpPr>
        <p:spPr>
          <a:xfrm>
            <a:off x="3769992" y="2568649"/>
            <a:ext cx="39174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Relational databases can be written as </a:t>
            </a:r>
          </a:p>
          <a:p>
            <a:r>
              <a:rPr lang="en-GB"/>
              <a:t>Students(</a:t>
            </a:r>
            <a:r>
              <a:rPr lang="en-GB" u="sng"/>
              <a:t>Student Id, </a:t>
            </a:r>
            <a:r>
              <a:rPr lang="en-GB"/>
              <a:t>FirstName LastName ….)</a:t>
            </a:r>
          </a:p>
          <a:p>
            <a:r>
              <a:rPr lang="en-GB" b="1"/>
              <a:t>PRIMARY KEY UNDERLINED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27908C-5B4A-FDCE-FE9B-D83C5F566179}"/>
              </a:ext>
            </a:extLst>
          </p:cNvPr>
          <p:cNvSpPr txBox="1"/>
          <p:nvPr/>
        </p:nvSpPr>
        <p:spPr>
          <a:xfrm>
            <a:off x="3955512" y="4258223"/>
            <a:ext cx="4554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</a:t>
            </a:r>
            <a:r>
              <a:rPr lang="en-GB" b="1"/>
              <a:t>relationship</a:t>
            </a:r>
            <a:r>
              <a:rPr lang="en-GB"/>
              <a:t> between </a:t>
            </a:r>
            <a:r>
              <a:rPr lang="en-GB" b="1"/>
              <a:t>entities</a:t>
            </a:r>
            <a:r>
              <a:rPr lang="en-GB"/>
              <a:t> can be </a:t>
            </a:r>
            <a:r>
              <a:rPr lang="en-GB" b="1"/>
              <a:t>modelled graphically: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6B8C00-CF79-5DF9-7F98-02C86CAC0584}"/>
              </a:ext>
            </a:extLst>
          </p:cNvPr>
          <p:cNvSpPr/>
          <p:nvPr/>
        </p:nvSpPr>
        <p:spPr>
          <a:xfrm>
            <a:off x="4481662" y="5595763"/>
            <a:ext cx="1596325" cy="480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E57BAF-3BC5-4C31-85A8-41F89EA7A2D0}"/>
              </a:ext>
            </a:extLst>
          </p:cNvPr>
          <p:cNvSpPr/>
          <p:nvPr/>
        </p:nvSpPr>
        <p:spPr>
          <a:xfrm>
            <a:off x="6602581" y="5595763"/>
            <a:ext cx="1596325" cy="480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2B3697-FDBA-FD64-BA0D-0AC70EBF9781}"/>
              </a:ext>
            </a:extLst>
          </p:cNvPr>
          <p:cNvSpPr/>
          <p:nvPr/>
        </p:nvSpPr>
        <p:spPr>
          <a:xfrm>
            <a:off x="4466164" y="4960997"/>
            <a:ext cx="1596325" cy="480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8CB901-B0F3-D331-C724-DB1EB36CB4FF}"/>
              </a:ext>
            </a:extLst>
          </p:cNvPr>
          <p:cNvSpPr/>
          <p:nvPr/>
        </p:nvSpPr>
        <p:spPr>
          <a:xfrm>
            <a:off x="6587083" y="4960997"/>
            <a:ext cx="1596325" cy="480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B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19C06F-D976-259E-4AC1-F660BBCB2A94}"/>
              </a:ext>
            </a:extLst>
          </p:cNvPr>
          <p:cNvSpPr/>
          <p:nvPr/>
        </p:nvSpPr>
        <p:spPr>
          <a:xfrm>
            <a:off x="4466164" y="6230529"/>
            <a:ext cx="1596325" cy="480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EA982B6-BBDD-8177-0BC9-0B2295675D7A}"/>
              </a:ext>
            </a:extLst>
          </p:cNvPr>
          <p:cNvSpPr/>
          <p:nvPr/>
        </p:nvSpPr>
        <p:spPr>
          <a:xfrm>
            <a:off x="6587083" y="6230529"/>
            <a:ext cx="1596325" cy="4804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F630A67-646C-AD2F-9418-DFE6B780114E}"/>
                  </a:ext>
                </a:extLst>
              </p14:cNvPr>
              <p14:cNvContentPartPr/>
              <p14:nvPr/>
            </p14:nvContentPartPr>
            <p14:xfrm>
              <a:off x="6113068" y="5203371"/>
              <a:ext cx="487440" cy="388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F630A67-646C-AD2F-9418-DFE6B780114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06948" y="5197251"/>
                <a:ext cx="499680" cy="5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9" name="Group 28">
            <a:extLst>
              <a:ext uri="{FF2B5EF4-FFF2-40B4-BE49-F238E27FC236}">
                <a16:creationId xmlns:a16="http://schemas.microsoft.com/office/drawing/2014/main" id="{C6BF9703-DCFA-9F35-186F-E330F41B0558}"/>
              </a:ext>
            </a:extLst>
          </p:cNvPr>
          <p:cNvGrpSpPr/>
          <p:nvPr/>
        </p:nvGrpSpPr>
        <p:grpSpPr>
          <a:xfrm>
            <a:off x="6076708" y="5659851"/>
            <a:ext cx="662040" cy="322560"/>
            <a:chOff x="7479720" y="5684544"/>
            <a:chExt cx="66204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F12496B-CD25-4E05-E93B-3D979D21B37D}"/>
                    </a:ext>
                  </a:extLst>
                </p14:cNvPr>
                <p14:cNvContentPartPr/>
                <p14:nvPr/>
              </p14:nvContentPartPr>
              <p14:xfrm>
                <a:off x="7479720" y="5684544"/>
                <a:ext cx="662040" cy="195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F12496B-CD25-4E05-E93B-3D979D21B37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73600" y="5678424"/>
                  <a:ext cx="67428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06BEBF4-EDF0-B4AF-CD01-9B1DD70E50DB}"/>
                    </a:ext>
                  </a:extLst>
                </p14:cNvPr>
                <p14:cNvContentPartPr/>
                <p14:nvPr/>
              </p14:nvContentPartPr>
              <p14:xfrm>
                <a:off x="7900200" y="5870304"/>
                <a:ext cx="173520" cy="19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06BEBF4-EDF0-B4AF-CD01-9B1DD70E50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894080" y="5864184"/>
                  <a:ext cx="1857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E5E162A-85E8-A762-6DFF-107F54449BEF}"/>
                    </a:ext>
                  </a:extLst>
                </p14:cNvPr>
                <p14:cNvContentPartPr/>
                <p14:nvPr/>
              </p14:nvContentPartPr>
              <p14:xfrm>
                <a:off x="7886880" y="5888664"/>
                <a:ext cx="110880" cy="1184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E5E162A-85E8-A762-6DFF-107F54449BE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880760" y="5882544"/>
                  <a:ext cx="12312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4C19D6-4D2C-03AE-5AEE-B6E770A3F151}"/>
              </a:ext>
            </a:extLst>
          </p:cNvPr>
          <p:cNvGrpSpPr/>
          <p:nvPr/>
        </p:nvGrpSpPr>
        <p:grpSpPr>
          <a:xfrm>
            <a:off x="6058348" y="6394251"/>
            <a:ext cx="617040" cy="256320"/>
            <a:chOff x="7461360" y="6418944"/>
            <a:chExt cx="617040" cy="25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99826F5-C092-59C5-FAD4-8D658C921838}"/>
                    </a:ext>
                  </a:extLst>
                </p14:cNvPr>
                <p14:cNvContentPartPr/>
                <p14:nvPr/>
              </p14:nvContentPartPr>
              <p14:xfrm>
                <a:off x="7479720" y="6418944"/>
                <a:ext cx="155880" cy="92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99826F5-C092-59C5-FAD4-8D658C9218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73600" y="6412824"/>
                  <a:ext cx="1681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3E976EB-3301-A075-CBF0-2E083B4FD6C7}"/>
                    </a:ext>
                  </a:extLst>
                </p14:cNvPr>
                <p14:cNvContentPartPr/>
                <p14:nvPr/>
              </p14:nvContentPartPr>
              <p14:xfrm>
                <a:off x="7461360" y="6525144"/>
                <a:ext cx="214560" cy="500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3E976EB-3301-A075-CBF0-2E083B4FD6C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455240" y="6518980"/>
                  <a:ext cx="226800" cy="62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ED14EB-AC94-18D2-4E58-C955A74F9DD2}"/>
                    </a:ext>
                  </a:extLst>
                </p14:cNvPr>
                <p14:cNvContentPartPr/>
                <p14:nvPr/>
              </p14:nvContentPartPr>
              <p14:xfrm>
                <a:off x="7497720" y="6440544"/>
                <a:ext cx="580680" cy="23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ED14EB-AC94-18D2-4E58-C955A74F9DD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491596" y="6434424"/>
                  <a:ext cx="592928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C45631-2955-5A69-E374-F3CCF5B8A4F7}"/>
                    </a:ext>
                  </a:extLst>
                </p14:cNvPr>
                <p14:cNvContentPartPr/>
                <p14:nvPr/>
              </p14:nvContentPartPr>
              <p14:xfrm>
                <a:off x="8019360" y="6501384"/>
                <a:ext cx="43200" cy="92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C45631-2955-5A69-E374-F3CCF5B8A4F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13240" y="6495264"/>
                  <a:ext cx="55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4FB6BC5-AEF8-2226-A477-F0440157FF94}"/>
                    </a:ext>
                  </a:extLst>
                </p14:cNvPr>
                <p14:cNvContentPartPr/>
                <p14:nvPr/>
              </p14:nvContentPartPr>
              <p14:xfrm>
                <a:off x="7954920" y="6517584"/>
                <a:ext cx="92520" cy="110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4FB6BC5-AEF8-2226-A477-F0440157FF9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48800" y="6511464"/>
                  <a:ext cx="104760" cy="123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0A3AA4C9-9908-6544-40CA-D36D679CB339}"/>
              </a:ext>
            </a:extLst>
          </p:cNvPr>
          <p:cNvSpPr txBox="1"/>
          <p:nvPr/>
        </p:nvSpPr>
        <p:spPr>
          <a:xfrm>
            <a:off x="3909762" y="5173243"/>
            <a:ext cx="638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1:1</a:t>
            </a:r>
          </a:p>
          <a:p>
            <a:endParaRPr lang="en-GB"/>
          </a:p>
          <a:p>
            <a:r>
              <a:rPr lang="en-GB"/>
              <a:t>1:M</a:t>
            </a:r>
          </a:p>
          <a:p>
            <a:endParaRPr lang="en-GB"/>
          </a:p>
          <a:p>
            <a:r>
              <a:rPr lang="en-GB"/>
              <a:t>M:M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6D1DCF-2B4D-A544-1EAC-354F72F0A0D8}"/>
              </a:ext>
            </a:extLst>
          </p:cNvPr>
          <p:cNvSpPr txBox="1"/>
          <p:nvPr/>
        </p:nvSpPr>
        <p:spPr>
          <a:xfrm>
            <a:off x="8322587" y="5222811"/>
            <a:ext cx="3917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Indexing: In order that a record with a specific primary key can be quickly found, an </a:t>
            </a:r>
            <a:r>
              <a:rPr lang="en-GB" b="1"/>
              <a:t>index of primary keys will be automatically maintained by the database software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746118D-78F6-2A0C-0057-0B580EC79F3F}"/>
              </a:ext>
            </a:extLst>
          </p:cNvPr>
          <p:cNvSpPr txBox="1"/>
          <p:nvPr/>
        </p:nvSpPr>
        <p:spPr>
          <a:xfrm>
            <a:off x="9784079" y="1028700"/>
            <a:ext cx="22550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 </a:t>
            </a:r>
            <a:r>
              <a:rPr lang="en-GB" b="1"/>
              <a:t>Flat file databases </a:t>
            </a:r>
            <a:r>
              <a:rPr lang="en-GB"/>
              <a:t>consist of a </a:t>
            </a:r>
            <a:r>
              <a:rPr lang="en-GB" b="1"/>
              <a:t>single table</a:t>
            </a:r>
            <a:r>
              <a:rPr lang="en-GB"/>
              <a:t> and entity and can be created very easily. 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F69403-579A-ABCE-E7B9-D02C686994CF}"/>
              </a:ext>
            </a:extLst>
          </p:cNvPr>
          <p:cNvSpPr/>
          <p:nvPr/>
        </p:nvSpPr>
        <p:spPr>
          <a:xfrm>
            <a:off x="86458" y="696779"/>
            <a:ext cx="5971890" cy="1494668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0F06E6F-2756-9075-88CA-5280394F4AE9}"/>
              </a:ext>
            </a:extLst>
          </p:cNvPr>
          <p:cNvSpPr/>
          <p:nvPr/>
        </p:nvSpPr>
        <p:spPr>
          <a:xfrm>
            <a:off x="0" y="3895622"/>
            <a:ext cx="3719413" cy="296237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ABE4CB-27AB-F62C-8B1A-BE803B091EFC}"/>
              </a:ext>
            </a:extLst>
          </p:cNvPr>
          <p:cNvSpPr/>
          <p:nvPr/>
        </p:nvSpPr>
        <p:spPr>
          <a:xfrm>
            <a:off x="3817949" y="2432369"/>
            <a:ext cx="3631423" cy="177905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EEDD3FF-6695-088C-953E-7796105C54A4}"/>
              </a:ext>
            </a:extLst>
          </p:cNvPr>
          <p:cNvSpPr/>
          <p:nvPr/>
        </p:nvSpPr>
        <p:spPr>
          <a:xfrm>
            <a:off x="3909762" y="4288462"/>
            <a:ext cx="4398461" cy="566741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EF80ED2-DC96-3881-42FB-1288DA6D21EA}"/>
              </a:ext>
            </a:extLst>
          </p:cNvPr>
          <p:cNvSpPr/>
          <p:nvPr/>
        </p:nvSpPr>
        <p:spPr>
          <a:xfrm>
            <a:off x="8304299" y="5138367"/>
            <a:ext cx="3832420" cy="1561772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03556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4CFCA-6931-FFD6-C7CF-9A5890A03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1D6F996-45B8-D09F-F931-FE93596E93B3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E3853B6-98CB-E0DA-28BA-C96595CC4DC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AB1EFF-F1E9-28DE-0792-C0310E03F691}"/>
              </a:ext>
            </a:extLst>
          </p:cNvPr>
          <p:cNvSpPr txBox="1"/>
          <p:nvPr/>
        </p:nvSpPr>
        <p:spPr>
          <a:xfrm>
            <a:off x="472937" y="252740"/>
            <a:ext cx="3687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MANAGING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BE89C-C888-21D8-2848-ED51D8399EEA}"/>
              </a:ext>
            </a:extLst>
          </p:cNvPr>
          <p:cNvSpPr txBox="1"/>
          <p:nvPr/>
        </p:nvSpPr>
        <p:spPr>
          <a:xfrm>
            <a:off x="256032" y="950976"/>
            <a:ext cx="390448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Capturing Data: Data needs to be inputted into the database either </a:t>
            </a:r>
            <a:r>
              <a:rPr lang="en-GB" b="1"/>
              <a:t>manually or automatically.</a:t>
            </a:r>
          </a:p>
          <a:p>
            <a:endParaRPr lang="en-GB"/>
          </a:p>
          <a:p>
            <a:r>
              <a:rPr lang="en-GB"/>
              <a:t>Bank scans use </a:t>
            </a:r>
            <a:r>
              <a:rPr lang="en-GB" b="1"/>
              <a:t>Magnetic Ink Character Recognition </a:t>
            </a:r>
            <a:r>
              <a:rPr lang="en-GB"/>
              <a:t>for cheques.</a:t>
            </a:r>
          </a:p>
          <a:p>
            <a:endParaRPr lang="en-GB"/>
          </a:p>
          <a:p>
            <a:r>
              <a:rPr lang="en-GB"/>
              <a:t> </a:t>
            </a:r>
            <a:r>
              <a:rPr lang="en-GB" b="1"/>
              <a:t>Optical Mark Recognition </a:t>
            </a:r>
            <a:r>
              <a:rPr lang="en-GB"/>
              <a:t>is used for multiple choice questions on a test.</a:t>
            </a:r>
          </a:p>
          <a:p>
            <a:endParaRPr lang="en-GB"/>
          </a:p>
          <a:p>
            <a:r>
              <a:rPr lang="en-GB"/>
              <a:t>Other forms uses </a:t>
            </a:r>
            <a:r>
              <a:rPr lang="en-GB" b="1"/>
              <a:t>Optical Character Recognition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0B429F-2AE8-6DF8-8798-81DE332F34D1}"/>
              </a:ext>
            </a:extLst>
          </p:cNvPr>
          <p:cNvSpPr txBox="1"/>
          <p:nvPr/>
        </p:nvSpPr>
        <p:spPr>
          <a:xfrm>
            <a:off x="4850970" y="986740"/>
            <a:ext cx="4788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Selecting data: Selecting the correct data is an important part </a:t>
            </a:r>
            <a:r>
              <a:rPr lang="en-GB" b="1"/>
              <a:t>of data preprocessing </a:t>
            </a:r>
            <a:r>
              <a:rPr lang="en-GB"/>
              <a:t>– involves </a:t>
            </a:r>
            <a:r>
              <a:rPr lang="en-GB" b="1"/>
              <a:t>removing background information </a:t>
            </a:r>
            <a:r>
              <a:rPr lang="en-GB"/>
              <a:t>and data that </a:t>
            </a:r>
            <a:r>
              <a:rPr lang="en-GB" b="1"/>
              <a:t>doesn’t fit a certain criteria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179176-766F-F767-9F62-8A1FE4F0E662}"/>
              </a:ext>
            </a:extLst>
          </p:cNvPr>
          <p:cNvSpPr txBox="1"/>
          <p:nvPr/>
        </p:nvSpPr>
        <p:spPr>
          <a:xfrm>
            <a:off x="5024814" y="5036949"/>
            <a:ext cx="5796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Exchanging Data: The process </a:t>
            </a:r>
            <a:r>
              <a:rPr lang="en-GB" b="1"/>
              <a:t>of transferring </a:t>
            </a:r>
            <a:r>
              <a:rPr lang="en-GB"/>
              <a:t>the collected data is commonly done by </a:t>
            </a:r>
            <a:r>
              <a:rPr lang="en-GB" b="1"/>
              <a:t>an EDI (Electronic Data Interchange). </a:t>
            </a:r>
            <a:r>
              <a:rPr lang="en-GB"/>
              <a:t>It doesn’t require human interaction and enables </a:t>
            </a:r>
            <a:r>
              <a:rPr lang="en-GB" b="1"/>
              <a:t>data transfer between computers</a:t>
            </a:r>
          </a:p>
        </p:txBody>
      </p:sp>
      <p:pic>
        <p:nvPicPr>
          <p:cNvPr id="1026" name="Picture 2" descr="Help with cheques | Nationwide">
            <a:extLst>
              <a:ext uri="{FF2B5EF4-FFF2-40B4-BE49-F238E27FC236}">
                <a16:creationId xmlns:a16="http://schemas.microsoft.com/office/drawing/2014/main" id="{FE4CD510-08F9-D5B5-7CFF-5F4ABA1F4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59" y="4556502"/>
            <a:ext cx="3268735" cy="183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eed Cameras in the UK ...">
            <a:extLst>
              <a:ext uri="{FF2B5EF4-FFF2-40B4-BE49-F238E27FC236}">
                <a16:creationId xmlns:a16="http://schemas.microsoft.com/office/drawing/2014/main" id="{B1201099-F5AF-05B5-55DA-9C344FBC8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5540" y="2196723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5C041F-1C3E-FA0A-C9E8-8986364F52F5}"/>
              </a:ext>
            </a:extLst>
          </p:cNvPr>
          <p:cNvSpPr txBox="1"/>
          <p:nvPr/>
        </p:nvSpPr>
        <p:spPr>
          <a:xfrm>
            <a:off x="5052447" y="2696705"/>
            <a:ext cx="35491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 example could be a speed camera removing information other than the license plate and disregarding data from cars that didn’t speed.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6239129-6C38-A247-2D8D-C14B75551698}"/>
              </a:ext>
            </a:extLst>
          </p:cNvPr>
          <p:cNvSpPr/>
          <p:nvPr/>
        </p:nvSpPr>
        <p:spPr>
          <a:xfrm>
            <a:off x="139485" y="775960"/>
            <a:ext cx="4021032" cy="3780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9F586A-508E-7254-9C7C-A3F2B10FC7FE}"/>
              </a:ext>
            </a:extLst>
          </p:cNvPr>
          <p:cNvSpPr/>
          <p:nvPr/>
        </p:nvSpPr>
        <p:spPr>
          <a:xfrm>
            <a:off x="4738385" y="620722"/>
            <a:ext cx="4847154" cy="378054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177722-1D5E-1911-C91B-E54A7341A009}"/>
              </a:ext>
            </a:extLst>
          </p:cNvPr>
          <p:cNvSpPr/>
          <p:nvPr/>
        </p:nvSpPr>
        <p:spPr>
          <a:xfrm>
            <a:off x="4850970" y="4910900"/>
            <a:ext cx="5970210" cy="1483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54269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80339-A12F-1D00-AB42-0666833F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9158AC3-2185-2E57-E13F-39A80B71180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AD26FB-B305-C44A-2930-99144F08F395}"/>
              </a:ext>
            </a:extLst>
          </p:cNvPr>
          <p:cNvSpPr txBox="1"/>
          <p:nvPr/>
        </p:nvSpPr>
        <p:spPr>
          <a:xfrm>
            <a:off x="110625" y="192024"/>
            <a:ext cx="55495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NORMALISATION (DATABASES)</a:t>
            </a:r>
          </a:p>
        </p:txBody>
      </p:sp>
      <p:sp>
        <p:nvSpPr>
          <p:cNvPr id="8" name="Action Button: Go to Beginning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48E7C50-C71B-5CD4-5B6B-A76D31F27C5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98165D-A129-9CB6-C538-242E3CEE8DC2}"/>
              </a:ext>
            </a:extLst>
          </p:cNvPr>
          <p:cNvSpPr txBox="1"/>
          <p:nvPr/>
        </p:nvSpPr>
        <p:spPr>
          <a:xfrm>
            <a:off x="0" y="627594"/>
            <a:ext cx="406849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Normalisation is a process used to produce the </a:t>
            </a:r>
            <a:r>
              <a:rPr lang="en-GB" b="1"/>
              <a:t>best possible design for a relational database</a:t>
            </a:r>
            <a:r>
              <a:rPr lang="en-GB"/>
              <a:t>. It ensures the tables are organised via:</a:t>
            </a:r>
          </a:p>
          <a:p>
            <a:endParaRPr lang="en-GB"/>
          </a:p>
          <a:p>
            <a:r>
              <a:rPr lang="en-GB"/>
              <a:t>. </a:t>
            </a:r>
            <a:r>
              <a:rPr lang="en-GB" b="1"/>
              <a:t>Removing</a:t>
            </a:r>
            <a:r>
              <a:rPr lang="en-GB"/>
              <a:t> unnecessary </a:t>
            </a:r>
            <a:r>
              <a:rPr lang="en-GB" b="1"/>
              <a:t>duplicated</a:t>
            </a:r>
            <a:r>
              <a:rPr lang="en-GB"/>
              <a:t> data</a:t>
            </a:r>
          </a:p>
          <a:p>
            <a:r>
              <a:rPr lang="en-GB"/>
              <a:t>. Data being </a:t>
            </a:r>
            <a:r>
              <a:rPr lang="en-GB" b="1"/>
              <a:t>consistent</a:t>
            </a:r>
            <a:r>
              <a:rPr lang="en-GB"/>
              <a:t> throughout database</a:t>
            </a:r>
          </a:p>
          <a:p>
            <a:r>
              <a:rPr lang="en-GB"/>
              <a:t>. The structure of the table is </a:t>
            </a:r>
            <a:r>
              <a:rPr lang="en-GB" b="1"/>
              <a:t>flexible</a:t>
            </a:r>
            <a:r>
              <a:rPr lang="en-GB"/>
              <a:t> enough to allow you to enter as many items as required</a:t>
            </a:r>
          </a:p>
          <a:p>
            <a:r>
              <a:rPr lang="en-GB"/>
              <a:t>. Structure should </a:t>
            </a:r>
            <a:r>
              <a:rPr lang="en-GB" b="1"/>
              <a:t>enable</a:t>
            </a:r>
            <a:r>
              <a:rPr lang="en-GB"/>
              <a:t> a user to make </a:t>
            </a:r>
            <a:r>
              <a:rPr lang="en-GB" b="1"/>
              <a:t>complex queries </a:t>
            </a:r>
            <a:r>
              <a:rPr lang="en-GB"/>
              <a:t>relating data from different tables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91B3DC-A8E4-F272-6EAE-E50397D76A4B}"/>
              </a:ext>
            </a:extLst>
          </p:cNvPr>
          <p:cNvSpPr txBox="1"/>
          <p:nvPr/>
        </p:nvSpPr>
        <p:spPr>
          <a:xfrm>
            <a:off x="5596455" y="257434"/>
            <a:ext cx="3758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table is in </a:t>
            </a:r>
            <a:r>
              <a:rPr lang="en-GB" b="1"/>
              <a:t>1NF if no repeating attribute</a:t>
            </a:r>
            <a:r>
              <a:rPr lang="en-GB"/>
              <a:t> or groups of attributes are in the table.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4D43D3DF-AD4B-8A52-CDAC-861CE4D96A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94031"/>
              </p:ext>
            </p:extLst>
          </p:nvPr>
        </p:nvGraphicFramePr>
        <p:xfrm>
          <a:off x="3986784" y="1234226"/>
          <a:ext cx="81317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64">
                  <a:extLst>
                    <a:ext uri="{9D8B030D-6E8A-4147-A177-3AD203B41FA5}">
                      <a16:colId xmlns:a16="http://schemas.microsoft.com/office/drawing/2014/main" val="981921275"/>
                    </a:ext>
                  </a:extLst>
                </a:gridCol>
                <a:gridCol w="911691">
                  <a:extLst>
                    <a:ext uri="{9D8B030D-6E8A-4147-A177-3AD203B41FA5}">
                      <a16:colId xmlns:a16="http://schemas.microsoft.com/office/drawing/2014/main" val="1750981857"/>
                    </a:ext>
                  </a:extLst>
                </a:gridCol>
                <a:gridCol w="536045">
                  <a:extLst>
                    <a:ext uri="{9D8B030D-6E8A-4147-A177-3AD203B41FA5}">
                      <a16:colId xmlns:a16="http://schemas.microsoft.com/office/drawing/2014/main" val="2904285341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3189608931"/>
                    </a:ext>
                  </a:extLst>
                </a:gridCol>
                <a:gridCol w="786384">
                  <a:extLst>
                    <a:ext uri="{9D8B030D-6E8A-4147-A177-3AD203B41FA5}">
                      <a16:colId xmlns:a16="http://schemas.microsoft.com/office/drawing/2014/main" val="1029960994"/>
                    </a:ext>
                  </a:extLst>
                </a:gridCol>
                <a:gridCol w="996696">
                  <a:extLst>
                    <a:ext uri="{9D8B030D-6E8A-4147-A177-3AD203B41FA5}">
                      <a16:colId xmlns:a16="http://schemas.microsoft.com/office/drawing/2014/main" val="344318086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985239030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827739920"/>
                    </a:ext>
                  </a:extLst>
                </a:gridCol>
                <a:gridCol w="1255504">
                  <a:extLst>
                    <a:ext uri="{9D8B030D-6E8A-4147-A177-3AD203B41FA5}">
                      <a16:colId xmlns:a16="http://schemas.microsoft.com/office/drawing/2014/main" val="1527527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200"/>
                        <a:t>ProductId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ProductName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Selling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CompId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Comp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Comp Qty</a:t>
                      </a:r>
                    </a:p>
                    <a:p>
                      <a:endParaRPr lang="en-GB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SupplierId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SupplierName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084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/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Monkey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ST01</a:t>
                      </a:r>
                    </a:p>
                    <a:p>
                      <a:r>
                        <a:rPr lang="en-GB" sz="1200"/>
                        <a:t>G56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Stuffing</a:t>
                      </a:r>
                    </a:p>
                    <a:p>
                      <a:r>
                        <a:rPr lang="en-GB" sz="1200"/>
                        <a:t>Small eye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30</a:t>
                      </a:r>
                    </a:p>
                    <a:p>
                      <a:r>
                        <a:rPr lang="en-GB" sz="12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ABC</a:t>
                      </a:r>
                    </a:p>
                    <a:p>
                      <a:r>
                        <a:rPr lang="en-GB" sz="1200"/>
                        <a:t>BH Glass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ABC Ltd</a:t>
                      </a:r>
                    </a:p>
                    <a:p>
                      <a:r>
                        <a:rPr lang="en-GB" sz="1200"/>
                        <a:t>BH Ltd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8736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200"/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ST01</a:t>
                      </a:r>
                    </a:p>
                    <a:p>
                      <a:r>
                        <a:rPr lang="en-GB" sz="1200"/>
                        <a:t>G120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Stuffing</a:t>
                      </a:r>
                    </a:p>
                    <a:p>
                      <a:r>
                        <a:rPr lang="en-GB" sz="1200"/>
                        <a:t>Medium Eye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30</a:t>
                      </a:r>
                    </a:p>
                    <a:p>
                      <a:r>
                        <a:rPr lang="en-GB" sz="12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ABC</a:t>
                      </a:r>
                    </a:p>
                    <a:p>
                      <a:r>
                        <a:rPr lang="en-GB" sz="1200"/>
                        <a:t>XYZ Glass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/>
                        <a:t>ABC Ltd</a:t>
                      </a:r>
                    </a:p>
                    <a:p>
                      <a:r>
                        <a:rPr lang="en-GB" sz="1200"/>
                        <a:t>XYZ Ltd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33893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BB4E679-ED33-BEA9-3763-A1651B4AB3CC}"/>
              </a:ext>
            </a:extLst>
          </p:cNvPr>
          <p:cNvSpPr txBox="1"/>
          <p:nvPr/>
        </p:nvSpPr>
        <p:spPr>
          <a:xfrm>
            <a:off x="4141191" y="2864537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 this example there are </a:t>
            </a:r>
            <a:r>
              <a:rPr lang="en-GB" b="1"/>
              <a:t>repeating groups </a:t>
            </a:r>
            <a:r>
              <a:rPr lang="en-GB"/>
              <a:t>– so this can be removed via two tables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B291A6-6B82-EBE6-8197-3483EAB5CD55}"/>
              </a:ext>
            </a:extLst>
          </p:cNvPr>
          <p:cNvSpPr/>
          <p:nvPr/>
        </p:nvSpPr>
        <p:spPr>
          <a:xfrm>
            <a:off x="8944429" y="3029129"/>
            <a:ext cx="820420" cy="511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Product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41C76-32CE-9A3E-A052-37BAB4BE50D0}"/>
              </a:ext>
            </a:extLst>
          </p:cNvPr>
          <p:cNvSpPr/>
          <p:nvPr/>
        </p:nvSpPr>
        <p:spPr>
          <a:xfrm>
            <a:off x="10633021" y="3017520"/>
            <a:ext cx="1137042" cy="5116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Component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33A7352-4F01-87DC-98B5-75A0D8D3FFC9}"/>
              </a:ext>
            </a:extLst>
          </p:cNvPr>
          <p:cNvGrpSpPr/>
          <p:nvPr/>
        </p:nvGrpSpPr>
        <p:grpSpPr>
          <a:xfrm>
            <a:off x="9803127" y="3136265"/>
            <a:ext cx="536760" cy="256680"/>
            <a:chOff x="10151640" y="3124656"/>
            <a:chExt cx="53676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5830682-B643-06E2-D1CC-0731E0C56DBF}"/>
                    </a:ext>
                  </a:extLst>
                </p14:cNvPr>
                <p14:cNvContentPartPr/>
                <p14:nvPr/>
              </p14:nvContentPartPr>
              <p14:xfrm>
                <a:off x="10151640" y="3262176"/>
                <a:ext cx="536760" cy="39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5830682-B643-06E2-D1CC-0731E0C56D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145520" y="3256112"/>
                  <a:ext cx="549000" cy="513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122680-F343-2DA4-634D-5026870AF224}"/>
                    </a:ext>
                  </a:extLst>
                </p14:cNvPr>
                <p14:cNvContentPartPr/>
                <p14:nvPr/>
              </p14:nvContentPartPr>
              <p14:xfrm>
                <a:off x="10168200" y="3124656"/>
                <a:ext cx="173880" cy="158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122680-F343-2DA4-634D-5026870AF22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162080" y="3118550"/>
                  <a:ext cx="186120" cy="17025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D04DB00-0689-5890-7CD1-2CCD034FB6F4}"/>
                    </a:ext>
                  </a:extLst>
                </p14:cNvPr>
                <p14:cNvContentPartPr/>
                <p14:nvPr/>
              </p14:nvContentPartPr>
              <p14:xfrm>
                <a:off x="10193040" y="3264336"/>
                <a:ext cx="158040" cy="1170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D04DB00-0689-5890-7CD1-2CCD034FB6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186906" y="3258216"/>
                  <a:ext cx="170308" cy="12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2D48515-8651-A381-22D7-C870DA8C44D1}"/>
              </a:ext>
            </a:extLst>
          </p:cNvPr>
          <p:cNvGrpSpPr/>
          <p:nvPr/>
        </p:nvGrpSpPr>
        <p:grpSpPr>
          <a:xfrm>
            <a:off x="10331834" y="3135907"/>
            <a:ext cx="323280" cy="298080"/>
            <a:chOff x="10625040" y="3184776"/>
            <a:chExt cx="3232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3B7684B-4F08-B69F-0F1B-F21A90B86C43}"/>
                    </a:ext>
                  </a:extLst>
                </p14:cNvPr>
                <p14:cNvContentPartPr/>
                <p14:nvPr/>
              </p14:nvContentPartPr>
              <p14:xfrm>
                <a:off x="10625040" y="3184776"/>
                <a:ext cx="218520" cy="1256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3B7684B-4F08-B69F-0F1B-F21A90B86C4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618920" y="3178656"/>
                  <a:ext cx="2307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950B050-0F3D-9C45-2401-3769E33030E1}"/>
                    </a:ext>
                  </a:extLst>
                </p14:cNvPr>
                <p14:cNvContentPartPr/>
                <p14:nvPr/>
              </p14:nvContentPartPr>
              <p14:xfrm>
                <a:off x="10725480" y="3300696"/>
                <a:ext cx="158760" cy="15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950B050-0F3D-9C45-2401-3769E33030E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719360" y="3294715"/>
                  <a:ext cx="171000" cy="274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D2833E6-3E22-D68B-4DB7-681AF899CD56}"/>
                    </a:ext>
                  </a:extLst>
                </p14:cNvPr>
                <p14:cNvContentPartPr/>
                <p14:nvPr/>
              </p14:nvContentPartPr>
              <p14:xfrm>
                <a:off x="10725480" y="3328416"/>
                <a:ext cx="222840" cy="154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D2833E6-3E22-D68B-4DB7-681AF899CD5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719360" y="3322310"/>
                  <a:ext cx="235080" cy="16665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4C0B2988-95DD-AE3F-7D4A-42AEA8EB6F05}"/>
              </a:ext>
            </a:extLst>
          </p:cNvPr>
          <p:cNvSpPr txBox="1"/>
          <p:nvPr/>
        </p:nvSpPr>
        <p:spPr>
          <a:xfrm>
            <a:off x="4138553" y="3490911"/>
            <a:ext cx="31249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However, this is </a:t>
            </a:r>
            <a:r>
              <a:rPr lang="en-GB" b="1"/>
              <a:t>M-M relationship</a:t>
            </a:r>
            <a:r>
              <a:rPr lang="en-GB"/>
              <a:t>, so a link attribute is difficult to create – </a:t>
            </a:r>
            <a:r>
              <a:rPr lang="en-GB" b="1"/>
              <a:t>so a link table is made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BDEA2A8-24E0-CC01-CCE2-EF06C6FD629E}"/>
              </a:ext>
            </a:extLst>
          </p:cNvPr>
          <p:cNvSpPr/>
          <p:nvPr/>
        </p:nvSpPr>
        <p:spPr>
          <a:xfrm>
            <a:off x="7374361" y="3946409"/>
            <a:ext cx="1176597" cy="367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Product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C7C8B5D-EE7D-C730-814C-8AEE144C70B5}"/>
              </a:ext>
            </a:extLst>
          </p:cNvPr>
          <p:cNvSpPr/>
          <p:nvPr/>
        </p:nvSpPr>
        <p:spPr>
          <a:xfrm>
            <a:off x="10633021" y="3911457"/>
            <a:ext cx="1176597" cy="367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Component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8B352A-D5F2-76C1-0937-C46766E1A3B1}"/>
              </a:ext>
            </a:extLst>
          </p:cNvPr>
          <p:cNvSpPr/>
          <p:nvPr/>
        </p:nvSpPr>
        <p:spPr>
          <a:xfrm>
            <a:off x="9014727" y="3912100"/>
            <a:ext cx="1269781" cy="3679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/>
              <a:t>ProductComp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6AA3CC6-E83B-308D-287E-B203FA718887}"/>
              </a:ext>
            </a:extLst>
          </p:cNvPr>
          <p:cNvGrpSpPr/>
          <p:nvPr/>
        </p:nvGrpSpPr>
        <p:grpSpPr>
          <a:xfrm>
            <a:off x="8588825" y="4055892"/>
            <a:ext cx="433440" cy="223560"/>
            <a:chOff x="9052200" y="4026456"/>
            <a:chExt cx="433440" cy="22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95CC635-C5CC-E770-37FB-CFED0F9D4377}"/>
                    </a:ext>
                  </a:extLst>
                </p14:cNvPr>
                <p14:cNvContentPartPr/>
                <p14:nvPr/>
              </p14:nvContentPartPr>
              <p14:xfrm>
                <a:off x="9052200" y="4026456"/>
                <a:ext cx="433440" cy="1166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95CC635-C5CC-E770-37FB-CFED0F9D437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46075" y="4020355"/>
                  <a:ext cx="445690" cy="12884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9D879CC-7A50-DDCC-3F47-C3AB0C36FA59}"/>
                    </a:ext>
                  </a:extLst>
                </p14:cNvPr>
                <p14:cNvContentPartPr/>
                <p14:nvPr/>
              </p14:nvContentPartPr>
              <p14:xfrm>
                <a:off x="9363240" y="4151376"/>
                <a:ext cx="90360" cy="18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9D879CC-7A50-DDCC-3F47-C3AB0C36FA5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57120" y="4145256"/>
                  <a:ext cx="1026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876AEF-097B-3161-7101-44A126BF6567}"/>
                    </a:ext>
                  </a:extLst>
                </p14:cNvPr>
                <p14:cNvContentPartPr/>
                <p14:nvPr/>
              </p14:nvContentPartPr>
              <p14:xfrm>
                <a:off x="9244440" y="4151016"/>
                <a:ext cx="163440" cy="99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876AEF-097B-3161-7101-44A126BF656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38333" y="4144874"/>
                  <a:ext cx="175653" cy="11128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BC7F2296-72BD-0637-3541-0D1B6F1DF047}"/>
              </a:ext>
            </a:extLst>
          </p:cNvPr>
          <p:cNvGrpSpPr/>
          <p:nvPr/>
        </p:nvGrpSpPr>
        <p:grpSpPr>
          <a:xfrm>
            <a:off x="10227207" y="3970745"/>
            <a:ext cx="376920" cy="284760"/>
            <a:chOff x="10575720" y="3959136"/>
            <a:chExt cx="376920" cy="28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BFC7198-C0DC-3666-2B93-901ED032FE36}"/>
                    </a:ext>
                  </a:extLst>
                </p14:cNvPr>
                <p14:cNvContentPartPr/>
                <p14:nvPr/>
              </p14:nvContentPartPr>
              <p14:xfrm>
                <a:off x="10575720" y="3959136"/>
                <a:ext cx="217080" cy="2847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BFC7198-C0DC-3666-2B93-901ED032FE3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569600" y="3953016"/>
                  <a:ext cx="229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E1EFD47-18F4-F862-663E-1C9CA7CDC524}"/>
                    </a:ext>
                  </a:extLst>
                </p14:cNvPr>
                <p14:cNvContentPartPr/>
                <p14:nvPr/>
              </p14:nvContentPartPr>
              <p14:xfrm>
                <a:off x="10743840" y="4124016"/>
                <a:ext cx="208800" cy="9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E1EFD47-18F4-F862-663E-1C9CA7CDC52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37720" y="4117896"/>
                  <a:ext cx="221040" cy="21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352DFD0A-9B21-A786-BB44-394D8CB9DAD6}"/>
              </a:ext>
            </a:extLst>
          </p:cNvPr>
          <p:cNvSpPr txBox="1"/>
          <p:nvPr/>
        </p:nvSpPr>
        <p:spPr>
          <a:xfrm>
            <a:off x="5426631" y="4780898"/>
            <a:ext cx="562056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can be now written as </a:t>
            </a:r>
          </a:p>
          <a:p>
            <a:r>
              <a:rPr lang="en-GB"/>
              <a:t>Product(</a:t>
            </a:r>
            <a:r>
              <a:rPr lang="en-GB" b="1" u="sng"/>
              <a:t>ProductID</a:t>
            </a:r>
            <a:r>
              <a:rPr lang="en-GB"/>
              <a:t>, Product Name, Cost, SellingPrice)       </a:t>
            </a:r>
          </a:p>
          <a:p>
            <a:endParaRPr lang="en-GB"/>
          </a:p>
          <a:p>
            <a:r>
              <a:rPr lang="en-GB"/>
              <a:t>ProductComp(</a:t>
            </a:r>
            <a:r>
              <a:rPr lang="en-GB" b="1" u="sng"/>
              <a:t>ProductID, CompID</a:t>
            </a:r>
            <a:r>
              <a:rPr lang="en-GB"/>
              <a:t>, CompQty)</a:t>
            </a:r>
          </a:p>
          <a:p>
            <a:endParaRPr lang="en-GB"/>
          </a:p>
          <a:p>
            <a:r>
              <a:rPr lang="en-GB"/>
              <a:t>Component(</a:t>
            </a:r>
            <a:r>
              <a:rPr lang="en-GB" b="1" u="sng"/>
              <a:t>CompID</a:t>
            </a:r>
            <a:r>
              <a:rPr lang="en-GB"/>
              <a:t>, CompName, SupplierID, SupplierName.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EB098D-3EA5-A0FD-2524-C22A1B9C2225}"/>
              </a:ext>
            </a:extLst>
          </p:cNvPr>
          <p:cNvSpPr txBox="1"/>
          <p:nvPr/>
        </p:nvSpPr>
        <p:spPr>
          <a:xfrm>
            <a:off x="110625" y="4934824"/>
            <a:ext cx="524865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For </a:t>
            </a:r>
            <a:r>
              <a:rPr lang="en-GB" b="1"/>
              <a:t>2NF</a:t>
            </a:r>
            <a:r>
              <a:rPr lang="en-GB"/>
              <a:t>, a table </a:t>
            </a:r>
            <a:r>
              <a:rPr lang="en-GB" b="1"/>
              <a:t>must be in 1NF</a:t>
            </a:r>
            <a:r>
              <a:rPr lang="en-GB"/>
              <a:t>, and any </a:t>
            </a:r>
            <a:r>
              <a:rPr lang="en-GB" b="1"/>
              <a:t>partial dependencies are removed</a:t>
            </a:r>
            <a:r>
              <a:rPr lang="en-GB"/>
              <a:t> – where one or more attributes depends </a:t>
            </a:r>
            <a:r>
              <a:rPr lang="en-GB" b="1"/>
              <a:t>on only part of a composite key</a:t>
            </a:r>
            <a:r>
              <a:rPr lang="en-GB"/>
              <a:t>. This does not affect our table as the only composite key is in ProductComp and CompQty is affected both by ProductID and CompID</a:t>
            </a:r>
          </a:p>
        </p:txBody>
      </p:sp>
      <p:sp>
        <p:nvSpPr>
          <p:cNvPr id="37" name="Action Button: Go Forward or Next 36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3518622-056B-58D9-6552-AB5EC7FA5A86}"/>
              </a:ext>
            </a:extLst>
          </p:cNvPr>
          <p:cNvSpPr/>
          <p:nvPr/>
        </p:nvSpPr>
        <p:spPr>
          <a:xfrm>
            <a:off x="10896865" y="5303973"/>
            <a:ext cx="1295135" cy="101602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F11DE2-B03A-B406-0EEF-CB45924643E7}"/>
              </a:ext>
            </a:extLst>
          </p:cNvPr>
          <p:cNvSpPr/>
          <p:nvPr/>
        </p:nvSpPr>
        <p:spPr>
          <a:xfrm>
            <a:off x="37931" y="627594"/>
            <a:ext cx="3948852" cy="13716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70CA7-682D-95EB-02FB-C8FE9120E004}"/>
              </a:ext>
            </a:extLst>
          </p:cNvPr>
          <p:cNvSpPr/>
          <p:nvPr/>
        </p:nvSpPr>
        <p:spPr>
          <a:xfrm>
            <a:off x="55149" y="2059106"/>
            <a:ext cx="3742901" cy="28757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ABE1472-2A62-C230-AD30-5CA3590F305A}"/>
              </a:ext>
            </a:extLst>
          </p:cNvPr>
          <p:cNvSpPr/>
          <p:nvPr/>
        </p:nvSpPr>
        <p:spPr>
          <a:xfrm>
            <a:off x="5487755" y="203333"/>
            <a:ext cx="3930565" cy="950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21A3AC-F89A-E11E-130E-CBCC5C2E82D3}"/>
              </a:ext>
            </a:extLst>
          </p:cNvPr>
          <p:cNvSpPr/>
          <p:nvPr/>
        </p:nvSpPr>
        <p:spPr>
          <a:xfrm>
            <a:off x="4094510" y="2764025"/>
            <a:ext cx="4805355" cy="7261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95E934-6ED1-558B-CA05-F6E3869C5353}"/>
              </a:ext>
            </a:extLst>
          </p:cNvPr>
          <p:cNvSpPr/>
          <p:nvPr/>
        </p:nvSpPr>
        <p:spPr>
          <a:xfrm>
            <a:off x="4163856" y="3511598"/>
            <a:ext cx="3044780" cy="117964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7312E6-1861-2EF2-FD36-8888FFFC543D}"/>
              </a:ext>
            </a:extLst>
          </p:cNvPr>
          <p:cNvSpPr/>
          <p:nvPr/>
        </p:nvSpPr>
        <p:spPr>
          <a:xfrm>
            <a:off x="5408343" y="4729590"/>
            <a:ext cx="5488522" cy="203132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AC22E51-CD47-0EB9-3968-1613205E9A80}"/>
              </a:ext>
            </a:extLst>
          </p:cNvPr>
          <p:cNvSpPr/>
          <p:nvPr/>
        </p:nvSpPr>
        <p:spPr>
          <a:xfrm>
            <a:off x="110625" y="4994734"/>
            <a:ext cx="5156319" cy="1671241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11546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CA59CE8-ABFC-77C8-3029-AFDF12699D8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39FD078-A40C-1DC7-3217-BF2D685EA55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2E870A-1E5A-E0E6-A2BC-7954F212BF7D}"/>
              </a:ext>
            </a:extLst>
          </p:cNvPr>
          <p:cNvSpPr txBox="1"/>
          <p:nvPr/>
        </p:nvSpPr>
        <p:spPr>
          <a:xfrm>
            <a:off x="292608" y="109728"/>
            <a:ext cx="5138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NORMALISATION CONTINUED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AE9B34-5E91-5236-A5DC-25210FEC39F5}"/>
              </a:ext>
            </a:extLst>
          </p:cNvPr>
          <p:cNvSpPr txBox="1"/>
          <p:nvPr/>
        </p:nvSpPr>
        <p:spPr>
          <a:xfrm>
            <a:off x="45648" y="816691"/>
            <a:ext cx="48585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3NF</a:t>
            </a:r>
            <a:r>
              <a:rPr lang="en-GB"/>
              <a:t> is where the tables are in </a:t>
            </a:r>
            <a:r>
              <a:rPr lang="en-GB" b="1"/>
              <a:t>2NF</a:t>
            </a:r>
            <a:r>
              <a:rPr lang="en-GB"/>
              <a:t> and contains </a:t>
            </a:r>
            <a:r>
              <a:rPr lang="en-GB" b="1"/>
              <a:t>no non-key dependencies.</a:t>
            </a:r>
          </a:p>
          <a:p>
            <a:endParaRPr lang="en-GB" b="1">
              <a:solidFill>
                <a:srgbClr val="FF0000"/>
              </a:solidFill>
            </a:endParaRPr>
          </a:p>
          <a:p>
            <a:r>
              <a:rPr lang="en-GB" b="1">
                <a:solidFill>
                  <a:srgbClr val="FF0000"/>
                </a:solidFill>
              </a:rPr>
              <a:t>All attributes are dependent on the key, the whole key and nothing but the key.</a:t>
            </a:r>
          </a:p>
          <a:p>
            <a:endParaRPr lang="en-GB"/>
          </a:p>
          <a:p>
            <a:r>
              <a:rPr lang="en-GB"/>
              <a:t>SupplierName is dependent on Supplier ID and not on the primary key, CompID.</a:t>
            </a:r>
          </a:p>
          <a:p>
            <a:endParaRPr lang="en-GB"/>
          </a:p>
          <a:p>
            <a:r>
              <a:rPr lang="en-GB"/>
              <a:t>It is therefore removed from this relation, and a </a:t>
            </a:r>
            <a:r>
              <a:rPr lang="en-GB" b="1"/>
              <a:t>new relation is created.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204A81-77E5-EE9C-71E2-65A3201CEAF5}"/>
              </a:ext>
            </a:extLst>
          </p:cNvPr>
          <p:cNvSpPr txBox="1"/>
          <p:nvPr/>
        </p:nvSpPr>
        <p:spPr>
          <a:xfrm>
            <a:off x="256032" y="4290907"/>
            <a:ext cx="60990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Product(</a:t>
            </a:r>
            <a:r>
              <a:rPr lang="en-GB" b="1" u="sng"/>
              <a:t>ProductID</a:t>
            </a:r>
            <a:r>
              <a:rPr lang="en-GB"/>
              <a:t>, Product Name, Cost, SellingPrice)       </a:t>
            </a:r>
          </a:p>
          <a:p>
            <a:endParaRPr lang="en-GB"/>
          </a:p>
          <a:p>
            <a:r>
              <a:rPr lang="en-GB"/>
              <a:t>ProductComp(</a:t>
            </a:r>
            <a:r>
              <a:rPr lang="en-GB" b="1" u="sng"/>
              <a:t>ProductID, CompID</a:t>
            </a:r>
            <a:r>
              <a:rPr lang="en-GB"/>
              <a:t>, CompQty)</a:t>
            </a:r>
          </a:p>
          <a:p>
            <a:endParaRPr lang="en-GB"/>
          </a:p>
          <a:p>
            <a:r>
              <a:rPr lang="en-GB"/>
              <a:t>Component(</a:t>
            </a:r>
            <a:r>
              <a:rPr lang="en-GB" b="1" u="sng"/>
              <a:t>CompID</a:t>
            </a:r>
            <a:r>
              <a:rPr lang="en-GB"/>
              <a:t>, CompName, SupplierID)</a:t>
            </a:r>
          </a:p>
          <a:p>
            <a:endParaRPr lang="en-GB"/>
          </a:p>
          <a:p>
            <a:r>
              <a:rPr lang="en-GB"/>
              <a:t>Supplier(</a:t>
            </a:r>
            <a:r>
              <a:rPr lang="en-GB" b="1" u="sng"/>
              <a:t>SupplierID</a:t>
            </a:r>
            <a:r>
              <a:rPr lang="en-GB"/>
              <a:t>, SupplierName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B0625DA-1807-4FA2-CB21-494CDB05AC06}"/>
                  </a:ext>
                </a:extLst>
              </p14:cNvPr>
              <p14:cNvContentPartPr/>
              <p14:nvPr/>
            </p14:nvContentPartPr>
            <p14:xfrm>
              <a:off x="4614111" y="4199749"/>
              <a:ext cx="1295640" cy="22136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B0625DA-1807-4FA2-CB21-494CDB05AC0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07989" y="4193629"/>
                <a:ext cx="1307883" cy="22258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45B1363-BC4F-9238-CDB6-834260258A90}"/>
              </a:ext>
            </a:extLst>
          </p:cNvPr>
          <p:cNvSpPr txBox="1"/>
          <p:nvPr/>
        </p:nvSpPr>
        <p:spPr>
          <a:xfrm>
            <a:off x="3640567" y="6459111"/>
            <a:ext cx="2714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FULLY NORMALISED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C0368-737F-9E8E-E496-21CD5D216E35}"/>
              </a:ext>
            </a:extLst>
          </p:cNvPr>
          <p:cNvSpPr txBox="1"/>
          <p:nvPr/>
        </p:nvSpPr>
        <p:spPr>
          <a:xfrm>
            <a:off x="5614586" y="109728"/>
            <a:ext cx="36757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 example of making a database into 2NF and it affecting the table:</a:t>
            </a:r>
          </a:p>
          <a:p>
            <a:endParaRPr lang="en-GB"/>
          </a:p>
          <a:p>
            <a:r>
              <a:rPr lang="en-GB"/>
              <a:t>Event(EventID, Year, EventName, Winner, Time)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DBD3CB-8155-3062-66FA-86F7D3F8156D}"/>
              </a:ext>
            </a:extLst>
          </p:cNvPr>
          <p:cNvSpPr txBox="1"/>
          <p:nvPr/>
        </p:nvSpPr>
        <p:spPr>
          <a:xfrm>
            <a:off x="5806440" y="2475948"/>
            <a:ext cx="6099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  <a:p>
            <a:r>
              <a:rPr lang="en-GB"/>
              <a:t>Event(</a:t>
            </a:r>
            <a:r>
              <a:rPr lang="en-GB" b="1" u="sng"/>
              <a:t>EventID, Year, </a:t>
            </a:r>
            <a:r>
              <a:rPr lang="en-GB"/>
              <a:t>Winner, Time)</a:t>
            </a:r>
          </a:p>
          <a:p>
            <a:r>
              <a:rPr lang="en-GB"/>
              <a:t>Name(</a:t>
            </a:r>
            <a:r>
              <a:rPr lang="en-GB" b="1" u="sng"/>
              <a:t>EventID</a:t>
            </a:r>
            <a:r>
              <a:rPr lang="en-GB"/>
              <a:t>, EventName)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405F542-83AD-5BCA-D77C-6EF75F1BB2B6}"/>
                  </a:ext>
                </a:extLst>
              </p14:cNvPr>
              <p14:cNvContentPartPr/>
              <p14:nvPr/>
            </p14:nvContentPartPr>
            <p14:xfrm>
              <a:off x="5337144" y="2924883"/>
              <a:ext cx="4083120" cy="69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405F542-83AD-5BCA-D77C-6EF75F1BB2B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31025" y="2918766"/>
                <a:ext cx="4095359" cy="704514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A1186CD-110E-219E-1DA8-D6B8279094EA}"/>
              </a:ext>
            </a:extLst>
          </p:cNvPr>
          <p:cNvSpPr txBox="1"/>
          <p:nvPr/>
        </p:nvSpPr>
        <p:spPr>
          <a:xfrm>
            <a:off x="6295140" y="3600030"/>
            <a:ext cx="2167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2NF Form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4E1B4-8592-F0F7-871A-6109718C8777}"/>
              </a:ext>
            </a:extLst>
          </p:cNvPr>
          <p:cNvSpPr txBox="1"/>
          <p:nvPr/>
        </p:nvSpPr>
        <p:spPr>
          <a:xfrm>
            <a:off x="5558112" y="1847508"/>
            <a:ext cx="35785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EventName is </a:t>
            </a:r>
            <a:r>
              <a:rPr lang="en-GB" b="1"/>
              <a:t>only dependent on Event ID not Year </a:t>
            </a:r>
            <a:r>
              <a:rPr lang="en-GB"/>
              <a:t>so this is a partial dependency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BB8EC1-7CFB-F1D3-2AD0-2B548D83542B}"/>
              </a:ext>
            </a:extLst>
          </p:cNvPr>
          <p:cNvSpPr txBox="1"/>
          <p:nvPr/>
        </p:nvSpPr>
        <p:spPr>
          <a:xfrm>
            <a:off x="9592667" y="1093690"/>
            <a:ext cx="24240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Importance of normalisation:</a:t>
            </a:r>
          </a:p>
          <a:p>
            <a:endParaRPr lang="en-GB"/>
          </a:p>
          <a:p>
            <a:r>
              <a:rPr lang="en-GB"/>
              <a:t>. </a:t>
            </a:r>
            <a:r>
              <a:rPr lang="en-GB" b="1"/>
              <a:t>No data redundancy</a:t>
            </a:r>
            <a:r>
              <a:rPr lang="en-GB"/>
              <a:t>, redundant data is data that appears in more than one database table – causes </a:t>
            </a:r>
            <a:r>
              <a:rPr lang="en-GB" b="1"/>
              <a:t>inefficiencies and inconsistencies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39E4C7-DB37-B4B4-1931-BC6C5265AA54}"/>
              </a:ext>
            </a:extLst>
          </p:cNvPr>
          <p:cNvSpPr txBox="1"/>
          <p:nvPr/>
        </p:nvSpPr>
        <p:spPr>
          <a:xfrm>
            <a:off x="7200900" y="3768609"/>
            <a:ext cx="503224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  <a:p>
            <a:r>
              <a:rPr lang="en-GB"/>
              <a:t>. </a:t>
            </a:r>
            <a:r>
              <a:rPr lang="en-GB" b="1"/>
              <a:t>Easier to maintain </a:t>
            </a:r>
            <a:r>
              <a:rPr lang="en-GB"/>
              <a:t>and change as </a:t>
            </a:r>
            <a:r>
              <a:rPr lang="en-GB" b="1"/>
              <a:t>data integrity is maintained.</a:t>
            </a:r>
          </a:p>
          <a:p>
            <a:endParaRPr lang="en-GB"/>
          </a:p>
          <a:p>
            <a:r>
              <a:rPr lang="en-GB"/>
              <a:t>. </a:t>
            </a:r>
            <a:r>
              <a:rPr lang="en-GB" b="1"/>
              <a:t>Faster sorting or searching </a:t>
            </a:r>
            <a:r>
              <a:rPr lang="en-GB"/>
              <a:t>as of having smaller tables.</a:t>
            </a:r>
          </a:p>
          <a:p>
            <a:endParaRPr lang="en-GB"/>
          </a:p>
          <a:p>
            <a:r>
              <a:rPr lang="en-GB"/>
              <a:t>. Saves </a:t>
            </a:r>
            <a:r>
              <a:rPr lang="en-GB" b="1"/>
              <a:t>storage space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. </a:t>
            </a:r>
            <a:r>
              <a:rPr lang="en-GB" b="1"/>
              <a:t>Deleting records is easier </a:t>
            </a:r>
            <a:r>
              <a:rPr lang="en-GB"/>
              <a:t>and does not cause problems with other fields.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1715A-03C7-0449-86B9-93AE90543642}"/>
              </a:ext>
            </a:extLst>
          </p:cNvPr>
          <p:cNvSpPr/>
          <p:nvPr/>
        </p:nvSpPr>
        <p:spPr>
          <a:xfrm>
            <a:off x="45648" y="740664"/>
            <a:ext cx="4989133" cy="3139321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71EAD7-7D61-19FB-397D-28109895EEEC}"/>
              </a:ext>
            </a:extLst>
          </p:cNvPr>
          <p:cNvSpPr/>
          <p:nvPr/>
        </p:nvSpPr>
        <p:spPr>
          <a:xfrm>
            <a:off x="5558112" y="21844"/>
            <a:ext cx="3859267" cy="3377434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L-Shape 17">
            <a:extLst>
              <a:ext uri="{FF2B5EF4-FFF2-40B4-BE49-F238E27FC236}">
                <a16:creationId xmlns:a16="http://schemas.microsoft.com/office/drawing/2014/main" id="{D4370A9E-E371-B5BD-7D9D-D8DA15238932}"/>
              </a:ext>
            </a:extLst>
          </p:cNvPr>
          <p:cNvSpPr/>
          <p:nvPr/>
        </p:nvSpPr>
        <p:spPr>
          <a:xfrm rot="16200000">
            <a:off x="6560549" y="1226547"/>
            <a:ext cx="5764310" cy="5498592"/>
          </a:xfrm>
          <a:prstGeom prst="corner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865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CBBC-38C0-6212-E724-E896C1C6D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2124037-9BB4-23D6-470A-35F2E591FC5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D52002E-9CAE-6610-D3B8-B4325B81732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D76844-434E-4964-F88F-3D6F599A98A8}"/>
              </a:ext>
            </a:extLst>
          </p:cNvPr>
          <p:cNvSpPr txBox="1"/>
          <p:nvPr/>
        </p:nvSpPr>
        <p:spPr>
          <a:xfrm>
            <a:off x="182929" y="164592"/>
            <a:ext cx="4946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SQL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E9EF19-B7DF-B3C0-74FD-041FCB58A9A8}"/>
              </a:ext>
            </a:extLst>
          </p:cNvPr>
          <p:cNvSpPr txBox="1"/>
          <p:nvPr/>
        </p:nvSpPr>
        <p:spPr>
          <a:xfrm>
            <a:off x="182929" y="903256"/>
            <a:ext cx="6830421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solidFill>
                  <a:srgbClr val="FF0000"/>
                </a:solidFill>
                <a:cs typeface="Segoe UI"/>
              </a:rPr>
              <a:t>SELECT</a:t>
            </a:r>
            <a:r>
              <a:rPr lang="en-GB">
                <a:cs typeface="Segoe UI"/>
              </a:rPr>
              <a:t>: Collects fields from a given table</a:t>
            </a:r>
          </a:p>
          <a:p>
            <a:endParaRPr lang="en-GB">
              <a:cs typeface="Segoe UI"/>
            </a:endParaRPr>
          </a:p>
          <a:p>
            <a:r>
              <a:rPr lang="en-GB">
                <a:solidFill>
                  <a:srgbClr val="FF0000"/>
                </a:solidFill>
                <a:cs typeface="Segoe UI"/>
              </a:rPr>
              <a:t>FROM</a:t>
            </a:r>
            <a:r>
              <a:rPr lang="en-GB">
                <a:cs typeface="Segoe UI"/>
              </a:rPr>
              <a:t>: Specify which table information comes from</a:t>
            </a:r>
          </a:p>
          <a:p>
            <a:endParaRPr lang="en-GB">
              <a:cs typeface="Segoe UI"/>
            </a:endParaRPr>
          </a:p>
          <a:p>
            <a:r>
              <a:rPr lang="en-GB">
                <a:solidFill>
                  <a:srgbClr val="FF0000"/>
                </a:solidFill>
                <a:cs typeface="Segoe UI"/>
              </a:rPr>
              <a:t>WHERE</a:t>
            </a:r>
            <a:r>
              <a:rPr lang="en-GB">
                <a:cs typeface="Segoe UI"/>
              </a:rPr>
              <a:t>: Specify search criteria</a:t>
            </a:r>
          </a:p>
          <a:p>
            <a:endParaRPr lang="en-GB">
              <a:cs typeface="Segoe UI"/>
            </a:endParaRPr>
          </a:p>
          <a:p>
            <a:r>
              <a:rPr lang="en-GB">
                <a:solidFill>
                  <a:srgbClr val="FF0000"/>
                </a:solidFill>
                <a:cs typeface="Segoe UI"/>
              </a:rPr>
              <a:t>ORDER</a:t>
            </a:r>
            <a:r>
              <a:rPr lang="en-GB">
                <a:cs typeface="Segoe UI"/>
              </a:rPr>
              <a:t> BY: Produces code in ascending order or descending order if Desc is added</a:t>
            </a:r>
          </a:p>
          <a:p>
            <a:r>
              <a:rPr lang="en-GB" i="1">
                <a:cs typeface="Segoe UI"/>
              </a:rPr>
              <a:t>ORDER BY DatePublished (Desc)</a:t>
            </a:r>
          </a:p>
          <a:p>
            <a:endParaRPr lang="en-GB">
              <a:cs typeface="Segoe UI"/>
            </a:endParaRPr>
          </a:p>
          <a:p>
            <a:r>
              <a:rPr lang="en-GB">
                <a:solidFill>
                  <a:srgbClr val="FF0000"/>
                </a:solidFill>
                <a:cs typeface="Segoe UI"/>
              </a:rPr>
              <a:t>JOIN</a:t>
            </a:r>
            <a:r>
              <a:rPr lang="en-GB">
                <a:cs typeface="Segoe UI"/>
              </a:rPr>
              <a:t>: Combining rows from multiple tables based on a common field between them</a:t>
            </a:r>
          </a:p>
          <a:p>
            <a:r>
              <a:rPr lang="en-GB" i="1">
                <a:cs typeface="Segoe UI"/>
              </a:rPr>
              <a:t>SELECT Song.SongTitle, Artist,ArtistName, Song.MusicType</a:t>
            </a:r>
          </a:p>
          <a:p>
            <a:r>
              <a:rPr lang="en-GB" i="1">
                <a:cs typeface="Segoe UI"/>
              </a:rPr>
              <a:t>FROM Song</a:t>
            </a:r>
          </a:p>
          <a:p>
            <a:r>
              <a:rPr lang="en-GB" i="1">
                <a:cs typeface="Segoe UI"/>
              </a:rPr>
              <a:t>JOIN Artist</a:t>
            </a:r>
          </a:p>
          <a:p>
            <a:r>
              <a:rPr lang="en-GB" i="1">
                <a:cs typeface="Segoe UI"/>
              </a:rPr>
              <a:t>ON Song.ArtistID = Artist.ArtistsID</a:t>
            </a:r>
          </a:p>
          <a:p>
            <a:r>
              <a:rPr lang="en-GB" i="1">
                <a:cs typeface="Segoe UI"/>
              </a:rPr>
              <a:t>WHERE Song.MusicType = “Latin”</a:t>
            </a:r>
          </a:p>
          <a:p>
            <a:endParaRPr lang="en-GB">
              <a:cs typeface="Segoe UI"/>
            </a:endParaRPr>
          </a:p>
          <a:p>
            <a:r>
              <a:rPr lang="en-GB">
                <a:solidFill>
                  <a:srgbClr val="FF0000"/>
                </a:solidFill>
                <a:cs typeface="Segoe UI"/>
              </a:rPr>
              <a:t>CREATE</a:t>
            </a:r>
            <a:r>
              <a:rPr lang="en-GB">
                <a:cs typeface="Segoe UI"/>
              </a:rPr>
              <a:t>: Creates new databases</a:t>
            </a:r>
          </a:p>
          <a:p>
            <a:endParaRPr lang="en-GB">
              <a:cs typeface="Segoe UI"/>
            </a:endParaRPr>
          </a:p>
          <a:p>
            <a:r>
              <a:rPr lang="en-GB">
                <a:solidFill>
                  <a:srgbClr val="FF0000"/>
                </a:solidFill>
                <a:cs typeface="Segoe UI"/>
              </a:rPr>
              <a:t>ALTER</a:t>
            </a:r>
            <a:r>
              <a:rPr lang="en-GB">
                <a:cs typeface="Segoe UI"/>
              </a:rPr>
              <a:t>: Used to add modify or delete fields.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C1E9E8-E07F-CF5A-F7B9-CE9A1A5CF551}"/>
              </a:ext>
            </a:extLst>
          </p:cNvPr>
          <p:cNvSpPr txBox="1"/>
          <p:nvPr/>
        </p:nvSpPr>
        <p:spPr>
          <a:xfrm>
            <a:off x="987759" y="146175"/>
            <a:ext cx="625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Structured Query Language is a declarative language </a:t>
            </a:r>
            <a:r>
              <a:rPr lang="en-GB"/>
              <a:t>used for </a:t>
            </a:r>
            <a:r>
              <a:rPr lang="en-GB" b="1"/>
              <a:t>querying and updating </a:t>
            </a:r>
            <a:r>
              <a:rPr lang="en-GB"/>
              <a:t>tables in a relational database.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18B3C2-DE05-2BFA-F0F7-1B7C96AACA2D}"/>
              </a:ext>
            </a:extLst>
          </p:cNvPr>
          <p:cNvSpPr txBox="1"/>
          <p:nvPr/>
        </p:nvSpPr>
        <p:spPr>
          <a:xfrm>
            <a:off x="7315200" y="164592"/>
            <a:ext cx="2496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CHAR(n) = Character </a:t>
            </a:r>
            <a:r>
              <a:rPr lang="en-GB" b="1"/>
              <a:t>string</a:t>
            </a:r>
            <a:r>
              <a:rPr lang="en-GB"/>
              <a:t> of </a:t>
            </a:r>
            <a:r>
              <a:rPr lang="en-GB" b="1"/>
              <a:t>fixed</a:t>
            </a:r>
            <a:r>
              <a:rPr lang="en-GB"/>
              <a:t> </a:t>
            </a:r>
            <a:r>
              <a:rPr lang="en-GB" b="1"/>
              <a:t>length</a:t>
            </a:r>
            <a:r>
              <a:rPr lang="en-GB"/>
              <a:t> n</a:t>
            </a:r>
          </a:p>
          <a:p>
            <a:r>
              <a:rPr lang="en-GB"/>
              <a:t>VARCHAR(n) = Character </a:t>
            </a:r>
            <a:r>
              <a:rPr lang="en-GB" b="1"/>
              <a:t>string</a:t>
            </a:r>
            <a:r>
              <a:rPr lang="en-GB"/>
              <a:t> </a:t>
            </a:r>
            <a:r>
              <a:rPr lang="en-GB" b="1"/>
              <a:t>variable</a:t>
            </a:r>
            <a:r>
              <a:rPr lang="en-GB"/>
              <a:t> </a:t>
            </a:r>
            <a:r>
              <a:rPr lang="en-GB" b="1"/>
              <a:t>length</a:t>
            </a:r>
            <a:r>
              <a:rPr lang="en-GB"/>
              <a:t>, max 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9926BF-6310-D34A-E9B2-9DA18B0A32F1}"/>
              </a:ext>
            </a:extLst>
          </p:cNvPr>
          <p:cNvSpPr txBox="1"/>
          <p:nvPr/>
        </p:nvSpPr>
        <p:spPr>
          <a:xfrm>
            <a:off x="7315200" y="4026250"/>
            <a:ext cx="5596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INSERT</a:t>
            </a:r>
            <a:r>
              <a:rPr lang="en-GB"/>
              <a:t> </a:t>
            </a:r>
            <a:r>
              <a:rPr lang="en-GB">
                <a:solidFill>
                  <a:srgbClr val="FF0000"/>
                </a:solidFill>
              </a:rPr>
              <a:t>INTO</a:t>
            </a:r>
            <a:r>
              <a:rPr lang="en-GB"/>
              <a:t>: Add a new record</a:t>
            </a:r>
          </a:p>
          <a:p>
            <a:endParaRPr lang="en-GB"/>
          </a:p>
        </p:txBody>
      </p:sp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60BA228-D924-2C17-5C72-8FEAF2B5D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013" y="4492402"/>
            <a:ext cx="3171825" cy="8191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571905-3416-C09F-7BCC-8C92B0AA32F5}"/>
              </a:ext>
            </a:extLst>
          </p:cNvPr>
          <p:cNvSpPr txBox="1"/>
          <p:nvPr/>
        </p:nvSpPr>
        <p:spPr>
          <a:xfrm>
            <a:off x="7062169" y="5454538"/>
            <a:ext cx="4864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>
                <a:solidFill>
                  <a:srgbClr val="FF0000"/>
                </a:solidFill>
              </a:rPr>
              <a:t>UPDATE</a:t>
            </a:r>
            <a:r>
              <a:rPr lang="en-GB" i="1"/>
              <a:t>: Update a record in a table</a:t>
            </a:r>
          </a:p>
          <a:p>
            <a:r>
              <a:rPr lang="en-GB" i="1"/>
              <a:t>UPDATE tableName</a:t>
            </a:r>
          </a:p>
          <a:p>
            <a:r>
              <a:rPr lang="en-GB" i="1"/>
              <a:t>SET column1 = value1</a:t>
            </a:r>
          </a:p>
          <a:p>
            <a:r>
              <a:rPr lang="en-GB" i="1"/>
              <a:t>WHERE column x = value.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7F6250-C3F7-3963-70DA-47CA5234B775}"/>
              </a:ext>
            </a:extLst>
          </p:cNvPr>
          <p:cNvSpPr txBox="1"/>
          <p:nvPr/>
        </p:nvSpPr>
        <p:spPr>
          <a:xfrm>
            <a:off x="7132472" y="1747735"/>
            <a:ext cx="2861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DELETE</a:t>
            </a:r>
            <a:r>
              <a:rPr lang="en-GB"/>
              <a:t>: Delete a record</a:t>
            </a:r>
          </a:p>
          <a:p>
            <a:r>
              <a:rPr lang="en-GB" i="1"/>
              <a:t>DELETE FROM tableName</a:t>
            </a:r>
          </a:p>
          <a:p>
            <a:r>
              <a:rPr lang="en-GB" i="1"/>
              <a:t>WHERE column = value.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B71AFB-7571-ACC8-9E78-9BFED1456AB3}"/>
              </a:ext>
            </a:extLst>
          </p:cNvPr>
          <p:cNvSpPr txBox="1"/>
          <p:nvPr/>
        </p:nvSpPr>
        <p:spPr>
          <a:xfrm>
            <a:off x="7300771" y="2874331"/>
            <a:ext cx="33924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LIKE</a:t>
            </a:r>
            <a:r>
              <a:rPr lang="en-GB"/>
              <a:t>: Similar to, with % </a:t>
            </a:r>
            <a:r>
              <a:rPr lang="en-GB" i="1"/>
              <a:t>representing a wildcard</a:t>
            </a:r>
          </a:p>
          <a:p>
            <a:r>
              <a:rPr lang="en-GB" i="1"/>
              <a:t>SongTitle LIKE S%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0A8536-29CF-4155-0E9E-859EABCC17AC}"/>
              </a:ext>
            </a:extLst>
          </p:cNvPr>
          <p:cNvSpPr txBox="1"/>
          <p:nvPr/>
        </p:nvSpPr>
        <p:spPr>
          <a:xfrm>
            <a:off x="9924407" y="2888843"/>
            <a:ext cx="21124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FF0000"/>
                </a:solidFill>
              </a:rPr>
              <a:t>*</a:t>
            </a:r>
            <a:r>
              <a:rPr lang="en-GB"/>
              <a:t>: All</a:t>
            </a:r>
          </a:p>
          <a:p>
            <a:r>
              <a:rPr lang="en-GB" i="1"/>
              <a:t>SELECT *</a:t>
            </a:r>
          </a:p>
          <a:p>
            <a:r>
              <a:rPr lang="en-GB" i="1"/>
              <a:t>FROM table</a:t>
            </a:r>
          </a:p>
        </p:txBody>
      </p:sp>
      <p:pic>
        <p:nvPicPr>
          <p:cNvPr id="1026" name="Picture 2" descr="The Best Way to Learn SQL - Learn to code in 30 Days!">
            <a:extLst>
              <a:ext uri="{FF2B5EF4-FFF2-40B4-BE49-F238E27FC236}">
                <a16:creationId xmlns:a16="http://schemas.microsoft.com/office/drawing/2014/main" id="{E3FD9B40-DE5C-0DF9-56BA-5C29C13682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35" y="4639470"/>
            <a:ext cx="3765793" cy="197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2109C16-35D5-7DF7-7B3E-B85A0D317D21}"/>
              </a:ext>
            </a:extLst>
          </p:cNvPr>
          <p:cNvSpPr/>
          <p:nvPr/>
        </p:nvSpPr>
        <p:spPr>
          <a:xfrm>
            <a:off x="182929" y="810923"/>
            <a:ext cx="6879239" cy="600164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5D00A4-DD64-DB2A-5755-F6647AD3D239}"/>
              </a:ext>
            </a:extLst>
          </p:cNvPr>
          <p:cNvSpPr/>
          <p:nvPr/>
        </p:nvSpPr>
        <p:spPr>
          <a:xfrm>
            <a:off x="7132472" y="164592"/>
            <a:ext cx="2930574" cy="2506473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D5A9890-F16B-137A-A125-5C51B6181638}"/>
              </a:ext>
            </a:extLst>
          </p:cNvPr>
          <p:cNvSpPr/>
          <p:nvPr/>
        </p:nvSpPr>
        <p:spPr>
          <a:xfrm>
            <a:off x="7255990" y="2853689"/>
            <a:ext cx="4232911" cy="102870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F8E83B-6A02-B1BB-47A8-6E3543991C56}"/>
              </a:ext>
            </a:extLst>
          </p:cNvPr>
          <p:cNvSpPr/>
          <p:nvPr/>
        </p:nvSpPr>
        <p:spPr>
          <a:xfrm>
            <a:off x="7315199" y="4025375"/>
            <a:ext cx="3837482" cy="1233108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CD2473E-FF90-7234-288B-9C3E6FD45D85}"/>
              </a:ext>
            </a:extLst>
          </p:cNvPr>
          <p:cNvSpPr/>
          <p:nvPr/>
        </p:nvSpPr>
        <p:spPr>
          <a:xfrm>
            <a:off x="7119035" y="5429662"/>
            <a:ext cx="3765793" cy="1331019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71428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063C3-0408-0F57-581A-7F198FE3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05B0E5E-BFED-8DC8-4288-50FF5F0F07A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8A8A706-50F9-81B2-9EE6-6249F0945376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53AC64-78BB-61ED-A941-B1D486634134}"/>
              </a:ext>
            </a:extLst>
          </p:cNvPr>
          <p:cNvSpPr txBox="1"/>
          <p:nvPr/>
        </p:nvSpPr>
        <p:spPr>
          <a:xfrm>
            <a:off x="356616" y="192024"/>
            <a:ext cx="4956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REFERENTIAL INTEGRITY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A7D301-ED53-C5CB-C6AB-9AF2588778E9}"/>
              </a:ext>
            </a:extLst>
          </p:cNvPr>
          <p:cNvSpPr txBox="1"/>
          <p:nvPr/>
        </p:nvSpPr>
        <p:spPr>
          <a:xfrm>
            <a:off x="3701050" y="659638"/>
            <a:ext cx="23949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Referential Integrity is the process of </a:t>
            </a:r>
            <a:r>
              <a:rPr lang="en-GB" b="1"/>
              <a:t>ensuring consistency </a:t>
            </a:r>
            <a:r>
              <a:rPr lang="en-GB"/>
              <a:t>– ensures that information is </a:t>
            </a:r>
            <a:r>
              <a:rPr lang="en-GB" b="1"/>
              <a:t>not removed</a:t>
            </a:r>
            <a:r>
              <a:rPr lang="en-GB"/>
              <a:t> if it is required elsewhere in a linked database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A6661-05CD-0AA5-D624-2267CA7DA842}"/>
              </a:ext>
            </a:extLst>
          </p:cNvPr>
          <p:cNvSpPr txBox="1"/>
          <p:nvPr/>
        </p:nvSpPr>
        <p:spPr>
          <a:xfrm>
            <a:off x="605288" y="1028700"/>
            <a:ext cx="28973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For </a:t>
            </a:r>
            <a:r>
              <a:rPr lang="en-GB" b="1"/>
              <a:t>transaction</a:t>
            </a:r>
            <a:r>
              <a:rPr lang="en-GB"/>
              <a:t> </a:t>
            </a:r>
            <a:r>
              <a:rPr lang="en-GB" b="1"/>
              <a:t>processing</a:t>
            </a:r>
            <a:r>
              <a:rPr lang="en-GB"/>
              <a:t> to occur, a database must have a set of </a:t>
            </a:r>
            <a:r>
              <a:rPr lang="en-GB" b="1"/>
              <a:t>properties</a:t>
            </a:r>
            <a:r>
              <a:rPr lang="en-GB"/>
              <a:t> to guarantee the transactions are </a:t>
            </a:r>
            <a:r>
              <a:rPr lang="en-GB" b="1"/>
              <a:t>processed reliably</a:t>
            </a:r>
            <a:r>
              <a:rPr lang="en-GB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DA791A-ADC9-DD6E-2FC7-C0D535434E92}"/>
              </a:ext>
            </a:extLst>
          </p:cNvPr>
          <p:cNvSpPr txBox="1"/>
          <p:nvPr/>
        </p:nvSpPr>
        <p:spPr>
          <a:xfrm>
            <a:off x="100531" y="3014951"/>
            <a:ext cx="1153058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400" b="1">
                <a:solidFill>
                  <a:srgbClr val="C26CBA"/>
                </a:solidFill>
              </a:rPr>
              <a:t>A</a:t>
            </a:r>
            <a:r>
              <a:rPr lang="en-GB" b="1"/>
              <a:t>tomicity</a:t>
            </a:r>
            <a:r>
              <a:rPr lang="en-GB"/>
              <a:t> requires that a transaction must be </a:t>
            </a:r>
            <a:r>
              <a:rPr lang="en-GB" b="1"/>
              <a:t>processed in its entirely or not at all.</a:t>
            </a:r>
          </a:p>
          <a:p>
            <a:endParaRPr lang="en-GB"/>
          </a:p>
          <a:p>
            <a:r>
              <a:rPr lang="en-GB" sz="4400" b="1">
                <a:solidFill>
                  <a:srgbClr val="C26CBA"/>
                </a:solidFill>
              </a:rPr>
              <a:t>C</a:t>
            </a:r>
            <a:r>
              <a:rPr lang="en-GB" b="1"/>
              <a:t>onsistency</a:t>
            </a:r>
            <a:r>
              <a:rPr lang="en-GB"/>
              <a:t> ensure </a:t>
            </a:r>
            <a:r>
              <a:rPr lang="en-GB" b="1"/>
              <a:t>referential integrity rules will be specified </a:t>
            </a:r>
            <a:r>
              <a:rPr lang="en-GB"/>
              <a:t>between linked tables </a:t>
            </a:r>
            <a:r>
              <a:rPr lang="en-GB" b="1"/>
              <a:t>to maintain the integrity</a:t>
            </a:r>
          </a:p>
          <a:p>
            <a:endParaRPr lang="en-GB"/>
          </a:p>
          <a:p>
            <a:r>
              <a:rPr lang="en-GB" sz="4400" b="1">
                <a:solidFill>
                  <a:srgbClr val="C26CBA"/>
                </a:solidFill>
              </a:rPr>
              <a:t>I</a:t>
            </a:r>
            <a:r>
              <a:rPr lang="en-GB" b="1"/>
              <a:t>solation</a:t>
            </a:r>
            <a:r>
              <a:rPr lang="en-GB"/>
              <a:t> property ensures that </a:t>
            </a:r>
            <a:r>
              <a:rPr lang="en-GB" b="1"/>
              <a:t>concurrent execution </a:t>
            </a:r>
            <a:r>
              <a:rPr lang="en-GB"/>
              <a:t>of transactions </a:t>
            </a:r>
            <a:r>
              <a:rPr lang="en-GB" b="1"/>
              <a:t>leads to the same result either way.</a:t>
            </a:r>
          </a:p>
          <a:p>
            <a:endParaRPr lang="en-GB"/>
          </a:p>
          <a:p>
            <a:r>
              <a:rPr lang="en-GB" sz="4400" b="1">
                <a:solidFill>
                  <a:srgbClr val="C26CBA"/>
                </a:solidFill>
              </a:rPr>
              <a:t>D</a:t>
            </a:r>
            <a:r>
              <a:rPr lang="en-GB" b="1"/>
              <a:t>urability</a:t>
            </a:r>
            <a:r>
              <a:rPr lang="en-GB"/>
              <a:t> property ensure that </a:t>
            </a:r>
            <a:r>
              <a:rPr lang="en-GB" b="1"/>
              <a:t>once a transaction has been committed</a:t>
            </a:r>
            <a:r>
              <a:rPr lang="en-GB"/>
              <a:t>, it will </a:t>
            </a:r>
            <a:r>
              <a:rPr lang="en-GB" b="1"/>
              <a:t>remain so </a:t>
            </a:r>
            <a:r>
              <a:rPr lang="en-GB"/>
              <a:t>even in the event of a power cut.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43BEF3-9414-EC20-4FAF-326C297EF113}"/>
              </a:ext>
            </a:extLst>
          </p:cNvPr>
          <p:cNvSpPr txBox="1"/>
          <p:nvPr/>
        </p:nvSpPr>
        <p:spPr>
          <a:xfrm>
            <a:off x="6368807" y="216107"/>
            <a:ext cx="224337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Record locking is the process of </a:t>
            </a:r>
            <a:r>
              <a:rPr lang="en-GB" b="1"/>
              <a:t>preventing simultaneous access </a:t>
            </a:r>
            <a:r>
              <a:rPr lang="en-GB"/>
              <a:t>to records to</a:t>
            </a:r>
            <a:r>
              <a:rPr lang="en-GB" b="1"/>
              <a:t> prevent inconsistencies </a:t>
            </a:r>
            <a:r>
              <a:rPr lang="en-GB"/>
              <a:t>or a loss of updates.</a:t>
            </a:r>
          </a:p>
          <a:p>
            <a:r>
              <a:rPr lang="en-GB"/>
              <a:t>However, a </a:t>
            </a:r>
            <a:r>
              <a:rPr lang="en-GB" b="1"/>
              <a:t>deadlock</a:t>
            </a:r>
            <a:r>
              <a:rPr lang="en-GB"/>
              <a:t> can occur.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2D0000-F460-529A-7062-8A6EA508B13D}"/>
              </a:ext>
            </a:extLst>
          </p:cNvPr>
          <p:cNvSpPr txBox="1"/>
          <p:nvPr/>
        </p:nvSpPr>
        <p:spPr>
          <a:xfrm>
            <a:off x="9066508" y="1120676"/>
            <a:ext cx="31254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Redundancy is the process of having one or more </a:t>
            </a:r>
            <a:r>
              <a:rPr lang="en-GB" b="1"/>
              <a:t>copies</a:t>
            </a:r>
            <a:r>
              <a:rPr lang="en-GB"/>
              <a:t> of the data in </a:t>
            </a:r>
            <a:r>
              <a:rPr lang="en-GB" b="1"/>
              <a:t>physically different locations </a:t>
            </a:r>
            <a:r>
              <a:rPr lang="en-GB"/>
              <a:t>so if there is damage to one copy, there will remain an </a:t>
            </a:r>
            <a:r>
              <a:rPr lang="en-GB" b="1"/>
              <a:t>unaffected</a:t>
            </a:r>
            <a:r>
              <a:rPr lang="en-GB"/>
              <a:t> </a:t>
            </a:r>
            <a:r>
              <a:rPr lang="en-GB" b="1"/>
              <a:t>copy</a:t>
            </a:r>
            <a:r>
              <a:rPr lang="en-GB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A7F95F-3FCB-2005-52DA-DDCC3DD32417}"/>
              </a:ext>
            </a:extLst>
          </p:cNvPr>
          <p:cNvSpPr/>
          <p:nvPr/>
        </p:nvSpPr>
        <p:spPr>
          <a:xfrm>
            <a:off x="622588" y="928765"/>
            <a:ext cx="2766854" cy="177273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F337C7-9600-CF0D-AD1F-2F1E6F2733BD}"/>
              </a:ext>
            </a:extLst>
          </p:cNvPr>
          <p:cNvSpPr/>
          <p:nvPr/>
        </p:nvSpPr>
        <p:spPr>
          <a:xfrm>
            <a:off x="3620372" y="612649"/>
            <a:ext cx="2475627" cy="238084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752261-3BEE-B6A3-CEA4-80DC3474A587}"/>
              </a:ext>
            </a:extLst>
          </p:cNvPr>
          <p:cNvSpPr/>
          <p:nvPr/>
        </p:nvSpPr>
        <p:spPr>
          <a:xfrm>
            <a:off x="6270831" y="67238"/>
            <a:ext cx="2305590" cy="297415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DEACF7-096A-F152-C8FB-15A1BC446FEA}"/>
              </a:ext>
            </a:extLst>
          </p:cNvPr>
          <p:cNvSpPr/>
          <p:nvPr/>
        </p:nvSpPr>
        <p:spPr>
          <a:xfrm>
            <a:off x="9030750" y="1085493"/>
            <a:ext cx="3161250" cy="197371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094500-DC42-862F-AE6F-20A2F81AE834}"/>
              </a:ext>
            </a:extLst>
          </p:cNvPr>
          <p:cNvSpPr/>
          <p:nvPr/>
        </p:nvSpPr>
        <p:spPr>
          <a:xfrm>
            <a:off x="171587" y="3059208"/>
            <a:ext cx="11459528" cy="3798792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47112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6FECF-59D0-5491-1946-F157CE50C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1344B63-07A9-26B1-C6E4-536F7FF83D4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E7240D-3AF4-89EC-C802-F5D8D9D04F65}"/>
              </a:ext>
            </a:extLst>
          </p:cNvPr>
          <p:cNvSpPr txBox="1"/>
          <p:nvPr/>
        </p:nvSpPr>
        <p:spPr>
          <a:xfrm>
            <a:off x="592111" y="206886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SLR11 NETWORKS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D6645-936D-DFD2-440A-5FDE2A6E65F7}"/>
              </a:ext>
            </a:extLst>
          </p:cNvPr>
          <p:cNvSpPr txBox="1"/>
          <p:nvPr/>
        </p:nvSpPr>
        <p:spPr>
          <a:xfrm>
            <a:off x="2795076" y="1150195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NETWORKS AND PROTOCOLS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179DE3-FA4B-5584-23D0-6F64E8D6B739}"/>
              </a:ext>
            </a:extLst>
          </p:cNvPr>
          <p:cNvSpPr txBox="1"/>
          <p:nvPr/>
        </p:nvSpPr>
        <p:spPr>
          <a:xfrm>
            <a:off x="2795076" y="2199098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TCP/IP STACK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B1A662-B202-EEDC-35A1-E44CC18A04F5}"/>
              </a:ext>
            </a:extLst>
          </p:cNvPr>
          <p:cNvSpPr txBox="1"/>
          <p:nvPr/>
        </p:nvSpPr>
        <p:spPr>
          <a:xfrm>
            <a:off x="2795076" y="3164943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0FC6C0-8621-9203-529C-4D402C39A7E0}"/>
              </a:ext>
            </a:extLst>
          </p:cNvPr>
          <p:cNvSpPr txBox="1"/>
          <p:nvPr/>
        </p:nvSpPr>
        <p:spPr>
          <a:xfrm>
            <a:off x="2795076" y="4370810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 COMMUNICATION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B94A49-49BC-22A9-B503-D01AB41F6C93}"/>
              </a:ext>
            </a:extLst>
          </p:cNvPr>
          <p:cNvSpPr txBox="1"/>
          <p:nvPr/>
        </p:nvSpPr>
        <p:spPr>
          <a:xfrm>
            <a:off x="2780674" y="5523139"/>
            <a:ext cx="782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 SECURITY</a:t>
            </a:r>
          </a:p>
        </p:txBody>
      </p:sp>
      <p:sp>
        <p:nvSpPr>
          <p:cNvPr id="10" name="Action Button: Go Forward or Next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7254221-2144-99FA-DD34-F6B5FFC01D22}"/>
              </a:ext>
            </a:extLst>
          </p:cNvPr>
          <p:cNvSpPr/>
          <p:nvPr/>
        </p:nvSpPr>
        <p:spPr>
          <a:xfrm>
            <a:off x="936294" y="1028700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BBB226A-5681-B6B8-5A6A-5939522C30CE}"/>
              </a:ext>
            </a:extLst>
          </p:cNvPr>
          <p:cNvSpPr/>
          <p:nvPr/>
        </p:nvSpPr>
        <p:spPr>
          <a:xfrm>
            <a:off x="914311" y="2029918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EB9B3F0A-D633-C3DB-AF4A-A2A814AD8A9A}"/>
              </a:ext>
            </a:extLst>
          </p:cNvPr>
          <p:cNvSpPr/>
          <p:nvPr/>
        </p:nvSpPr>
        <p:spPr>
          <a:xfrm>
            <a:off x="914312" y="5328420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ction Button: Go Forward or Next 1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8591500-44A7-D7F1-6459-4836072919FC}"/>
              </a:ext>
            </a:extLst>
          </p:cNvPr>
          <p:cNvSpPr/>
          <p:nvPr/>
        </p:nvSpPr>
        <p:spPr>
          <a:xfrm>
            <a:off x="914312" y="4168823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ction Button: Go Forward or Next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7F775ACB-5361-E7E6-BA9B-F42DB11E5864}"/>
              </a:ext>
            </a:extLst>
          </p:cNvPr>
          <p:cNvSpPr/>
          <p:nvPr/>
        </p:nvSpPr>
        <p:spPr>
          <a:xfrm>
            <a:off x="936294" y="3099370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5EAEA3A-2706-7F0D-8082-0B0A97F8ACD9}"/>
              </a:ext>
            </a:extLst>
          </p:cNvPr>
          <p:cNvSpPr/>
          <p:nvPr/>
        </p:nvSpPr>
        <p:spPr>
          <a:xfrm>
            <a:off x="6693107" y="1080147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4F76CA-A379-6C47-AFBD-59588D51FF28}"/>
              </a:ext>
            </a:extLst>
          </p:cNvPr>
          <p:cNvSpPr txBox="1"/>
          <p:nvPr/>
        </p:nvSpPr>
        <p:spPr>
          <a:xfrm>
            <a:off x="8036728" y="1306944"/>
            <a:ext cx="3392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 HARDWARE</a:t>
            </a:r>
          </a:p>
        </p:txBody>
      </p:sp>
      <p:sp>
        <p:nvSpPr>
          <p:cNvPr id="3" name="Action Button: Go Forward or Next 2">
            <a:hlinkClick r:id="rId8" action="ppaction://hlinksldjump" highlightClick="1"/>
            <a:extLst>
              <a:ext uri="{FF2B5EF4-FFF2-40B4-BE49-F238E27FC236}">
                <a16:creationId xmlns:a16="http://schemas.microsoft.com/office/drawing/2014/main" id="{AC557082-CA4C-0B6D-9960-C00E536AA79C}"/>
              </a:ext>
            </a:extLst>
          </p:cNvPr>
          <p:cNvSpPr/>
          <p:nvPr/>
        </p:nvSpPr>
        <p:spPr>
          <a:xfrm>
            <a:off x="6693107" y="2080384"/>
            <a:ext cx="974361" cy="816023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F38A890-4BA4-9590-3DA2-B03DAFE5384E}"/>
              </a:ext>
            </a:extLst>
          </p:cNvPr>
          <p:cNvSpPr txBox="1"/>
          <p:nvPr/>
        </p:nvSpPr>
        <p:spPr>
          <a:xfrm>
            <a:off x="8214609" y="2284205"/>
            <a:ext cx="29380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 TOPOLOGY</a:t>
            </a:r>
          </a:p>
        </p:txBody>
      </p:sp>
    </p:spTree>
    <p:extLst>
      <p:ext uri="{BB962C8B-B14F-4D97-AF65-F5344CB8AC3E}">
        <p14:creationId xmlns:p14="http://schemas.microsoft.com/office/powerpoint/2010/main" val="22509194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9C940-0DFA-B583-6841-C7E51AE21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86B669E-94EC-BD65-D05A-35F0A7EBD03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3F40B05-5804-654D-7BDE-4275C4E18C4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368175-E7FB-CEFA-6627-896B9E386A81}"/>
              </a:ext>
            </a:extLst>
          </p:cNvPr>
          <p:cNvSpPr txBox="1"/>
          <p:nvPr/>
        </p:nvSpPr>
        <p:spPr>
          <a:xfrm>
            <a:off x="361842" y="390778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NETWORKS AND PROTOCOLS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8F347C-D5AE-ED8A-DD88-516C59E19C90}"/>
              </a:ext>
            </a:extLst>
          </p:cNvPr>
          <p:cNvSpPr txBox="1"/>
          <p:nvPr/>
        </p:nvSpPr>
        <p:spPr>
          <a:xfrm>
            <a:off x="361842" y="1274618"/>
            <a:ext cx="3591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WANs</a:t>
            </a:r>
            <a:r>
              <a:rPr lang="en-GB"/>
              <a:t> (Wide area networks) are networks that rely on </a:t>
            </a:r>
            <a:r>
              <a:rPr lang="en-GB" b="1"/>
              <a:t>third party carriers or connections </a:t>
            </a:r>
            <a:r>
              <a:rPr lang="en-GB"/>
              <a:t>and are spread over a </a:t>
            </a:r>
            <a:r>
              <a:rPr lang="en-GB" b="1"/>
              <a:t>large geographical area.</a:t>
            </a:r>
          </a:p>
          <a:p>
            <a:r>
              <a:rPr lang="en-GB"/>
              <a:t>An example is the Internet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A93C13-0B5A-1162-66EF-3D1FD4E6F4A3}"/>
              </a:ext>
            </a:extLst>
          </p:cNvPr>
          <p:cNvSpPr txBox="1"/>
          <p:nvPr/>
        </p:nvSpPr>
        <p:spPr>
          <a:xfrm>
            <a:off x="361841" y="3315855"/>
            <a:ext cx="45796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LANs </a:t>
            </a:r>
            <a:r>
              <a:rPr lang="en-GB"/>
              <a:t>(Local area networks) are networks that consist of several computing devices on a </a:t>
            </a:r>
            <a:r>
              <a:rPr lang="en-GB" b="1"/>
              <a:t>single site </a:t>
            </a:r>
            <a:r>
              <a:rPr lang="en-GB"/>
              <a:t>or in a building, all connected by</a:t>
            </a:r>
            <a:r>
              <a:rPr lang="en-GB" b="1"/>
              <a:t> cables</a:t>
            </a:r>
            <a:r>
              <a:rPr lang="en-GB"/>
              <a:t>. </a:t>
            </a:r>
          </a:p>
          <a:p>
            <a:endParaRPr lang="en-GB"/>
          </a:p>
          <a:p>
            <a:r>
              <a:rPr lang="en-GB"/>
              <a:t>Users on the network can </a:t>
            </a:r>
            <a:r>
              <a:rPr lang="en-GB" b="1"/>
              <a:t>communicate with each other</a:t>
            </a:r>
            <a:r>
              <a:rPr lang="en-GB"/>
              <a:t> as well as </a:t>
            </a:r>
            <a:r>
              <a:rPr lang="en-GB" b="1"/>
              <a:t>sharing</a:t>
            </a:r>
            <a:r>
              <a:rPr lang="en-GB"/>
              <a:t> data and hardware devices.</a:t>
            </a:r>
          </a:p>
          <a:p>
            <a:endParaRPr lang="en-GB"/>
          </a:p>
          <a:p>
            <a:r>
              <a:rPr lang="en-GB"/>
              <a:t>They can transmit data </a:t>
            </a:r>
            <a:r>
              <a:rPr lang="en-GB" b="1"/>
              <a:t>very fast but only over short distances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EBE6EB-B55F-BC10-F4C0-064D02DD6A30}"/>
              </a:ext>
            </a:extLst>
          </p:cNvPr>
          <p:cNvSpPr txBox="1"/>
          <p:nvPr/>
        </p:nvSpPr>
        <p:spPr>
          <a:xfrm>
            <a:off x="6096000" y="263471"/>
            <a:ext cx="359132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</a:t>
            </a:r>
            <a:r>
              <a:rPr lang="en-GB" b="1">
                <a:solidFill>
                  <a:srgbClr val="FF0000"/>
                </a:solidFill>
              </a:rPr>
              <a:t> PROTOCOL </a:t>
            </a:r>
            <a:r>
              <a:rPr lang="en-GB"/>
              <a:t>is a set of </a:t>
            </a:r>
            <a:r>
              <a:rPr lang="en-GB" b="1"/>
              <a:t>rules defining common methods of data communication. </a:t>
            </a:r>
          </a:p>
          <a:p>
            <a:r>
              <a:rPr lang="en-GB"/>
              <a:t>These rules need to be </a:t>
            </a:r>
            <a:r>
              <a:rPr lang="en-GB" b="1"/>
              <a:t>standard</a:t>
            </a:r>
            <a:r>
              <a:rPr lang="en-GB"/>
              <a:t> across all devices for them to communicate with each other.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49B1A7-27F9-6E2D-D54D-281D31AF8A5F}"/>
              </a:ext>
            </a:extLst>
          </p:cNvPr>
          <p:cNvSpPr txBox="1"/>
          <p:nvPr/>
        </p:nvSpPr>
        <p:spPr>
          <a:xfrm>
            <a:off x="7764894" y="2207859"/>
            <a:ext cx="388304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1"/>
                </a:solidFill>
              </a:rPr>
              <a:t>TCP</a:t>
            </a:r>
            <a:r>
              <a:rPr lang="en-GB"/>
              <a:t> (Transmission Control) </a:t>
            </a:r>
            <a:r>
              <a:rPr lang="en-GB">
                <a:solidFill>
                  <a:schemeClr val="accent1"/>
                </a:solidFill>
              </a:rPr>
              <a:t>IP</a:t>
            </a:r>
            <a:r>
              <a:rPr lang="en-GB"/>
              <a:t> (Internet Control) is used in the </a:t>
            </a:r>
            <a:r>
              <a:rPr lang="en-GB" b="1"/>
              <a:t>routing of packets</a:t>
            </a:r>
            <a:r>
              <a:rPr lang="en-GB"/>
              <a:t> through networks.</a:t>
            </a:r>
          </a:p>
          <a:p>
            <a:endParaRPr lang="en-GB"/>
          </a:p>
          <a:p>
            <a:r>
              <a:rPr lang="en-GB" b="1">
                <a:solidFill>
                  <a:schemeClr val="accent1"/>
                </a:solidFill>
              </a:rPr>
              <a:t>HTTP/S </a:t>
            </a:r>
            <a:r>
              <a:rPr lang="en-GB"/>
              <a:t>(Hypertext Transfer Protocol/Secure) is used for </a:t>
            </a:r>
            <a:r>
              <a:rPr lang="en-GB" b="1"/>
              <a:t>web page rendering.</a:t>
            </a:r>
          </a:p>
          <a:p>
            <a:endParaRPr lang="en-GB"/>
          </a:p>
          <a:p>
            <a:r>
              <a:rPr lang="en-GB" b="1">
                <a:solidFill>
                  <a:schemeClr val="accent1"/>
                </a:solidFill>
              </a:rPr>
              <a:t>POP3</a:t>
            </a:r>
            <a:r>
              <a:rPr lang="en-GB"/>
              <a:t> (Post Office Protocol) and </a:t>
            </a:r>
            <a:r>
              <a:rPr lang="en-GB" b="1">
                <a:solidFill>
                  <a:schemeClr val="accent1"/>
                </a:solidFill>
              </a:rPr>
              <a:t>IMAP</a:t>
            </a:r>
            <a:r>
              <a:rPr lang="en-GB"/>
              <a:t> (Internet Message Access Protocol) are used for </a:t>
            </a:r>
            <a:r>
              <a:rPr lang="en-GB" b="1"/>
              <a:t>emails.</a:t>
            </a:r>
          </a:p>
          <a:p>
            <a:endParaRPr lang="en-GB"/>
          </a:p>
          <a:p>
            <a:r>
              <a:rPr lang="en-GB" b="1">
                <a:solidFill>
                  <a:schemeClr val="accent1"/>
                </a:solidFill>
              </a:rPr>
              <a:t>FTP</a:t>
            </a:r>
            <a:r>
              <a:rPr lang="en-GB"/>
              <a:t> (File Transfer Protocol) is used for </a:t>
            </a:r>
            <a:r>
              <a:rPr lang="en-GB" b="1"/>
              <a:t>transmission of files</a:t>
            </a:r>
            <a:r>
              <a:rPr lang="en-GB"/>
              <a:t> across networks.</a:t>
            </a:r>
          </a:p>
        </p:txBody>
      </p:sp>
      <p:pic>
        <p:nvPicPr>
          <p:cNvPr id="1026" name="Picture 2" descr="Protocol (film) - Wikipedia">
            <a:extLst>
              <a:ext uri="{FF2B5EF4-FFF2-40B4-BE49-F238E27FC236}">
                <a16:creationId xmlns:a16="http://schemas.microsoft.com/office/drawing/2014/main" id="{9E771358-261D-3519-3799-520FB83EB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4657" y="3196956"/>
            <a:ext cx="2346369" cy="353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re AI-powered networks already outperforming SD-WAN? | Network World">
            <a:extLst>
              <a:ext uri="{FF2B5EF4-FFF2-40B4-BE49-F238E27FC236}">
                <a16:creationId xmlns:a16="http://schemas.microsoft.com/office/drawing/2014/main" id="{F24B51AC-CFCE-7919-4E55-7761CFAF8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1630" y="913998"/>
            <a:ext cx="1984369" cy="1983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5270E5-E88E-BC48-4600-826CDCB8885F}"/>
              </a:ext>
            </a:extLst>
          </p:cNvPr>
          <p:cNvSpPr/>
          <p:nvPr/>
        </p:nvSpPr>
        <p:spPr>
          <a:xfrm>
            <a:off x="267855" y="1028700"/>
            <a:ext cx="3551442" cy="216825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9DB46B-6C69-7498-BA6D-5683E1399214}"/>
              </a:ext>
            </a:extLst>
          </p:cNvPr>
          <p:cNvSpPr/>
          <p:nvPr/>
        </p:nvSpPr>
        <p:spPr>
          <a:xfrm>
            <a:off x="357760" y="3274862"/>
            <a:ext cx="4666821" cy="326448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D36C17-6AE2-F4FF-2A6F-ADE192BA95A8}"/>
              </a:ext>
            </a:extLst>
          </p:cNvPr>
          <p:cNvSpPr/>
          <p:nvPr/>
        </p:nvSpPr>
        <p:spPr>
          <a:xfrm>
            <a:off x="6095999" y="168330"/>
            <a:ext cx="3297384" cy="184946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8FC01B-F0AC-F016-DBAD-E085FAB546DC}"/>
              </a:ext>
            </a:extLst>
          </p:cNvPr>
          <p:cNvSpPr/>
          <p:nvPr/>
        </p:nvSpPr>
        <p:spPr>
          <a:xfrm>
            <a:off x="7631027" y="2154090"/>
            <a:ext cx="4199132" cy="430108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90006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726D3-B838-D420-5439-FC9B9B9C4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7D4F22F-B22C-464C-3C74-CA8B34CD6CD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2415B03-ED68-1E82-28D0-7145ECD175D6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79A54E-6D60-5CB9-F1F0-0B88AEE34A34}"/>
              </a:ext>
            </a:extLst>
          </p:cNvPr>
          <p:cNvSpPr txBox="1"/>
          <p:nvPr/>
        </p:nvSpPr>
        <p:spPr>
          <a:xfrm>
            <a:off x="454832" y="252740"/>
            <a:ext cx="401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TCP/IP STACK</a:t>
            </a:r>
          </a:p>
        </p:txBody>
      </p:sp>
      <p:sp>
        <p:nvSpPr>
          <p:cNvPr id="5" name="AutoShape 2" descr="The TCP/IP stack (advanced) — Isaac Computer Science">
            <a:extLst>
              <a:ext uri="{FF2B5EF4-FFF2-40B4-BE49-F238E27FC236}">
                <a16:creationId xmlns:a16="http://schemas.microsoft.com/office/drawing/2014/main" id="{BB0124B0-3CB0-D919-111D-05DABF34C4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276600"/>
            <a:ext cx="152400" cy="15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1030" name="Picture 6" descr="TCP/IP | OCR A Level Computer Science Revision Notes">
            <a:extLst>
              <a:ext uri="{FF2B5EF4-FFF2-40B4-BE49-F238E27FC236}">
                <a16:creationId xmlns:a16="http://schemas.microsoft.com/office/drawing/2014/main" id="{6854B2EF-CE18-7FFC-EE90-80DABB0C9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230" y="252740"/>
            <a:ext cx="4402389" cy="2521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59F499-94EB-B4BB-5B41-0DD5F5EC1FD0}"/>
              </a:ext>
            </a:extLst>
          </p:cNvPr>
          <p:cNvSpPr txBox="1"/>
          <p:nvPr/>
        </p:nvSpPr>
        <p:spPr>
          <a:xfrm>
            <a:off x="457082" y="1295495"/>
            <a:ext cx="329370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</a:t>
            </a:r>
            <a:r>
              <a:rPr lang="en-GB" b="1">
                <a:solidFill>
                  <a:schemeClr val="accent4"/>
                </a:solidFill>
              </a:rPr>
              <a:t>Transmission Control Protocol/ Internet Protocol </a:t>
            </a:r>
            <a:r>
              <a:rPr lang="en-GB"/>
              <a:t>stack is a set of </a:t>
            </a:r>
            <a:r>
              <a:rPr lang="en-GB" b="1"/>
              <a:t>networking protocols</a:t>
            </a:r>
            <a:r>
              <a:rPr lang="en-GB"/>
              <a:t> that work together as </a:t>
            </a:r>
            <a:r>
              <a:rPr lang="en-GB" b="1"/>
              <a:t>four connected layers</a:t>
            </a:r>
            <a:r>
              <a:rPr lang="en-GB"/>
              <a:t>, passing incoming and outgoing </a:t>
            </a:r>
            <a:r>
              <a:rPr lang="en-GB" b="1"/>
              <a:t>data</a:t>
            </a:r>
            <a:r>
              <a:rPr lang="en-GB"/>
              <a:t> through all layers.</a:t>
            </a:r>
          </a:p>
          <a:p>
            <a:endParaRPr lang="en-GB"/>
          </a:p>
          <a:p>
            <a:r>
              <a:rPr lang="en-GB"/>
              <a:t>At each layer, the data is </a:t>
            </a:r>
            <a:r>
              <a:rPr lang="en-GB" b="1"/>
              <a:t>encapsulated</a:t>
            </a:r>
            <a:r>
              <a:rPr lang="en-GB"/>
              <a:t> in an envelope containing </a:t>
            </a:r>
            <a:r>
              <a:rPr lang="en-GB" b="1"/>
              <a:t>new packet data </a:t>
            </a:r>
            <a:r>
              <a:rPr lang="en-GB"/>
              <a:t>as it descends.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0DEF90-D3CA-F96C-33E1-86F22AB5E427}"/>
              </a:ext>
            </a:extLst>
          </p:cNvPr>
          <p:cNvSpPr txBox="1"/>
          <p:nvPr/>
        </p:nvSpPr>
        <p:spPr>
          <a:xfrm>
            <a:off x="270589" y="5349706"/>
            <a:ext cx="32937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/>
                </a:solidFill>
              </a:rPr>
              <a:t>APPLICATION</a:t>
            </a:r>
            <a:r>
              <a:rPr lang="en-GB"/>
              <a:t>: Uses </a:t>
            </a:r>
            <a:r>
              <a:rPr lang="en-GB" b="1"/>
              <a:t>protocols relating to applications</a:t>
            </a:r>
            <a:r>
              <a:rPr lang="en-GB"/>
              <a:t> being used to transmit data over a network e.g. FTP, IMAP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59D5A-D7B4-132A-4556-1319BF026155}"/>
              </a:ext>
            </a:extLst>
          </p:cNvPr>
          <p:cNvSpPr txBox="1"/>
          <p:nvPr/>
        </p:nvSpPr>
        <p:spPr>
          <a:xfrm>
            <a:off x="4038158" y="2865156"/>
            <a:ext cx="269854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/>
                </a:solidFill>
              </a:rPr>
              <a:t>TRANSPORT: </a:t>
            </a:r>
            <a:r>
              <a:rPr lang="en-GB"/>
              <a:t>Uses </a:t>
            </a:r>
            <a:r>
              <a:rPr lang="en-GB" b="1"/>
              <a:t>TCP to establish an end-to-end connection with the recipient computer. </a:t>
            </a:r>
            <a:r>
              <a:rPr lang="en-GB"/>
              <a:t>The data is then </a:t>
            </a:r>
            <a:r>
              <a:rPr lang="en-GB" b="1"/>
              <a:t>split into packets and labelled </a:t>
            </a:r>
            <a:r>
              <a:rPr lang="en-GB"/>
              <a:t>(e.g. with port number and packet number)</a:t>
            </a:r>
          </a:p>
          <a:p>
            <a:endParaRPr lang="en-GB"/>
          </a:p>
          <a:p>
            <a:r>
              <a:rPr lang="en-GB"/>
              <a:t>If packets not delivered, transport layer </a:t>
            </a:r>
            <a:r>
              <a:rPr lang="en-GB" b="1"/>
              <a:t>requests retransmission</a:t>
            </a:r>
            <a:r>
              <a:rPr lang="en-GB"/>
              <a:t> of lost packets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8E8B62-98A0-C481-AFE5-C799417CA95D}"/>
              </a:ext>
            </a:extLst>
          </p:cNvPr>
          <p:cNvSpPr txBox="1"/>
          <p:nvPr/>
        </p:nvSpPr>
        <p:spPr>
          <a:xfrm>
            <a:off x="7038110" y="2865156"/>
            <a:ext cx="22707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/>
                </a:solidFill>
              </a:rPr>
              <a:t>INTERNET: </a:t>
            </a:r>
            <a:r>
              <a:rPr lang="en-GB" b="1"/>
              <a:t>Adds source and destination IP addresses</a:t>
            </a:r>
          </a:p>
          <a:p>
            <a:endParaRPr lang="en-GB"/>
          </a:p>
          <a:p>
            <a:r>
              <a:rPr lang="en-GB"/>
              <a:t>Port number + IP address = </a:t>
            </a:r>
            <a:r>
              <a:rPr lang="en-GB" b="1"/>
              <a:t>Socket address</a:t>
            </a:r>
          </a:p>
          <a:p>
            <a:endParaRPr lang="en-GB"/>
          </a:p>
          <a:p>
            <a:r>
              <a:rPr lang="en-GB" b="1"/>
              <a:t>Routers</a:t>
            </a:r>
            <a:r>
              <a:rPr lang="en-GB"/>
              <a:t> operate on network layer and will </a:t>
            </a:r>
            <a:r>
              <a:rPr lang="en-GB" b="1"/>
              <a:t>forward the packets </a:t>
            </a:r>
            <a:r>
              <a:rPr lang="en-GB"/>
              <a:t>on to the destination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F900F7-786A-F523-C8A9-09A277393A5C}"/>
              </a:ext>
            </a:extLst>
          </p:cNvPr>
          <p:cNvSpPr txBox="1"/>
          <p:nvPr/>
        </p:nvSpPr>
        <p:spPr>
          <a:xfrm>
            <a:off x="9423918" y="1443841"/>
            <a:ext cx="239485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/>
                </a:solidFill>
              </a:rPr>
              <a:t>LINK: </a:t>
            </a:r>
            <a:r>
              <a:rPr lang="en-GB" b="1"/>
              <a:t>Physical connection </a:t>
            </a:r>
            <a:r>
              <a:rPr lang="en-GB"/>
              <a:t>between network devices and adds </a:t>
            </a:r>
            <a:r>
              <a:rPr lang="en-GB" b="1"/>
              <a:t>MAC addresses identifying the NICs </a:t>
            </a:r>
            <a:r>
              <a:rPr lang="en-GB"/>
              <a:t>of </a:t>
            </a:r>
            <a:r>
              <a:rPr lang="en-GB" b="1"/>
              <a:t>source and destination </a:t>
            </a:r>
            <a:r>
              <a:rPr lang="en-GB"/>
              <a:t>computers</a:t>
            </a:r>
          </a:p>
          <a:p>
            <a:endParaRPr lang="en-GB"/>
          </a:p>
          <a:p>
            <a:r>
              <a:rPr lang="en-GB"/>
              <a:t>So, once the packet has found the correct </a:t>
            </a:r>
            <a:r>
              <a:rPr lang="en-GB" b="1"/>
              <a:t>network using IP, It can find the device via MAC.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1ADB4C-D3C5-FF92-4802-706646B3D71C}"/>
              </a:ext>
            </a:extLst>
          </p:cNvPr>
          <p:cNvSpPr/>
          <p:nvPr/>
        </p:nvSpPr>
        <p:spPr>
          <a:xfrm>
            <a:off x="113961" y="971775"/>
            <a:ext cx="3696412" cy="412519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86CB11-394B-81B0-CA9B-4316816F7767}"/>
              </a:ext>
            </a:extLst>
          </p:cNvPr>
          <p:cNvSpPr/>
          <p:nvPr/>
        </p:nvSpPr>
        <p:spPr>
          <a:xfrm>
            <a:off x="270589" y="5263267"/>
            <a:ext cx="3293706" cy="141462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652230-4675-16AD-A7F5-BF8E7C11E913}"/>
              </a:ext>
            </a:extLst>
          </p:cNvPr>
          <p:cNvSpPr/>
          <p:nvPr/>
        </p:nvSpPr>
        <p:spPr>
          <a:xfrm>
            <a:off x="3990482" y="2774108"/>
            <a:ext cx="2698544" cy="378436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64AD54-FDB6-1883-D573-3CF21DBB5663}"/>
              </a:ext>
            </a:extLst>
          </p:cNvPr>
          <p:cNvSpPr/>
          <p:nvPr/>
        </p:nvSpPr>
        <p:spPr>
          <a:xfrm>
            <a:off x="6956970" y="2765668"/>
            <a:ext cx="2270732" cy="406980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AF1C14-DB17-072F-EAC3-ACAB04457BE5}"/>
              </a:ext>
            </a:extLst>
          </p:cNvPr>
          <p:cNvSpPr/>
          <p:nvPr/>
        </p:nvSpPr>
        <p:spPr>
          <a:xfrm>
            <a:off x="9423918" y="1384416"/>
            <a:ext cx="2497493" cy="4069806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55496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A027-E4F1-2C17-8C31-D2089547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27DD8A1-F9D5-D85E-0CE0-FD915359A43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DE2C148-8BA8-4A43-BBBD-CF5A62A05BDD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70B7E-37E0-27D3-83D8-3BAF24E9ED1C}"/>
              </a:ext>
            </a:extLst>
          </p:cNvPr>
          <p:cNvSpPr txBox="1"/>
          <p:nvPr/>
        </p:nvSpPr>
        <p:spPr>
          <a:xfrm>
            <a:off x="336697" y="106714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DNS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9FF457-8EE2-E277-3DF4-81DFD2319FF8}"/>
              </a:ext>
            </a:extLst>
          </p:cNvPr>
          <p:cNvSpPr txBox="1"/>
          <p:nvPr/>
        </p:nvSpPr>
        <p:spPr>
          <a:xfrm>
            <a:off x="98271" y="711625"/>
            <a:ext cx="423744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URLS</a:t>
            </a:r>
            <a:r>
              <a:rPr lang="en-GB" dirty="0"/>
              <a:t> = </a:t>
            </a:r>
            <a:r>
              <a:rPr lang="en-GB" b="1" dirty="0"/>
              <a:t>Uniform Resource Locators </a:t>
            </a:r>
            <a:r>
              <a:rPr lang="en-GB" dirty="0"/>
              <a:t>and are the </a:t>
            </a:r>
            <a:r>
              <a:rPr lang="en-GB" b="1" dirty="0"/>
              <a:t>full addresses </a:t>
            </a:r>
            <a:r>
              <a:rPr lang="en-GB" dirty="0"/>
              <a:t>of an internet resource</a:t>
            </a:r>
          </a:p>
          <a:p>
            <a:endParaRPr lang="en-GB" b="1" dirty="0"/>
          </a:p>
          <a:p>
            <a:r>
              <a:rPr lang="en-GB" b="1" dirty="0">
                <a:solidFill>
                  <a:schemeClr val="accent2"/>
                </a:solidFill>
              </a:rPr>
              <a:t>DNS </a:t>
            </a:r>
            <a:r>
              <a:rPr lang="en-GB" dirty="0"/>
              <a:t>= </a:t>
            </a:r>
            <a:r>
              <a:rPr lang="en-GB" b="1" dirty="0"/>
              <a:t>Domain Name System </a:t>
            </a:r>
            <a:r>
              <a:rPr lang="en-GB" dirty="0"/>
              <a:t>with domain names identifying </a:t>
            </a:r>
            <a:r>
              <a:rPr lang="en-GB" b="1" dirty="0"/>
              <a:t>the area </a:t>
            </a:r>
            <a:r>
              <a:rPr lang="en-GB" dirty="0"/>
              <a:t>that an internet resource resides in.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IP Addresses </a:t>
            </a:r>
            <a:r>
              <a:rPr lang="en-GB" dirty="0"/>
              <a:t>= </a:t>
            </a:r>
            <a:r>
              <a:rPr lang="en-GB" b="1" dirty="0"/>
              <a:t>Internet Protocol addresses </a:t>
            </a:r>
            <a:r>
              <a:rPr lang="en-GB" dirty="0"/>
              <a:t>is a </a:t>
            </a:r>
            <a:r>
              <a:rPr lang="en-GB" b="1" dirty="0"/>
              <a:t>unique address assigned to a network device</a:t>
            </a:r>
            <a:r>
              <a:rPr lang="en-GB" dirty="0"/>
              <a:t> which routers use. </a:t>
            </a:r>
            <a:r>
              <a:rPr lang="en-GB" b="1" dirty="0"/>
              <a:t>IPv4: 32 bits</a:t>
            </a:r>
            <a:r>
              <a:rPr lang="en-GB" dirty="0"/>
              <a:t>, 4 decimals 0-256, separated by periods. </a:t>
            </a:r>
            <a:r>
              <a:rPr lang="en-GB" b="1" dirty="0"/>
              <a:t>IPv6, 32 hexadecimal </a:t>
            </a:r>
            <a:r>
              <a:rPr lang="en-GB" dirty="0"/>
              <a:t>digits, 8 groups, separated by colons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2"/>
                </a:solidFill>
              </a:rPr>
              <a:t>MAC Addresses </a:t>
            </a:r>
            <a:r>
              <a:rPr lang="en-GB" dirty="0"/>
              <a:t>= </a:t>
            </a:r>
            <a:r>
              <a:rPr lang="en-GB" b="1" dirty="0"/>
              <a:t>Media Access Control Addresses </a:t>
            </a:r>
            <a:r>
              <a:rPr lang="en-GB" dirty="0"/>
              <a:t>are the </a:t>
            </a:r>
            <a:r>
              <a:rPr lang="en-GB" b="1" dirty="0"/>
              <a:t>unique addresses </a:t>
            </a:r>
            <a:r>
              <a:rPr lang="en-GB" dirty="0"/>
              <a:t>assigned to a </a:t>
            </a:r>
            <a:r>
              <a:rPr lang="en-GB" b="1" dirty="0"/>
              <a:t>NIC so the physical device can be identified. 12 hexadecimal digits</a:t>
            </a:r>
            <a:r>
              <a:rPr lang="en-GB" dirty="0"/>
              <a:t>,</a:t>
            </a:r>
            <a:r>
              <a:rPr lang="en-GB" b="1" dirty="0"/>
              <a:t> </a:t>
            </a:r>
            <a:r>
              <a:rPr lang="en-GB" dirty="0"/>
              <a:t>separated by dashes/colons</a:t>
            </a:r>
          </a:p>
        </p:txBody>
      </p:sp>
      <p:pic>
        <p:nvPicPr>
          <p:cNvPr id="7" name="Picture 6" descr="A diagram of a switch&#10;&#10;AI-generated content may be incorrect.">
            <a:extLst>
              <a:ext uri="{FF2B5EF4-FFF2-40B4-BE49-F238E27FC236}">
                <a16:creationId xmlns:a16="http://schemas.microsoft.com/office/drawing/2014/main" id="{DF3DDFC8-6A03-2B6D-81C9-F6527B42B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726" y="1016689"/>
            <a:ext cx="3064946" cy="133821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EC8DCD-F40A-B6D2-A24A-42669924BF00}"/>
              </a:ext>
            </a:extLst>
          </p:cNvPr>
          <p:cNvSpPr txBox="1"/>
          <p:nvPr/>
        </p:nvSpPr>
        <p:spPr>
          <a:xfrm>
            <a:off x="4323245" y="188405"/>
            <a:ext cx="37970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 transmission over the </a:t>
            </a:r>
            <a:r>
              <a:rPr lang="en-GB" b="1"/>
              <a:t>same network does not require the DNS</a:t>
            </a:r>
          </a:p>
        </p:txBody>
      </p:sp>
      <p:pic>
        <p:nvPicPr>
          <p:cNvPr id="10" name="Picture 9" descr="A diagram of a router&#10;&#10;AI-generated content may be incorrect.">
            <a:extLst>
              <a:ext uri="{FF2B5EF4-FFF2-40B4-BE49-F238E27FC236}">
                <a16:creationId xmlns:a16="http://schemas.microsoft.com/office/drawing/2014/main" id="{4F9BE368-F2C3-B8F1-DBE8-4FF48649A9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2995" y="1318042"/>
            <a:ext cx="3960734" cy="172546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CF164A-1850-E43F-B46F-2470DEB0842C}"/>
              </a:ext>
            </a:extLst>
          </p:cNvPr>
          <p:cNvSpPr txBox="1"/>
          <p:nvPr/>
        </p:nvSpPr>
        <p:spPr>
          <a:xfrm>
            <a:off x="8026400" y="3158836"/>
            <a:ext cx="37970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Network transmission across </a:t>
            </a:r>
            <a:r>
              <a:rPr lang="en-GB" b="1"/>
              <a:t>multiple networks involves routers </a:t>
            </a:r>
            <a:r>
              <a:rPr lang="en-GB"/>
              <a:t>– the router reads the </a:t>
            </a:r>
            <a:r>
              <a:rPr lang="en-GB" b="1"/>
              <a:t>recipient’s IP </a:t>
            </a:r>
            <a:r>
              <a:rPr lang="en-GB"/>
              <a:t>address in each packet and forwards it on to the recipient via the </a:t>
            </a:r>
            <a:r>
              <a:rPr lang="en-GB" b="1"/>
              <a:t>fastest route.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E5B5FE8-107E-F5ED-3E3E-F7C5DD1FF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4978" y="2657482"/>
            <a:ext cx="3039371" cy="21289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CC095E-E090-8A5D-E63C-7883838422C6}"/>
              </a:ext>
            </a:extLst>
          </p:cNvPr>
          <p:cNvSpPr txBox="1"/>
          <p:nvPr/>
        </p:nvSpPr>
        <p:spPr>
          <a:xfrm>
            <a:off x="4444978" y="5153891"/>
            <a:ext cx="74906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DNS HOW IT WORKS: </a:t>
            </a:r>
            <a:r>
              <a:rPr lang="en-GB" b="1" dirty="0"/>
              <a:t>User requests URL</a:t>
            </a:r>
            <a:r>
              <a:rPr lang="en-GB" dirty="0"/>
              <a:t> via a </a:t>
            </a:r>
            <a:r>
              <a:rPr lang="en-GB" b="1" dirty="0"/>
              <a:t>browser</a:t>
            </a:r>
          </a:p>
          <a:p>
            <a:r>
              <a:rPr lang="en-GB" dirty="0"/>
              <a:t>Browser sends </a:t>
            </a:r>
            <a:r>
              <a:rPr lang="en-GB" b="1" dirty="0"/>
              <a:t>domain name to DNS</a:t>
            </a:r>
          </a:p>
          <a:p>
            <a:r>
              <a:rPr lang="en-GB" dirty="0"/>
              <a:t>DNS </a:t>
            </a:r>
            <a:r>
              <a:rPr lang="en-GB" b="1" dirty="0"/>
              <a:t>maps the domain name to an IP address </a:t>
            </a:r>
            <a:r>
              <a:rPr lang="en-GB" dirty="0"/>
              <a:t>and returns it to browser</a:t>
            </a:r>
          </a:p>
          <a:p>
            <a:r>
              <a:rPr lang="en-GB" b="1" dirty="0"/>
              <a:t>Requested </a:t>
            </a:r>
            <a:r>
              <a:rPr lang="en-GB" dirty="0"/>
              <a:t>web page or resource </a:t>
            </a:r>
            <a:r>
              <a:rPr lang="en-GB" b="1" dirty="0"/>
              <a:t>is returned to the client’s web browser.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95F246-B958-DA97-24C0-A7D18D9E03CF}"/>
              </a:ext>
            </a:extLst>
          </p:cNvPr>
          <p:cNvSpPr/>
          <p:nvPr/>
        </p:nvSpPr>
        <p:spPr>
          <a:xfrm>
            <a:off x="98271" y="685800"/>
            <a:ext cx="4190627" cy="6172200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105A0C-EFF2-C497-2DFB-4DD99E17DCB3}"/>
              </a:ext>
            </a:extLst>
          </p:cNvPr>
          <p:cNvSpPr/>
          <p:nvPr/>
        </p:nvSpPr>
        <p:spPr>
          <a:xfrm>
            <a:off x="7897091" y="3158836"/>
            <a:ext cx="4082473" cy="1754326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847C2F7-DC14-CBE5-D5AE-07F073781F2A}"/>
              </a:ext>
            </a:extLst>
          </p:cNvPr>
          <p:cNvSpPr/>
          <p:nvPr/>
        </p:nvSpPr>
        <p:spPr>
          <a:xfrm>
            <a:off x="4323246" y="151537"/>
            <a:ext cx="3879548" cy="783461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110B238-AABF-45B1-C4AB-EBD826C03ECB}"/>
              </a:ext>
            </a:extLst>
          </p:cNvPr>
          <p:cNvSpPr/>
          <p:nvPr/>
        </p:nvSpPr>
        <p:spPr>
          <a:xfrm>
            <a:off x="4457449" y="5127932"/>
            <a:ext cx="7490690" cy="1477328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5948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975E-7866-74A2-A589-46A4A3C44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Data Packet? — Definition by Techslang">
            <a:extLst>
              <a:ext uri="{FF2B5EF4-FFF2-40B4-BE49-F238E27FC236}">
                <a16:creationId xmlns:a16="http://schemas.microsoft.com/office/drawing/2014/main" id="{046E1205-DF84-E721-C140-AC750664A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692" y="610039"/>
            <a:ext cx="4769350" cy="153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32E7BC1-408A-E334-13CE-5082DE3D6E2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EE9E39E-E977-AF4B-7BB9-F5A13E0AC37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796B8-175C-BB45-F3EB-0E56030362E9}"/>
              </a:ext>
            </a:extLst>
          </p:cNvPr>
          <p:cNvSpPr txBox="1"/>
          <p:nvPr/>
        </p:nvSpPr>
        <p:spPr>
          <a:xfrm>
            <a:off x="315347" y="372247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NETWORK COMMUNICATION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A977C-EB6A-7051-67B0-EF87E6985A3C}"/>
              </a:ext>
            </a:extLst>
          </p:cNvPr>
          <p:cNvSpPr txBox="1"/>
          <p:nvPr/>
        </p:nvSpPr>
        <p:spPr>
          <a:xfrm>
            <a:off x="146928" y="1819342"/>
            <a:ext cx="47021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Data packets are </a:t>
            </a:r>
            <a:r>
              <a:rPr lang="en-GB" b="1"/>
              <a:t>segments of data </a:t>
            </a:r>
            <a:r>
              <a:rPr lang="en-GB"/>
              <a:t>that contain…</a:t>
            </a:r>
          </a:p>
          <a:p>
            <a:endParaRPr lang="en-GB"/>
          </a:p>
          <a:p>
            <a:r>
              <a:rPr lang="en-GB" b="1">
                <a:solidFill>
                  <a:srgbClr val="FEC301"/>
                </a:solidFill>
              </a:rPr>
              <a:t>HEADER</a:t>
            </a:r>
            <a:r>
              <a:rPr lang="en-GB">
                <a:solidFill>
                  <a:srgbClr val="FEC301"/>
                </a:solidFill>
              </a:rPr>
              <a:t>: </a:t>
            </a:r>
            <a:r>
              <a:rPr lang="en-GB" b="1"/>
              <a:t>Sender and recipient </a:t>
            </a:r>
            <a:r>
              <a:rPr lang="en-GB"/>
              <a:t>IP addresses</a:t>
            </a:r>
          </a:p>
          <a:p>
            <a:r>
              <a:rPr lang="en-GB" b="1"/>
              <a:t>Protocol</a:t>
            </a:r>
            <a:r>
              <a:rPr lang="en-GB"/>
              <a:t> used</a:t>
            </a:r>
          </a:p>
          <a:p>
            <a:r>
              <a:rPr lang="en-GB" b="1"/>
              <a:t>Order </a:t>
            </a:r>
            <a:r>
              <a:rPr lang="en-GB"/>
              <a:t>of packets</a:t>
            </a:r>
          </a:p>
          <a:p>
            <a:r>
              <a:rPr lang="en-GB" b="1"/>
              <a:t>Time to live </a:t>
            </a:r>
            <a:r>
              <a:rPr lang="en-GB"/>
              <a:t>– tells the packet when to expire</a:t>
            </a:r>
          </a:p>
          <a:p>
            <a:endParaRPr lang="en-GB"/>
          </a:p>
          <a:p>
            <a:r>
              <a:rPr lang="en-GB" b="1">
                <a:solidFill>
                  <a:srgbClr val="FEC301"/>
                </a:solidFill>
              </a:rPr>
              <a:t>PAYLOAD: </a:t>
            </a:r>
            <a:r>
              <a:rPr lang="en-GB" b="1"/>
              <a:t>Raw data </a:t>
            </a:r>
            <a:r>
              <a:rPr lang="en-GB"/>
              <a:t>to be transmitted</a:t>
            </a:r>
          </a:p>
          <a:p>
            <a:endParaRPr lang="en-GB"/>
          </a:p>
          <a:p>
            <a:r>
              <a:rPr lang="en-GB" b="1">
                <a:solidFill>
                  <a:srgbClr val="FEC301"/>
                </a:solidFill>
              </a:rPr>
              <a:t>TRAILER: </a:t>
            </a:r>
            <a:r>
              <a:rPr lang="en-GB" b="1"/>
              <a:t>Checksum</a:t>
            </a:r>
            <a:r>
              <a:rPr lang="en-GB"/>
              <a:t>/cyclic redundancy check (</a:t>
            </a:r>
            <a:r>
              <a:rPr lang="en-GB" b="1"/>
              <a:t>detects error </a:t>
            </a:r>
            <a:r>
              <a:rPr lang="en-GB"/>
              <a:t>during transmission)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6B040B-E21B-7026-516A-4C157942FF80}"/>
              </a:ext>
            </a:extLst>
          </p:cNvPr>
          <p:cNvSpPr txBox="1"/>
          <p:nvPr/>
        </p:nvSpPr>
        <p:spPr>
          <a:xfrm>
            <a:off x="5098196" y="38370"/>
            <a:ext cx="20302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TWO TECHNIQUES TO EXCHANGE DATA OVER NETWORKS: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BA029-A707-0A96-3010-68D778C48D56}"/>
              </a:ext>
            </a:extLst>
          </p:cNvPr>
          <p:cNvSpPr txBox="1"/>
          <p:nvPr/>
        </p:nvSpPr>
        <p:spPr>
          <a:xfrm>
            <a:off x="7106173" y="0"/>
            <a:ext cx="30686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75000"/>
                  </a:schemeClr>
                </a:solidFill>
              </a:rPr>
              <a:t>PACKET SWITCHING: </a:t>
            </a:r>
            <a:r>
              <a:rPr lang="en-GB"/>
              <a:t>Packets are sent </a:t>
            </a:r>
            <a:r>
              <a:rPr lang="en-GB" b="1"/>
              <a:t>various routes </a:t>
            </a:r>
            <a:r>
              <a:rPr lang="en-GB"/>
              <a:t>based on which route is most </a:t>
            </a:r>
            <a:r>
              <a:rPr lang="en-GB" b="1"/>
              <a:t>efficient.</a:t>
            </a:r>
          </a:p>
          <a:p>
            <a:endParaRPr lang="en-GB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46E46BB-D4F3-BEDE-800F-272A07D7CC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121531"/>
              </p:ext>
            </p:extLst>
          </p:nvPr>
        </p:nvGraphicFramePr>
        <p:xfrm>
          <a:off x="5003372" y="1152359"/>
          <a:ext cx="7197864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8932">
                  <a:extLst>
                    <a:ext uri="{9D8B030D-6E8A-4147-A177-3AD203B41FA5}">
                      <a16:colId xmlns:a16="http://schemas.microsoft.com/office/drawing/2014/main" val="913568938"/>
                    </a:ext>
                  </a:extLst>
                </a:gridCol>
                <a:gridCol w="3598932">
                  <a:extLst>
                    <a:ext uri="{9D8B030D-6E8A-4147-A177-3AD203B41FA5}">
                      <a16:colId xmlns:a16="http://schemas.microsoft.com/office/drawing/2014/main" val="3572774118"/>
                    </a:ext>
                  </a:extLst>
                </a:gridCol>
              </a:tblGrid>
              <a:tr h="345975">
                <a:tc>
                  <a:txBody>
                    <a:bodyPr/>
                    <a:lstStyle/>
                    <a:p>
                      <a:r>
                        <a:rPr lang="en-GB"/>
                        <a:t>PROS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CONS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98738"/>
                  </a:ext>
                </a:extLst>
              </a:tr>
              <a:tr h="605455">
                <a:tc>
                  <a:txBody>
                    <a:bodyPr/>
                    <a:lstStyle/>
                    <a:p>
                      <a:r>
                        <a:rPr lang="en-GB"/>
                        <a:t>Multiple methods to </a:t>
                      </a:r>
                      <a:r>
                        <a:rPr lang="en-GB" b="1"/>
                        <a:t>ensure data arrives intact </a:t>
                      </a:r>
                      <a:r>
                        <a:rPr lang="en-GB"/>
                        <a:t>(e.g. checksums)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Time is spent </a:t>
                      </a:r>
                      <a:r>
                        <a:rPr lang="en-GB" b="1"/>
                        <a:t>deconstructing and reconstructing packets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8152669"/>
                  </a:ext>
                </a:extLst>
              </a:tr>
              <a:tr h="605455">
                <a:tc>
                  <a:txBody>
                    <a:bodyPr/>
                    <a:lstStyle/>
                    <a:p>
                      <a:r>
                        <a:rPr lang="en-GB"/>
                        <a:t>Multiple routes can be used</a:t>
                      </a:r>
                      <a:r>
                        <a:rPr lang="en-GB" b="1"/>
                        <a:t>, not reliant on one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Must wait for all packets</a:t>
                      </a:r>
                      <a:r>
                        <a:rPr lang="en-GB" b="0"/>
                        <a:t> to arrive </a:t>
                      </a:r>
                      <a:r>
                        <a:rPr lang="en-GB"/>
                        <a:t>before data can be received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6399472"/>
                  </a:ext>
                </a:extLst>
              </a:tr>
              <a:tr h="605455">
                <a:tc>
                  <a:txBody>
                    <a:bodyPr/>
                    <a:lstStyle/>
                    <a:p>
                      <a:r>
                        <a:rPr lang="en-GB"/>
                        <a:t>Packets can be transferred over </a:t>
                      </a:r>
                      <a:r>
                        <a:rPr lang="en-GB" b="1"/>
                        <a:t>very large networks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866679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657A7B5-36CD-0F06-5181-C06CF3346AFF}"/>
              </a:ext>
            </a:extLst>
          </p:cNvPr>
          <p:cNvSpPr txBox="1"/>
          <p:nvPr/>
        </p:nvSpPr>
        <p:spPr>
          <a:xfrm>
            <a:off x="0" y="5239731"/>
            <a:ext cx="43965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75000"/>
                  </a:schemeClr>
                </a:solidFill>
              </a:rPr>
              <a:t>CIRCUIT SWITCHING: </a:t>
            </a:r>
            <a:r>
              <a:rPr lang="en-GB" b="1"/>
              <a:t>Direct link </a:t>
            </a:r>
            <a:r>
              <a:rPr lang="en-GB"/>
              <a:t>is created between two devices and is </a:t>
            </a:r>
            <a:r>
              <a:rPr lang="en-GB" b="1"/>
              <a:t>maintained for the entire </a:t>
            </a:r>
            <a:r>
              <a:rPr lang="en-GB"/>
              <a:t>conversation between devices. Requires both device to transfer and receive data at </a:t>
            </a:r>
            <a:r>
              <a:rPr lang="en-GB" b="1"/>
              <a:t>the same rate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80596EB-B060-2686-E428-7C522FBFC9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970021"/>
              </p:ext>
            </p:extLst>
          </p:nvPr>
        </p:nvGraphicFramePr>
        <p:xfrm>
          <a:off x="4839855" y="3527502"/>
          <a:ext cx="7352145" cy="3292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8194">
                  <a:extLst>
                    <a:ext uri="{9D8B030D-6E8A-4147-A177-3AD203B41FA5}">
                      <a16:colId xmlns:a16="http://schemas.microsoft.com/office/drawing/2014/main" val="3221319008"/>
                    </a:ext>
                  </a:extLst>
                </a:gridCol>
                <a:gridCol w="4863951">
                  <a:extLst>
                    <a:ext uri="{9D8B030D-6E8A-4147-A177-3AD203B41FA5}">
                      <a16:colId xmlns:a16="http://schemas.microsoft.com/office/drawing/2014/main" val="621738625"/>
                    </a:ext>
                  </a:extLst>
                </a:gridCol>
              </a:tblGrid>
              <a:tr h="225172">
                <a:tc>
                  <a:txBody>
                    <a:bodyPr/>
                    <a:lstStyle/>
                    <a:p>
                      <a:r>
                        <a:rPr lang="en-GB"/>
                        <a:t>PROS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CONS</a:t>
                      </a:r>
                    </a:p>
                  </a:txBody>
                  <a:tcPr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121816"/>
                  </a:ext>
                </a:extLst>
              </a:tr>
              <a:tr h="731808">
                <a:tc>
                  <a:txBody>
                    <a:bodyPr/>
                    <a:lstStyle/>
                    <a:p>
                      <a:r>
                        <a:rPr lang="en-GB"/>
                        <a:t>Data arrives in </a:t>
                      </a:r>
                      <a:r>
                        <a:rPr lang="en-GB" b="1"/>
                        <a:t>logical order, quicker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Bandwidth is wasted </a:t>
                      </a:r>
                      <a:r>
                        <a:rPr lang="en-GB"/>
                        <a:t>during period in which no data is being sent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558026"/>
                  </a:ext>
                </a:extLst>
              </a:tr>
              <a:tr h="562929">
                <a:tc>
                  <a:txBody>
                    <a:bodyPr/>
                    <a:lstStyle/>
                    <a:p>
                      <a:r>
                        <a:rPr lang="en-GB" b="1"/>
                        <a:t>No delay </a:t>
                      </a:r>
                      <a:r>
                        <a:rPr lang="en-GB"/>
                        <a:t>e.g. for speech on a 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Devices must transfer and receive </a:t>
                      </a:r>
                      <a:r>
                        <a:rPr lang="en-GB" b="1"/>
                        <a:t>data at same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003822"/>
                  </a:ext>
                </a:extLst>
              </a:tr>
              <a:tr h="562929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Using switches means </a:t>
                      </a:r>
                      <a:r>
                        <a:rPr lang="en-GB" b="1"/>
                        <a:t>electrical interference </a:t>
                      </a:r>
                      <a:r>
                        <a:rPr lang="en-GB"/>
                        <a:t>could be produced, </a:t>
                      </a:r>
                      <a:r>
                        <a:rPr lang="en-GB" b="1"/>
                        <a:t>corrupts/destroys data</a:t>
                      </a:r>
                      <a:r>
                        <a:rPr lang="en-GB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065680"/>
                  </a:ext>
                </a:extLst>
              </a:tr>
              <a:tr h="73180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Sections of network </a:t>
                      </a:r>
                      <a:r>
                        <a:rPr lang="en-GB" b="1"/>
                        <a:t>cannot be used </a:t>
                      </a:r>
                      <a:r>
                        <a:rPr lang="en-GB"/>
                        <a:t>by other data </a:t>
                      </a:r>
                      <a:r>
                        <a:rPr lang="en-GB" b="1"/>
                        <a:t>until transmission has been completed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80015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0EF32723-10A2-B566-5493-A59FF032B882}"/>
              </a:ext>
            </a:extLst>
          </p:cNvPr>
          <p:cNvSpPr/>
          <p:nvPr/>
        </p:nvSpPr>
        <p:spPr>
          <a:xfrm>
            <a:off x="146928" y="1819564"/>
            <a:ext cx="4632773" cy="3420167"/>
          </a:xfrm>
          <a:prstGeom prst="rect">
            <a:avLst/>
          </a:prstGeom>
          <a:noFill/>
          <a:ln>
            <a:solidFill>
              <a:srgbClr val="E06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BDA2B8-6FA7-5F13-F1A7-32FDCD488A97}"/>
              </a:ext>
            </a:extLst>
          </p:cNvPr>
          <p:cNvSpPr/>
          <p:nvPr/>
        </p:nvSpPr>
        <p:spPr>
          <a:xfrm>
            <a:off x="1" y="5297315"/>
            <a:ext cx="4479636" cy="147732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D32710-FE0D-917A-1BD8-6DA96858074C}"/>
              </a:ext>
            </a:extLst>
          </p:cNvPr>
          <p:cNvSpPr/>
          <p:nvPr/>
        </p:nvSpPr>
        <p:spPr>
          <a:xfrm>
            <a:off x="5017067" y="38370"/>
            <a:ext cx="2030278" cy="1113989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7FB9E0-D1F8-EE65-9481-FEAC961B2A6C}"/>
              </a:ext>
            </a:extLst>
          </p:cNvPr>
          <p:cNvSpPr/>
          <p:nvPr/>
        </p:nvSpPr>
        <p:spPr>
          <a:xfrm>
            <a:off x="7167653" y="76862"/>
            <a:ext cx="2945707" cy="1040981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865965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F04DC-9D4D-5349-7CB7-F31CA9A8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Firewall? | IT Wiki | Proximity MFA for Shared Workstations -  GateKeeper Enterprise Solution">
            <a:extLst>
              <a:ext uri="{FF2B5EF4-FFF2-40B4-BE49-F238E27FC236}">
                <a16:creationId xmlns:a16="http://schemas.microsoft.com/office/drawing/2014/main" id="{9A00F567-C4AD-DF0C-1C29-5453869B12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806" t="7519" r="18774" b="9118"/>
          <a:stretch>
            <a:fillRect/>
          </a:stretch>
        </p:blipFill>
        <p:spPr bwMode="auto">
          <a:xfrm>
            <a:off x="4037423" y="0"/>
            <a:ext cx="2518124" cy="2174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774C7E7-3341-8937-5741-DF93FE9FFF0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5E42FE4-9671-7FFB-2135-FA8EDD0FBAB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01C214-CFCE-40EC-BA79-D225BFAE1B6F}"/>
              </a:ext>
            </a:extLst>
          </p:cNvPr>
          <p:cNvSpPr txBox="1"/>
          <p:nvPr/>
        </p:nvSpPr>
        <p:spPr>
          <a:xfrm>
            <a:off x="269949" y="252740"/>
            <a:ext cx="7824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NETWORK SECURITY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D1D08-7A9E-E17D-7017-989D563C567D}"/>
              </a:ext>
            </a:extLst>
          </p:cNvPr>
          <p:cNvSpPr txBox="1"/>
          <p:nvPr/>
        </p:nvSpPr>
        <p:spPr>
          <a:xfrm>
            <a:off x="100820" y="807027"/>
            <a:ext cx="379372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Firewalls</a:t>
            </a:r>
            <a:r>
              <a:rPr lang="en-GB"/>
              <a:t> are a device to </a:t>
            </a:r>
            <a:r>
              <a:rPr lang="en-GB" b="1"/>
              <a:t>prevent unauthorised access to a network</a:t>
            </a:r>
            <a:r>
              <a:rPr lang="en-GB"/>
              <a:t>. </a:t>
            </a:r>
          </a:p>
          <a:p>
            <a:endParaRPr lang="en-GB"/>
          </a:p>
          <a:p>
            <a:r>
              <a:rPr lang="en-GB"/>
              <a:t>It consists of </a:t>
            </a:r>
            <a:r>
              <a:rPr lang="en-GB" b="1"/>
              <a:t>two NICs </a:t>
            </a:r>
            <a:r>
              <a:rPr lang="en-GB"/>
              <a:t>between the user and the Internet. The firewall </a:t>
            </a:r>
            <a:r>
              <a:rPr lang="en-GB" b="1"/>
              <a:t>passes packets between these two NICs</a:t>
            </a:r>
            <a:r>
              <a:rPr lang="en-GB"/>
              <a:t> and compares them against a set of rules set by the firewall software – </a:t>
            </a:r>
            <a:r>
              <a:rPr lang="en-GB" b="1"/>
              <a:t>packet filters</a:t>
            </a:r>
          </a:p>
          <a:p>
            <a:endParaRPr lang="en-GB"/>
          </a:p>
          <a:p>
            <a:r>
              <a:rPr lang="en-GB" b="1"/>
              <a:t>Packet filtering</a:t>
            </a:r>
            <a:r>
              <a:rPr lang="en-GB"/>
              <a:t>/static filtering </a:t>
            </a:r>
            <a:r>
              <a:rPr lang="en-GB" b="1"/>
              <a:t>limits network access </a:t>
            </a:r>
            <a:r>
              <a:rPr lang="en-GB"/>
              <a:t>in accordance with administrator </a:t>
            </a:r>
            <a:r>
              <a:rPr lang="en-GB" b="1"/>
              <a:t>policies</a:t>
            </a:r>
            <a:r>
              <a:rPr lang="en-GB"/>
              <a:t>. It does this by examining </a:t>
            </a:r>
            <a:r>
              <a:rPr lang="en-GB" b="1"/>
              <a:t>source IP, destination IP</a:t>
            </a:r>
            <a:r>
              <a:rPr lang="en-GB"/>
              <a:t>, protocols used and ports being requested.</a:t>
            </a:r>
          </a:p>
          <a:p>
            <a:endParaRPr lang="en-GB"/>
          </a:p>
          <a:p>
            <a:r>
              <a:rPr lang="en-GB"/>
              <a:t>Denied access to firewall then packets either </a:t>
            </a:r>
            <a:r>
              <a:rPr lang="en-GB" b="1"/>
              <a:t>dropped or rejected (sender is alerted to error)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5B851-C268-EC5D-9BEA-C275084C0130}"/>
              </a:ext>
            </a:extLst>
          </p:cNvPr>
          <p:cNvSpPr txBox="1"/>
          <p:nvPr/>
        </p:nvSpPr>
        <p:spPr>
          <a:xfrm>
            <a:off x="4178243" y="2215065"/>
            <a:ext cx="3659645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Proxy servers </a:t>
            </a:r>
            <a:r>
              <a:rPr lang="en-GB"/>
              <a:t>act as an </a:t>
            </a:r>
            <a:r>
              <a:rPr lang="en-GB" b="1"/>
              <a:t>intermediary</a:t>
            </a:r>
            <a:r>
              <a:rPr lang="en-GB"/>
              <a:t>, collecting and sending data </a:t>
            </a:r>
            <a:r>
              <a:rPr lang="en-GB" b="1"/>
              <a:t>on behalf of a user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PROS: </a:t>
            </a:r>
            <a:r>
              <a:rPr lang="en-GB" b="1"/>
              <a:t>Privacy</a:t>
            </a:r>
          </a:p>
          <a:p>
            <a:endParaRPr lang="en-GB"/>
          </a:p>
          <a:p>
            <a:r>
              <a:rPr lang="en-GB"/>
              <a:t>. Anonymity</a:t>
            </a:r>
          </a:p>
          <a:p>
            <a:endParaRPr lang="en-GB"/>
          </a:p>
          <a:p>
            <a:r>
              <a:rPr lang="en-GB" b="1"/>
              <a:t>. Caches frequently </a:t>
            </a:r>
            <a:r>
              <a:rPr lang="en-GB"/>
              <a:t>used website data making it faster to load</a:t>
            </a:r>
          </a:p>
          <a:p>
            <a:endParaRPr lang="en-GB"/>
          </a:p>
          <a:p>
            <a:r>
              <a:rPr lang="en-GB" b="1"/>
              <a:t>. Reduce overall web traffic</a:t>
            </a:r>
          </a:p>
          <a:p>
            <a:endParaRPr lang="en-GB"/>
          </a:p>
          <a:p>
            <a:r>
              <a:rPr lang="en-GB"/>
              <a:t>. Can be used by administrators to </a:t>
            </a:r>
            <a:r>
              <a:rPr lang="en-GB" b="1"/>
              <a:t>prevent access</a:t>
            </a:r>
            <a:r>
              <a:rPr lang="en-GB"/>
              <a:t> to sensitive info e.g. used in schools.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C3460C-6607-4680-2F44-1673D7D349D2}"/>
              </a:ext>
            </a:extLst>
          </p:cNvPr>
          <p:cNvSpPr txBox="1"/>
          <p:nvPr/>
        </p:nvSpPr>
        <p:spPr>
          <a:xfrm>
            <a:off x="6727371" y="0"/>
            <a:ext cx="2799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Encryption</a:t>
            </a:r>
            <a:r>
              <a:rPr lang="en-GB"/>
              <a:t> keeps data secure by making it </a:t>
            </a:r>
            <a:r>
              <a:rPr lang="en-GB" b="1"/>
              <a:t>unreadable </a:t>
            </a:r>
            <a:r>
              <a:rPr lang="en-GB"/>
              <a:t>as talked about in SLR9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3EBA6-4B4F-9F63-FAEE-0FF4B6E23550}"/>
              </a:ext>
            </a:extLst>
          </p:cNvPr>
          <p:cNvSpPr txBox="1"/>
          <p:nvPr/>
        </p:nvSpPr>
        <p:spPr>
          <a:xfrm>
            <a:off x="8013758" y="3046062"/>
            <a:ext cx="414253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F0000"/>
                </a:solidFill>
              </a:rPr>
              <a:t>Potential threats: </a:t>
            </a:r>
          </a:p>
          <a:p>
            <a:endParaRPr lang="en-GB"/>
          </a:p>
          <a:p>
            <a:r>
              <a:rPr lang="en-GB" b="1"/>
              <a:t>Worms and viruses</a:t>
            </a:r>
            <a:r>
              <a:rPr lang="en-GB"/>
              <a:t> which can </a:t>
            </a:r>
            <a:r>
              <a:rPr lang="en-GB" b="1"/>
              <a:t>self replicate </a:t>
            </a:r>
            <a:r>
              <a:rPr lang="en-GB"/>
              <a:t>and spread. Viruses </a:t>
            </a:r>
            <a:r>
              <a:rPr lang="en-GB" b="1"/>
              <a:t>rely on host files </a:t>
            </a:r>
            <a:r>
              <a:rPr lang="en-GB"/>
              <a:t>to be opened to spread themselves whereas worms do not.</a:t>
            </a:r>
          </a:p>
          <a:p>
            <a:endParaRPr lang="en-GB"/>
          </a:p>
          <a:p>
            <a:r>
              <a:rPr lang="en-GB" b="1"/>
              <a:t>Trojans pretend to be useful files</a:t>
            </a:r>
            <a:r>
              <a:rPr lang="en-GB"/>
              <a:t> that when installed release their payload. They cannot self replicate.</a:t>
            </a:r>
          </a:p>
          <a:p>
            <a:endParaRPr lang="en-GB"/>
          </a:p>
          <a:p>
            <a:r>
              <a:rPr lang="en-GB" b="1"/>
              <a:t>Social engineering </a:t>
            </a:r>
            <a:r>
              <a:rPr lang="en-GB"/>
              <a:t>to gather passwords from vulnerable people</a:t>
            </a:r>
          </a:p>
        </p:txBody>
      </p:sp>
      <p:pic>
        <p:nvPicPr>
          <p:cNvPr id="1028" name="Picture 4" descr="What will drive cyber security: Hacking, crime, warfare and/or terrorism? -  Asia Pacific Security Magazine">
            <a:extLst>
              <a:ext uri="{FF2B5EF4-FFF2-40B4-BE49-F238E27FC236}">
                <a16:creationId xmlns:a16="http://schemas.microsoft.com/office/drawing/2014/main" id="{9578A7F4-5436-E0E9-5F54-C1B0677579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2" t="1369" r="23221" b="1"/>
          <a:stretch>
            <a:fillRect/>
          </a:stretch>
        </p:blipFill>
        <p:spPr bwMode="auto">
          <a:xfrm>
            <a:off x="9261879" y="1028700"/>
            <a:ext cx="2930121" cy="1845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E8DB39F-6016-581D-1B03-5B97DE284191}"/>
              </a:ext>
            </a:extLst>
          </p:cNvPr>
          <p:cNvSpPr/>
          <p:nvPr/>
        </p:nvSpPr>
        <p:spPr>
          <a:xfrm>
            <a:off x="92180" y="775960"/>
            <a:ext cx="3833275" cy="5963421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05E4B4-0460-DC7E-A15E-CE5A9E9160F6}"/>
              </a:ext>
            </a:extLst>
          </p:cNvPr>
          <p:cNvSpPr/>
          <p:nvPr/>
        </p:nvSpPr>
        <p:spPr>
          <a:xfrm>
            <a:off x="4070414" y="2168282"/>
            <a:ext cx="3622515" cy="468971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7164A1-C910-B8E4-2F90-93248CAA322E}"/>
              </a:ext>
            </a:extLst>
          </p:cNvPr>
          <p:cNvSpPr/>
          <p:nvPr/>
        </p:nvSpPr>
        <p:spPr>
          <a:xfrm>
            <a:off x="6730384" y="48545"/>
            <a:ext cx="2531495" cy="120032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A0F0E6D-45D4-6D46-C16B-774EF198AFF0}"/>
              </a:ext>
            </a:extLst>
          </p:cNvPr>
          <p:cNvSpPr/>
          <p:nvPr/>
        </p:nvSpPr>
        <p:spPr>
          <a:xfrm>
            <a:off x="8013758" y="2997517"/>
            <a:ext cx="3966667" cy="374186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9721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0F4CD-14D8-ABFF-D751-24A12AA5D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9842152D-984A-A9B3-0B01-C997C3A578DA}"/>
              </a:ext>
            </a:extLst>
          </p:cNvPr>
          <p:cNvSpPr/>
          <p:nvPr/>
        </p:nvSpPr>
        <p:spPr>
          <a:xfrm>
            <a:off x="4960893" y="3496888"/>
            <a:ext cx="2154265" cy="1433593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NETWORK HARDWARE</a:t>
            </a:r>
          </a:p>
        </p:txBody>
      </p:sp>
      <p:pic>
        <p:nvPicPr>
          <p:cNvPr id="1038" name="Picture 14" descr="IoT Edge Computing Gateway – MFX-1">
            <a:extLst>
              <a:ext uri="{FF2B5EF4-FFF2-40B4-BE49-F238E27FC236}">
                <a16:creationId xmlns:a16="http://schemas.microsoft.com/office/drawing/2014/main" id="{6BECBE4F-16C8-0E8E-450B-139C0D261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9983" y="852904"/>
            <a:ext cx="2302097" cy="1614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etwork Hardware - A Level Computer Science">
            <a:extLst>
              <a:ext uri="{FF2B5EF4-FFF2-40B4-BE49-F238E27FC236}">
                <a16:creationId xmlns:a16="http://schemas.microsoft.com/office/drawing/2014/main" id="{7FD79224-C45F-89D9-7CAC-9890E815E9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338" y="5163919"/>
            <a:ext cx="1976793" cy="1577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WAP-6013 LevelOne 300Mbps 802.11b/g/n Wireless Access Point, Wireless  300Mb/s, 2x 2dbi Antennas, External...">
            <a:extLst>
              <a:ext uri="{FF2B5EF4-FFF2-40B4-BE49-F238E27FC236}">
                <a16:creationId xmlns:a16="http://schemas.microsoft.com/office/drawing/2014/main" id="{11984E5C-2E3D-957A-9BF9-93F31AC7F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99391" y="3220394"/>
            <a:ext cx="1714479" cy="1632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twork Interface Cards Explained">
            <a:extLst>
              <a:ext uri="{FF2B5EF4-FFF2-40B4-BE49-F238E27FC236}">
                <a16:creationId xmlns:a16="http://schemas.microsoft.com/office/drawing/2014/main" id="{BA5F1DFB-C6FE-BC60-7055-DAC68E6E1A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251" y="3248147"/>
            <a:ext cx="2551301" cy="170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witch Definition - What is a ...">
            <a:extLst>
              <a:ext uri="{FF2B5EF4-FFF2-40B4-BE49-F238E27FC236}">
                <a16:creationId xmlns:a16="http://schemas.microsoft.com/office/drawing/2014/main" id="{5AB721FE-3922-5541-FF10-1CE226874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369" y="5741431"/>
            <a:ext cx="2003752" cy="1001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B87DF6E-D4DB-59CD-BDE5-B496C02CCAB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7193610C-0EDD-D3F3-1777-9B937E8ECFEB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06076D-AA2F-F331-9819-639BD705B20A}"/>
              </a:ext>
            </a:extLst>
          </p:cNvPr>
          <p:cNvSpPr txBox="1"/>
          <p:nvPr/>
        </p:nvSpPr>
        <p:spPr>
          <a:xfrm>
            <a:off x="675033" y="329684"/>
            <a:ext cx="4330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NETWORK HARDWARE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DD302E-7516-17F6-B83E-E5F9E56776FB}"/>
              </a:ext>
            </a:extLst>
          </p:cNvPr>
          <p:cNvSpPr/>
          <p:nvPr/>
        </p:nvSpPr>
        <p:spPr>
          <a:xfrm>
            <a:off x="7323667" y="2501760"/>
            <a:ext cx="1890793" cy="1193369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Wireless Access Point (WAP)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2506D8-1BE6-18C0-C523-3E7D34CC9148}"/>
              </a:ext>
            </a:extLst>
          </p:cNvPr>
          <p:cNvSpPr/>
          <p:nvPr/>
        </p:nvSpPr>
        <p:spPr>
          <a:xfrm>
            <a:off x="7115158" y="4393845"/>
            <a:ext cx="1517398" cy="99956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Switch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85737E-5338-8CD4-33C2-5C9DD86F1A98}"/>
              </a:ext>
            </a:extLst>
          </p:cNvPr>
          <p:cNvSpPr/>
          <p:nvPr/>
        </p:nvSpPr>
        <p:spPr>
          <a:xfrm>
            <a:off x="2840493" y="4439009"/>
            <a:ext cx="1742196" cy="999565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Routers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8552E1A-2484-80AA-D383-167BD87D6850}"/>
              </a:ext>
            </a:extLst>
          </p:cNvPr>
          <p:cNvSpPr/>
          <p:nvPr/>
        </p:nvSpPr>
        <p:spPr>
          <a:xfrm>
            <a:off x="2529775" y="2366223"/>
            <a:ext cx="2154264" cy="1193370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Network Interface Card (NIC)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A613D9-48F8-0D76-D976-87AACE086E4E}"/>
              </a:ext>
            </a:extLst>
          </p:cNvPr>
          <p:cNvSpPr/>
          <p:nvPr/>
        </p:nvSpPr>
        <p:spPr>
          <a:xfrm>
            <a:off x="5154980" y="2038673"/>
            <a:ext cx="1766090" cy="1004311"/>
          </a:xfrm>
          <a:prstGeom prst="ellipse">
            <a:avLst/>
          </a:prstGeom>
          <a:solidFill>
            <a:schemeClr val="accent4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Gateways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2DCD35-51E5-999A-C0DD-7A4AB89A7410}"/>
              </a:ext>
            </a:extLst>
          </p:cNvPr>
          <p:cNvSpPr/>
          <p:nvPr/>
        </p:nvSpPr>
        <p:spPr>
          <a:xfrm>
            <a:off x="9214460" y="1209090"/>
            <a:ext cx="2977541" cy="1937065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Allows </a:t>
            </a:r>
            <a:r>
              <a:rPr lang="en-GB" b="1"/>
              <a:t>a device to connect to a network</a:t>
            </a:r>
            <a:r>
              <a:rPr lang="en-GB"/>
              <a:t> usually in conjunction with the router. Used in </a:t>
            </a:r>
            <a:r>
              <a:rPr lang="en-GB" b="1"/>
              <a:t>mesh</a:t>
            </a:r>
            <a:r>
              <a:rPr lang="en-GB"/>
              <a:t> networks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5A9503-2298-B9DD-2742-67B902C06991}"/>
              </a:ext>
            </a:extLst>
          </p:cNvPr>
          <p:cNvSpPr/>
          <p:nvPr/>
        </p:nvSpPr>
        <p:spPr>
          <a:xfrm>
            <a:off x="8768525" y="5089974"/>
            <a:ext cx="2689674" cy="1700867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Used to </a:t>
            </a:r>
            <a:r>
              <a:rPr lang="en-GB" b="1"/>
              <a:t>direct the flow of data </a:t>
            </a:r>
            <a:r>
              <a:rPr lang="en-GB"/>
              <a:t>across a network and are found in </a:t>
            </a:r>
            <a:r>
              <a:rPr lang="en-GB" b="1"/>
              <a:t>star</a:t>
            </a:r>
            <a:r>
              <a:rPr lang="en-GB"/>
              <a:t> topology.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0BEB9A2-1E5E-9633-4A99-B8F7935CAA1B}"/>
              </a:ext>
            </a:extLst>
          </p:cNvPr>
          <p:cNvSpPr/>
          <p:nvPr/>
        </p:nvSpPr>
        <p:spPr>
          <a:xfrm>
            <a:off x="1042689" y="5232988"/>
            <a:ext cx="1797804" cy="119337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/>
              <a:t>Connects </a:t>
            </a:r>
            <a:r>
              <a:rPr lang="en-GB"/>
              <a:t>two </a:t>
            </a:r>
            <a:r>
              <a:rPr lang="en-GB" b="1"/>
              <a:t>networks </a:t>
            </a:r>
            <a:r>
              <a:rPr lang="en-GB"/>
              <a:t>together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46E3D8D-F452-95DF-37A7-57656738DCC6}"/>
              </a:ext>
            </a:extLst>
          </p:cNvPr>
          <p:cNvSpPr/>
          <p:nvPr/>
        </p:nvSpPr>
        <p:spPr>
          <a:xfrm>
            <a:off x="-74554" y="1288487"/>
            <a:ext cx="2252920" cy="2140513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Card required to </a:t>
            </a:r>
            <a:r>
              <a:rPr lang="en-GB" b="1"/>
              <a:t>connect a device to a network</a:t>
            </a:r>
            <a:r>
              <a:rPr lang="en-GB"/>
              <a:t>, assigns a </a:t>
            </a:r>
            <a:r>
              <a:rPr lang="en-GB" b="1"/>
              <a:t>MAC address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EF9375-2C94-8E38-3AC4-7E8A39210503}"/>
              </a:ext>
            </a:extLst>
          </p:cNvPr>
          <p:cNvSpPr/>
          <p:nvPr/>
        </p:nvSpPr>
        <p:spPr>
          <a:xfrm>
            <a:off x="5225440" y="-82335"/>
            <a:ext cx="3701584" cy="2140512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/>
              <a:t>Used when protocols are different in networks as it </a:t>
            </a:r>
            <a:r>
              <a:rPr lang="en-GB" b="1"/>
              <a:t>translates protocols,</a:t>
            </a:r>
            <a:r>
              <a:rPr lang="en-GB"/>
              <a:t> networks can communicate</a:t>
            </a:r>
            <a:r>
              <a:rPr lang="en-GB" b="1"/>
              <a:t>, removes packets’ headers</a:t>
            </a:r>
          </a:p>
        </p:txBody>
      </p:sp>
      <p:sp>
        <p:nvSpPr>
          <p:cNvPr id="17" name="AutoShape 12" descr="5 Best Hardware SMS Gateways 2026">
            <a:extLst>
              <a:ext uri="{FF2B5EF4-FFF2-40B4-BE49-F238E27FC236}">
                <a16:creationId xmlns:a16="http://schemas.microsoft.com/office/drawing/2014/main" id="{FA4B7F1C-5E67-3719-6F69-654A0B49F4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20F6AF6-969D-0EF9-5B93-E0D0539002F0}"/>
              </a:ext>
            </a:extLst>
          </p:cNvPr>
          <p:cNvCxnSpPr>
            <a:stCxn id="5" idx="1"/>
          </p:cNvCxnSpPr>
          <p:nvPr/>
        </p:nvCxnSpPr>
        <p:spPr>
          <a:xfrm flipH="1" flipV="1">
            <a:off x="4582689" y="3220394"/>
            <a:ext cx="693689" cy="4864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2B168AB-1079-B50C-1121-DCB50671A9D0}"/>
              </a:ext>
            </a:extLst>
          </p:cNvPr>
          <p:cNvCxnSpPr>
            <a:cxnSpLocks/>
            <a:stCxn id="9" idx="1"/>
            <a:endCxn id="14" idx="6"/>
          </p:cNvCxnSpPr>
          <p:nvPr/>
        </p:nvCxnSpPr>
        <p:spPr>
          <a:xfrm flipH="1" flipV="1">
            <a:off x="2178366" y="2358744"/>
            <a:ext cx="666894" cy="1822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485E53-C26D-E346-8261-E6EEE3484821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4512698" y="4213685"/>
            <a:ext cx="448195" cy="4618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8949005-7481-C4A4-F1BA-0C25AFBC232C}"/>
              </a:ext>
            </a:extLst>
          </p:cNvPr>
          <p:cNvCxnSpPr>
            <a:cxnSpLocks/>
            <a:stCxn id="8" idx="2"/>
            <a:endCxn id="13" idx="7"/>
          </p:cNvCxnSpPr>
          <p:nvPr/>
        </p:nvCxnSpPr>
        <p:spPr>
          <a:xfrm flipH="1">
            <a:off x="2577211" y="4938792"/>
            <a:ext cx="263282" cy="4689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51A11AF-468C-FAFB-F09C-3229A4436024}"/>
              </a:ext>
            </a:extLst>
          </p:cNvPr>
          <p:cNvCxnSpPr>
            <a:cxnSpLocks/>
            <a:stCxn id="5" idx="0"/>
            <a:endCxn id="10" idx="4"/>
          </p:cNvCxnSpPr>
          <p:nvPr/>
        </p:nvCxnSpPr>
        <p:spPr>
          <a:xfrm flipH="1" flipV="1">
            <a:off x="6038025" y="3042984"/>
            <a:ext cx="1" cy="453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00BDE14-C215-FAB4-D059-17162AAF2EF7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6799673" y="3520364"/>
            <a:ext cx="800894" cy="186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8268DE6-F652-8E6A-B9B9-E8B163EC9959}"/>
              </a:ext>
            </a:extLst>
          </p:cNvPr>
          <p:cNvCxnSpPr>
            <a:cxnSpLocks/>
            <a:stCxn id="10" idx="7"/>
            <a:endCxn id="15" idx="4"/>
          </p:cNvCxnSpPr>
          <p:nvPr/>
        </p:nvCxnSpPr>
        <p:spPr>
          <a:xfrm flipV="1">
            <a:off x="6662432" y="2058177"/>
            <a:ext cx="413800" cy="1275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EDAE714-2E9A-E9F7-FDF8-220E1E67A69C}"/>
              </a:ext>
            </a:extLst>
          </p:cNvPr>
          <p:cNvCxnSpPr>
            <a:cxnSpLocks/>
            <a:stCxn id="7" idx="6"/>
            <a:endCxn id="12" idx="1"/>
          </p:cNvCxnSpPr>
          <p:nvPr/>
        </p:nvCxnSpPr>
        <p:spPr>
          <a:xfrm>
            <a:off x="8632556" y="4893628"/>
            <a:ext cx="529863" cy="445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3F65E9F-0955-2578-8402-AF57DB6702FA}"/>
              </a:ext>
            </a:extLst>
          </p:cNvPr>
          <p:cNvCxnSpPr>
            <a:cxnSpLocks/>
            <a:stCxn id="6" idx="7"/>
            <a:endCxn id="11" idx="2"/>
          </p:cNvCxnSpPr>
          <p:nvPr/>
        </p:nvCxnSpPr>
        <p:spPr>
          <a:xfrm flipV="1">
            <a:off x="8937560" y="2177623"/>
            <a:ext cx="276900" cy="498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2C443AD-AE93-2866-6BDC-678B572718B7}"/>
              </a:ext>
            </a:extLst>
          </p:cNvPr>
          <p:cNvCxnSpPr>
            <a:cxnSpLocks/>
            <a:stCxn id="5" idx="5"/>
            <a:endCxn id="7" idx="2"/>
          </p:cNvCxnSpPr>
          <p:nvPr/>
        </p:nvCxnSpPr>
        <p:spPr>
          <a:xfrm>
            <a:off x="6799673" y="4720536"/>
            <a:ext cx="315485" cy="1730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9252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20D0D-1ADA-19BE-3FA8-A5E73D2CD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0198395-DAA5-9777-47D3-1B3DBB6C7C2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C1A07E6-2D83-94FE-85DC-56E90C5D70A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83ABA-DFC0-1922-34CB-E09E830FBCBC}"/>
              </a:ext>
            </a:extLst>
          </p:cNvPr>
          <p:cNvSpPr txBox="1"/>
          <p:nvPr/>
        </p:nvSpPr>
        <p:spPr>
          <a:xfrm>
            <a:off x="396063" y="214002"/>
            <a:ext cx="5105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NETWORK TOPOLOGY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589EA8-38F8-2C98-DF2E-3A0524235646}"/>
              </a:ext>
            </a:extLst>
          </p:cNvPr>
          <p:cNvSpPr txBox="1"/>
          <p:nvPr/>
        </p:nvSpPr>
        <p:spPr>
          <a:xfrm>
            <a:off x="284194" y="839664"/>
            <a:ext cx="42351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>
                    <a:lumMod val="50000"/>
                  </a:schemeClr>
                </a:solidFill>
              </a:rPr>
              <a:t>Physical Bus Topology</a:t>
            </a:r>
            <a:r>
              <a:rPr lang="en-GB"/>
              <a:t>: All computers are </a:t>
            </a:r>
            <a:r>
              <a:rPr lang="en-GB" b="1"/>
              <a:t>connected to a single cable </a:t>
            </a:r>
            <a:r>
              <a:rPr lang="en-GB"/>
              <a:t>with the cable ends being plugged into a terminator</a:t>
            </a:r>
          </a:p>
          <a:p>
            <a:endParaRPr lang="en-GB"/>
          </a:p>
          <a:p>
            <a:r>
              <a:rPr lang="en-GB" b="1"/>
              <a:t>Inexpensive</a:t>
            </a:r>
            <a:r>
              <a:rPr lang="en-GB"/>
              <a:t> and does not require additional hardware</a:t>
            </a:r>
          </a:p>
          <a:p>
            <a:r>
              <a:rPr lang="en-GB"/>
              <a:t>But </a:t>
            </a:r>
            <a:r>
              <a:rPr lang="en-GB" b="1"/>
              <a:t>reliant on main cable</a:t>
            </a:r>
            <a:r>
              <a:rPr lang="en-GB"/>
              <a:t>, performance </a:t>
            </a:r>
            <a:r>
              <a:rPr lang="en-GB" b="1"/>
              <a:t>degrades with heavy traffic </a:t>
            </a:r>
            <a:r>
              <a:rPr lang="en-GB"/>
              <a:t>and </a:t>
            </a:r>
            <a:r>
              <a:rPr lang="en-GB" b="1"/>
              <a:t>low security.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345BFD-5C8B-DB20-F61C-4CD820B40DC5}"/>
              </a:ext>
            </a:extLst>
          </p:cNvPr>
          <p:cNvSpPr txBox="1"/>
          <p:nvPr/>
        </p:nvSpPr>
        <p:spPr>
          <a:xfrm>
            <a:off x="284194" y="3906872"/>
            <a:ext cx="433445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>
                    <a:lumMod val="50000"/>
                  </a:schemeClr>
                </a:solidFill>
              </a:rPr>
              <a:t>Physical Star Topology</a:t>
            </a:r>
            <a:r>
              <a:rPr lang="en-GB"/>
              <a:t>: A </a:t>
            </a:r>
            <a:r>
              <a:rPr lang="en-GB" b="1"/>
              <a:t>central node </a:t>
            </a:r>
            <a:r>
              <a:rPr lang="en-GB"/>
              <a:t>(like a switch or computer) acts as a router to transmit messages.</a:t>
            </a:r>
          </a:p>
          <a:p>
            <a:endParaRPr lang="en-GB"/>
          </a:p>
          <a:p>
            <a:r>
              <a:rPr lang="en-GB"/>
              <a:t>Not reliant on one cable, </a:t>
            </a:r>
            <a:r>
              <a:rPr lang="en-GB" b="1"/>
              <a:t>consistent performance,</a:t>
            </a:r>
            <a:r>
              <a:rPr lang="en-GB"/>
              <a:t> </a:t>
            </a:r>
            <a:r>
              <a:rPr lang="en-GB" b="1"/>
              <a:t>higher transmission speeds, no collisions </a:t>
            </a:r>
            <a:r>
              <a:rPr lang="en-GB"/>
              <a:t>as of separate cables, </a:t>
            </a:r>
            <a:r>
              <a:rPr lang="en-GB" b="1"/>
              <a:t>secure</a:t>
            </a:r>
            <a:r>
              <a:rPr lang="en-GB"/>
              <a:t>, easy to add new stations</a:t>
            </a:r>
          </a:p>
          <a:p>
            <a:r>
              <a:rPr lang="en-GB"/>
              <a:t>But </a:t>
            </a:r>
            <a:r>
              <a:rPr lang="en-GB" b="1"/>
              <a:t>costly </a:t>
            </a:r>
            <a:r>
              <a:rPr lang="en-GB"/>
              <a:t>to install and </a:t>
            </a:r>
            <a:r>
              <a:rPr lang="en-GB" b="1"/>
              <a:t>reliant on the server.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40E86-07C0-F575-7B3B-0D25A3292EED}"/>
              </a:ext>
            </a:extLst>
          </p:cNvPr>
          <p:cNvSpPr txBox="1"/>
          <p:nvPr/>
        </p:nvSpPr>
        <p:spPr>
          <a:xfrm>
            <a:off x="4484490" y="107992"/>
            <a:ext cx="56288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2965F1"/>
                </a:solidFill>
              </a:rPr>
              <a:t>Physical topology</a:t>
            </a:r>
            <a:r>
              <a:rPr lang="en-GB"/>
              <a:t>: </a:t>
            </a:r>
            <a:r>
              <a:rPr lang="en-GB" b="1"/>
              <a:t>Actual design</a:t>
            </a:r>
            <a:r>
              <a:rPr lang="en-GB"/>
              <a:t> layout</a:t>
            </a:r>
          </a:p>
          <a:p>
            <a:r>
              <a:rPr lang="en-GB" b="1">
                <a:solidFill>
                  <a:srgbClr val="2965F1"/>
                </a:solidFill>
              </a:rPr>
              <a:t>Logical topology</a:t>
            </a:r>
            <a:r>
              <a:rPr lang="en-GB"/>
              <a:t>: The </a:t>
            </a:r>
            <a:r>
              <a:rPr lang="en-GB" b="1"/>
              <a:t>shape of the path </a:t>
            </a:r>
            <a:r>
              <a:rPr lang="en-GB"/>
              <a:t>the data travels in and describes how components communicate across the physical topology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52FF89-7490-FAD7-19AA-CFD61F8201B1}"/>
              </a:ext>
            </a:extLst>
          </p:cNvPr>
          <p:cNvSpPr txBox="1"/>
          <p:nvPr/>
        </p:nvSpPr>
        <p:spPr>
          <a:xfrm>
            <a:off x="7894161" y="1265274"/>
            <a:ext cx="395124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4">
                    <a:lumMod val="50000"/>
                  </a:schemeClr>
                </a:solidFill>
              </a:rPr>
              <a:t>Mesh Network Topology</a:t>
            </a:r>
            <a:r>
              <a:rPr lang="en-GB"/>
              <a:t>: </a:t>
            </a:r>
            <a:r>
              <a:rPr lang="en-GB" b="1"/>
              <a:t>Wireless</a:t>
            </a:r>
            <a:r>
              <a:rPr lang="en-GB"/>
              <a:t> topology where each node has a </a:t>
            </a:r>
            <a:r>
              <a:rPr lang="en-GB" b="1"/>
              <a:t>connection to every other node </a:t>
            </a:r>
            <a:r>
              <a:rPr lang="en-GB"/>
              <a:t>by transmitting across </a:t>
            </a:r>
            <a:r>
              <a:rPr lang="en-GB" b="1"/>
              <a:t>intermediary nodes, </a:t>
            </a:r>
            <a:r>
              <a:rPr lang="en-GB"/>
              <a:t>only one node needs a connection to the internet</a:t>
            </a:r>
          </a:p>
          <a:p>
            <a:endParaRPr lang="en-GB"/>
          </a:p>
          <a:p>
            <a:r>
              <a:rPr lang="en-GB" b="1"/>
              <a:t>No cabling costs, more nodes </a:t>
            </a:r>
            <a:r>
              <a:rPr lang="en-GB"/>
              <a:t>installed means the </a:t>
            </a:r>
            <a:r>
              <a:rPr lang="en-GB" b="1"/>
              <a:t>faster</a:t>
            </a:r>
            <a:r>
              <a:rPr lang="en-GB"/>
              <a:t> and more </a:t>
            </a:r>
            <a:r>
              <a:rPr lang="en-GB" b="1"/>
              <a:t>reliable</a:t>
            </a:r>
            <a:r>
              <a:rPr lang="en-GB"/>
              <a:t> the network becomes, new nodes </a:t>
            </a:r>
            <a:r>
              <a:rPr lang="en-GB" b="1"/>
              <a:t>automatically incorporated </a:t>
            </a:r>
            <a:r>
              <a:rPr lang="en-GB"/>
              <a:t>into the network, </a:t>
            </a:r>
            <a:r>
              <a:rPr lang="en-GB" b="1"/>
              <a:t>faster communication</a:t>
            </a:r>
            <a:r>
              <a:rPr lang="en-GB"/>
              <a:t> as packets do not need to travel via central switch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1026" name="Picture 2" descr="Important Pointers of Bus Topology">
            <a:extLst>
              <a:ext uri="{FF2B5EF4-FFF2-40B4-BE49-F238E27FC236}">
                <a16:creationId xmlns:a16="http://schemas.microsoft.com/office/drawing/2014/main" id="{3884DE3B-75E2-7E23-68F0-5B0BB887D0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88" t="7821" r="12166"/>
          <a:stretch>
            <a:fillRect/>
          </a:stretch>
        </p:blipFill>
        <p:spPr bwMode="auto">
          <a:xfrm>
            <a:off x="4691101" y="1535272"/>
            <a:ext cx="3016411" cy="1552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tar Topology in Computer Networks Explained">
            <a:extLst>
              <a:ext uri="{FF2B5EF4-FFF2-40B4-BE49-F238E27FC236}">
                <a16:creationId xmlns:a16="http://schemas.microsoft.com/office/drawing/2014/main" id="{A8EB351D-57DE-2DA1-79EA-B5C53E374A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31" t="8902" r="10723" b="4636"/>
          <a:stretch>
            <a:fillRect/>
          </a:stretch>
        </p:blipFill>
        <p:spPr bwMode="auto">
          <a:xfrm>
            <a:off x="4618652" y="3668182"/>
            <a:ext cx="2938784" cy="2247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hat is Mesh Network? - GeeksforGeeks">
            <a:extLst>
              <a:ext uri="{FF2B5EF4-FFF2-40B4-BE49-F238E27FC236}">
                <a16:creationId xmlns:a16="http://schemas.microsoft.com/office/drawing/2014/main" id="{AFB38A7B-3971-634A-2117-61E60358E9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0" r="3445" b="1156"/>
          <a:stretch>
            <a:fillRect/>
          </a:stretch>
        </p:blipFill>
        <p:spPr bwMode="auto">
          <a:xfrm>
            <a:off x="9316843" y="5206120"/>
            <a:ext cx="2715208" cy="156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5C7B12B-C218-F5E3-3E95-200FBC9E3038}"/>
              </a:ext>
            </a:extLst>
          </p:cNvPr>
          <p:cNvSpPr/>
          <p:nvPr/>
        </p:nvSpPr>
        <p:spPr>
          <a:xfrm>
            <a:off x="249382" y="737221"/>
            <a:ext cx="4197310" cy="3067209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11C779-5DC2-5260-AD7F-B57AE193654B}"/>
              </a:ext>
            </a:extLst>
          </p:cNvPr>
          <p:cNvSpPr/>
          <p:nvPr/>
        </p:nvSpPr>
        <p:spPr>
          <a:xfrm>
            <a:off x="4521437" y="107992"/>
            <a:ext cx="5554128" cy="112559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71CDBC-B36F-5332-E4CF-F1005810B333}"/>
              </a:ext>
            </a:extLst>
          </p:cNvPr>
          <p:cNvSpPr/>
          <p:nvPr/>
        </p:nvSpPr>
        <p:spPr>
          <a:xfrm>
            <a:off x="184846" y="3906871"/>
            <a:ext cx="4334458" cy="284313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4C0359-092A-E593-0FCD-4ABB86631065}"/>
              </a:ext>
            </a:extLst>
          </p:cNvPr>
          <p:cNvSpPr/>
          <p:nvPr/>
        </p:nvSpPr>
        <p:spPr>
          <a:xfrm>
            <a:off x="249381" y="737222"/>
            <a:ext cx="4272053" cy="29309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4396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710B229-D054-BE53-D77A-25427BC526A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AD055C-0C55-A9DA-1524-3FBE3DB7AAE0}"/>
              </a:ext>
            </a:extLst>
          </p:cNvPr>
          <p:cNvSpPr txBox="1"/>
          <p:nvPr/>
        </p:nvSpPr>
        <p:spPr>
          <a:xfrm>
            <a:off x="629586" y="339990"/>
            <a:ext cx="915899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/>
              <a:t>SLR 12 WEB TECH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71F3E-DC9E-2D72-3C90-D4B2B56C2A37}"/>
              </a:ext>
            </a:extLst>
          </p:cNvPr>
          <p:cNvSpPr txBox="1"/>
          <p:nvPr/>
        </p:nvSpPr>
        <p:spPr>
          <a:xfrm>
            <a:off x="3162924" y="1139992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HTML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2B2254-E049-46F1-A6D5-8920B4E5A2B6}"/>
              </a:ext>
            </a:extLst>
          </p:cNvPr>
          <p:cNvSpPr txBox="1"/>
          <p:nvPr/>
        </p:nvSpPr>
        <p:spPr>
          <a:xfrm>
            <a:off x="3162924" y="2156900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A05EAA-C1DB-994F-D777-9467EBEDF5FC}"/>
              </a:ext>
            </a:extLst>
          </p:cNvPr>
          <p:cNvSpPr txBox="1"/>
          <p:nvPr/>
        </p:nvSpPr>
        <p:spPr>
          <a:xfrm>
            <a:off x="3112958" y="3173808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JAVASCRIPT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8BDD81-830C-B087-04F4-D129DBABB3B9}"/>
              </a:ext>
            </a:extLst>
          </p:cNvPr>
          <p:cNvSpPr txBox="1"/>
          <p:nvPr/>
        </p:nvSpPr>
        <p:spPr>
          <a:xfrm>
            <a:off x="3162924" y="4102760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SEARCH ENGINE INDEXING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C7151F-BD09-2DC1-B6B9-C28C3D708111}"/>
              </a:ext>
            </a:extLst>
          </p:cNvPr>
          <p:cNvSpPr txBox="1"/>
          <p:nvPr/>
        </p:nvSpPr>
        <p:spPr>
          <a:xfrm>
            <a:off x="3112958" y="5022958"/>
            <a:ext cx="8559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PAGE RANKING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6D273-76BA-022C-1404-7A5D2928BC14}"/>
              </a:ext>
            </a:extLst>
          </p:cNvPr>
          <p:cNvSpPr txBox="1"/>
          <p:nvPr/>
        </p:nvSpPr>
        <p:spPr>
          <a:xfrm>
            <a:off x="3112958" y="5853738"/>
            <a:ext cx="78248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SERVER AND CLIENT PROCESSING</a:t>
            </a:r>
          </a:p>
        </p:txBody>
      </p:sp>
      <p:sp>
        <p:nvSpPr>
          <p:cNvPr id="19" name="Action Button: Go Forward or Next 18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F37D8DE-1043-AA35-9A46-F5ADD5DADF36}"/>
              </a:ext>
            </a:extLst>
          </p:cNvPr>
          <p:cNvSpPr/>
          <p:nvPr/>
        </p:nvSpPr>
        <p:spPr>
          <a:xfrm>
            <a:off x="1304142" y="1039008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ction Button: Go Forward or Next 2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6425F8E-4DE8-0D95-B437-72957541BC34}"/>
              </a:ext>
            </a:extLst>
          </p:cNvPr>
          <p:cNvSpPr/>
          <p:nvPr/>
        </p:nvSpPr>
        <p:spPr>
          <a:xfrm>
            <a:off x="1304141" y="1974307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ction Button: Go Forward or Next 22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6FE6DD1-C4B9-12A7-1AED-6246C4E40109}"/>
              </a:ext>
            </a:extLst>
          </p:cNvPr>
          <p:cNvSpPr/>
          <p:nvPr/>
        </p:nvSpPr>
        <p:spPr>
          <a:xfrm>
            <a:off x="1304140" y="4807998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ction Button: Go Forward or Next 2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E6963611-3F5E-904D-4883-E6D711C30015}"/>
              </a:ext>
            </a:extLst>
          </p:cNvPr>
          <p:cNvSpPr/>
          <p:nvPr/>
        </p:nvSpPr>
        <p:spPr>
          <a:xfrm>
            <a:off x="1304140" y="3920167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ction Button: Go Forward or Next 26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E908E63A-E667-9B8F-9A17-0B20FC72F572}"/>
              </a:ext>
            </a:extLst>
          </p:cNvPr>
          <p:cNvSpPr/>
          <p:nvPr/>
        </p:nvSpPr>
        <p:spPr>
          <a:xfrm>
            <a:off x="1304141" y="3019534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Action Button: Go Forward or Next 28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E011DFFA-B212-89E5-771A-D9BE4FACFB44}"/>
              </a:ext>
            </a:extLst>
          </p:cNvPr>
          <p:cNvSpPr/>
          <p:nvPr/>
        </p:nvSpPr>
        <p:spPr>
          <a:xfrm>
            <a:off x="1304140" y="5748829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Forward or Next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6FE7FD0-C254-3314-E17F-7E2E22576219}"/>
              </a:ext>
            </a:extLst>
          </p:cNvPr>
          <p:cNvSpPr/>
          <p:nvPr/>
        </p:nvSpPr>
        <p:spPr>
          <a:xfrm>
            <a:off x="5284031" y="1003854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0DD114-BA7E-FDC2-B5B0-EEDA60CF798A}"/>
              </a:ext>
            </a:extLst>
          </p:cNvPr>
          <p:cNvSpPr txBox="1"/>
          <p:nvPr/>
        </p:nvSpPr>
        <p:spPr>
          <a:xfrm>
            <a:off x="6557817" y="1139992"/>
            <a:ext cx="38700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CLIENT SERVER AND PEER TO PEER</a:t>
            </a:r>
          </a:p>
        </p:txBody>
      </p:sp>
    </p:spTree>
    <p:extLst>
      <p:ext uri="{BB962C8B-B14F-4D97-AF65-F5344CB8AC3E}">
        <p14:creationId xmlns:p14="http://schemas.microsoft.com/office/powerpoint/2010/main" val="7897306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D71E2BF-E512-2C6B-27EE-5C712690D9E5}"/>
              </a:ext>
            </a:extLst>
          </p:cNvPr>
          <p:cNvSpPr/>
          <p:nvPr/>
        </p:nvSpPr>
        <p:spPr>
          <a:xfrm>
            <a:off x="1833664" y="201438"/>
            <a:ext cx="8118415" cy="1754326"/>
          </a:xfrm>
          <a:prstGeom prst="rect">
            <a:avLst/>
          </a:prstGeom>
          <a:noFill/>
          <a:ln>
            <a:solidFill>
              <a:srgbClr val="E06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2668A21-9DEF-DE95-8994-A5C844D6685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6415184-B76D-CFC9-D946-7ADE4BE8EDD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8305E-DABD-033D-749E-8799E476A684}"/>
              </a:ext>
            </a:extLst>
          </p:cNvPr>
          <p:cNvSpPr txBox="1"/>
          <p:nvPr/>
        </p:nvSpPr>
        <p:spPr>
          <a:xfrm>
            <a:off x="299650" y="243504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HTML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F14A45-FCF2-3084-C615-87BE1399DA45}"/>
              </a:ext>
            </a:extLst>
          </p:cNvPr>
          <p:cNvSpPr txBox="1"/>
          <p:nvPr/>
        </p:nvSpPr>
        <p:spPr>
          <a:xfrm>
            <a:off x="405868" y="3511769"/>
            <a:ext cx="55839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F16529"/>
                </a:solidFill>
              </a:rPr>
              <a:t>HyperText Markup Language </a:t>
            </a:r>
            <a:r>
              <a:rPr lang="en-GB"/>
              <a:t>is what is </a:t>
            </a:r>
            <a:r>
              <a:rPr lang="en-GB" b="1"/>
              <a:t>web pages </a:t>
            </a:r>
            <a:r>
              <a:rPr lang="en-GB"/>
              <a:t>are written in.</a:t>
            </a:r>
          </a:p>
          <a:p>
            <a:endParaRPr lang="en-GB"/>
          </a:p>
          <a:p>
            <a:r>
              <a:rPr lang="en-GB"/>
              <a:t>It is made of </a:t>
            </a:r>
            <a:r>
              <a:rPr lang="en-GB" b="1"/>
              <a:t>tags</a:t>
            </a:r>
            <a:r>
              <a:rPr lang="en-GB"/>
              <a:t> written in </a:t>
            </a:r>
            <a:r>
              <a:rPr lang="en-GB" b="1"/>
              <a:t>angle brackets </a:t>
            </a:r>
            <a:r>
              <a:rPr lang="en-GB"/>
              <a:t>in opening and closing pairs:</a:t>
            </a:r>
          </a:p>
          <a:p>
            <a:r>
              <a:rPr lang="en-GB"/>
              <a:t>E.G. &lt;html&gt; and &lt;/html&gt;</a:t>
            </a:r>
          </a:p>
          <a:p>
            <a:endParaRPr lang="en-GB"/>
          </a:p>
          <a:p>
            <a:r>
              <a:rPr lang="en-GB"/>
              <a:t>Most web pages are </a:t>
            </a:r>
            <a:r>
              <a:rPr lang="en-GB" b="1"/>
              <a:t>separated into head and body</a:t>
            </a:r>
            <a:r>
              <a:rPr lang="en-GB"/>
              <a:t>. Head contains </a:t>
            </a:r>
            <a:r>
              <a:rPr lang="en-GB" b="1"/>
              <a:t>title</a:t>
            </a:r>
            <a:r>
              <a:rPr lang="en-GB"/>
              <a:t> and enrichment scripts whilst body contains </a:t>
            </a:r>
            <a:r>
              <a:rPr lang="en-GB" b="1"/>
              <a:t>main content </a:t>
            </a:r>
            <a:r>
              <a:rPr lang="en-GB"/>
              <a:t>like defining text, images and hyperlinks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FC5A96-522D-C13C-C097-EF6C62BAF514}"/>
              </a:ext>
            </a:extLst>
          </p:cNvPr>
          <p:cNvSpPr txBox="1"/>
          <p:nvPr/>
        </p:nvSpPr>
        <p:spPr>
          <a:xfrm>
            <a:off x="1833663" y="235853"/>
            <a:ext cx="85246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Identifiers and class selectors </a:t>
            </a:r>
            <a:r>
              <a:rPr lang="en-GB"/>
              <a:t>are </a:t>
            </a:r>
            <a:r>
              <a:rPr lang="en-GB" b="1"/>
              <a:t>attributes given to elements </a:t>
            </a:r>
            <a:r>
              <a:rPr lang="en-GB"/>
              <a:t>on a web page which you wish to </a:t>
            </a:r>
            <a:r>
              <a:rPr lang="en-GB" b="1"/>
              <a:t>style</a:t>
            </a:r>
            <a:r>
              <a:rPr lang="en-GB"/>
              <a:t> in a particular way. </a:t>
            </a:r>
          </a:p>
          <a:p>
            <a:r>
              <a:rPr lang="en-GB"/>
              <a:t>This can be defined </a:t>
            </a:r>
            <a:r>
              <a:rPr lang="en-GB" b="1"/>
              <a:t>within the head </a:t>
            </a:r>
            <a:r>
              <a:rPr lang="en-GB"/>
              <a:t>or within </a:t>
            </a:r>
          </a:p>
          <a:p>
            <a:r>
              <a:rPr lang="en-GB"/>
              <a:t>a linked </a:t>
            </a:r>
            <a:r>
              <a:rPr lang="en-GB" b="1"/>
              <a:t>CSS</a:t>
            </a:r>
            <a:r>
              <a:rPr lang="en-GB"/>
              <a:t> style sheet. Classes are defined with</a:t>
            </a:r>
          </a:p>
          <a:p>
            <a:r>
              <a:rPr lang="en-GB"/>
              <a:t> </a:t>
            </a:r>
            <a:r>
              <a:rPr lang="en-GB" b="1"/>
              <a:t>. </a:t>
            </a:r>
            <a:r>
              <a:rPr lang="en-GB"/>
              <a:t>and can be used </a:t>
            </a:r>
            <a:r>
              <a:rPr lang="en-GB" b="1"/>
              <a:t>multiple times. </a:t>
            </a:r>
            <a:r>
              <a:rPr lang="en-GB"/>
              <a:t>Identifiers are</a:t>
            </a:r>
          </a:p>
          <a:p>
            <a:r>
              <a:rPr lang="en-GB"/>
              <a:t> defined with </a:t>
            </a:r>
            <a:r>
              <a:rPr lang="en-GB" b="1"/>
              <a:t># </a:t>
            </a:r>
            <a:r>
              <a:rPr lang="en-GB"/>
              <a:t>and are </a:t>
            </a:r>
            <a:r>
              <a:rPr lang="en-GB" b="1"/>
              <a:t>used once</a:t>
            </a:r>
          </a:p>
          <a:p>
            <a:endParaRPr lang="en-GB"/>
          </a:p>
        </p:txBody>
      </p:sp>
      <p:pic>
        <p:nvPicPr>
          <p:cNvPr id="8" name="Picture 7" descr="A white card with black text&#10;&#10;AI-generated content may be incorrect.">
            <a:extLst>
              <a:ext uri="{FF2B5EF4-FFF2-40B4-BE49-F238E27FC236}">
                <a16:creationId xmlns:a16="http://schemas.microsoft.com/office/drawing/2014/main" id="{B869C00F-F319-BD72-9E22-2A49CCB7D5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72" r="2349" b="10609"/>
          <a:stretch>
            <a:fillRect/>
          </a:stretch>
        </p:blipFill>
        <p:spPr>
          <a:xfrm>
            <a:off x="1672381" y="2071428"/>
            <a:ext cx="4678750" cy="1385853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8B95BD2-EB0C-90DE-765B-FC1C67E7B3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90830"/>
              </p:ext>
            </p:extLst>
          </p:nvPr>
        </p:nvGraphicFramePr>
        <p:xfrm>
          <a:off x="6834981" y="1028700"/>
          <a:ext cx="5357019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5360">
                  <a:extLst>
                    <a:ext uri="{9D8B030D-6E8A-4147-A177-3AD203B41FA5}">
                      <a16:colId xmlns:a16="http://schemas.microsoft.com/office/drawing/2014/main" val="3966661120"/>
                    </a:ext>
                  </a:extLst>
                </a:gridCol>
                <a:gridCol w="4401659">
                  <a:extLst>
                    <a:ext uri="{9D8B030D-6E8A-4147-A177-3AD203B41FA5}">
                      <a16:colId xmlns:a16="http://schemas.microsoft.com/office/drawing/2014/main" val="2900811101"/>
                    </a:ext>
                  </a:extLst>
                </a:gridCol>
              </a:tblGrid>
              <a:tr h="197658">
                <a:tc>
                  <a:txBody>
                    <a:bodyPr/>
                    <a:lstStyle/>
                    <a:p>
                      <a:r>
                        <a:rPr lang="en-GB"/>
                        <a:t>TAG</a:t>
                      </a:r>
                    </a:p>
                  </a:txBody>
                  <a:tcPr>
                    <a:solidFill>
                      <a:srgbClr val="E067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DEFINITON</a:t>
                      </a:r>
                    </a:p>
                  </a:txBody>
                  <a:tcPr>
                    <a:solidFill>
                      <a:srgbClr val="E0674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595850"/>
                  </a:ext>
                </a:extLst>
              </a:tr>
              <a:tr h="170208">
                <a:tc>
                  <a:txBody>
                    <a:bodyPr/>
                    <a:lstStyle/>
                    <a:p>
                      <a:r>
                        <a:rPr lang="en-GB"/>
                        <a:t>&lt;html&gt;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All code between tags interpreted as 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7772883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GB"/>
                        <a:t>&lt;body&gt;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Defines the main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715913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GB"/>
                        <a:t>&lt;head&gt;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Defines the browser tab/ </a:t>
                      </a:r>
                    </a:p>
                    <a:p>
                      <a:r>
                        <a:rPr lang="en-GB"/>
                        <a:t>window heading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5996524"/>
                  </a:ext>
                </a:extLst>
              </a:tr>
              <a:tr h="545168">
                <a:tc>
                  <a:txBody>
                    <a:bodyPr/>
                    <a:lstStyle/>
                    <a:p>
                      <a:r>
                        <a:rPr lang="en-GB"/>
                        <a:t>&lt;title&gt;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Defines the text that appears </a:t>
                      </a:r>
                    </a:p>
                    <a:p>
                      <a:r>
                        <a:rPr lang="en-GB"/>
                        <a:t>with the tab/window heading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8722918"/>
                  </a:ext>
                </a:extLst>
              </a:tr>
              <a:tr h="356311">
                <a:tc>
                  <a:txBody>
                    <a:bodyPr/>
                    <a:lstStyle/>
                    <a:p>
                      <a:r>
                        <a:rPr lang="en-GB"/>
                        <a:t>&lt;h1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Headings with number referencing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32405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GB"/>
                        <a:t>&lt;p&gt;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Paragraph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314443"/>
                  </a:ext>
                </a:extLst>
              </a:tr>
              <a:tr h="545168">
                <a:tc>
                  <a:txBody>
                    <a:bodyPr/>
                    <a:lstStyle/>
                    <a:p>
                      <a:r>
                        <a:rPr lang="en-GB"/>
                        <a:t>&lt;img&gt;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Images, used like </a:t>
                      </a:r>
                    </a:p>
                    <a:p>
                      <a:r>
                        <a:rPr lang="en-GB"/>
                        <a:t>&lt; img src = location, height = x, width = y&gt;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623584"/>
                  </a:ext>
                </a:extLst>
              </a:tr>
              <a:tr h="545168">
                <a:tc>
                  <a:txBody>
                    <a:bodyPr/>
                    <a:lstStyle/>
                    <a:p>
                      <a:r>
                        <a:rPr lang="en-GB"/>
                        <a:t>&lt;a&gt;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Anchor tag defining a hyperlink like </a:t>
                      </a:r>
                    </a:p>
                    <a:p>
                      <a:r>
                        <a:rPr lang="en-GB"/>
                        <a:t>&lt;a href = “location”&gt; LINK &lt;/a&gt;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8493354"/>
                  </a:ext>
                </a:extLst>
              </a:tr>
              <a:tr h="545168">
                <a:tc>
                  <a:txBody>
                    <a:bodyPr/>
                    <a:lstStyle/>
                    <a:p>
                      <a:r>
                        <a:rPr lang="en-GB"/>
                        <a:t>&lt;ol&gt; &lt;ul&gt;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Ordered and unordered list respectively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1649454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GB"/>
                        <a:t>&lt;div&gt;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Divides the pages into separate areas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0854038"/>
                  </a:ext>
                </a:extLst>
              </a:tr>
              <a:tr h="311524">
                <a:tc>
                  <a:txBody>
                    <a:bodyPr/>
                    <a:lstStyle/>
                    <a:p>
                      <a:r>
                        <a:rPr lang="en-GB"/>
                        <a:t>&lt;li&gt;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Defines an individual list item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3595225"/>
                  </a:ext>
                </a:extLst>
              </a:tr>
            </a:tbl>
          </a:graphicData>
        </a:graphic>
      </p:graphicFrame>
      <p:pic>
        <p:nvPicPr>
          <p:cNvPr id="1026" name="Picture 2" descr="HTML - Wikipedia">
            <a:extLst>
              <a:ext uri="{FF2B5EF4-FFF2-40B4-BE49-F238E27FC236}">
                <a16:creationId xmlns:a16="http://schemas.microsoft.com/office/drawing/2014/main" id="{C6B32E6F-5CBD-86F6-32BD-CDB4530ED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39" y="1163782"/>
            <a:ext cx="1511742" cy="151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85814E68-DBAB-8F17-4577-19AD9C2DEBEE}"/>
              </a:ext>
            </a:extLst>
          </p:cNvPr>
          <p:cNvSpPr/>
          <p:nvPr/>
        </p:nvSpPr>
        <p:spPr>
          <a:xfrm>
            <a:off x="299650" y="3457281"/>
            <a:ext cx="5796350" cy="3364703"/>
          </a:xfrm>
          <a:prstGeom prst="rect">
            <a:avLst/>
          </a:prstGeom>
          <a:noFill/>
          <a:ln>
            <a:solidFill>
              <a:srgbClr val="E06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7919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BD0F7-9F48-76EE-9C24-D35D01B92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BB23A40-0945-1F7F-BE15-B8F98FAB3F6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DDC112B-8D7C-224A-20A5-B63D78C8EAE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1C0138-92E5-FB62-146B-0ECFB2ED2C54}"/>
              </a:ext>
            </a:extLst>
          </p:cNvPr>
          <p:cNvSpPr txBox="1"/>
          <p:nvPr/>
        </p:nvSpPr>
        <p:spPr>
          <a:xfrm>
            <a:off x="650634" y="329684"/>
            <a:ext cx="401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2B415-9E11-6256-570E-C7CC00F3B9C3}"/>
              </a:ext>
            </a:extLst>
          </p:cNvPr>
          <p:cNvSpPr txBox="1"/>
          <p:nvPr/>
        </p:nvSpPr>
        <p:spPr>
          <a:xfrm rot="10800000" flipH="1" flipV="1">
            <a:off x="172162" y="1384802"/>
            <a:ext cx="4974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CSS ( </a:t>
            </a:r>
            <a:r>
              <a:rPr lang="en-GB" b="1">
                <a:solidFill>
                  <a:schemeClr val="accent4">
                    <a:lumMod val="75000"/>
                  </a:schemeClr>
                </a:solidFill>
              </a:rPr>
              <a:t>Cascading style sheets</a:t>
            </a:r>
            <a:r>
              <a:rPr lang="en-GB"/>
              <a:t>) is a </a:t>
            </a:r>
            <a:r>
              <a:rPr lang="en-GB" b="1"/>
              <a:t>scripting language</a:t>
            </a:r>
            <a:r>
              <a:rPr lang="en-GB"/>
              <a:t> like HTML and is normally used in </a:t>
            </a:r>
            <a:r>
              <a:rPr lang="en-GB" b="1"/>
              <a:t>conjunction with HTML</a:t>
            </a:r>
            <a:r>
              <a:rPr lang="en-GB"/>
              <a:t>. It is used to describe the </a:t>
            </a:r>
            <a:r>
              <a:rPr lang="en-GB" b="1"/>
              <a:t>layout and styles </a:t>
            </a:r>
            <a:r>
              <a:rPr lang="en-GB"/>
              <a:t>of a web page.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A2EDF7-E2F3-E865-BE82-552BF873AE73}"/>
              </a:ext>
            </a:extLst>
          </p:cNvPr>
          <p:cNvSpPr txBox="1"/>
          <p:nvPr/>
        </p:nvSpPr>
        <p:spPr>
          <a:xfrm>
            <a:off x="5809673" y="170481"/>
            <a:ext cx="33188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Internal</a:t>
            </a:r>
            <a:r>
              <a:rPr lang="en-GB"/>
              <a:t>/embedded CSS is placed </a:t>
            </a:r>
            <a:r>
              <a:rPr lang="en-GB" b="1"/>
              <a:t>inside style tags </a:t>
            </a:r>
            <a:r>
              <a:rPr lang="en-GB"/>
              <a:t>and is entered </a:t>
            </a:r>
            <a:r>
              <a:rPr lang="en-GB" b="1"/>
              <a:t>directly into the HTML </a:t>
            </a:r>
            <a:r>
              <a:rPr lang="en-GB"/>
              <a:t>document.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033AF-3C43-2097-90DF-9A379926AD5C}"/>
              </a:ext>
            </a:extLst>
          </p:cNvPr>
          <p:cNvSpPr txBox="1"/>
          <p:nvPr/>
        </p:nvSpPr>
        <p:spPr>
          <a:xfrm>
            <a:off x="8128001" y="1805817"/>
            <a:ext cx="28467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External</a:t>
            </a:r>
            <a:r>
              <a:rPr lang="en-GB"/>
              <a:t> CSS is written in a </a:t>
            </a:r>
            <a:r>
              <a:rPr lang="en-GB" b="1"/>
              <a:t>separate</a:t>
            </a:r>
            <a:r>
              <a:rPr lang="en-GB"/>
              <a:t> </a:t>
            </a:r>
            <a:r>
              <a:rPr lang="en-GB" b="1"/>
              <a:t>document</a:t>
            </a:r>
            <a:r>
              <a:rPr lang="en-GB"/>
              <a:t> and a </a:t>
            </a:r>
            <a:r>
              <a:rPr lang="en-GB" b="1"/>
              <a:t>link</a:t>
            </a:r>
            <a:r>
              <a:rPr lang="en-GB"/>
              <a:t> to this style sheet is added to the </a:t>
            </a:r>
            <a:r>
              <a:rPr lang="en-GB" b="1"/>
              <a:t>HTML</a:t>
            </a:r>
            <a:r>
              <a:rPr lang="en-GB"/>
              <a:t> </a:t>
            </a:r>
            <a:r>
              <a:rPr lang="en-GB" b="1"/>
              <a:t>document</a:t>
            </a:r>
          </a:p>
        </p:txBody>
      </p:sp>
      <p:pic>
        <p:nvPicPr>
          <p:cNvPr id="9" name="Picture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6F2CE403-36D4-E0E8-176B-C171C1A2BA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524" y="5121013"/>
            <a:ext cx="5591955" cy="7906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476AA88-F714-2FE9-B699-037BFE31A3E2}"/>
              </a:ext>
            </a:extLst>
          </p:cNvPr>
          <p:cNvSpPr txBox="1"/>
          <p:nvPr/>
        </p:nvSpPr>
        <p:spPr>
          <a:xfrm>
            <a:off x="7226470" y="3999363"/>
            <a:ext cx="4069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is how to </a:t>
            </a:r>
            <a:r>
              <a:rPr lang="en-GB" b="1"/>
              <a:t>define external </a:t>
            </a:r>
            <a:r>
              <a:rPr lang="en-GB"/>
              <a:t>CSS sheet which is added to </a:t>
            </a:r>
            <a:r>
              <a:rPr lang="en-GB" b="1"/>
              <a:t>HTML header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86E9D-988D-A89B-B0F5-E6D607CA26D1}"/>
              </a:ext>
            </a:extLst>
          </p:cNvPr>
          <p:cNvSpPr txBox="1"/>
          <p:nvPr/>
        </p:nvSpPr>
        <p:spPr>
          <a:xfrm>
            <a:off x="796540" y="3192536"/>
            <a:ext cx="45762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Each section of CSS begins with </a:t>
            </a:r>
            <a:r>
              <a:rPr lang="en-GB" b="1"/>
              <a:t>the name </a:t>
            </a:r>
            <a:r>
              <a:rPr lang="en-GB"/>
              <a:t>of the class/identifier or element to be styled followed by a set of </a:t>
            </a:r>
            <a:r>
              <a:rPr lang="en-GB" b="1"/>
              <a:t>curly brackets where attributes are defined</a:t>
            </a:r>
          </a:p>
        </p:txBody>
      </p:sp>
      <p:pic>
        <p:nvPicPr>
          <p:cNvPr id="13" name="Picture 12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36A6C11A-A82E-1C8D-A8C5-80D9E673A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415" y="4477696"/>
            <a:ext cx="4991797" cy="1991003"/>
          </a:xfrm>
          <a:prstGeom prst="rect">
            <a:avLst/>
          </a:prstGeom>
        </p:spPr>
      </p:pic>
      <p:sp>
        <p:nvSpPr>
          <p:cNvPr id="14" name="AutoShape 2" descr="CSS | Coding Help Wikia | Fandom">
            <a:extLst>
              <a:ext uri="{FF2B5EF4-FFF2-40B4-BE49-F238E27FC236}">
                <a16:creationId xmlns:a16="http://schemas.microsoft.com/office/drawing/2014/main" id="{93D0F8CF-A375-CB45-3F89-85423196BF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127672" y="367162"/>
            <a:ext cx="95596" cy="95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CSS logo and symbol, meaning, history, PNG">
            <a:extLst>
              <a:ext uri="{FF2B5EF4-FFF2-40B4-BE49-F238E27FC236}">
                <a16:creationId xmlns:a16="http://schemas.microsoft.com/office/drawing/2014/main" id="{083E401A-ED62-BD1C-A75B-476AEFDCF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596" y="1855790"/>
            <a:ext cx="3823855" cy="21509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05210C9-4B9E-BA36-A2FC-6459675A9DF3}"/>
              </a:ext>
            </a:extLst>
          </p:cNvPr>
          <p:cNvSpPr/>
          <p:nvPr/>
        </p:nvSpPr>
        <p:spPr>
          <a:xfrm>
            <a:off x="172162" y="1028700"/>
            <a:ext cx="4974308" cy="1785940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0A89572-324B-3E9F-9911-FDFB4DA9176A}"/>
              </a:ext>
            </a:extLst>
          </p:cNvPr>
          <p:cNvSpPr/>
          <p:nvPr/>
        </p:nvSpPr>
        <p:spPr>
          <a:xfrm>
            <a:off x="828952" y="3110115"/>
            <a:ext cx="4543815" cy="1365169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7D71ED-EEBB-A9CB-46D1-0F38A3ADCE5E}"/>
              </a:ext>
            </a:extLst>
          </p:cNvPr>
          <p:cNvSpPr/>
          <p:nvPr/>
        </p:nvSpPr>
        <p:spPr>
          <a:xfrm>
            <a:off x="5804900" y="69850"/>
            <a:ext cx="3237500" cy="1399783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F2EDD5-24BA-92AA-F753-C5D47941FC76}"/>
              </a:ext>
            </a:extLst>
          </p:cNvPr>
          <p:cNvSpPr/>
          <p:nvPr/>
        </p:nvSpPr>
        <p:spPr>
          <a:xfrm>
            <a:off x="7952509" y="1756968"/>
            <a:ext cx="3022258" cy="1526178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080630-474A-B4F6-32A3-D3C5FFB553B3}"/>
              </a:ext>
            </a:extLst>
          </p:cNvPr>
          <p:cNvSpPr/>
          <p:nvPr/>
        </p:nvSpPr>
        <p:spPr>
          <a:xfrm>
            <a:off x="6976484" y="3897744"/>
            <a:ext cx="4319129" cy="936053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7800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ACAC0-67F3-1BB4-5259-B0222075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hat is Javascript and why is it required for the People Like Us website? |  People Like Us">
            <a:extLst>
              <a:ext uri="{FF2B5EF4-FFF2-40B4-BE49-F238E27FC236}">
                <a16:creationId xmlns:a16="http://schemas.microsoft.com/office/drawing/2014/main" id="{4C620EE3-9D6A-80B6-125F-5A475814A6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0634" y="406168"/>
            <a:ext cx="5764332" cy="3184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75CB2D2-FB54-26B2-F0AE-4783A73D0E1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EB2801C-048C-B6AB-240A-395377105A3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A3D993-5906-37A0-F836-CC7C55B249EE}"/>
              </a:ext>
            </a:extLst>
          </p:cNvPr>
          <p:cNvSpPr txBox="1"/>
          <p:nvPr/>
        </p:nvSpPr>
        <p:spPr>
          <a:xfrm>
            <a:off x="342049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95F36C-3E73-7A7D-A851-7A82612BCDDF}"/>
              </a:ext>
            </a:extLst>
          </p:cNvPr>
          <p:cNvSpPr txBox="1"/>
          <p:nvPr/>
        </p:nvSpPr>
        <p:spPr>
          <a:xfrm>
            <a:off x="342049" y="1028700"/>
            <a:ext cx="401751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JavaScript is a language that uses the same programming constructs as other languages </a:t>
            </a:r>
            <a:r>
              <a:rPr lang="en-GB" b="1"/>
              <a:t>but is interpreted instead of compiled. </a:t>
            </a:r>
          </a:p>
          <a:p>
            <a:endParaRPr lang="en-GB"/>
          </a:p>
          <a:p>
            <a:r>
              <a:rPr lang="en-GB"/>
              <a:t>Unlike compiled code which is specific to a particular type of processor, JavaScript </a:t>
            </a:r>
            <a:r>
              <a:rPr lang="en-GB" b="1"/>
              <a:t>needs to be translated by the interpreter</a:t>
            </a:r>
            <a:r>
              <a:rPr lang="en-GB"/>
              <a:t> for </a:t>
            </a:r>
            <a:r>
              <a:rPr lang="en-GB" b="1"/>
              <a:t>whatever computer </a:t>
            </a:r>
            <a:r>
              <a:rPr lang="en-GB"/>
              <a:t>the browser is running 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D42C6F-9231-46E7-6334-4C94885706CB}"/>
              </a:ext>
            </a:extLst>
          </p:cNvPr>
          <p:cNvSpPr txBox="1"/>
          <p:nvPr/>
        </p:nvSpPr>
        <p:spPr>
          <a:xfrm>
            <a:off x="7711578" y="1588765"/>
            <a:ext cx="3201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It adds </a:t>
            </a:r>
            <a:r>
              <a:rPr lang="en-GB" b="1"/>
              <a:t>interactivity</a:t>
            </a:r>
            <a:r>
              <a:rPr lang="en-GB"/>
              <a:t> to websites and is often used to </a:t>
            </a:r>
            <a:r>
              <a:rPr lang="en-GB" b="1"/>
              <a:t>validate input </a:t>
            </a:r>
            <a:r>
              <a:rPr lang="en-GB"/>
              <a:t>data on the client computer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AA8F4-3385-9FAF-ABBE-6A7E15242479}"/>
              </a:ext>
            </a:extLst>
          </p:cNvPr>
          <p:cNvSpPr txBox="1"/>
          <p:nvPr/>
        </p:nvSpPr>
        <p:spPr>
          <a:xfrm>
            <a:off x="425655" y="4354241"/>
            <a:ext cx="54671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Advantages:</a:t>
            </a:r>
          </a:p>
          <a:p>
            <a:r>
              <a:rPr lang="en-GB" b="1"/>
              <a:t>Local computer can deal with invalid data </a:t>
            </a:r>
            <a:r>
              <a:rPr lang="en-GB"/>
              <a:t>before it is sent off to the servers</a:t>
            </a:r>
          </a:p>
          <a:p>
            <a:endParaRPr lang="en-GB"/>
          </a:p>
          <a:p>
            <a:r>
              <a:rPr lang="en-GB" b="1"/>
              <a:t>Eases</a:t>
            </a:r>
            <a:r>
              <a:rPr lang="en-GB"/>
              <a:t> the load on </a:t>
            </a:r>
            <a:r>
              <a:rPr lang="en-GB" b="1"/>
              <a:t>busy servers</a:t>
            </a:r>
          </a:p>
          <a:p>
            <a:endParaRPr lang="en-GB"/>
          </a:p>
          <a:p>
            <a:r>
              <a:rPr lang="en-GB" b="1"/>
              <a:t>Reduced web traffic</a:t>
            </a:r>
          </a:p>
        </p:txBody>
      </p:sp>
      <p:pic>
        <p:nvPicPr>
          <p:cNvPr id="11" name="Picture 10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C112AC2-068C-F70F-A8E0-84DF26E468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661" y="4475799"/>
            <a:ext cx="5029902" cy="20291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1417DFD-C474-6802-4023-C2BB6691EA60}"/>
              </a:ext>
            </a:extLst>
          </p:cNvPr>
          <p:cNvSpPr txBox="1"/>
          <p:nvPr/>
        </p:nvSpPr>
        <p:spPr>
          <a:xfrm>
            <a:off x="7027989" y="3787647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JavaScript examples: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BE39C0-3A31-7DF7-7E99-DBF50314C327}"/>
              </a:ext>
            </a:extLst>
          </p:cNvPr>
          <p:cNvSpPr/>
          <p:nvPr/>
        </p:nvSpPr>
        <p:spPr>
          <a:xfrm>
            <a:off x="342049" y="960582"/>
            <a:ext cx="4017515" cy="3057236"/>
          </a:xfrm>
          <a:prstGeom prst="rect">
            <a:avLst/>
          </a:prstGeom>
          <a:noFill/>
          <a:ln>
            <a:solidFill>
              <a:srgbClr val="FFDE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F98C64-E2E0-456A-0AB8-5B1CD2D05DE4}"/>
              </a:ext>
            </a:extLst>
          </p:cNvPr>
          <p:cNvSpPr/>
          <p:nvPr/>
        </p:nvSpPr>
        <p:spPr>
          <a:xfrm>
            <a:off x="433272" y="4354240"/>
            <a:ext cx="5459527" cy="2031325"/>
          </a:xfrm>
          <a:prstGeom prst="rect">
            <a:avLst/>
          </a:prstGeom>
          <a:noFill/>
          <a:ln>
            <a:solidFill>
              <a:srgbClr val="FFDE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059D98-4B51-D716-7D7E-CFB5D8FCF43E}"/>
              </a:ext>
            </a:extLst>
          </p:cNvPr>
          <p:cNvSpPr/>
          <p:nvPr/>
        </p:nvSpPr>
        <p:spPr>
          <a:xfrm>
            <a:off x="7573818" y="1588765"/>
            <a:ext cx="3339021" cy="1353758"/>
          </a:xfrm>
          <a:prstGeom prst="rect">
            <a:avLst/>
          </a:prstGeom>
          <a:noFill/>
          <a:ln>
            <a:solidFill>
              <a:srgbClr val="FFDE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CE82CD-6F55-86E8-E11F-0D52CBF24B7C}"/>
              </a:ext>
            </a:extLst>
          </p:cNvPr>
          <p:cNvSpPr/>
          <p:nvPr/>
        </p:nvSpPr>
        <p:spPr>
          <a:xfrm>
            <a:off x="6766208" y="3502588"/>
            <a:ext cx="5083743" cy="3057236"/>
          </a:xfrm>
          <a:prstGeom prst="rect">
            <a:avLst/>
          </a:prstGeom>
          <a:noFill/>
          <a:ln>
            <a:solidFill>
              <a:srgbClr val="FFDE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382196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129FF-8DB0-E3DD-DC94-D4747134B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9C28E87-2DE9-62C4-040B-727F363EAB4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8FB716E-8CEC-3C71-857D-C8A32087DC0B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A56E77-CF7C-B08F-FAA7-B57D577F3F42}"/>
              </a:ext>
            </a:extLst>
          </p:cNvPr>
          <p:cNvSpPr txBox="1"/>
          <p:nvPr/>
        </p:nvSpPr>
        <p:spPr>
          <a:xfrm>
            <a:off x="327360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SEARCH ENGINE INDEXING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A765D-304E-CE65-8F2B-52E98122D9B6}"/>
              </a:ext>
            </a:extLst>
          </p:cNvPr>
          <p:cNvSpPr txBox="1"/>
          <p:nvPr/>
        </p:nvSpPr>
        <p:spPr>
          <a:xfrm>
            <a:off x="325188" y="1119319"/>
            <a:ext cx="571483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 </a:t>
            </a:r>
            <a:r>
              <a:rPr lang="en-US" b="1"/>
              <a:t>search engine</a:t>
            </a:r>
            <a:r>
              <a:rPr lang="en-US"/>
              <a:t> is a program that </a:t>
            </a:r>
            <a:r>
              <a:rPr lang="en-US" b="1"/>
              <a:t>searches through a database of internet addresses</a:t>
            </a:r>
            <a:r>
              <a:rPr lang="en-US"/>
              <a:t> looking for resources based on </a:t>
            </a:r>
            <a:r>
              <a:rPr lang="en-US" b="1"/>
              <a:t>criteria</a:t>
            </a:r>
            <a:r>
              <a:rPr lang="en-US"/>
              <a:t> set by the client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9F7D10-F561-6D89-9794-14B3DEF3B615}"/>
              </a:ext>
            </a:extLst>
          </p:cNvPr>
          <p:cNvSpPr txBox="1"/>
          <p:nvPr/>
        </p:nvSpPr>
        <p:spPr>
          <a:xfrm>
            <a:off x="6825346" y="301903"/>
            <a:ext cx="2882219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Search engines </a:t>
            </a:r>
            <a:r>
              <a:rPr lang="en-US" b="1"/>
              <a:t>rely on a database/index of web pages </a:t>
            </a:r>
            <a:r>
              <a:rPr lang="en-US"/>
              <a:t>to find the pages you are looking for – to build this index, </a:t>
            </a:r>
            <a:r>
              <a:rPr lang="en-US" b="1"/>
              <a:t>web crawlers/spiders are used</a:t>
            </a:r>
            <a:r>
              <a:rPr lang="en-US"/>
              <a:t> which are </a:t>
            </a:r>
            <a:r>
              <a:rPr lang="en-US" b="1"/>
              <a:t>software programs.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728201-B755-15EB-B360-09371EDEB144}"/>
              </a:ext>
            </a:extLst>
          </p:cNvPr>
          <p:cNvSpPr txBox="1"/>
          <p:nvPr/>
        </p:nvSpPr>
        <p:spPr>
          <a:xfrm>
            <a:off x="101964" y="2555566"/>
            <a:ext cx="6816268" cy="22901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Web crawlers </a:t>
            </a:r>
            <a:r>
              <a:rPr lang="en-US"/>
              <a:t>work by </a:t>
            </a:r>
            <a:r>
              <a:rPr lang="en-US" b="1"/>
              <a:t>traversing the Internet,</a:t>
            </a:r>
            <a:r>
              <a:rPr lang="en-US"/>
              <a:t> web page by web page </a:t>
            </a:r>
            <a:r>
              <a:rPr lang="en-US" b="1"/>
              <a:t>using links on websites.</a:t>
            </a:r>
          </a:p>
          <a:p>
            <a:endParaRPr lang="en-US"/>
          </a:p>
          <a:p>
            <a:r>
              <a:rPr lang="en-US"/>
              <a:t>The web crawlers</a:t>
            </a:r>
            <a:r>
              <a:rPr lang="en-US" b="1"/>
              <a:t> collect keywords and phrases</a:t>
            </a:r>
            <a:r>
              <a:rPr lang="en-US"/>
              <a:t> from the linked web pages and </a:t>
            </a:r>
            <a:r>
              <a:rPr lang="en-US" b="1"/>
              <a:t>add this info to the index</a:t>
            </a:r>
            <a:r>
              <a:rPr lang="en-US"/>
              <a:t>.</a:t>
            </a:r>
          </a:p>
          <a:p>
            <a:endParaRPr lang="en-US"/>
          </a:p>
          <a:p>
            <a:r>
              <a:rPr lang="en-US"/>
              <a:t>They collect and also add </a:t>
            </a:r>
            <a:r>
              <a:rPr lang="en-US" b="1"/>
              <a:t>meta tags</a:t>
            </a:r>
            <a:r>
              <a:rPr lang="en-US"/>
              <a:t>, list of keywords the </a:t>
            </a:r>
            <a:r>
              <a:rPr lang="en-US" b="1"/>
              <a:t>website owner adds </a:t>
            </a:r>
            <a:r>
              <a:rPr lang="en-US"/>
              <a:t>to a webpage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AB0ADF-83E6-314F-02F3-7BAB7E5C207E}"/>
              </a:ext>
            </a:extLst>
          </p:cNvPr>
          <p:cNvSpPr txBox="1"/>
          <p:nvPr/>
        </p:nvSpPr>
        <p:spPr>
          <a:xfrm>
            <a:off x="6437530" y="5142336"/>
            <a:ext cx="50180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As well, websites with more</a:t>
            </a:r>
            <a:r>
              <a:rPr lang="en-US" b="1"/>
              <a:t> keywords</a:t>
            </a:r>
            <a:r>
              <a:rPr lang="en-US"/>
              <a:t> in the &lt;title&gt; and &lt;h1&gt; tags, </a:t>
            </a:r>
            <a:r>
              <a:rPr lang="en-US" b="1"/>
              <a:t>more relevant domain names </a:t>
            </a:r>
            <a:r>
              <a:rPr lang="en-US"/>
              <a:t>and frequent updates are more likely to be at the top of the results list.</a:t>
            </a:r>
          </a:p>
        </p:txBody>
      </p:sp>
      <p:pic>
        <p:nvPicPr>
          <p:cNvPr id="10" name="Picture 9" descr="The best search engines to use, if you're tired of Google - General ...">
            <a:extLst>
              <a:ext uri="{FF2B5EF4-FFF2-40B4-BE49-F238E27FC236}">
                <a16:creationId xmlns:a16="http://schemas.microsoft.com/office/drawing/2014/main" id="{09D3C81F-062F-9F8E-6F85-804B1A4F4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4784" y="2714368"/>
            <a:ext cx="3967892" cy="2129481"/>
          </a:xfrm>
          <a:prstGeom prst="rect">
            <a:avLst/>
          </a:prstGeom>
        </p:spPr>
      </p:pic>
      <p:pic>
        <p:nvPicPr>
          <p:cNvPr id="13" name="Picture 12" descr="The Most Scariest Spider In The World">
            <a:extLst>
              <a:ext uri="{FF2B5EF4-FFF2-40B4-BE49-F238E27FC236}">
                <a16:creationId xmlns:a16="http://schemas.microsoft.com/office/drawing/2014/main" id="{A8091900-BAAB-ABDE-60BC-80E4B41409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373" y="5009314"/>
            <a:ext cx="2702010" cy="174088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C6EDC6D-AD1F-A1C6-0109-889008A4FFB1}"/>
              </a:ext>
            </a:extLst>
          </p:cNvPr>
          <p:cNvSpPr/>
          <p:nvPr/>
        </p:nvSpPr>
        <p:spPr>
          <a:xfrm>
            <a:off x="332945" y="868404"/>
            <a:ext cx="5708135" cy="1431325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250043-CDF1-E690-9E17-C6CFB9895B5A}"/>
              </a:ext>
            </a:extLst>
          </p:cNvPr>
          <p:cNvSpPr/>
          <p:nvPr/>
        </p:nvSpPr>
        <p:spPr>
          <a:xfrm>
            <a:off x="6813376" y="154458"/>
            <a:ext cx="3023974" cy="2557163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B8FBAA-93ED-5340-2C8E-BB68B2207A21}"/>
              </a:ext>
            </a:extLst>
          </p:cNvPr>
          <p:cNvSpPr/>
          <p:nvPr/>
        </p:nvSpPr>
        <p:spPr>
          <a:xfrm>
            <a:off x="99538" y="2412999"/>
            <a:ext cx="6525056" cy="2440460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D75CE6-72A6-EDC1-54CD-53B0ECC55C0B}"/>
              </a:ext>
            </a:extLst>
          </p:cNvPr>
          <p:cNvSpPr/>
          <p:nvPr/>
        </p:nvSpPr>
        <p:spPr>
          <a:xfrm>
            <a:off x="6305377" y="5138349"/>
            <a:ext cx="5145217" cy="1204785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240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5BA54-5061-187B-FADF-D137358E0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6BADCB7-5534-FFC7-DDB0-B810EB67CAB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895B083-9B97-A91E-F283-F73F50B9DFC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933AD-ABDE-2538-5F9C-A6C72C271FE1}"/>
              </a:ext>
            </a:extLst>
          </p:cNvPr>
          <p:cNvSpPr txBox="1"/>
          <p:nvPr/>
        </p:nvSpPr>
        <p:spPr>
          <a:xfrm>
            <a:off x="397467" y="252740"/>
            <a:ext cx="8559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PAGE RANKING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A9DED4-8E70-2726-A8AD-FC0A9094C19A}"/>
              </a:ext>
            </a:extLst>
          </p:cNvPr>
          <p:cNvSpPr txBox="1"/>
          <p:nvPr/>
        </p:nvSpPr>
        <p:spPr>
          <a:xfrm>
            <a:off x="370355" y="1028249"/>
            <a:ext cx="61098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is an example of a </a:t>
            </a:r>
            <a:r>
              <a:rPr lang="en-GB" b="1"/>
              <a:t>search engine </a:t>
            </a:r>
            <a:r>
              <a:rPr lang="en-GB"/>
              <a:t>created by Google’s founders. </a:t>
            </a:r>
          </a:p>
          <a:p>
            <a:endParaRPr lang="en-GB"/>
          </a:p>
          <a:p>
            <a:r>
              <a:rPr lang="en-GB"/>
              <a:t>It sorts websites by the </a:t>
            </a:r>
            <a:r>
              <a:rPr lang="en-GB" b="1"/>
              <a:t>number of inbound links </a:t>
            </a:r>
            <a:r>
              <a:rPr lang="en-GB"/>
              <a:t>they receive, with a </a:t>
            </a:r>
            <a:r>
              <a:rPr lang="en-GB" b="1"/>
              <a:t>weighting to give importance </a:t>
            </a:r>
            <a:r>
              <a:rPr lang="en-GB"/>
              <a:t>to some inbound links (the </a:t>
            </a:r>
            <a:r>
              <a:rPr lang="en-GB" b="1"/>
              <a:t>page rank of linked websites </a:t>
            </a:r>
            <a:r>
              <a:rPr lang="en-GB"/>
              <a:t>dictates the weighting)</a:t>
            </a:r>
          </a:p>
          <a:p>
            <a:endParaRPr lang="en-GB"/>
          </a:p>
          <a:p>
            <a:r>
              <a:rPr lang="en-GB"/>
              <a:t>The PageRank of a page is </a:t>
            </a:r>
            <a:r>
              <a:rPr lang="en-GB" b="1"/>
              <a:t>constantly being recalculated </a:t>
            </a:r>
            <a:r>
              <a:rPr lang="en-GB"/>
              <a:t>and updated.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E7AC19-95C4-44E2-3E43-F8210319E862}"/>
              </a:ext>
            </a:extLst>
          </p:cNvPr>
          <p:cNvSpPr txBox="1"/>
          <p:nvPr/>
        </p:nvSpPr>
        <p:spPr>
          <a:xfrm>
            <a:off x="6949466" y="2690242"/>
            <a:ext cx="48721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This can be displayed using a </a:t>
            </a:r>
            <a:r>
              <a:rPr lang="en-GB" b="1"/>
              <a:t>directed graph </a:t>
            </a:r>
            <a:r>
              <a:rPr lang="en-GB"/>
              <a:t>which shows which page is linked to other websites and webpages are represented as nodes.</a:t>
            </a:r>
          </a:p>
        </p:txBody>
      </p:sp>
      <p:pic>
        <p:nvPicPr>
          <p:cNvPr id="1026" name="Picture 2" descr="PageRank - Wikipedia">
            <a:extLst>
              <a:ext uri="{FF2B5EF4-FFF2-40B4-BE49-F238E27FC236}">
                <a16:creationId xmlns:a16="http://schemas.microsoft.com/office/drawing/2014/main" id="{B17DC4BE-0B3B-F139-4855-06C728B7DA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9032" y="252740"/>
            <a:ext cx="2585917" cy="2084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A3EB64C-27DD-A823-C41C-782B1219B350}"/>
              </a:ext>
            </a:extLst>
          </p:cNvPr>
          <p:cNvSpPr txBox="1"/>
          <p:nvPr/>
        </p:nvSpPr>
        <p:spPr>
          <a:xfrm>
            <a:off x="343467" y="4115151"/>
            <a:ext cx="115050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PAGERANK algorithm is defined as:</a:t>
            </a:r>
            <a:br>
              <a:rPr lang="en-GB"/>
            </a:br>
            <a:endParaRPr lang="en-GB"/>
          </a:p>
          <a:p>
            <a:r>
              <a:rPr lang="en-GB" sz="2400" b="1">
                <a:solidFill>
                  <a:srgbClr val="C26CBA"/>
                </a:solidFill>
              </a:rPr>
              <a:t>PR(A) = (1-d) + d (PR(T1) / C (T1) + … + PR(Tn) /C (Tn))</a:t>
            </a:r>
          </a:p>
          <a:p>
            <a:endParaRPr lang="en-GB"/>
          </a:p>
          <a:p>
            <a:r>
              <a:rPr lang="en-GB" b="1">
                <a:solidFill>
                  <a:srgbClr val="C26CBA"/>
                </a:solidFill>
              </a:rPr>
              <a:t>PR(A) </a:t>
            </a:r>
            <a:r>
              <a:rPr lang="en-GB"/>
              <a:t>= </a:t>
            </a:r>
            <a:r>
              <a:rPr lang="en-GB" b="1"/>
              <a:t>Page rank</a:t>
            </a:r>
            <a:r>
              <a:rPr lang="en-GB"/>
              <a:t> of webpage</a:t>
            </a:r>
          </a:p>
          <a:p>
            <a:r>
              <a:rPr lang="en-GB" b="1">
                <a:solidFill>
                  <a:srgbClr val="C26CBA"/>
                </a:solidFill>
              </a:rPr>
              <a:t>C(Tn) </a:t>
            </a:r>
            <a:r>
              <a:rPr lang="en-GB"/>
              <a:t>= Total count of </a:t>
            </a:r>
            <a:r>
              <a:rPr lang="en-GB" b="1"/>
              <a:t>outbound links from web page n</a:t>
            </a:r>
          </a:p>
          <a:p>
            <a:r>
              <a:rPr lang="en-GB" b="1">
                <a:solidFill>
                  <a:srgbClr val="C26CBA"/>
                </a:solidFill>
              </a:rPr>
              <a:t>PR(Tn) /C (Tn) </a:t>
            </a:r>
            <a:r>
              <a:rPr lang="en-GB"/>
              <a:t>= </a:t>
            </a:r>
            <a:r>
              <a:rPr lang="en-GB" b="1"/>
              <a:t>The share of the vote that page A gets from page Tn. </a:t>
            </a:r>
            <a:r>
              <a:rPr lang="en-GB"/>
              <a:t>Each of these linked page's fractions are added together.</a:t>
            </a:r>
          </a:p>
          <a:p>
            <a:r>
              <a:rPr lang="en-GB" b="1">
                <a:solidFill>
                  <a:srgbClr val="C26CBA"/>
                </a:solidFill>
              </a:rPr>
              <a:t>d</a:t>
            </a:r>
            <a:r>
              <a:rPr lang="en-GB"/>
              <a:t> = </a:t>
            </a:r>
            <a:r>
              <a:rPr lang="en-GB" b="1"/>
              <a:t>Damping factor </a:t>
            </a:r>
            <a:r>
              <a:rPr lang="en-GB"/>
              <a:t>set to prevent PR(Tn)/C(Tn) from having too much influence, notionally set to 0.85.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934D08-2E03-F54E-0245-654D72EC322F}"/>
              </a:ext>
            </a:extLst>
          </p:cNvPr>
          <p:cNvSpPr/>
          <p:nvPr/>
        </p:nvSpPr>
        <p:spPr>
          <a:xfrm>
            <a:off x="212437" y="942109"/>
            <a:ext cx="6267752" cy="3004041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77DC6B-92EE-C6F1-359D-B7B4561A516B}"/>
              </a:ext>
            </a:extLst>
          </p:cNvPr>
          <p:cNvSpPr/>
          <p:nvPr/>
        </p:nvSpPr>
        <p:spPr>
          <a:xfrm>
            <a:off x="291395" y="4059572"/>
            <a:ext cx="11115513" cy="2733235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394F8AB-B706-6426-2649-74FE4052EB56}"/>
              </a:ext>
            </a:extLst>
          </p:cNvPr>
          <p:cNvSpPr/>
          <p:nvPr/>
        </p:nvSpPr>
        <p:spPr>
          <a:xfrm>
            <a:off x="6945744" y="2503138"/>
            <a:ext cx="4796941" cy="1387433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7209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F14E-2EDE-600F-FD65-BA88788C3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94F5A47-FDAD-7DB6-DEDA-0B8EE62C7E2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CE51E42-4139-7C11-F02E-07FA276CF0D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2A17DD-DEE2-5E34-E2B4-DE077434B3E2}"/>
              </a:ext>
            </a:extLst>
          </p:cNvPr>
          <p:cNvSpPr txBox="1"/>
          <p:nvPr/>
        </p:nvSpPr>
        <p:spPr>
          <a:xfrm>
            <a:off x="305104" y="339629"/>
            <a:ext cx="7824866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/>
              <a:t> SERVER AND CLIENT PROCESSING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5DBE4-80D0-6821-2AA1-72F4BE902AD3}"/>
              </a:ext>
            </a:extLst>
          </p:cNvPr>
          <p:cNvSpPr txBox="1"/>
          <p:nvPr/>
        </p:nvSpPr>
        <p:spPr>
          <a:xfrm>
            <a:off x="166710" y="862849"/>
            <a:ext cx="5855854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Client server model</a:t>
            </a:r>
            <a:r>
              <a:rPr lang="en-GB"/>
              <a:t>, data is processed by either client, server or both</a:t>
            </a:r>
          </a:p>
          <a:p>
            <a:endParaRPr lang="en-GB"/>
          </a:p>
          <a:p>
            <a:endParaRPr lang="en-GB"/>
          </a:p>
          <a:p>
            <a:r>
              <a:rPr lang="en-GB" b="1">
                <a:solidFill>
                  <a:schemeClr val="tx2">
                    <a:lumMod val="75000"/>
                    <a:lumOff val="25000"/>
                  </a:schemeClr>
                </a:solidFill>
              </a:rPr>
              <a:t>Client-side processing</a:t>
            </a:r>
            <a:r>
              <a:rPr lang="en-GB" b="1"/>
              <a:t> </a:t>
            </a:r>
            <a:r>
              <a:rPr lang="en-GB"/>
              <a:t>is where data is </a:t>
            </a:r>
            <a:r>
              <a:rPr lang="en-GB" b="1"/>
              <a:t>processed on client computer – a local device</a:t>
            </a:r>
            <a:r>
              <a:rPr lang="en-GB"/>
              <a:t>. Uses languages like </a:t>
            </a:r>
            <a:r>
              <a:rPr lang="en-GB" b="1"/>
              <a:t>JavaScript</a:t>
            </a:r>
          </a:p>
          <a:p>
            <a:endParaRPr lang="en-GB"/>
          </a:p>
          <a:p>
            <a:pPr marL="285750" indent="-285750">
              <a:buFontTx/>
              <a:buChar char="-"/>
            </a:pPr>
            <a:r>
              <a:rPr lang="en-GB"/>
              <a:t>Webpage </a:t>
            </a:r>
            <a:r>
              <a:rPr lang="en-GB" b="1"/>
              <a:t>can immediately respond </a:t>
            </a:r>
            <a:r>
              <a:rPr lang="en-GB"/>
              <a:t>to user</a:t>
            </a:r>
          </a:p>
          <a:p>
            <a:pPr marL="285750" indent="-285750">
              <a:buFontTx/>
              <a:buChar char="-"/>
            </a:pPr>
            <a:r>
              <a:rPr lang="en-GB" b="1"/>
              <a:t>Executes quickly</a:t>
            </a:r>
          </a:p>
          <a:p>
            <a:pPr marL="285750" indent="-285750">
              <a:buFontTx/>
              <a:buChar char="-"/>
            </a:pPr>
            <a:r>
              <a:rPr lang="en-GB"/>
              <a:t>Gives </a:t>
            </a:r>
            <a:r>
              <a:rPr lang="en-GB" b="1"/>
              <a:t>developers more control </a:t>
            </a:r>
            <a:r>
              <a:rPr lang="en-GB"/>
              <a:t>over behaviour and look of website.</a:t>
            </a:r>
          </a:p>
          <a:p>
            <a:endParaRPr lang="en-GB"/>
          </a:p>
          <a:p>
            <a:r>
              <a:rPr lang="en-GB" b="1">
                <a:solidFill>
                  <a:schemeClr val="tx2">
                    <a:lumMod val="75000"/>
                    <a:lumOff val="25000"/>
                  </a:schemeClr>
                </a:solidFill>
              </a:rPr>
              <a:t>Server-side processing </a:t>
            </a:r>
            <a:r>
              <a:rPr lang="en-GB"/>
              <a:t>is where data is </a:t>
            </a:r>
            <a:r>
              <a:rPr lang="en-GB" b="1"/>
              <a:t>processed on the server</a:t>
            </a:r>
            <a:r>
              <a:rPr lang="en-GB"/>
              <a:t>. Uses languages like </a:t>
            </a:r>
            <a:r>
              <a:rPr lang="en-GB" b="1"/>
              <a:t>SQL</a:t>
            </a:r>
          </a:p>
          <a:p>
            <a:endParaRPr lang="en-GB"/>
          </a:p>
          <a:p>
            <a:pPr marL="285750" indent="-285750">
              <a:buFontTx/>
              <a:buChar char="-"/>
            </a:pPr>
            <a:r>
              <a:rPr lang="en-GB" b="1"/>
              <a:t>No plugins </a:t>
            </a:r>
            <a:r>
              <a:rPr lang="en-GB"/>
              <a:t>required</a:t>
            </a:r>
          </a:p>
          <a:p>
            <a:pPr marL="285750" indent="-285750">
              <a:buFontTx/>
              <a:buChar char="-"/>
            </a:pPr>
            <a:r>
              <a:rPr lang="en-GB"/>
              <a:t>Can </a:t>
            </a:r>
            <a:r>
              <a:rPr lang="en-GB" b="1"/>
              <a:t>perform large calculations much faster </a:t>
            </a:r>
            <a:r>
              <a:rPr lang="en-GB"/>
              <a:t>than clients</a:t>
            </a:r>
          </a:p>
          <a:p>
            <a:pPr marL="285750" indent="-285750">
              <a:buFontTx/>
              <a:buChar char="-"/>
            </a:pPr>
            <a:r>
              <a:rPr lang="en-GB" b="1"/>
              <a:t>Not browser dependent</a:t>
            </a:r>
          </a:p>
          <a:p>
            <a:pPr marL="285750" indent="-285750">
              <a:buFontTx/>
              <a:buChar char="-"/>
            </a:pPr>
            <a:r>
              <a:rPr lang="en-GB"/>
              <a:t>More </a:t>
            </a:r>
            <a:r>
              <a:rPr lang="en-GB" b="1"/>
              <a:t>secure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06538C-E4DC-917A-D098-166B79DD76E1}"/>
              </a:ext>
            </a:extLst>
          </p:cNvPr>
          <p:cNvSpPr txBox="1"/>
          <p:nvPr/>
        </p:nvSpPr>
        <p:spPr>
          <a:xfrm>
            <a:off x="6096000" y="138546"/>
            <a:ext cx="3943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API</a:t>
            </a:r>
            <a:r>
              <a:rPr lang="en-GB"/>
              <a:t> (Application programming interface is a </a:t>
            </a:r>
            <a:r>
              <a:rPr lang="en-GB" b="1"/>
              <a:t>set of protocols </a:t>
            </a:r>
            <a:r>
              <a:rPr lang="en-GB"/>
              <a:t>that governs how two applications should interact with one another.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4DD11F-2EA6-0CC2-8321-16212977F907}"/>
              </a:ext>
            </a:extLst>
          </p:cNvPr>
          <p:cNvSpPr txBox="1"/>
          <p:nvPr/>
        </p:nvSpPr>
        <p:spPr>
          <a:xfrm>
            <a:off x="6395498" y="1410355"/>
            <a:ext cx="5629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If a server </a:t>
            </a:r>
            <a:r>
              <a:rPr lang="en-GB" b="1"/>
              <a:t>does lots of processing and storage</a:t>
            </a:r>
            <a:r>
              <a:rPr lang="en-GB"/>
              <a:t>, the </a:t>
            </a:r>
            <a:r>
              <a:rPr lang="en-GB" b="1"/>
              <a:t>thinner a client </a:t>
            </a:r>
            <a:r>
              <a:rPr lang="en-GB"/>
              <a:t>computer becomes.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A61B46-B4ED-B24A-4004-0DC76C9DD303}"/>
              </a:ext>
            </a:extLst>
          </p:cNvPr>
          <p:cNvSpPr txBox="1"/>
          <p:nvPr/>
        </p:nvSpPr>
        <p:spPr>
          <a:xfrm>
            <a:off x="6269069" y="2081372"/>
            <a:ext cx="58558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Thin clients </a:t>
            </a:r>
            <a:r>
              <a:rPr lang="en-GB" dirty="0"/>
              <a:t>are </a:t>
            </a:r>
          </a:p>
          <a:p>
            <a:r>
              <a:rPr lang="en-GB" b="1" dirty="0"/>
              <a:t>Easy to set up and maintain</a:t>
            </a:r>
            <a:r>
              <a:rPr lang="en-GB" dirty="0"/>
              <a:t>, allows data to be more </a:t>
            </a:r>
            <a:r>
              <a:rPr lang="en-GB" b="1" dirty="0"/>
              <a:t>secure</a:t>
            </a:r>
            <a:r>
              <a:rPr lang="en-GB" dirty="0"/>
              <a:t> as it is stored on one computer and software updates can be </a:t>
            </a:r>
            <a:r>
              <a:rPr lang="en-GB" b="1" dirty="0"/>
              <a:t>installed automatically </a:t>
            </a:r>
            <a:r>
              <a:rPr lang="en-GB" dirty="0"/>
              <a:t>from the server.</a:t>
            </a:r>
          </a:p>
          <a:p>
            <a:r>
              <a:rPr lang="en-GB" dirty="0"/>
              <a:t>BUT</a:t>
            </a:r>
          </a:p>
          <a:p>
            <a:r>
              <a:rPr lang="en-GB" dirty="0"/>
              <a:t>They are </a:t>
            </a:r>
            <a:r>
              <a:rPr lang="en-GB" b="1" dirty="0"/>
              <a:t>reliant on the server </a:t>
            </a:r>
            <a:r>
              <a:rPr lang="en-GB" dirty="0"/>
              <a:t>being active and powerful (expensive)</a:t>
            </a:r>
          </a:p>
          <a:p>
            <a:endParaRPr lang="en-GB" dirty="0"/>
          </a:p>
          <a:p>
            <a:r>
              <a:rPr lang="en-GB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Thick clients</a:t>
            </a:r>
            <a:r>
              <a:rPr lang="en-GB" dirty="0"/>
              <a:t> are</a:t>
            </a:r>
          </a:p>
          <a:p>
            <a:r>
              <a:rPr lang="en-GB" b="1" dirty="0"/>
              <a:t>Robust, reliable</a:t>
            </a:r>
            <a:r>
              <a:rPr lang="en-GB" dirty="0"/>
              <a:t>, operates without a continuous connections and is better for </a:t>
            </a:r>
            <a:r>
              <a:rPr lang="en-GB" b="1" dirty="0"/>
              <a:t>running powerful applications</a:t>
            </a:r>
          </a:p>
          <a:p>
            <a:r>
              <a:rPr lang="en-GB" dirty="0"/>
              <a:t>BUT</a:t>
            </a:r>
          </a:p>
          <a:p>
            <a:r>
              <a:rPr lang="en-GB" b="1" dirty="0"/>
              <a:t>Expensive, installation is time consuming </a:t>
            </a:r>
            <a:r>
              <a:rPr lang="en-GB" dirty="0"/>
              <a:t>due to being separately installed, </a:t>
            </a:r>
            <a:r>
              <a:rPr lang="en-GB" b="1" dirty="0"/>
              <a:t>integrity issues </a:t>
            </a:r>
            <a:r>
              <a:rPr lang="en-GB" dirty="0"/>
              <a:t>due to distributed data</a:t>
            </a:r>
          </a:p>
        </p:txBody>
      </p:sp>
      <p:pic>
        <p:nvPicPr>
          <p:cNvPr id="2050" name="Picture 2" descr="Thin client vs Thick client - Myriad Technologies - Managed IT Support and  Security Services in Chilliwack">
            <a:extLst>
              <a:ext uri="{FF2B5EF4-FFF2-40B4-BE49-F238E27FC236}">
                <a16:creationId xmlns:a16="http://schemas.microsoft.com/office/drawing/2014/main" id="{AA49DEAB-B465-7E28-DA2C-9B33ECF89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362" y="3791151"/>
            <a:ext cx="1697613" cy="84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90F9DA2-A7CF-A39D-1B90-C73A7E5A5B00}"/>
              </a:ext>
            </a:extLst>
          </p:cNvPr>
          <p:cNvSpPr/>
          <p:nvPr/>
        </p:nvSpPr>
        <p:spPr>
          <a:xfrm>
            <a:off x="166711" y="862849"/>
            <a:ext cx="5763036" cy="5856605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4E2A0D-F2B2-01D9-2D12-8AEB53F0A377}"/>
              </a:ext>
            </a:extLst>
          </p:cNvPr>
          <p:cNvSpPr/>
          <p:nvPr/>
        </p:nvSpPr>
        <p:spPr>
          <a:xfrm>
            <a:off x="6095999" y="85842"/>
            <a:ext cx="3777674" cy="1200329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E68A0F-7837-9D43-052F-1336FACF527A}"/>
              </a:ext>
            </a:extLst>
          </p:cNvPr>
          <p:cNvSpPr/>
          <p:nvPr/>
        </p:nvSpPr>
        <p:spPr>
          <a:xfrm>
            <a:off x="6169438" y="1410355"/>
            <a:ext cx="6022562" cy="5361803"/>
          </a:xfrm>
          <a:prstGeom prst="rect">
            <a:avLst/>
          </a:prstGeom>
          <a:noFill/>
          <a:ln>
            <a:solidFill>
              <a:srgbClr val="2965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601101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BACA6-FD1E-C1B5-0A66-033F65962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3140AF3-93BB-15EB-455B-C65535EF790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FEBA664-774F-F4A7-3B75-16A6C43C636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625EF0-2394-23B7-E7DF-7CE339F87053}"/>
              </a:ext>
            </a:extLst>
          </p:cNvPr>
          <p:cNvSpPr txBox="1"/>
          <p:nvPr/>
        </p:nvSpPr>
        <p:spPr>
          <a:xfrm>
            <a:off x="85830" y="301489"/>
            <a:ext cx="6650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CLIENT SERVER AND PEER TO PEER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45909-3C96-B9DD-51A5-318572FA40FD}"/>
              </a:ext>
            </a:extLst>
          </p:cNvPr>
          <p:cNvSpPr txBox="1"/>
          <p:nvPr/>
        </p:nvSpPr>
        <p:spPr>
          <a:xfrm>
            <a:off x="408806" y="1096594"/>
            <a:ext cx="53109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002060"/>
                </a:solidFill>
              </a:rPr>
              <a:t>CLIENT-SERVER</a:t>
            </a:r>
            <a:r>
              <a:rPr lang="en-GB"/>
              <a:t> network is where one or more clients/computers are connected to </a:t>
            </a:r>
            <a:r>
              <a:rPr lang="en-GB" b="1"/>
              <a:t>a powerful central server</a:t>
            </a:r>
          </a:p>
          <a:p>
            <a:endParaRPr lang="en-GB"/>
          </a:p>
          <a:p>
            <a:r>
              <a:rPr lang="en-GB"/>
              <a:t>It is </a:t>
            </a:r>
            <a:r>
              <a:rPr lang="en-GB" b="1"/>
              <a:t>secure</a:t>
            </a:r>
            <a:r>
              <a:rPr lang="en-GB"/>
              <a:t> as all files are stored centrally, </a:t>
            </a:r>
            <a:r>
              <a:rPr lang="en-GB" b="1"/>
              <a:t>backups are done centrally</a:t>
            </a:r>
            <a:r>
              <a:rPr lang="en-GB"/>
              <a:t>, and data can be shared within the network	</a:t>
            </a:r>
          </a:p>
          <a:p>
            <a:endParaRPr lang="en-GB"/>
          </a:p>
          <a:p>
            <a:r>
              <a:rPr lang="en-GB"/>
              <a:t>But it is </a:t>
            </a:r>
            <a:r>
              <a:rPr lang="en-GB" b="1"/>
              <a:t>expensive</a:t>
            </a:r>
            <a:r>
              <a:rPr lang="en-GB"/>
              <a:t> to install and manage whilst requiring </a:t>
            </a:r>
            <a:r>
              <a:rPr lang="en-GB" b="1"/>
              <a:t>professional IT staff</a:t>
            </a:r>
            <a:r>
              <a:rPr lang="en-GB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D7C40-48D3-C494-FD7D-52457D2DA782}"/>
              </a:ext>
            </a:extLst>
          </p:cNvPr>
          <p:cNvSpPr txBox="1"/>
          <p:nvPr/>
        </p:nvSpPr>
        <p:spPr>
          <a:xfrm>
            <a:off x="5301671" y="4196854"/>
            <a:ext cx="62807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002060"/>
                </a:solidFill>
              </a:rPr>
              <a:t>PEER-PEER</a:t>
            </a:r>
            <a:r>
              <a:rPr lang="en-GB">
                <a:solidFill>
                  <a:srgbClr val="002060"/>
                </a:solidFill>
              </a:rPr>
              <a:t> </a:t>
            </a:r>
            <a:r>
              <a:rPr lang="en-GB"/>
              <a:t>network is beneficial for </a:t>
            </a:r>
            <a:r>
              <a:rPr lang="en-GB" b="1"/>
              <a:t>small LANs </a:t>
            </a:r>
            <a:r>
              <a:rPr lang="en-GB"/>
              <a:t>as individual computers are </a:t>
            </a:r>
            <a:r>
              <a:rPr lang="en-GB" b="1"/>
              <a:t>connected to each other</a:t>
            </a:r>
            <a:r>
              <a:rPr lang="en-GB"/>
              <a:t>. </a:t>
            </a:r>
          </a:p>
          <a:p>
            <a:endParaRPr lang="en-GB"/>
          </a:p>
          <a:p>
            <a:r>
              <a:rPr lang="en-GB"/>
              <a:t>It is </a:t>
            </a:r>
            <a:r>
              <a:rPr lang="en-GB" b="1"/>
              <a:t>cheap</a:t>
            </a:r>
            <a:r>
              <a:rPr lang="en-GB"/>
              <a:t>, </a:t>
            </a:r>
            <a:r>
              <a:rPr lang="en-GB" b="1"/>
              <a:t>not difficult to maintain </a:t>
            </a:r>
            <a:r>
              <a:rPr lang="en-GB"/>
              <a:t>and enables users to share resources e.g. printers.</a:t>
            </a:r>
          </a:p>
          <a:p>
            <a:endParaRPr lang="en-GB"/>
          </a:p>
          <a:p>
            <a:r>
              <a:rPr lang="en-GB"/>
              <a:t>But peer to peer networking is </a:t>
            </a:r>
            <a:r>
              <a:rPr lang="en-GB" b="1"/>
              <a:t>used for piracy </a:t>
            </a:r>
            <a:r>
              <a:rPr lang="en-GB"/>
              <a:t>due to the </a:t>
            </a:r>
            <a:r>
              <a:rPr lang="en-GB" b="1"/>
              <a:t>inability to trace the files </a:t>
            </a:r>
            <a:r>
              <a:rPr lang="en-GB"/>
              <a:t>which are being </a:t>
            </a:r>
            <a:r>
              <a:rPr lang="en-GB" b="1"/>
              <a:t>illegally downloaded.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B3D4C-77BD-6D8A-5B6F-C681545372A2}"/>
              </a:ext>
            </a:extLst>
          </p:cNvPr>
          <p:cNvSpPr txBox="1"/>
          <p:nvPr/>
        </p:nvSpPr>
        <p:spPr>
          <a:xfrm>
            <a:off x="6096000" y="157657"/>
            <a:ext cx="402659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Cloud computing </a:t>
            </a:r>
            <a:r>
              <a:rPr lang="en-GB"/>
              <a:t>refers to the service of providing access to software or files </a:t>
            </a:r>
            <a:r>
              <a:rPr lang="en-GB" b="1"/>
              <a:t>via the Internet using the client-server </a:t>
            </a:r>
            <a:r>
              <a:rPr lang="en-GB"/>
              <a:t>model e.g. OneDrive or Google Drive</a:t>
            </a:r>
          </a:p>
        </p:txBody>
      </p:sp>
      <p:pic>
        <p:nvPicPr>
          <p:cNvPr id="2052" name="Picture 4" descr="Client-Server vs Peer to Peer - A Level Computer Science">
            <a:extLst>
              <a:ext uri="{FF2B5EF4-FFF2-40B4-BE49-F238E27FC236}">
                <a16:creationId xmlns:a16="http://schemas.microsoft.com/office/drawing/2014/main" id="{68853481-B105-34DB-33FD-8240A3BEF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6013" y="1572470"/>
            <a:ext cx="4686208" cy="25054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Peer-to-Peer (P2P) Architecture: Decentralized by Design | by Simson M |  Medium">
            <a:extLst>
              <a:ext uri="{FF2B5EF4-FFF2-40B4-BE49-F238E27FC236}">
                <a16:creationId xmlns:a16="http://schemas.microsoft.com/office/drawing/2014/main" id="{02C0536B-44A4-CCB7-3E76-B09D16CCA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9400" y="4196854"/>
            <a:ext cx="2585323" cy="258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E3D84B-6F59-DF68-7CCC-311F58869811}"/>
              </a:ext>
            </a:extLst>
          </p:cNvPr>
          <p:cNvSpPr/>
          <p:nvPr/>
        </p:nvSpPr>
        <p:spPr>
          <a:xfrm>
            <a:off x="369453" y="896321"/>
            <a:ext cx="5310911" cy="3056843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60CD36-5DF1-BE81-E284-6115C506AF50}"/>
              </a:ext>
            </a:extLst>
          </p:cNvPr>
          <p:cNvSpPr/>
          <p:nvPr/>
        </p:nvSpPr>
        <p:spPr>
          <a:xfrm>
            <a:off x="5961845" y="157658"/>
            <a:ext cx="4151516" cy="147732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09D334-7776-3FC7-EEEE-D1D01515F0B4}"/>
              </a:ext>
            </a:extLst>
          </p:cNvPr>
          <p:cNvSpPr/>
          <p:nvPr/>
        </p:nvSpPr>
        <p:spPr>
          <a:xfrm>
            <a:off x="5322112" y="4072133"/>
            <a:ext cx="6260286" cy="26574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7607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9E919-7D3F-5C7A-9081-4DD003416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54DA844-7EBB-D9F9-727E-1BC01BA58C4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8B97B3-42DE-906A-1A5E-E9BAFDF48112}"/>
              </a:ext>
            </a:extLst>
          </p:cNvPr>
          <p:cNvSpPr txBox="1"/>
          <p:nvPr/>
        </p:nvSpPr>
        <p:spPr>
          <a:xfrm>
            <a:off x="629586" y="339990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SLR13 DATA TYPES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A19161-CF93-677E-FA8C-057BF10A4527}"/>
              </a:ext>
            </a:extLst>
          </p:cNvPr>
          <p:cNvSpPr txBox="1"/>
          <p:nvPr/>
        </p:nvSpPr>
        <p:spPr>
          <a:xfrm>
            <a:off x="3162924" y="1139992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SIGN AND MAGNITUDE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07271-0372-2775-EE71-52DFD10459AE}"/>
              </a:ext>
            </a:extLst>
          </p:cNvPr>
          <p:cNvSpPr txBox="1"/>
          <p:nvPr/>
        </p:nvSpPr>
        <p:spPr>
          <a:xfrm>
            <a:off x="3162924" y="2156900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TWO’S COMPLIMENT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799C48-AFC6-A8C0-5904-BFCF30FA30A4}"/>
              </a:ext>
            </a:extLst>
          </p:cNvPr>
          <p:cNvSpPr txBox="1"/>
          <p:nvPr/>
        </p:nvSpPr>
        <p:spPr>
          <a:xfrm>
            <a:off x="3112958" y="3173808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FLOATING POINT BINARY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0FD7E-1E59-9444-0E5F-C5DF6CEAFD83}"/>
              </a:ext>
            </a:extLst>
          </p:cNvPr>
          <p:cNvSpPr txBox="1"/>
          <p:nvPr/>
        </p:nvSpPr>
        <p:spPr>
          <a:xfrm>
            <a:off x="3162924" y="4102760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NORMALISATION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C26BA-4DBF-43E2-E479-2BFC8A3160D6}"/>
              </a:ext>
            </a:extLst>
          </p:cNvPr>
          <p:cNvSpPr txBox="1"/>
          <p:nvPr/>
        </p:nvSpPr>
        <p:spPr>
          <a:xfrm>
            <a:off x="3112958" y="5031712"/>
            <a:ext cx="85593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BITWISE MANIPULATION AND MASKS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0A23A8-5D8E-1CFC-5746-6C056B0F682C}"/>
              </a:ext>
            </a:extLst>
          </p:cNvPr>
          <p:cNvSpPr txBox="1"/>
          <p:nvPr/>
        </p:nvSpPr>
        <p:spPr>
          <a:xfrm>
            <a:off x="3112958" y="5853738"/>
            <a:ext cx="782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CHARACTER SETS</a:t>
            </a:r>
          </a:p>
        </p:txBody>
      </p:sp>
      <p:sp>
        <p:nvSpPr>
          <p:cNvPr id="10" name="Action Button: Go Forward or Next 9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CD6F429-2307-7DE7-B219-A1487253CE1F}"/>
              </a:ext>
            </a:extLst>
          </p:cNvPr>
          <p:cNvSpPr/>
          <p:nvPr/>
        </p:nvSpPr>
        <p:spPr>
          <a:xfrm>
            <a:off x="1304142" y="1039008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BB6CBDAD-EAA4-4CC0-BDDF-CC78A3A2B9AD}"/>
              </a:ext>
            </a:extLst>
          </p:cNvPr>
          <p:cNvSpPr/>
          <p:nvPr/>
        </p:nvSpPr>
        <p:spPr>
          <a:xfrm>
            <a:off x="1304141" y="1974307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D77DE1A-B102-D0B1-9E39-9D87D8C8F5DD}"/>
              </a:ext>
            </a:extLst>
          </p:cNvPr>
          <p:cNvSpPr/>
          <p:nvPr/>
        </p:nvSpPr>
        <p:spPr>
          <a:xfrm>
            <a:off x="1304140" y="4807998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ction Button: Go Forward or Next 12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53A5B548-EBB9-D9A7-A22F-5C08D54C0E5C}"/>
              </a:ext>
            </a:extLst>
          </p:cNvPr>
          <p:cNvSpPr/>
          <p:nvPr/>
        </p:nvSpPr>
        <p:spPr>
          <a:xfrm>
            <a:off x="1304140" y="3920167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ction Button: Go Forward or Next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7091FCC6-CDF4-0327-BA91-8FE7F9E27943}"/>
              </a:ext>
            </a:extLst>
          </p:cNvPr>
          <p:cNvSpPr/>
          <p:nvPr/>
        </p:nvSpPr>
        <p:spPr>
          <a:xfrm>
            <a:off x="1304141" y="3019534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173EE61-18D0-9681-8DB2-E1671B05704C}"/>
              </a:ext>
            </a:extLst>
          </p:cNvPr>
          <p:cNvSpPr/>
          <p:nvPr/>
        </p:nvSpPr>
        <p:spPr>
          <a:xfrm>
            <a:off x="1304140" y="5748829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60693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3066-FE6B-1F62-3E40-07EA2A3DE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BA92EC5-E30D-3AC9-245A-46D7C87C07A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6FA84-B740-89F9-A9EB-B70BABE6C550}"/>
              </a:ext>
            </a:extLst>
          </p:cNvPr>
          <p:cNvSpPr txBox="1"/>
          <p:nvPr/>
        </p:nvSpPr>
        <p:spPr>
          <a:xfrm>
            <a:off x="179882" y="209862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SIGN AND MAGNITUDE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E0B1D-5314-DA2C-4D57-3FC10E7D0696}"/>
              </a:ext>
            </a:extLst>
          </p:cNvPr>
          <p:cNvSpPr txBox="1"/>
          <p:nvPr/>
        </p:nvSpPr>
        <p:spPr>
          <a:xfrm>
            <a:off x="470691" y="1271698"/>
            <a:ext cx="816401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most basic way to represent </a:t>
            </a:r>
            <a:r>
              <a:rPr lang="en-GB" b="1"/>
              <a:t>negative numbers </a:t>
            </a:r>
            <a:r>
              <a:rPr lang="en-GB"/>
              <a:t>with the equivalent of adding + or – sign in front of a number.</a:t>
            </a:r>
          </a:p>
          <a:p>
            <a:endParaRPr lang="en-GB"/>
          </a:p>
          <a:p>
            <a:r>
              <a:rPr lang="en-GB"/>
              <a:t>The convention is that a </a:t>
            </a:r>
            <a:r>
              <a:rPr lang="en-GB" b="1"/>
              <a:t>leading 1 is added for a negative number </a:t>
            </a:r>
            <a:r>
              <a:rPr lang="en-GB"/>
              <a:t>and a </a:t>
            </a:r>
            <a:r>
              <a:rPr lang="en-GB" b="1"/>
              <a:t>leading 0 is added for a positive number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9704D-1F83-B5C8-BE10-53BCAD42F2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2" y="3303023"/>
            <a:ext cx="8013156" cy="158114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86700C-3B59-8CD8-1003-EBDE7AAAFCDA}"/>
              </a:ext>
            </a:extLst>
          </p:cNvPr>
          <p:cNvSpPr/>
          <p:nvPr/>
        </p:nvSpPr>
        <p:spPr>
          <a:xfrm>
            <a:off x="359764" y="1028700"/>
            <a:ext cx="8274945" cy="203132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ction Button: Go to Beginning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112522E-222F-693F-A961-C61F39797B3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2416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38B43-64F9-CC21-6109-5E3ACBE94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F8B9507-0E6E-C934-9A8F-F7D0EF3AD55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9262DA-3482-2E39-3FB3-F2D282897317}"/>
              </a:ext>
            </a:extLst>
          </p:cNvPr>
          <p:cNvSpPr txBox="1"/>
          <p:nvPr/>
        </p:nvSpPr>
        <p:spPr>
          <a:xfrm>
            <a:off x="164892" y="164892"/>
            <a:ext cx="401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TWO’S COMPLEMENT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7ACD80-3716-52B7-9457-EC9F8AAE0C2F}"/>
              </a:ext>
            </a:extLst>
          </p:cNvPr>
          <p:cNvSpPr txBox="1"/>
          <p:nvPr/>
        </p:nvSpPr>
        <p:spPr>
          <a:xfrm>
            <a:off x="365760" y="688112"/>
            <a:ext cx="96697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One other method to represent negative numbers in binary, this has the advantage of making binary arithmetic with negative numbers much simpler.</a:t>
            </a:r>
          </a:p>
          <a:p>
            <a:endParaRPr lang="en-GB"/>
          </a:p>
          <a:p>
            <a:r>
              <a:rPr lang="en-GB"/>
              <a:t>This works by making </a:t>
            </a:r>
            <a:r>
              <a:rPr lang="en-GB" b="1"/>
              <a:t>the most significant bit negative </a:t>
            </a:r>
            <a:r>
              <a:rPr lang="en-GB"/>
              <a:t>(the bit on the left) for example 128 to -128.</a:t>
            </a:r>
          </a:p>
          <a:p>
            <a:r>
              <a:rPr lang="en-GB"/>
              <a:t>This means with 1 byte we can represent </a:t>
            </a:r>
            <a:r>
              <a:rPr lang="en-GB" b="1"/>
              <a:t>numbers -128 to 127.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8682C-989E-9C3C-09A2-1CE73B64E080}"/>
              </a:ext>
            </a:extLst>
          </p:cNvPr>
          <p:cNvSpPr txBox="1"/>
          <p:nvPr/>
        </p:nvSpPr>
        <p:spPr>
          <a:xfrm>
            <a:off x="365760" y="2926080"/>
            <a:ext cx="9189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Converting to a negative  two’s complement involves flipping all the bits and then</a:t>
            </a:r>
          </a:p>
          <a:p>
            <a:endParaRPr lang="en-GB"/>
          </a:p>
          <a:p>
            <a:r>
              <a:rPr lang="en-GB"/>
              <a:t>Keep all the </a:t>
            </a:r>
            <a:r>
              <a:rPr lang="en-GB" b="1"/>
              <a:t>digits up to the first 1 the same (LSB)</a:t>
            </a:r>
          </a:p>
          <a:p>
            <a:pPr marL="285750" indent="-285750">
              <a:buFontTx/>
              <a:buChar char="-"/>
            </a:pPr>
            <a:endParaRPr lang="en-GB"/>
          </a:p>
          <a:p>
            <a:pPr marL="285750" indent="-285750">
              <a:buFontTx/>
              <a:buChar char="-"/>
            </a:pPr>
            <a:r>
              <a:rPr lang="en-GB"/>
              <a:t>E.G 00000111 = 7  11111001 = -7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B558B-B09B-CA97-6392-651C5A3AAE67}"/>
              </a:ext>
            </a:extLst>
          </p:cNvPr>
          <p:cNvSpPr txBox="1"/>
          <p:nvPr/>
        </p:nvSpPr>
        <p:spPr>
          <a:xfrm>
            <a:off x="365760" y="5120640"/>
            <a:ext cx="8983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Subtracting with this representation is easy: Just make the</a:t>
            </a:r>
            <a:r>
              <a:rPr lang="en-GB" b="1"/>
              <a:t> number you are subtracting negative </a:t>
            </a:r>
            <a:r>
              <a:rPr lang="en-GB"/>
              <a:t>and </a:t>
            </a:r>
            <a:r>
              <a:rPr lang="en-GB" b="1"/>
              <a:t>add</a:t>
            </a:r>
            <a:r>
              <a:rPr lang="en-GB"/>
              <a:t> the two numbers together</a:t>
            </a:r>
          </a:p>
        </p:txBody>
      </p:sp>
      <p:pic>
        <p:nvPicPr>
          <p:cNvPr id="1026" name="Picture 2" descr="Binary Subtraction with Two's Complement">
            <a:extLst>
              <a:ext uri="{FF2B5EF4-FFF2-40B4-BE49-F238E27FC236}">
                <a16:creationId xmlns:a16="http://schemas.microsoft.com/office/drawing/2014/main" id="{357D457D-3101-44EC-12CE-30F92B443B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4885" y="1211580"/>
            <a:ext cx="1915594" cy="2677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F80F8D-FEBE-9838-907E-771E2BEE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4668" y="4039093"/>
            <a:ext cx="2777463" cy="216309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1C3920-8C70-197B-90FD-8542BB362007}"/>
              </a:ext>
            </a:extLst>
          </p:cNvPr>
          <p:cNvSpPr/>
          <p:nvPr/>
        </p:nvSpPr>
        <p:spPr>
          <a:xfrm>
            <a:off x="365760" y="688112"/>
            <a:ext cx="9669780" cy="1802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04E3A1-14C4-68FC-C8EB-2A7072CF0A9B}"/>
              </a:ext>
            </a:extLst>
          </p:cNvPr>
          <p:cNvSpPr/>
          <p:nvPr/>
        </p:nvSpPr>
        <p:spPr>
          <a:xfrm>
            <a:off x="365759" y="2926080"/>
            <a:ext cx="8703289" cy="1477328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5466918-2EAD-6C49-074F-EE5D6CB594F1}"/>
              </a:ext>
            </a:extLst>
          </p:cNvPr>
          <p:cNvSpPr/>
          <p:nvPr/>
        </p:nvSpPr>
        <p:spPr>
          <a:xfrm>
            <a:off x="365759" y="5120640"/>
            <a:ext cx="8703289" cy="755504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to Beginning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193AF6A9-5DB4-71B8-CFA3-50F39F61ADC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53191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DCF4-7FAC-8FD4-6428-9220C47AA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FD3BA81-EC05-8D25-0F49-F4DF982B4C3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1C564-F724-D630-9451-FE8B181880F2}"/>
              </a:ext>
            </a:extLst>
          </p:cNvPr>
          <p:cNvSpPr txBox="1"/>
          <p:nvPr/>
        </p:nvSpPr>
        <p:spPr>
          <a:xfrm>
            <a:off x="164892" y="209862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FLOATING POINT BINARY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BC856B-93C0-D8A1-1AE0-F46EC115CDE4}"/>
              </a:ext>
            </a:extLst>
          </p:cNvPr>
          <p:cNvSpPr txBox="1"/>
          <p:nvPr/>
        </p:nvSpPr>
        <p:spPr>
          <a:xfrm>
            <a:off x="164890" y="797428"/>
            <a:ext cx="1014496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Decimals in floating point is represented by having the bits</a:t>
            </a:r>
          </a:p>
          <a:p>
            <a:r>
              <a:rPr lang="en-GB"/>
              <a:t> after the floating-point </a:t>
            </a:r>
            <a:r>
              <a:rPr lang="en-GB" b="1"/>
              <a:t>decrease in powers of 2 e.g. 2^-1 = ½ 2^4 = 1/16</a:t>
            </a:r>
          </a:p>
          <a:p>
            <a:endParaRPr lang="en-GB"/>
          </a:p>
          <a:p>
            <a:r>
              <a:rPr lang="en-GB"/>
              <a:t>Floating point numbers can be thought of as scientific notation and can be split into two parts: </a:t>
            </a:r>
            <a:r>
              <a:rPr lang="en-GB" b="1"/>
              <a:t>mantissa and exponent</a:t>
            </a:r>
          </a:p>
          <a:p>
            <a:endParaRPr lang="en-GB"/>
          </a:p>
          <a:p>
            <a:r>
              <a:rPr lang="en-GB"/>
              <a:t>The mantissa is the number, and the exponent is </a:t>
            </a:r>
            <a:r>
              <a:rPr lang="en-GB" b="1"/>
              <a:t>how much it is shifted by</a:t>
            </a:r>
            <a:r>
              <a:rPr lang="en-GB"/>
              <a:t>. This is especially useful when calculating decimals.</a:t>
            </a:r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A6D6-5136-3602-20E5-2233D4A75371}"/>
              </a:ext>
            </a:extLst>
          </p:cNvPr>
          <p:cNvSpPr txBox="1"/>
          <p:nvPr/>
        </p:nvSpPr>
        <p:spPr>
          <a:xfrm>
            <a:off x="193185" y="3252166"/>
            <a:ext cx="1115268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Negative exponents: shift the decimal point left</a:t>
            </a:r>
          </a:p>
          <a:p>
            <a:r>
              <a:rPr lang="en-GB" b="1"/>
              <a:t>Positive exponents: shift the decimal point right</a:t>
            </a:r>
            <a:endParaRPr lang="en-GB"/>
          </a:p>
          <a:p>
            <a:r>
              <a:rPr lang="en-GB"/>
              <a:t>As well, the first bit is always </a:t>
            </a:r>
            <a:r>
              <a:rPr lang="en-GB" b="1"/>
              <a:t>dedicated to the sign </a:t>
            </a:r>
          </a:p>
          <a:p>
            <a:r>
              <a:rPr lang="en-GB"/>
              <a:t>with the </a:t>
            </a:r>
            <a:r>
              <a:rPr lang="en-GB" b="1"/>
              <a:t>original floating point after it.</a:t>
            </a:r>
          </a:p>
          <a:p>
            <a:endParaRPr lang="en-GB"/>
          </a:p>
          <a:p>
            <a:r>
              <a:rPr lang="en-GB"/>
              <a:t>If the Mantissa is </a:t>
            </a:r>
            <a:r>
              <a:rPr lang="en-GB" b="1"/>
              <a:t>negative, you must find the</a:t>
            </a:r>
          </a:p>
          <a:p>
            <a:r>
              <a:rPr lang="en-GB" b="1"/>
              <a:t> twos compliment of it before hand </a:t>
            </a:r>
            <a:r>
              <a:rPr lang="en-GB"/>
              <a:t>and then </a:t>
            </a:r>
          </a:p>
          <a:p>
            <a:r>
              <a:rPr lang="en-GB"/>
              <a:t>put the – sign after you’ve found the positive number. </a:t>
            </a:r>
          </a:p>
          <a:p>
            <a:endParaRPr lang="en-GB"/>
          </a:p>
        </p:txBody>
      </p:sp>
      <p:sp>
        <p:nvSpPr>
          <p:cNvPr id="6" name="Action Button: Go to Beginning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83FC456E-BB64-3CDE-735C-7935E7674F8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E0356-84A6-4F40-9402-4185DC5D2F94}"/>
              </a:ext>
            </a:extLst>
          </p:cNvPr>
          <p:cNvSpPr txBox="1"/>
          <p:nvPr/>
        </p:nvSpPr>
        <p:spPr>
          <a:xfrm>
            <a:off x="5878644" y="5638854"/>
            <a:ext cx="54389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10101101 0101 </a:t>
            </a:r>
            <a:r>
              <a:rPr lang="en-GB">
                <a:solidFill>
                  <a:srgbClr val="FF0000"/>
                </a:solidFill>
              </a:rPr>
              <a:t>Mantissa: </a:t>
            </a:r>
            <a:r>
              <a:rPr lang="en-GB">
                <a:solidFill>
                  <a:srgbClr val="FF0000"/>
                </a:solidFill>
                <a:highlight>
                  <a:srgbClr val="FFFF00"/>
                </a:highlight>
              </a:rPr>
              <a:t>1</a:t>
            </a:r>
            <a:r>
              <a:rPr lang="en-GB">
                <a:solidFill>
                  <a:srgbClr val="FF0000"/>
                </a:solidFill>
              </a:rPr>
              <a:t>.0101101</a:t>
            </a:r>
            <a:r>
              <a:rPr lang="en-GB"/>
              <a:t> </a:t>
            </a:r>
            <a:r>
              <a:rPr lang="en-GB">
                <a:solidFill>
                  <a:srgbClr val="00B050"/>
                </a:solidFill>
              </a:rPr>
              <a:t>Exponent: 0101</a:t>
            </a:r>
          </a:p>
          <a:p>
            <a:r>
              <a:rPr lang="en-GB"/>
              <a:t>0.1010011 x 2^5 = 010100.11 </a:t>
            </a:r>
          </a:p>
          <a:p>
            <a:r>
              <a:rPr lang="en-GB"/>
              <a:t>16 + 4 + ½ + ¼ = 20.75  but the sign was negative so its -20.75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3AEDA6-9545-0B53-FE7C-048BDE90680F}"/>
              </a:ext>
            </a:extLst>
          </p:cNvPr>
          <p:cNvSpPr txBox="1"/>
          <p:nvPr/>
        </p:nvSpPr>
        <p:spPr>
          <a:xfrm>
            <a:off x="5926112" y="4278176"/>
            <a:ext cx="61009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01011010 0011: </a:t>
            </a:r>
            <a:r>
              <a:rPr lang="en-GB">
                <a:solidFill>
                  <a:srgbClr val="FF0000"/>
                </a:solidFill>
              </a:rPr>
              <a:t>Mantissa</a:t>
            </a:r>
            <a:r>
              <a:rPr lang="en-GB"/>
              <a:t>: </a:t>
            </a:r>
            <a:r>
              <a:rPr lang="en-GB">
                <a:solidFill>
                  <a:srgbClr val="FF0000"/>
                </a:solidFill>
                <a:highlight>
                  <a:srgbClr val="FFFF00"/>
                </a:highlight>
              </a:rPr>
              <a:t>0</a:t>
            </a:r>
            <a:r>
              <a:rPr lang="en-GB">
                <a:solidFill>
                  <a:srgbClr val="FF0000"/>
                </a:solidFill>
              </a:rPr>
              <a:t>.1011010 </a:t>
            </a:r>
            <a:r>
              <a:rPr lang="en-GB">
                <a:solidFill>
                  <a:srgbClr val="00B050"/>
                </a:solidFill>
              </a:rPr>
              <a:t>Exponent: 0011</a:t>
            </a:r>
          </a:p>
          <a:p>
            <a:r>
              <a:rPr lang="en-GB"/>
              <a:t>0.1011010 x 2^3 = 0101.101</a:t>
            </a:r>
          </a:p>
          <a:p>
            <a:r>
              <a:rPr lang="en-GB"/>
              <a:t>4 + 1 + ½ +1/8 = 5.625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FA5C95-BFB1-0D6C-2F66-100C1F6CFF06}"/>
              </a:ext>
            </a:extLst>
          </p:cNvPr>
          <p:cNvSpPr txBox="1"/>
          <p:nvPr/>
        </p:nvSpPr>
        <p:spPr>
          <a:xfrm>
            <a:off x="164892" y="5657671"/>
            <a:ext cx="54389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01000000 1110 </a:t>
            </a:r>
            <a:r>
              <a:rPr lang="en-GB">
                <a:solidFill>
                  <a:srgbClr val="FF0000"/>
                </a:solidFill>
              </a:rPr>
              <a:t>Mantissa: </a:t>
            </a:r>
            <a:r>
              <a:rPr lang="en-GB">
                <a:solidFill>
                  <a:srgbClr val="FF0000"/>
                </a:solidFill>
                <a:highlight>
                  <a:srgbClr val="FFFF00"/>
                </a:highlight>
              </a:rPr>
              <a:t>0</a:t>
            </a:r>
            <a:r>
              <a:rPr lang="en-GB">
                <a:solidFill>
                  <a:srgbClr val="FF0000"/>
                </a:solidFill>
              </a:rPr>
              <a:t>.1000000 </a:t>
            </a:r>
            <a:r>
              <a:rPr lang="en-GB">
                <a:solidFill>
                  <a:srgbClr val="00B050"/>
                </a:solidFill>
              </a:rPr>
              <a:t>Exponent: 1110</a:t>
            </a:r>
          </a:p>
          <a:p>
            <a:r>
              <a:rPr lang="en-GB"/>
              <a:t>0.1000000 x 2^-2 = 0.001</a:t>
            </a:r>
          </a:p>
          <a:p>
            <a:r>
              <a:rPr lang="en-GB"/>
              <a:t>= 0.125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8BBE0D-A74E-2E23-4517-99771188DA20}"/>
              </a:ext>
            </a:extLst>
          </p:cNvPr>
          <p:cNvSpPr/>
          <p:nvPr/>
        </p:nvSpPr>
        <p:spPr>
          <a:xfrm>
            <a:off x="164892" y="5657671"/>
            <a:ext cx="5438930" cy="990467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10C6C6F-D529-0571-329F-93C133193BE6}"/>
              </a:ext>
            </a:extLst>
          </p:cNvPr>
          <p:cNvSpPr/>
          <p:nvPr/>
        </p:nvSpPr>
        <p:spPr>
          <a:xfrm>
            <a:off x="5906937" y="4163438"/>
            <a:ext cx="5438930" cy="990467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393747-B823-8A5D-576E-9E103222630B}"/>
              </a:ext>
            </a:extLst>
          </p:cNvPr>
          <p:cNvSpPr/>
          <p:nvPr/>
        </p:nvSpPr>
        <p:spPr>
          <a:xfrm>
            <a:off x="5878644" y="5527021"/>
            <a:ext cx="5438930" cy="1330979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ABF4E0-3B2A-1DC5-1EBF-B119AD16C907}"/>
              </a:ext>
            </a:extLst>
          </p:cNvPr>
          <p:cNvSpPr/>
          <p:nvPr/>
        </p:nvSpPr>
        <p:spPr>
          <a:xfrm>
            <a:off x="179880" y="3187820"/>
            <a:ext cx="5209895" cy="2339201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B3BB331-7C01-186F-0F7F-F2F915CFD72D}"/>
              </a:ext>
            </a:extLst>
          </p:cNvPr>
          <p:cNvSpPr/>
          <p:nvPr/>
        </p:nvSpPr>
        <p:spPr>
          <a:xfrm>
            <a:off x="164889" y="797427"/>
            <a:ext cx="9948472" cy="22280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133477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9A9B-B75A-C01A-1383-80478822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530331E-E359-5181-6094-56862468D13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AF975-2210-E9B5-C5F2-B477EA3476C2}"/>
              </a:ext>
            </a:extLst>
          </p:cNvPr>
          <p:cNvSpPr txBox="1"/>
          <p:nvPr/>
        </p:nvSpPr>
        <p:spPr>
          <a:xfrm>
            <a:off x="164892" y="134911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NORMALISATION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7E5C60E-6E91-98B1-93D6-3F533B8CFE8D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D1F1E0-9790-ED89-FA23-22EEFCB732A4}"/>
              </a:ext>
            </a:extLst>
          </p:cNvPr>
          <p:cNvSpPr txBox="1"/>
          <p:nvPr/>
        </p:nvSpPr>
        <p:spPr>
          <a:xfrm>
            <a:off x="365760" y="1028700"/>
            <a:ext cx="8023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Floating point numbers are normalised to make sure that they are</a:t>
            </a:r>
            <a:r>
              <a:rPr lang="en-GB" b="1"/>
              <a:t> as precise as possible in a given number of bits</a:t>
            </a:r>
            <a:r>
              <a:rPr lang="en-GB"/>
              <a:t>. – basically, making the most use of the mantissa as possible.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76612-B1DB-01D0-D118-E5A8EADE0FF4}"/>
              </a:ext>
            </a:extLst>
          </p:cNvPr>
          <p:cNvSpPr txBox="1"/>
          <p:nvPr/>
        </p:nvSpPr>
        <p:spPr>
          <a:xfrm>
            <a:off x="365760" y="2583180"/>
            <a:ext cx="77038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Adjust the </a:t>
            </a:r>
            <a:r>
              <a:rPr lang="en-GB" b="1"/>
              <a:t>mantissa so that it starts with 01 for a positive number or 10 for a negative number.</a:t>
            </a:r>
            <a:r>
              <a:rPr lang="en-GB"/>
              <a:t> Fill empty spaces with 0s</a:t>
            </a:r>
          </a:p>
          <a:p>
            <a:endParaRPr lang="en-GB"/>
          </a:p>
          <a:p>
            <a:r>
              <a:rPr lang="en-GB"/>
              <a:t>Because the mantissa is bigger/smaller from the shifts</a:t>
            </a:r>
            <a:r>
              <a:rPr lang="en-GB" b="1"/>
              <a:t>, the opposite must be applied to the exponent,</a:t>
            </a:r>
            <a:r>
              <a:rPr lang="en-GB"/>
              <a:t> so the same number is represented.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D4AE2-8833-B34F-05CD-F9E79D3114F9}"/>
              </a:ext>
            </a:extLst>
          </p:cNvPr>
          <p:cNvSpPr txBox="1"/>
          <p:nvPr/>
        </p:nvSpPr>
        <p:spPr>
          <a:xfrm>
            <a:off x="8389620" y="1543987"/>
            <a:ext cx="325773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0.0001011 0101</a:t>
            </a:r>
          </a:p>
          <a:p>
            <a:r>
              <a:rPr lang="en-GB"/>
              <a:t>0.1011000 shift of 3 places to the right</a:t>
            </a:r>
          </a:p>
          <a:p>
            <a:r>
              <a:rPr lang="en-GB"/>
              <a:t>Subtract 3 from exponent so exponent becomes 0010</a:t>
            </a:r>
          </a:p>
          <a:p>
            <a:r>
              <a:rPr lang="en-GB"/>
              <a:t>Normalised number is 01011000 0010</a:t>
            </a:r>
          </a:p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BDE5F7-0E69-1E80-FB96-5656078F6394}"/>
              </a:ext>
            </a:extLst>
          </p:cNvPr>
          <p:cNvSpPr txBox="1"/>
          <p:nvPr/>
        </p:nvSpPr>
        <p:spPr>
          <a:xfrm rot="10800000" flipH="1" flipV="1">
            <a:off x="8574351" y="4261754"/>
            <a:ext cx="30730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11110111 0001 </a:t>
            </a:r>
          </a:p>
          <a:p>
            <a:r>
              <a:rPr lang="en-GB"/>
              <a:t>1.0111000 Shift of 3 places to the right</a:t>
            </a:r>
          </a:p>
          <a:p>
            <a:r>
              <a:rPr lang="en-GB"/>
              <a:t>Subtract 3 from exponent so exponent becomes 1110 </a:t>
            </a:r>
          </a:p>
          <a:p>
            <a:r>
              <a:rPr lang="en-GB"/>
              <a:t>10111000 1110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DCAA7-4BCC-00E0-702A-D9BF9F575DDF}"/>
              </a:ext>
            </a:extLst>
          </p:cNvPr>
          <p:cNvSpPr txBox="1"/>
          <p:nvPr/>
        </p:nvSpPr>
        <p:spPr>
          <a:xfrm>
            <a:off x="4170274" y="4387136"/>
            <a:ext cx="41328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Converting a denary number to normalised floating point binary:</a:t>
            </a:r>
          </a:p>
          <a:p>
            <a:r>
              <a:rPr lang="en-GB"/>
              <a:t>-14.25</a:t>
            </a:r>
          </a:p>
          <a:p>
            <a:r>
              <a:rPr lang="en-GB"/>
              <a:t>14.25 = 01110.010</a:t>
            </a:r>
          </a:p>
          <a:p>
            <a:r>
              <a:rPr lang="en-GB"/>
              <a:t>-14.25 = 10001.110</a:t>
            </a:r>
          </a:p>
          <a:p>
            <a:r>
              <a:rPr lang="en-GB"/>
              <a:t>Shift 4 places left 1.001110 0100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AF6AD-B30B-6C25-C94B-952049B43D05}"/>
              </a:ext>
            </a:extLst>
          </p:cNvPr>
          <p:cNvSpPr txBox="1"/>
          <p:nvPr/>
        </p:nvSpPr>
        <p:spPr>
          <a:xfrm>
            <a:off x="544643" y="4199759"/>
            <a:ext cx="3073006" cy="2585323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Addition and subtraction:</a:t>
            </a:r>
          </a:p>
          <a:p>
            <a:endParaRPr lang="en-GB"/>
          </a:p>
          <a:p>
            <a:pPr marL="285750" indent="-285750">
              <a:buFontTx/>
              <a:buChar char="-"/>
            </a:pPr>
            <a:r>
              <a:rPr lang="en-GB"/>
              <a:t>LINE UP THE POINTS BY MAKING THE </a:t>
            </a:r>
            <a:r>
              <a:rPr lang="en-GB" b="1"/>
              <a:t>EXPOENENTS EQUAL </a:t>
            </a:r>
          </a:p>
          <a:p>
            <a:pPr marL="285750" indent="-285750">
              <a:buFontTx/>
              <a:buChar char="-"/>
            </a:pPr>
            <a:r>
              <a:rPr lang="en-GB"/>
              <a:t>ADD OR SUBTRACT THE MANTISSAS </a:t>
            </a:r>
          </a:p>
          <a:p>
            <a:pPr marL="285750" indent="-285750">
              <a:buFontTx/>
              <a:buChar char="-"/>
            </a:pPr>
            <a:r>
              <a:rPr lang="en-GB" b="1"/>
              <a:t>NORMALISE THE RESULT</a:t>
            </a:r>
            <a:r>
              <a:rPr lang="en-GB"/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781284-B1C0-AFBF-27C0-B8C92EF0E476}"/>
              </a:ext>
            </a:extLst>
          </p:cNvPr>
          <p:cNvSpPr/>
          <p:nvPr/>
        </p:nvSpPr>
        <p:spPr>
          <a:xfrm>
            <a:off x="365760" y="1028700"/>
            <a:ext cx="7863840" cy="303180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7B4568-428C-7FA4-59AB-BA43D092F65A}"/>
              </a:ext>
            </a:extLst>
          </p:cNvPr>
          <p:cNvSpPr/>
          <p:nvPr/>
        </p:nvSpPr>
        <p:spPr>
          <a:xfrm>
            <a:off x="4170274" y="4261754"/>
            <a:ext cx="4404077" cy="246133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D83F58-92F2-446C-D99E-8A843A699AEB}"/>
              </a:ext>
            </a:extLst>
          </p:cNvPr>
          <p:cNvSpPr/>
          <p:nvPr/>
        </p:nvSpPr>
        <p:spPr>
          <a:xfrm>
            <a:off x="8622204" y="4024633"/>
            <a:ext cx="3073006" cy="211682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C881FF3-D4F0-EFC5-C40F-8597A1B36F07}"/>
              </a:ext>
            </a:extLst>
          </p:cNvPr>
          <p:cNvSpPr/>
          <p:nvPr/>
        </p:nvSpPr>
        <p:spPr>
          <a:xfrm>
            <a:off x="8389619" y="1313936"/>
            <a:ext cx="3257737" cy="2461335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820202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0453F-D16B-9F2C-3B08-685E0CFC9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3CDB98A-8549-AB5B-4E73-FAAEFB6C506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4E717-388C-E3A9-DDBD-D21C9D374CDA}"/>
              </a:ext>
            </a:extLst>
          </p:cNvPr>
          <p:cNvSpPr txBox="1"/>
          <p:nvPr/>
        </p:nvSpPr>
        <p:spPr>
          <a:xfrm>
            <a:off x="164892" y="164892"/>
            <a:ext cx="8559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BITWISE MANIPULATION AND MASKS</a:t>
            </a:r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929E64-6F1F-3735-FB80-7C52D7C2A546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C9E52-C878-7E78-00C3-7DCF232EFCC6}"/>
              </a:ext>
            </a:extLst>
          </p:cNvPr>
          <p:cNvSpPr txBox="1"/>
          <p:nvPr/>
        </p:nvSpPr>
        <p:spPr>
          <a:xfrm>
            <a:off x="164892" y="1028700"/>
            <a:ext cx="72852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Shifts preformed on binary numbers are </a:t>
            </a:r>
            <a:r>
              <a:rPr lang="en-GB" b="1"/>
              <a:t>called logical shifts</a:t>
            </a:r>
            <a:r>
              <a:rPr lang="en-GB"/>
              <a:t>. Shifting left is a multiplication of 2 to the power of the number of shifts.</a:t>
            </a:r>
          </a:p>
          <a:p>
            <a:endParaRPr lang="en-GB"/>
          </a:p>
          <a:p>
            <a:r>
              <a:rPr lang="en-GB"/>
              <a:t>Shifting right is a multiplication of ½ to the power of the number of shifts.</a:t>
            </a:r>
          </a:p>
        </p:txBody>
      </p:sp>
      <p:pic>
        <p:nvPicPr>
          <p:cNvPr id="1026" name="Picture 2" descr="Arithmetic Shift and Logical Shift – AHIRLABS">
            <a:extLst>
              <a:ext uri="{FF2B5EF4-FFF2-40B4-BE49-F238E27FC236}">
                <a16:creationId xmlns:a16="http://schemas.microsoft.com/office/drawing/2014/main" id="{96404B05-6283-F5DD-B3E6-4FDEF795F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3341" y="1281944"/>
            <a:ext cx="4518285" cy="356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9A5B22-AA36-BDD4-59D4-9E2663675A2B}"/>
              </a:ext>
            </a:extLst>
          </p:cNvPr>
          <p:cNvSpPr txBox="1"/>
          <p:nvPr/>
        </p:nvSpPr>
        <p:spPr>
          <a:xfrm>
            <a:off x="164892" y="2103120"/>
            <a:ext cx="75084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  <a:p>
            <a:r>
              <a:rPr lang="en-GB"/>
              <a:t>Meanwhile masks can be applied to binary </a:t>
            </a:r>
            <a:r>
              <a:rPr lang="en-GB" b="1"/>
              <a:t>numbers by combining them with logic gates.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9D1DA0-AEAB-BFEE-4B22-D7C3F96AC4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8941" y="5215019"/>
            <a:ext cx="4343400" cy="13353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25C635-F619-D85F-051F-4175982EE93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767"/>
          <a:stretch/>
        </p:blipFill>
        <p:spPr>
          <a:xfrm>
            <a:off x="790414" y="3380626"/>
            <a:ext cx="5049488" cy="316978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3C13236-0584-CE93-73BD-6CAB954A54A4}"/>
              </a:ext>
            </a:extLst>
          </p:cNvPr>
          <p:cNvSpPr/>
          <p:nvPr/>
        </p:nvSpPr>
        <p:spPr>
          <a:xfrm>
            <a:off x="0" y="824459"/>
            <a:ext cx="8244590" cy="235345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76635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535F3-ECF4-2C0C-632C-F68065E92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0B671E6-20BF-5176-36D0-6850E0941D3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B8676A-7435-6397-134A-4A46FD73BFBF}"/>
              </a:ext>
            </a:extLst>
          </p:cNvPr>
          <p:cNvSpPr txBox="1"/>
          <p:nvPr/>
        </p:nvSpPr>
        <p:spPr>
          <a:xfrm>
            <a:off x="284813" y="149902"/>
            <a:ext cx="7824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CHARACTER SETS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B46E423-C7C0-C614-7446-3184F2418C0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6E47D-FEBC-C849-5583-BE546B1B3CAB}"/>
              </a:ext>
            </a:extLst>
          </p:cNvPr>
          <p:cNvSpPr txBox="1"/>
          <p:nvPr/>
        </p:nvSpPr>
        <p:spPr>
          <a:xfrm>
            <a:off x="429192" y="2328668"/>
            <a:ext cx="58111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ASCII</a:t>
            </a:r>
            <a:r>
              <a:rPr lang="en-GB" dirty="0"/>
              <a:t> (American Standard Code for Information Interchange) was the leading character set before Unicode. It utilised </a:t>
            </a:r>
            <a:r>
              <a:rPr lang="en-GB" b="1" dirty="0"/>
              <a:t>7 bits to produce 128 characters </a:t>
            </a:r>
            <a:r>
              <a:rPr lang="en-GB" dirty="0"/>
              <a:t>however this is </a:t>
            </a:r>
            <a:r>
              <a:rPr lang="en-GB" b="1" dirty="0"/>
              <a:t>a very limited amount </a:t>
            </a:r>
            <a:r>
              <a:rPr lang="en-GB" dirty="0"/>
              <a:t>especially when considering other languages.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2E737D-D3BE-CA6D-64F9-1A4EB6222DE2}"/>
              </a:ext>
            </a:extLst>
          </p:cNvPr>
          <p:cNvSpPr txBox="1"/>
          <p:nvPr/>
        </p:nvSpPr>
        <p:spPr>
          <a:xfrm>
            <a:off x="4672264" y="4161574"/>
            <a:ext cx="61040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dirty="0"/>
              <a:t>But </a:t>
            </a:r>
            <a:r>
              <a:rPr lang="en-GB" b="1" dirty="0"/>
              <a:t>Unicode</a:t>
            </a:r>
            <a:r>
              <a:rPr lang="en-GB" dirty="0"/>
              <a:t> was soon created with </a:t>
            </a:r>
            <a:r>
              <a:rPr lang="en-GB" b="1" dirty="0"/>
              <a:t>16 bits and then 32 bits </a:t>
            </a:r>
            <a:r>
              <a:rPr lang="en-GB" dirty="0"/>
              <a:t>so </a:t>
            </a:r>
            <a:r>
              <a:rPr lang="en-GB" b="1" dirty="0"/>
              <a:t>over a million characters </a:t>
            </a:r>
            <a:r>
              <a:rPr lang="en-GB" dirty="0"/>
              <a:t>can be represented making it ideal to be a </a:t>
            </a:r>
            <a:r>
              <a:rPr lang="en-GB" b="1" dirty="0"/>
              <a:t>unified format for all languages </a:t>
            </a:r>
            <a:r>
              <a:rPr lang="en-GB" dirty="0"/>
              <a:t>and was introduced all over the world. However, it did </a:t>
            </a:r>
            <a:r>
              <a:rPr lang="en-GB" b="1" dirty="0"/>
              <a:t>increase file size and data transmission times </a:t>
            </a:r>
            <a:r>
              <a:rPr lang="en-GB" dirty="0"/>
              <a:t>due to each character being represented by 4/8 bytes compared to 2.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EDAA0B-EB60-AD32-CF4D-458D3762846E}"/>
              </a:ext>
            </a:extLst>
          </p:cNvPr>
          <p:cNvSpPr txBox="1"/>
          <p:nvPr/>
        </p:nvSpPr>
        <p:spPr>
          <a:xfrm>
            <a:off x="3609474" y="149902"/>
            <a:ext cx="54222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character set is </a:t>
            </a:r>
            <a:r>
              <a:rPr lang="en-GB" dirty="0"/>
              <a:t>a published </a:t>
            </a:r>
            <a:r>
              <a:rPr lang="en-GB" b="1" dirty="0"/>
              <a:t>collection of codes and corresponding characters </a:t>
            </a:r>
            <a:r>
              <a:rPr lang="en-GB" dirty="0"/>
              <a:t>which can be used by computer for </a:t>
            </a:r>
            <a:r>
              <a:rPr lang="en-GB" b="1" dirty="0"/>
              <a:t>representing text.</a:t>
            </a:r>
          </a:p>
        </p:txBody>
      </p:sp>
      <p:pic>
        <p:nvPicPr>
          <p:cNvPr id="1026" name="Picture 2" descr="List of Unicode characters - Wikipedia">
            <a:extLst>
              <a:ext uri="{FF2B5EF4-FFF2-40B4-BE49-F238E27FC236}">
                <a16:creationId xmlns:a16="http://schemas.microsoft.com/office/drawing/2014/main" id="{6F789CF4-37EF-8968-2EDE-F464496B1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935" y="4272872"/>
            <a:ext cx="2003850" cy="240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verything You Need to Know About Character Encoding | Scott Granneman">
            <a:extLst>
              <a:ext uri="{FF2B5EF4-FFF2-40B4-BE49-F238E27FC236}">
                <a16:creationId xmlns:a16="http://schemas.microsoft.com/office/drawing/2014/main" id="{5536DEE5-5A9F-CFDA-94F6-DDD09CC18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329" y="1590649"/>
            <a:ext cx="5198752" cy="205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E4785BE-CDB0-7318-D6FB-A0043E57B6B4}"/>
              </a:ext>
            </a:extLst>
          </p:cNvPr>
          <p:cNvSpPr/>
          <p:nvPr/>
        </p:nvSpPr>
        <p:spPr>
          <a:xfrm>
            <a:off x="284813" y="1965960"/>
            <a:ext cx="5955566" cy="2053507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6F70FF-7012-4E5F-5A7B-2F9D81B12CB4}"/>
              </a:ext>
            </a:extLst>
          </p:cNvPr>
          <p:cNvSpPr/>
          <p:nvPr/>
        </p:nvSpPr>
        <p:spPr>
          <a:xfrm>
            <a:off x="3537029" y="61691"/>
            <a:ext cx="5424091" cy="1200182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15BCCE-F343-5592-2804-40FB1D52C884}"/>
              </a:ext>
            </a:extLst>
          </p:cNvPr>
          <p:cNvSpPr/>
          <p:nvPr/>
        </p:nvSpPr>
        <p:spPr>
          <a:xfrm>
            <a:off x="4579445" y="4323415"/>
            <a:ext cx="6281620" cy="2011592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5629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75AB0-E459-8213-E265-E98F5419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1BC4E8F-EDF1-4DEE-2228-BE2457AC0DC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E0DE6-33F9-4969-92E1-4FAAB8137CF7}"/>
              </a:ext>
            </a:extLst>
          </p:cNvPr>
          <p:cNvSpPr txBox="1"/>
          <p:nvPr/>
        </p:nvSpPr>
        <p:spPr>
          <a:xfrm>
            <a:off x="766746" y="336962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 14 DATA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143F6-9021-6AC1-DF38-E60266139EED}"/>
              </a:ext>
            </a:extLst>
          </p:cNvPr>
          <p:cNvSpPr txBox="1"/>
          <p:nvPr/>
        </p:nvSpPr>
        <p:spPr>
          <a:xfrm>
            <a:off x="2941322" y="1278425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BASIC DATA STRUCTURES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CB754-990A-94D5-79A1-EDD8E234F847}"/>
              </a:ext>
            </a:extLst>
          </p:cNvPr>
          <p:cNvSpPr txBox="1"/>
          <p:nvPr/>
        </p:nvSpPr>
        <p:spPr>
          <a:xfrm>
            <a:off x="2991288" y="2296116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STACKS AND QUEUES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FC48DE-4020-297C-6458-8E18196C8C5B}"/>
              </a:ext>
            </a:extLst>
          </p:cNvPr>
          <p:cNvSpPr txBox="1"/>
          <p:nvPr/>
        </p:nvSpPr>
        <p:spPr>
          <a:xfrm>
            <a:off x="2941321" y="3176370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LINKED LISTS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C588C4-EB1E-6267-2218-6E19AB8FC364}"/>
              </a:ext>
            </a:extLst>
          </p:cNvPr>
          <p:cNvSpPr txBox="1"/>
          <p:nvPr/>
        </p:nvSpPr>
        <p:spPr>
          <a:xfrm>
            <a:off x="2991288" y="4285984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GRAPHS</a:t>
            </a:r>
          </a:p>
        </p:txBody>
      </p:sp>
      <p:sp>
        <p:nvSpPr>
          <p:cNvPr id="11" name="Action Button: Go Forward or Next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AB0372A-63FF-8FEB-1171-F7B492C564C1}"/>
              </a:ext>
            </a:extLst>
          </p:cNvPr>
          <p:cNvSpPr/>
          <p:nvPr/>
        </p:nvSpPr>
        <p:spPr>
          <a:xfrm>
            <a:off x="1132506" y="1178224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7F59272C-6847-A0EE-08C0-D7D2637EF644}"/>
              </a:ext>
            </a:extLst>
          </p:cNvPr>
          <p:cNvSpPr/>
          <p:nvPr/>
        </p:nvSpPr>
        <p:spPr>
          <a:xfrm>
            <a:off x="1132504" y="2174483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ction Button: Go Forward or Next 1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A4BD78D9-861A-6834-BAC3-86CF1F6E9F43}"/>
              </a:ext>
            </a:extLst>
          </p:cNvPr>
          <p:cNvSpPr/>
          <p:nvPr/>
        </p:nvSpPr>
        <p:spPr>
          <a:xfrm>
            <a:off x="1132505" y="4142956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1C6E915-7AC1-BBA3-D2CD-24A77353690B}"/>
              </a:ext>
            </a:extLst>
          </p:cNvPr>
          <p:cNvSpPr/>
          <p:nvPr/>
        </p:nvSpPr>
        <p:spPr>
          <a:xfrm>
            <a:off x="1132505" y="3158750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2AAB32-E351-0F1B-F79F-C438FC7BECDF}"/>
              </a:ext>
            </a:extLst>
          </p:cNvPr>
          <p:cNvSpPr txBox="1"/>
          <p:nvPr/>
        </p:nvSpPr>
        <p:spPr>
          <a:xfrm>
            <a:off x="2941323" y="5232529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TREES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B5EF6F-EEBB-8B86-50EF-F748B5BE1ED6}"/>
              </a:ext>
            </a:extLst>
          </p:cNvPr>
          <p:cNvSpPr txBox="1"/>
          <p:nvPr/>
        </p:nvSpPr>
        <p:spPr>
          <a:xfrm>
            <a:off x="2941321" y="6231222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HASH TABLE</a:t>
            </a:r>
          </a:p>
        </p:txBody>
      </p:sp>
      <p:sp>
        <p:nvSpPr>
          <p:cNvPr id="13" name="Action Button: Go Forward or Next 12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D3F9F18A-67AD-0C8B-3F44-634097E49987}"/>
              </a:ext>
            </a:extLst>
          </p:cNvPr>
          <p:cNvSpPr/>
          <p:nvPr/>
        </p:nvSpPr>
        <p:spPr>
          <a:xfrm>
            <a:off x="1132504" y="6013554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Action Button: Go Forward or Next 15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5F461763-193F-A995-1A11-B5D20F0A8404}"/>
              </a:ext>
            </a:extLst>
          </p:cNvPr>
          <p:cNvSpPr/>
          <p:nvPr/>
        </p:nvSpPr>
        <p:spPr>
          <a:xfrm>
            <a:off x="1132506" y="5078255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451391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7B6C9ED-A474-9B0B-3926-99B3B6F764A7}"/>
              </a:ext>
            </a:extLst>
          </p:cNvPr>
          <p:cNvSpPr/>
          <p:nvPr/>
        </p:nvSpPr>
        <p:spPr>
          <a:xfrm>
            <a:off x="5654920" y="252740"/>
            <a:ext cx="6475640" cy="4489686"/>
          </a:xfrm>
          <a:prstGeom prst="rect">
            <a:avLst/>
          </a:prstGeom>
          <a:noFill/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B78052F-24AD-3907-545E-A10116AF437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F3B1FFC-CB16-5592-7D3A-270E3736C1B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02F0A-7C79-0BDC-3D00-35E42B4C9DA4}"/>
              </a:ext>
            </a:extLst>
          </p:cNvPr>
          <p:cNvSpPr txBox="1"/>
          <p:nvPr/>
        </p:nvSpPr>
        <p:spPr>
          <a:xfrm>
            <a:off x="563882" y="25274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BASIC DATA STRUCTURES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D30C0A-6D6B-A206-086B-1C49A5F0876F}"/>
              </a:ext>
            </a:extLst>
          </p:cNvPr>
          <p:cNvSpPr txBox="1"/>
          <p:nvPr/>
        </p:nvSpPr>
        <p:spPr>
          <a:xfrm>
            <a:off x="340963" y="1028700"/>
            <a:ext cx="45360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An array is an </a:t>
            </a:r>
            <a:r>
              <a:rPr lang="en-GB" b="1"/>
              <a:t>ordered, finite set of elements of a single type.</a:t>
            </a:r>
            <a:r>
              <a:rPr lang="en-GB"/>
              <a:t> Arrays are always taken as zero-indexed</a:t>
            </a:r>
          </a:p>
          <a:p>
            <a:endParaRPr lang="en-GB"/>
          </a:p>
          <a:p>
            <a:r>
              <a:rPr lang="en-GB"/>
              <a:t>Below is a linear array (1d), however multi-dimensional arrays also occur.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38FF4-B6B0-E817-7734-5FAE7B8659DE}"/>
              </a:ext>
            </a:extLst>
          </p:cNvPr>
          <p:cNvSpPr txBox="1"/>
          <p:nvPr/>
        </p:nvSpPr>
        <p:spPr>
          <a:xfrm>
            <a:off x="6193783" y="383580"/>
            <a:ext cx="39195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file/</a:t>
            </a:r>
            <a:r>
              <a:rPr lang="en-GB" b="1"/>
              <a:t>database consists of several records</a:t>
            </a:r>
            <a:r>
              <a:rPr lang="en-GB"/>
              <a:t>; Records consist of </a:t>
            </a:r>
            <a:r>
              <a:rPr lang="en-GB" b="1"/>
              <a:t>fields.</a:t>
            </a:r>
          </a:p>
          <a:p>
            <a:endParaRPr lang="en-GB"/>
          </a:p>
        </p:txBody>
      </p:sp>
      <p:pic>
        <p:nvPicPr>
          <p:cNvPr id="8" name="Picture 7" descr="A close-up of a list&#10;&#10;AI-generated content may be incorrect.">
            <a:extLst>
              <a:ext uri="{FF2B5EF4-FFF2-40B4-BE49-F238E27FC236}">
                <a16:creationId xmlns:a16="http://schemas.microsoft.com/office/drawing/2014/main" id="{BBC4EE2D-849D-7C4D-77B0-6FB3646EE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781" y="1415019"/>
            <a:ext cx="6230219" cy="145752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BFAEEA-0BC5-B19A-CD6A-A4C3282EA69A}"/>
              </a:ext>
            </a:extLst>
          </p:cNvPr>
          <p:cNvSpPr txBox="1"/>
          <p:nvPr/>
        </p:nvSpPr>
        <p:spPr>
          <a:xfrm>
            <a:off x="563882" y="4509379"/>
            <a:ext cx="45360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tuple is an ordered set of values, which could be </a:t>
            </a:r>
            <a:r>
              <a:rPr lang="en-GB" b="1"/>
              <a:t>any type </a:t>
            </a:r>
            <a:r>
              <a:rPr lang="en-GB"/>
              <a:t>unlike arrays. </a:t>
            </a:r>
          </a:p>
          <a:p>
            <a:endParaRPr lang="en-GB"/>
          </a:p>
          <a:p>
            <a:r>
              <a:rPr lang="en-GB"/>
              <a:t>A tuple is </a:t>
            </a:r>
            <a:r>
              <a:rPr lang="en-GB" b="1"/>
              <a:t>immutable </a:t>
            </a:r>
            <a:r>
              <a:rPr lang="en-GB"/>
              <a:t>which means that its elements cannot be changed and you cannot dynamically add elements to or delete elements from a tuple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32C7A2-8C6C-A818-8620-4BC4A931402A}"/>
              </a:ext>
            </a:extLst>
          </p:cNvPr>
          <p:cNvSpPr txBox="1"/>
          <p:nvPr/>
        </p:nvSpPr>
        <p:spPr>
          <a:xfrm>
            <a:off x="5777640" y="4822559"/>
            <a:ext cx="60086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list is a data structure consisting of </a:t>
            </a:r>
            <a:r>
              <a:rPr lang="en-GB" b="1"/>
              <a:t>ordered elements </a:t>
            </a:r>
            <a:r>
              <a:rPr lang="en-GB"/>
              <a:t>where </a:t>
            </a:r>
            <a:r>
              <a:rPr lang="en-GB" b="1"/>
              <a:t>items can occur more than once</a:t>
            </a:r>
            <a:r>
              <a:rPr lang="en-GB"/>
              <a:t>. Its </a:t>
            </a:r>
            <a:r>
              <a:rPr lang="en-GB" b="1"/>
              <a:t>size is unfixed </a:t>
            </a:r>
            <a:r>
              <a:rPr lang="en-GB"/>
              <a:t>so we can refer to the last item and first item in the list.</a:t>
            </a:r>
          </a:p>
          <a:p>
            <a:endParaRPr lang="en-GB"/>
          </a:p>
          <a:p>
            <a:endParaRPr lang="en-GB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8B8AC7A-6165-4C34-D493-554A10BEBD00}"/>
              </a:ext>
            </a:extLst>
          </p:cNvPr>
          <p:cNvGrpSpPr/>
          <p:nvPr/>
        </p:nvGrpSpPr>
        <p:grpSpPr>
          <a:xfrm>
            <a:off x="10031400" y="1394136"/>
            <a:ext cx="2099160" cy="1641960"/>
            <a:chOff x="10031400" y="1394136"/>
            <a:chExt cx="2099160" cy="164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07DAF5-CF99-E42E-3C42-1190313ED842}"/>
                    </a:ext>
                  </a:extLst>
                </p14:cNvPr>
                <p14:cNvContentPartPr/>
                <p14:nvPr/>
              </p14:nvContentPartPr>
              <p14:xfrm>
                <a:off x="10031400" y="1394136"/>
                <a:ext cx="2099160" cy="15332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07DAF5-CF99-E42E-3C42-1190313ED8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025280" y="1388016"/>
                  <a:ext cx="2111400" cy="154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2D5BA75-0A29-2A9A-6949-F29DFDFC5E7C}"/>
                    </a:ext>
                  </a:extLst>
                </p14:cNvPr>
                <p14:cNvContentPartPr/>
                <p14:nvPr/>
              </p14:nvContentPartPr>
              <p14:xfrm>
                <a:off x="11091600" y="2894256"/>
                <a:ext cx="9720" cy="111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2D5BA75-0A29-2A9A-6949-F29DFDFC5E7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5480" y="2888136"/>
                  <a:ext cx="219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4A12A8E-1568-7507-B1C8-23AF20256326}"/>
                    </a:ext>
                  </a:extLst>
                </p14:cNvPr>
                <p14:cNvContentPartPr/>
                <p14:nvPr/>
              </p14:nvContentPartPr>
              <p14:xfrm>
                <a:off x="11100600" y="3035736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4A12A8E-1568-7507-B1C8-23AF2025632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094480" y="3029616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C5E398CF-B541-BE18-11EB-CD1290A9CA52}"/>
                  </a:ext>
                </a:extLst>
              </p14:cNvPr>
              <p14:cNvContentPartPr/>
              <p14:nvPr/>
            </p14:nvContentPartPr>
            <p14:xfrm>
              <a:off x="6098760" y="1892736"/>
              <a:ext cx="2076480" cy="7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C5E398CF-B541-BE18-11EB-CD1290A9CA5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092640" y="1880496"/>
                <a:ext cx="20887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05B4BB3-7D47-0C9D-ADAA-4155472C67E2}"/>
                  </a:ext>
                </a:extLst>
              </p14:cNvPr>
              <p14:cNvContentPartPr/>
              <p14:nvPr/>
            </p14:nvContentPartPr>
            <p14:xfrm>
              <a:off x="6004080" y="1836576"/>
              <a:ext cx="5891040" cy="3340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05B4BB3-7D47-0C9D-ADAA-4155472C67E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997960" y="1830456"/>
                <a:ext cx="5903280" cy="34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C71072-2A65-BBDD-E4BF-DF13B28DF027}"/>
                  </a:ext>
                </a:extLst>
              </p14:cNvPr>
              <p14:cNvContentPartPr/>
              <p14:nvPr/>
            </p14:nvContentPartPr>
            <p14:xfrm>
              <a:off x="5777640" y="1427616"/>
              <a:ext cx="6454800" cy="176508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C8C71072-2A65-BBDD-E4BF-DF13B28DF02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71520" y="1421496"/>
                <a:ext cx="6467039" cy="177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9D6EECE1-2A39-0FDD-B1E1-534253188EA3}"/>
                  </a:ext>
                </a:extLst>
              </p14:cNvPr>
              <p14:cNvContentPartPr/>
              <p14:nvPr/>
            </p14:nvContentPartPr>
            <p14:xfrm>
              <a:off x="7168680" y="2980656"/>
              <a:ext cx="36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9D6EECE1-2A39-0FDD-B1E1-534253188E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162560" y="2974536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0C67AE55-C3FB-8477-27E1-C9B3C3B0DE47}"/>
              </a:ext>
            </a:extLst>
          </p:cNvPr>
          <p:cNvSpPr txBox="1"/>
          <p:nvPr/>
        </p:nvSpPr>
        <p:spPr>
          <a:xfrm>
            <a:off x="6096000" y="3035736"/>
            <a:ext cx="178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00B050"/>
                </a:solidFill>
              </a:rPr>
              <a:t>File/ database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0290C5-E995-C140-E4AF-E935C9F045B5}"/>
              </a:ext>
            </a:extLst>
          </p:cNvPr>
          <p:cNvSpPr txBox="1"/>
          <p:nvPr/>
        </p:nvSpPr>
        <p:spPr>
          <a:xfrm>
            <a:off x="10789920" y="3192696"/>
            <a:ext cx="99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rgbClr val="EE0000"/>
                </a:solidFill>
              </a:rPr>
              <a:t>Field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2526F71-5E1F-ED92-B887-EE655132C6E5}"/>
              </a:ext>
            </a:extLst>
          </p:cNvPr>
          <p:cNvSpPr txBox="1"/>
          <p:nvPr/>
        </p:nvSpPr>
        <p:spPr>
          <a:xfrm>
            <a:off x="5797584" y="1116580"/>
            <a:ext cx="996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2"/>
                </a:solidFill>
              </a:rPr>
              <a:t>Record</a:t>
            </a:r>
          </a:p>
        </p:txBody>
      </p:sp>
      <p:pic>
        <p:nvPicPr>
          <p:cNvPr id="31" name="Picture 30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C23C6BE-2D7C-8649-7093-9E0EE3DADD71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36901" y="3353113"/>
            <a:ext cx="2448267" cy="131463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B2AE020-A622-0A9A-D1F6-1A2D66814670}"/>
                  </a:ext>
                </a:extLst>
              </p14:cNvPr>
              <p14:cNvContentPartPr/>
              <p14:nvPr/>
            </p14:nvContentPartPr>
            <p14:xfrm>
              <a:off x="9994320" y="3731616"/>
              <a:ext cx="407520" cy="71244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B2AE020-A622-0A9A-D1F6-1A2D6681467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988200" y="3725496"/>
                <a:ext cx="419760" cy="72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E85844D2-F409-3C46-1218-F3F3FF5494F8}"/>
                  </a:ext>
                </a:extLst>
              </p14:cNvPr>
              <p14:cNvContentPartPr/>
              <p14:nvPr/>
            </p14:nvContentPartPr>
            <p14:xfrm>
              <a:off x="10360080" y="3652416"/>
              <a:ext cx="549000" cy="4536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E85844D2-F409-3C46-1218-F3F3FF5494F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0353964" y="3646296"/>
                <a:ext cx="561232" cy="46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475034E-EFED-9F7A-D8B2-EF8EF9A28EAB}"/>
                  </a:ext>
                </a:extLst>
              </p14:cNvPr>
              <p14:cNvContentPartPr/>
              <p14:nvPr/>
            </p14:nvContentPartPr>
            <p14:xfrm>
              <a:off x="8412480" y="1448856"/>
              <a:ext cx="36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475034E-EFED-9F7A-D8B2-EF8EF9A28EA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406360" y="1442736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49853BB-7838-6641-CCA2-3D15D35C649B}"/>
                  </a:ext>
                </a:extLst>
              </p14:cNvPr>
              <p14:cNvContentPartPr/>
              <p14:nvPr/>
            </p14:nvContentPartPr>
            <p14:xfrm>
              <a:off x="1781707" y="4742426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49853BB-7838-6641-CCA2-3D15D35C649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775587" y="473630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7" name="Picture 36" descr="A black text with black numbers&#10;&#10;AI-generated content may be incorrect.">
            <a:extLst>
              <a:ext uri="{FF2B5EF4-FFF2-40B4-BE49-F238E27FC236}">
                <a16:creationId xmlns:a16="http://schemas.microsoft.com/office/drawing/2014/main" id="{79F13297-C560-7B19-E742-5B5885B3D44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899963" y="5802240"/>
            <a:ext cx="3663919" cy="738464"/>
          </a:xfrm>
          <a:prstGeom prst="rect">
            <a:avLst/>
          </a:prstGeom>
        </p:spPr>
      </p:pic>
      <p:pic>
        <p:nvPicPr>
          <p:cNvPr id="39" name="Picture 38" descr="A white background with black numbers&#10;&#10;AI-generated content may be incorrect.">
            <a:extLst>
              <a:ext uri="{FF2B5EF4-FFF2-40B4-BE49-F238E27FC236}">
                <a16:creationId xmlns:a16="http://schemas.microsoft.com/office/drawing/2014/main" id="{C186D964-482B-5269-3B41-2D48B843966A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13089" y="3087865"/>
            <a:ext cx="4352962" cy="696213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4AADCA7D-85AA-EE59-59E9-D771DBC354AB}"/>
              </a:ext>
            </a:extLst>
          </p:cNvPr>
          <p:cNvSpPr/>
          <p:nvPr/>
        </p:nvSpPr>
        <p:spPr>
          <a:xfrm>
            <a:off x="148078" y="886069"/>
            <a:ext cx="4851628" cy="2958084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987AA4-1240-8874-4DAB-3471DD3F7B16}"/>
              </a:ext>
            </a:extLst>
          </p:cNvPr>
          <p:cNvSpPr/>
          <p:nvPr/>
        </p:nvSpPr>
        <p:spPr>
          <a:xfrm>
            <a:off x="497023" y="4444056"/>
            <a:ext cx="4536023" cy="2161204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000F295-D2DF-55B2-1725-2DFDFE641484}"/>
              </a:ext>
            </a:extLst>
          </p:cNvPr>
          <p:cNvSpPr/>
          <p:nvPr/>
        </p:nvSpPr>
        <p:spPr>
          <a:xfrm>
            <a:off x="5710780" y="4821625"/>
            <a:ext cx="6075475" cy="1755259"/>
          </a:xfrm>
          <a:prstGeom prst="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91813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C8E1-A406-DDCB-C19B-73D4AE2B8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45FE80C-949A-5ED5-00E8-875ED5C67C41}"/>
              </a:ext>
            </a:extLst>
          </p:cNvPr>
          <p:cNvSpPr/>
          <p:nvPr/>
        </p:nvSpPr>
        <p:spPr>
          <a:xfrm>
            <a:off x="3938258" y="30005"/>
            <a:ext cx="7756918" cy="2648449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229F2EF-FEEE-7063-C70B-6356FBA825D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9ADB2A0F-38A9-D0EF-F95E-5F690947697A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16360-1804-9CFE-551B-0869451390E5}"/>
              </a:ext>
            </a:extLst>
          </p:cNvPr>
          <p:cNvSpPr txBox="1"/>
          <p:nvPr/>
        </p:nvSpPr>
        <p:spPr>
          <a:xfrm>
            <a:off x="118872" y="96516"/>
            <a:ext cx="61036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/>
              <a:t>STACKS AND QUEUES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D83304-061C-1C30-05E6-E474078E6161}"/>
              </a:ext>
            </a:extLst>
          </p:cNvPr>
          <p:cNvSpPr txBox="1"/>
          <p:nvPr/>
        </p:nvSpPr>
        <p:spPr>
          <a:xfrm>
            <a:off x="3913632" y="101554"/>
            <a:ext cx="76419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A queue is a </a:t>
            </a:r>
            <a:r>
              <a:rPr lang="en-GB" sz="1600" b="1"/>
              <a:t>first in, first out data structure </a:t>
            </a:r>
            <a:r>
              <a:rPr lang="en-GB" sz="1600"/>
              <a:t>and can be either static </a:t>
            </a:r>
          </a:p>
          <a:p>
            <a:r>
              <a:rPr lang="en-GB" sz="1600"/>
              <a:t>or dynamic. New elements may only be </a:t>
            </a:r>
            <a:r>
              <a:rPr lang="en-GB" sz="1600" b="1"/>
              <a:t>added to the end of a queue</a:t>
            </a:r>
            <a:r>
              <a:rPr lang="en-GB" sz="1600"/>
              <a:t>, </a:t>
            </a:r>
          </a:p>
          <a:p>
            <a:r>
              <a:rPr lang="en-GB" sz="1600"/>
              <a:t>and elements may only be</a:t>
            </a:r>
            <a:r>
              <a:rPr lang="en-GB" sz="1600" b="1"/>
              <a:t> retrieved from the front of a queue.</a:t>
            </a:r>
          </a:p>
          <a:p>
            <a:endParaRPr lang="en-GB" sz="1600"/>
          </a:p>
          <a:p>
            <a:r>
              <a:rPr lang="en-GB" sz="1600"/>
              <a:t>Sequence is determined by the </a:t>
            </a:r>
            <a:r>
              <a:rPr lang="en-GB" sz="1600" b="1"/>
              <a:t>order of insertion.</a:t>
            </a:r>
          </a:p>
          <a:p>
            <a:r>
              <a:rPr lang="en-GB" sz="1600"/>
              <a:t>Queues make use of </a:t>
            </a:r>
            <a:r>
              <a:rPr lang="en-GB" sz="1600" b="1"/>
              <a:t>two pointers</a:t>
            </a:r>
            <a:r>
              <a:rPr lang="en-GB" sz="1600"/>
              <a:t>, one pointing to the </a:t>
            </a:r>
            <a:r>
              <a:rPr lang="en-GB" sz="1600" b="1"/>
              <a:t>front</a:t>
            </a:r>
            <a:r>
              <a:rPr lang="en-GB" sz="1600"/>
              <a:t> of the queue and one at the </a:t>
            </a:r>
            <a:r>
              <a:rPr lang="en-GB" sz="1600" b="1"/>
              <a:t>back</a:t>
            </a:r>
          </a:p>
          <a:p>
            <a:endParaRPr lang="en-GB" sz="1600"/>
          </a:p>
          <a:p>
            <a:r>
              <a:rPr lang="en-GB" sz="1600"/>
              <a:t>Uses: Printing output, characters typed at a keyboard, simulations modelling real life situations like checkouts, traffic lights.</a:t>
            </a:r>
          </a:p>
        </p:txBody>
      </p:sp>
      <p:pic>
        <p:nvPicPr>
          <p:cNvPr id="7" name="Picture 6" descr="A table with text on it&#10;&#10;AI-generated content may be incorrect.">
            <a:extLst>
              <a:ext uri="{FF2B5EF4-FFF2-40B4-BE49-F238E27FC236}">
                <a16:creationId xmlns:a16="http://schemas.microsoft.com/office/drawing/2014/main" id="{549703EA-2E06-128F-9834-064A4B5319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619494"/>
            <a:ext cx="5910072" cy="31562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5B095D-53B8-ECC2-5AC3-BF7183453887}"/>
              </a:ext>
            </a:extLst>
          </p:cNvPr>
          <p:cNvSpPr txBox="1"/>
          <p:nvPr/>
        </p:nvSpPr>
        <p:spPr>
          <a:xfrm>
            <a:off x="72016" y="652012"/>
            <a:ext cx="390562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A stack is a </a:t>
            </a:r>
            <a:r>
              <a:rPr lang="en-GB" sz="1600" b="1"/>
              <a:t>last in, first out data structure</a:t>
            </a:r>
            <a:r>
              <a:rPr lang="en-GB" sz="1600"/>
              <a:t>.</a:t>
            </a:r>
          </a:p>
          <a:p>
            <a:endParaRPr lang="en-GB" sz="1600"/>
          </a:p>
          <a:p>
            <a:r>
              <a:rPr lang="en-GB" sz="1600"/>
              <a:t>A stack may be implemented as either a static or dynamic structure.</a:t>
            </a:r>
          </a:p>
          <a:p>
            <a:endParaRPr lang="en-GB" sz="1600"/>
          </a:p>
          <a:p>
            <a:r>
              <a:rPr lang="en-GB" sz="1600"/>
              <a:t>Static: Two pointers, </a:t>
            </a:r>
            <a:r>
              <a:rPr lang="en-GB" sz="1600" b="1"/>
              <a:t>top of the stack</a:t>
            </a:r>
            <a:r>
              <a:rPr lang="en-GB" sz="1600"/>
              <a:t>, holding the </a:t>
            </a:r>
            <a:r>
              <a:rPr lang="en-GB" sz="1600" b="1"/>
              <a:t>size of the stack</a:t>
            </a:r>
            <a:r>
              <a:rPr lang="en-GB" sz="1600"/>
              <a:t>.</a:t>
            </a:r>
          </a:p>
          <a:p>
            <a:r>
              <a:rPr lang="en-GB" sz="1600"/>
              <a:t>Dynamic: One pointer at </a:t>
            </a:r>
            <a:r>
              <a:rPr lang="en-GB" sz="1600" b="1"/>
              <a:t>top of the stack</a:t>
            </a:r>
            <a:r>
              <a:rPr lang="en-GB" sz="1600"/>
              <a:t>.</a:t>
            </a:r>
          </a:p>
          <a:p>
            <a:endParaRPr lang="en-GB" sz="1600"/>
          </a:p>
          <a:p>
            <a:endParaRPr lang="en-GB" sz="1600"/>
          </a:p>
        </p:txBody>
      </p:sp>
      <p:pic>
        <p:nvPicPr>
          <p:cNvPr id="10" name="Picture 9" descr="A table with text and words&#10;&#10;AI-generated content may be incorrect.">
            <a:extLst>
              <a:ext uri="{FF2B5EF4-FFF2-40B4-BE49-F238E27FC236}">
                <a16:creationId xmlns:a16="http://schemas.microsoft.com/office/drawing/2014/main" id="{84F99950-E7D1-39EB-FC71-868C716A0B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8475" y="3107483"/>
            <a:ext cx="4164625" cy="36682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2B5BCE-A064-EAAB-394B-180FD3B4F9BD}"/>
              </a:ext>
            </a:extLst>
          </p:cNvPr>
          <p:cNvSpPr txBox="1"/>
          <p:nvPr/>
        </p:nvSpPr>
        <p:spPr>
          <a:xfrm>
            <a:off x="118872" y="3531220"/>
            <a:ext cx="136960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/>
              <a:t>A stack </a:t>
            </a:r>
            <a:r>
              <a:rPr lang="en-GB" sz="1600" b="1"/>
              <a:t>overflow</a:t>
            </a:r>
            <a:r>
              <a:rPr lang="en-GB" sz="1600"/>
              <a:t> can occur if an item is </a:t>
            </a:r>
            <a:r>
              <a:rPr lang="en-GB" sz="1600" b="1"/>
              <a:t>pushed into a full stack </a:t>
            </a:r>
            <a:r>
              <a:rPr lang="en-GB" sz="1600"/>
              <a:t>and an </a:t>
            </a:r>
            <a:r>
              <a:rPr lang="en-GB" sz="1600" b="1"/>
              <a:t>underflow </a:t>
            </a:r>
            <a:r>
              <a:rPr lang="en-GB" sz="1600"/>
              <a:t>error can occur if an </a:t>
            </a:r>
            <a:r>
              <a:rPr lang="en-GB" sz="1600" b="1"/>
              <a:t>empty stack is popped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F3332-669D-DE5C-A352-0D7B1101CF19}"/>
              </a:ext>
            </a:extLst>
          </p:cNvPr>
          <p:cNvSpPr txBox="1"/>
          <p:nvPr/>
        </p:nvSpPr>
        <p:spPr>
          <a:xfrm>
            <a:off x="5943600" y="2733476"/>
            <a:ext cx="61295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/>
              <a:t>Circular queues </a:t>
            </a:r>
            <a:r>
              <a:rPr lang="en-GB" sz="1600"/>
              <a:t>are when </a:t>
            </a:r>
            <a:r>
              <a:rPr lang="en-GB" sz="1600" b="1"/>
              <a:t>the back pointer points to the front </a:t>
            </a:r>
            <a:r>
              <a:rPr lang="en-GB" sz="1600"/>
              <a:t>of the queue if the front element is empty when the back of the queue is full.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F0673F-B85F-19EA-4DEB-C34B6314FFA2}"/>
              </a:ext>
            </a:extLst>
          </p:cNvPr>
          <p:cNvSpPr/>
          <p:nvPr/>
        </p:nvSpPr>
        <p:spPr>
          <a:xfrm>
            <a:off x="72016" y="652012"/>
            <a:ext cx="3841615" cy="237465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7AB23B-7913-17FB-A92B-09ECE018395B}"/>
              </a:ext>
            </a:extLst>
          </p:cNvPr>
          <p:cNvSpPr/>
          <p:nvPr/>
        </p:nvSpPr>
        <p:spPr>
          <a:xfrm>
            <a:off x="72016" y="3429001"/>
            <a:ext cx="1369604" cy="3227648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7F667C-BA95-3F43-DE2E-9FAA42488275}"/>
              </a:ext>
            </a:extLst>
          </p:cNvPr>
          <p:cNvSpPr/>
          <p:nvPr/>
        </p:nvSpPr>
        <p:spPr>
          <a:xfrm>
            <a:off x="5943600" y="2727648"/>
            <a:ext cx="6053328" cy="891846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584961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21543-7749-3E96-6E28-43ECCE0C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49DA9F9-D5F0-154A-0956-2B46C0923F21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352C29A-B1BA-9E24-E231-931F1447099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907E06-6F95-8D4F-0987-DF86C9AF42A7}"/>
              </a:ext>
            </a:extLst>
          </p:cNvPr>
          <p:cNvSpPr txBox="1"/>
          <p:nvPr/>
        </p:nvSpPr>
        <p:spPr>
          <a:xfrm>
            <a:off x="365761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LINKED LISTS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412D8-41D5-2552-9F16-1D7CE3FD61EF}"/>
              </a:ext>
            </a:extLst>
          </p:cNvPr>
          <p:cNvSpPr txBox="1"/>
          <p:nvPr/>
        </p:nvSpPr>
        <p:spPr>
          <a:xfrm>
            <a:off x="249679" y="775960"/>
            <a:ext cx="548697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D4C2"/>
                </a:solidFill>
              </a:rPr>
              <a:t>A linked list </a:t>
            </a:r>
            <a:r>
              <a:rPr lang="en-GB" dirty="0"/>
              <a:t>is a </a:t>
            </a:r>
            <a:r>
              <a:rPr lang="en-GB" b="1" dirty="0"/>
              <a:t>dynamic</a:t>
            </a:r>
            <a:r>
              <a:rPr lang="en-GB" dirty="0"/>
              <a:t> data structure used to hold an </a:t>
            </a:r>
            <a:r>
              <a:rPr lang="en-GB" b="1" dirty="0"/>
              <a:t>ordered sequence</a:t>
            </a:r>
            <a:r>
              <a:rPr lang="en-GB" dirty="0"/>
              <a:t>.</a:t>
            </a:r>
          </a:p>
          <a:p>
            <a:r>
              <a:rPr lang="en-GB" dirty="0"/>
              <a:t>The items which form the sequences </a:t>
            </a:r>
            <a:r>
              <a:rPr lang="en-GB" b="1" dirty="0"/>
              <a:t>do not </a:t>
            </a:r>
            <a:r>
              <a:rPr lang="en-GB" dirty="0"/>
              <a:t>have to be </a:t>
            </a:r>
            <a:r>
              <a:rPr lang="en-GB" b="1" dirty="0"/>
              <a:t>stored in contiguous data locations</a:t>
            </a:r>
          </a:p>
          <a:p>
            <a:endParaRPr lang="en-GB" dirty="0"/>
          </a:p>
          <a:p>
            <a:r>
              <a:rPr lang="en-GB" b="1" dirty="0"/>
              <a:t>Nodes</a:t>
            </a:r>
            <a:r>
              <a:rPr lang="en-GB" dirty="0"/>
              <a:t> make up linked lists and have a </a:t>
            </a:r>
            <a:r>
              <a:rPr lang="en-GB" b="1" dirty="0"/>
              <a:t>data field </a:t>
            </a:r>
            <a:r>
              <a:rPr lang="en-GB" dirty="0"/>
              <a:t>(holds the data) and a </a:t>
            </a:r>
            <a:r>
              <a:rPr lang="en-GB" b="1" dirty="0"/>
              <a:t>pointer field </a:t>
            </a:r>
            <a:r>
              <a:rPr lang="en-GB" dirty="0"/>
              <a:t>(holds the address of the next item in the sequence.) </a:t>
            </a:r>
          </a:p>
          <a:p>
            <a:endParaRPr lang="en-GB" dirty="0"/>
          </a:p>
          <a:p>
            <a:r>
              <a:rPr lang="en-GB" dirty="0"/>
              <a:t>Last item in linked list </a:t>
            </a:r>
            <a:r>
              <a:rPr lang="en-GB" b="1" dirty="0"/>
              <a:t>has a null pointer </a:t>
            </a:r>
            <a:r>
              <a:rPr lang="en-GB" dirty="0"/>
              <a:t>to indicate the end. </a:t>
            </a:r>
          </a:p>
          <a:p>
            <a:r>
              <a:rPr lang="en-GB" b="1" dirty="0"/>
              <a:t>Head Pointer variable</a:t>
            </a:r>
            <a:r>
              <a:rPr lang="en-GB" dirty="0"/>
              <a:t> associated with the list contains the </a:t>
            </a:r>
            <a:r>
              <a:rPr lang="en-GB" b="1" dirty="0"/>
              <a:t>address of the first node </a:t>
            </a:r>
            <a:r>
              <a:rPr lang="en-GB" dirty="0"/>
              <a:t>in the list.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752F8-AD24-663D-50E4-B855F7338CC4}"/>
              </a:ext>
            </a:extLst>
          </p:cNvPr>
          <p:cNvSpPr txBox="1"/>
          <p:nvPr/>
        </p:nvSpPr>
        <p:spPr>
          <a:xfrm>
            <a:off x="4557420" y="4522543"/>
            <a:ext cx="295676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</a:t>
            </a:r>
            <a:r>
              <a:rPr lang="en-GB" b="1" dirty="0"/>
              <a:t>delete</a:t>
            </a:r>
            <a:r>
              <a:rPr lang="en-GB" dirty="0"/>
              <a:t> a node, you need to find it and the value of its </a:t>
            </a:r>
            <a:r>
              <a:rPr lang="en-GB" b="1" dirty="0"/>
              <a:t>pointer field</a:t>
            </a:r>
            <a:r>
              <a:rPr lang="en-GB" dirty="0"/>
              <a:t>. Change the pointer field value of the </a:t>
            </a:r>
            <a:r>
              <a:rPr lang="en-GB" b="1" dirty="0"/>
              <a:t>previous node </a:t>
            </a:r>
            <a:r>
              <a:rPr lang="en-GB" dirty="0"/>
              <a:t>to the value noted.</a:t>
            </a:r>
          </a:p>
          <a:p>
            <a:r>
              <a:rPr lang="en-GB" b="1" dirty="0"/>
              <a:t>Free the memory location </a:t>
            </a:r>
            <a:r>
              <a:rPr lang="en-GB" dirty="0"/>
              <a:t>of deleted node.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393B0B-EFE9-8DD5-B138-23C125FEC3B9}"/>
              </a:ext>
            </a:extLst>
          </p:cNvPr>
          <p:cNvSpPr txBox="1"/>
          <p:nvPr/>
        </p:nvSpPr>
        <p:spPr>
          <a:xfrm>
            <a:off x="9860384" y="1444198"/>
            <a:ext cx="217512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insert a node, in an </a:t>
            </a:r>
            <a:r>
              <a:rPr lang="en-GB" b="1" dirty="0"/>
              <a:t>unordered list </a:t>
            </a:r>
            <a:r>
              <a:rPr lang="en-GB" dirty="0"/>
              <a:t>at the start you create the node and have its </a:t>
            </a:r>
            <a:r>
              <a:rPr lang="en-GB" b="1" dirty="0"/>
              <a:t>pointer field point to the node at the head pointer</a:t>
            </a:r>
            <a:r>
              <a:rPr lang="en-GB" dirty="0"/>
              <a:t> and the </a:t>
            </a:r>
            <a:r>
              <a:rPr lang="en-GB" b="1" dirty="0"/>
              <a:t>head pointer to point to new node.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1A54FB-6C1A-275D-D98D-7B950C4E97F5}"/>
              </a:ext>
            </a:extLst>
          </p:cNvPr>
          <p:cNvSpPr txBox="1"/>
          <p:nvPr/>
        </p:nvSpPr>
        <p:spPr>
          <a:xfrm>
            <a:off x="6189044" y="147186"/>
            <a:ext cx="265029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insert in an </a:t>
            </a:r>
            <a:r>
              <a:rPr lang="en-GB" b="1" dirty="0"/>
              <a:t>ordered list,</a:t>
            </a:r>
            <a:r>
              <a:rPr lang="en-GB" dirty="0"/>
              <a:t> the pointer field of the node </a:t>
            </a:r>
            <a:r>
              <a:rPr lang="en-GB" b="1" dirty="0"/>
              <a:t>before </a:t>
            </a:r>
            <a:r>
              <a:rPr lang="en-GB" dirty="0"/>
              <a:t>must be</a:t>
            </a:r>
            <a:r>
              <a:rPr lang="en-GB" b="1" dirty="0"/>
              <a:t> changed to the new node</a:t>
            </a:r>
            <a:r>
              <a:rPr lang="en-GB" dirty="0"/>
              <a:t> with the </a:t>
            </a:r>
            <a:r>
              <a:rPr lang="en-GB" b="1" dirty="0"/>
              <a:t>new node pointing </a:t>
            </a:r>
            <a:r>
              <a:rPr lang="en-GB" dirty="0"/>
              <a:t>to the </a:t>
            </a:r>
            <a:r>
              <a:rPr lang="en-GB" b="1" dirty="0"/>
              <a:t>next node.</a:t>
            </a:r>
          </a:p>
        </p:txBody>
      </p:sp>
      <p:sp>
        <p:nvSpPr>
          <p:cNvPr id="16" name="Action Button: Go Forward or Next 1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10E4C7C-47A8-55CC-1145-893D5F9E3842}"/>
              </a:ext>
            </a:extLst>
          </p:cNvPr>
          <p:cNvSpPr/>
          <p:nvPr/>
        </p:nvSpPr>
        <p:spPr>
          <a:xfrm>
            <a:off x="10633021" y="5413802"/>
            <a:ext cx="1504518" cy="1453310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Linked lists — Ada Computer Science">
            <a:extLst>
              <a:ext uri="{FF2B5EF4-FFF2-40B4-BE49-F238E27FC236}">
                <a16:creationId xmlns:a16="http://schemas.microsoft.com/office/drawing/2014/main" id="{8FA83650-018C-03EA-5AE2-105C4758A4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27" t="1764" r="5494"/>
          <a:stretch>
            <a:fillRect/>
          </a:stretch>
        </p:blipFill>
        <p:spPr bwMode="auto">
          <a:xfrm>
            <a:off x="908878" y="4469279"/>
            <a:ext cx="3619100" cy="2419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ypes of Linked List and Operation on Linked List">
            <a:extLst>
              <a:ext uri="{FF2B5EF4-FFF2-40B4-BE49-F238E27FC236}">
                <a16:creationId xmlns:a16="http://schemas.microsoft.com/office/drawing/2014/main" id="{A91FF69D-07A8-C660-06EF-41ED3893D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0585" y="2388721"/>
            <a:ext cx="2548055" cy="2032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ode with data value 12 has been deleted. 11 now points to 16 and 12 is no longer part of the linked list. ">
            <a:extLst>
              <a:ext uri="{FF2B5EF4-FFF2-40B4-BE49-F238E27FC236}">
                <a16:creationId xmlns:a16="http://schemas.microsoft.com/office/drawing/2014/main" id="{F4343E4E-0929-2C9F-7F40-670B2F9ABA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7" r="4899"/>
          <a:stretch>
            <a:fillRect/>
          </a:stretch>
        </p:blipFill>
        <p:spPr bwMode="auto">
          <a:xfrm>
            <a:off x="7514189" y="5032496"/>
            <a:ext cx="2858833" cy="1815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1651A35-6B0C-EB17-02D8-BD0564647515}"/>
              </a:ext>
            </a:extLst>
          </p:cNvPr>
          <p:cNvSpPr/>
          <p:nvPr/>
        </p:nvSpPr>
        <p:spPr>
          <a:xfrm>
            <a:off x="182880" y="775960"/>
            <a:ext cx="5755521" cy="3693319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D60D16-7AFA-7424-7139-A13D6D61BB5A}"/>
              </a:ext>
            </a:extLst>
          </p:cNvPr>
          <p:cNvSpPr/>
          <p:nvPr/>
        </p:nvSpPr>
        <p:spPr>
          <a:xfrm>
            <a:off x="6034724" y="129665"/>
            <a:ext cx="2880675" cy="2205792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91B644-A795-7469-E6F8-671D1BE5E0E6}"/>
              </a:ext>
            </a:extLst>
          </p:cNvPr>
          <p:cNvSpPr/>
          <p:nvPr/>
        </p:nvSpPr>
        <p:spPr>
          <a:xfrm>
            <a:off x="9860384" y="1232561"/>
            <a:ext cx="2137701" cy="3073959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EBDB14-1554-F309-1EC9-8D9B8607B39E}"/>
              </a:ext>
            </a:extLst>
          </p:cNvPr>
          <p:cNvSpPr/>
          <p:nvPr/>
        </p:nvSpPr>
        <p:spPr>
          <a:xfrm>
            <a:off x="4606987" y="4522543"/>
            <a:ext cx="2858834" cy="2316615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7304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8B2261A-DFBC-9152-6A71-23BB53D8B7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5" r="15701" b="1"/>
          <a:stretch>
            <a:fillRect/>
          </a:stretch>
        </p:blipFill>
        <p:spPr>
          <a:xfrm>
            <a:off x="7092126" y="3343901"/>
            <a:ext cx="3652074" cy="3514099"/>
          </a:xfrm>
          <a:prstGeom prst="rect">
            <a:avLst/>
          </a:prstGeom>
        </p:spPr>
      </p:pic>
      <p:pic>
        <p:nvPicPr>
          <p:cNvPr id="7" name="Picture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333CF1AC-AAF7-CD3B-637B-5AD9261B0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44" y="2164309"/>
            <a:ext cx="3270553" cy="1762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F12394-BC7D-F2D8-C47D-C68F7CF6DCD7}"/>
              </a:ext>
            </a:extLst>
          </p:cNvPr>
          <p:cNvSpPr txBox="1"/>
          <p:nvPr/>
        </p:nvSpPr>
        <p:spPr>
          <a:xfrm>
            <a:off x="365761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LINKED LISTS CONTINUED</a:t>
            </a:r>
          </a:p>
        </p:txBody>
      </p:sp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4C5A58E-A4EB-A5E8-B0C7-FF7162EE200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DE6D72A-60ED-0BA5-0974-5DE1841E612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E8DFB-F4CA-27BD-1E5A-74F447F7293E}"/>
              </a:ext>
            </a:extLst>
          </p:cNvPr>
          <p:cNvSpPr txBox="1"/>
          <p:nvPr/>
        </p:nvSpPr>
        <p:spPr>
          <a:xfrm>
            <a:off x="859536" y="1019684"/>
            <a:ext cx="1620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Initialisation using record: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C0D0B1-83FD-1EB6-DE02-5729002B84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4059" y="679634"/>
            <a:ext cx="4567141" cy="15573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0A05CB-F918-D89D-2414-76DD7340095A}"/>
              </a:ext>
            </a:extLst>
          </p:cNvPr>
          <p:cNvSpPr txBox="1"/>
          <p:nvPr/>
        </p:nvSpPr>
        <p:spPr>
          <a:xfrm>
            <a:off x="3597730" y="2765624"/>
            <a:ext cx="1620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Traversal using record</a:t>
            </a:r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77009F0-D9B0-7B14-200B-88BDF3316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6443" y="115684"/>
            <a:ext cx="3381946" cy="31006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4D6FDC-613D-44F6-3497-558326E0CF04}"/>
              </a:ext>
            </a:extLst>
          </p:cNvPr>
          <p:cNvSpPr txBox="1"/>
          <p:nvPr/>
        </p:nvSpPr>
        <p:spPr>
          <a:xfrm>
            <a:off x="9928389" y="1444752"/>
            <a:ext cx="1224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Deletion of node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7531A3-3EC4-129B-68A7-993465A2CD4A}"/>
              </a:ext>
            </a:extLst>
          </p:cNvPr>
          <p:cNvSpPr txBox="1"/>
          <p:nvPr/>
        </p:nvSpPr>
        <p:spPr>
          <a:xfrm>
            <a:off x="10824638" y="3810276"/>
            <a:ext cx="12242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Insertion of node into an unordered list.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286EC-24A9-7DE1-12F1-60BEEE5E48BB}"/>
              </a:ext>
            </a:extLst>
          </p:cNvPr>
          <p:cNvSpPr txBox="1"/>
          <p:nvPr/>
        </p:nvSpPr>
        <p:spPr>
          <a:xfrm>
            <a:off x="429767" y="3985999"/>
            <a:ext cx="676656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Benefits of linked lists: 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Dynamic size </a:t>
            </a:r>
            <a:r>
              <a:rPr lang="en-GB" dirty="0"/>
              <a:t>so the list can grow or shrink as needed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Easy insertion and deletion</a:t>
            </a:r>
            <a:r>
              <a:rPr lang="en-GB" dirty="0"/>
              <a:t> as only requires pointer updates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No wasted memory </a:t>
            </a:r>
            <a:r>
              <a:rPr lang="en-GB" dirty="0"/>
              <a:t>from unused array slots.</a:t>
            </a:r>
          </a:p>
          <a:p>
            <a:pPr marL="285750" indent="-285750">
              <a:buFontTx/>
              <a:buChar char="-"/>
            </a:pPr>
            <a:endParaRPr lang="en-GB" dirty="0"/>
          </a:p>
          <a:p>
            <a:r>
              <a:rPr lang="en-GB" dirty="0"/>
              <a:t>Cons:</a:t>
            </a:r>
          </a:p>
          <a:p>
            <a:r>
              <a:rPr lang="en-GB" dirty="0"/>
              <a:t>-    Requires </a:t>
            </a:r>
            <a:r>
              <a:rPr lang="en-GB" b="1" dirty="0"/>
              <a:t>extra memory for storing pointers</a:t>
            </a:r>
          </a:p>
          <a:p>
            <a:r>
              <a:rPr lang="en-GB" dirty="0"/>
              <a:t>-    No direct access</a:t>
            </a:r>
            <a:r>
              <a:rPr lang="en-GB" b="1" dirty="0"/>
              <a:t>, sequential access </a:t>
            </a:r>
            <a:r>
              <a:rPr lang="en-GB" dirty="0"/>
              <a:t>only</a:t>
            </a:r>
          </a:p>
          <a:p>
            <a:r>
              <a:rPr lang="en-GB" dirty="0"/>
              <a:t>-    </a:t>
            </a:r>
            <a:r>
              <a:rPr lang="en-GB" b="1" dirty="0"/>
              <a:t>More complex </a:t>
            </a:r>
            <a:r>
              <a:rPr lang="en-GB" dirty="0"/>
              <a:t>to implement than arrays.</a:t>
            </a:r>
          </a:p>
          <a:p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60281C-23E0-D364-7347-280415425A76}"/>
              </a:ext>
            </a:extLst>
          </p:cNvPr>
          <p:cNvSpPr/>
          <p:nvPr/>
        </p:nvSpPr>
        <p:spPr>
          <a:xfrm>
            <a:off x="157306" y="3810276"/>
            <a:ext cx="6854382" cy="2894741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2F3FD-E4F1-6747-6F12-EB6B7ED9CBDE}"/>
              </a:ext>
            </a:extLst>
          </p:cNvPr>
          <p:cNvSpPr/>
          <p:nvPr/>
        </p:nvSpPr>
        <p:spPr>
          <a:xfrm>
            <a:off x="3597730" y="2684114"/>
            <a:ext cx="1376227" cy="809349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482CCE-F7BF-2C42-8B22-8F6BA6F54551}"/>
              </a:ext>
            </a:extLst>
          </p:cNvPr>
          <p:cNvSpPr/>
          <p:nvPr/>
        </p:nvSpPr>
        <p:spPr>
          <a:xfrm>
            <a:off x="859536" y="1035686"/>
            <a:ext cx="1544523" cy="809349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549ECF-D8AD-EBB1-86DC-D907E0EBE4E8}"/>
              </a:ext>
            </a:extLst>
          </p:cNvPr>
          <p:cNvSpPr/>
          <p:nvPr/>
        </p:nvSpPr>
        <p:spPr>
          <a:xfrm>
            <a:off x="9787941" y="1410586"/>
            <a:ext cx="1376227" cy="809349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490F959-3639-1CFA-643F-381887C19E02}"/>
              </a:ext>
            </a:extLst>
          </p:cNvPr>
          <p:cNvSpPr/>
          <p:nvPr/>
        </p:nvSpPr>
        <p:spPr>
          <a:xfrm>
            <a:off x="10805699" y="3777356"/>
            <a:ext cx="1162793" cy="1585736"/>
          </a:xfrm>
          <a:prstGeom prst="rect">
            <a:avLst/>
          </a:prstGeom>
          <a:noFill/>
          <a:ln>
            <a:solidFill>
              <a:srgbClr val="00D4C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F75F9F-46E1-564D-36F0-3E319B51DBCF}"/>
              </a:ext>
            </a:extLst>
          </p:cNvPr>
          <p:cNvSpPr/>
          <p:nvPr/>
        </p:nvSpPr>
        <p:spPr>
          <a:xfrm>
            <a:off x="2473861" y="679634"/>
            <a:ext cx="3925801" cy="1484675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FB9B27D-5A58-5CE2-48A1-6262F55DC0A6}"/>
              </a:ext>
            </a:extLst>
          </p:cNvPr>
          <p:cNvSpPr/>
          <p:nvPr/>
        </p:nvSpPr>
        <p:spPr>
          <a:xfrm>
            <a:off x="300711" y="2259945"/>
            <a:ext cx="2871664" cy="1491215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797D1B-C586-275F-C40B-85127EB80B46}"/>
              </a:ext>
            </a:extLst>
          </p:cNvPr>
          <p:cNvSpPr/>
          <p:nvPr/>
        </p:nvSpPr>
        <p:spPr>
          <a:xfrm>
            <a:off x="6448600" y="81652"/>
            <a:ext cx="3269539" cy="3252570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5762FD3-D784-5BA8-E398-DD3F397582C7}"/>
              </a:ext>
            </a:extLst>
          </p:cNvPr>
          <p:cNvSpPr/>
          <p:nvPr/>
        </p:nvSpPr>
        <p:spPr>
          <a:xfrm>
            <a:off x="7092126" y="3376756"/>
            <a:ext cx="3590575" cy="3365560"/>
          </a:xfrm>
          <a:prstGeom prst="rect">
            <a:avLst/>
          </a:prstGeom>
          <a:noFill/>
          <a:ln>
            <a:solidFill>
              <a:srgbClr val="5555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9003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94D88-4F18-CB51-0D91-72538B00D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raphicMaths - Adjacency matrices">
            <a:extLst>
              <a:ext uri="{FF2B5EF4-FFF2-40B4-BE49-F238E27FC236}">
                <a16:creationId xmlns:a16="http://schemas.microsoft.com/office/drawing/2014/main" id="{FE91545C-AB7F-71BC-836A-9AA24DAC9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0648" y="3311928"/>
            <a:ext cx="3456831" cy="172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70FA0BD-5F10-CABE-1343-0FC75D1CD31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479FA475-52D1-3CDB-3BD2-FBDC5C20CA6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CF9475-F711-5376-5990-80BB70EA5D30}"/>
              </a:ext>
            </a:extLst>
          </p:cNvPr>
          <p:cNvSpPr txBox="1"/>
          <p:nvPr/>
        </p:nvSpPr>
        <p:spPr>
          <a:xfrm>
            <a:off x="571950" y="45762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49E7A5-1014-A665-6FA0-A01098284285}"/>
              </a:ext>
            </a:extLst>
          </p:cNvPr>
          <p:cNvSpPr txBox="1"/>
          <p:nvPr/>
        </p:nvSpPr>
        <p:spPr>
          <a:xfrm>
            <a:off x="18288" y="568982"/>
            <a:ext cx="559879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graph is a set of vertices/</a:t>
            </a:r>
            <a:r>
              <a:rPr lang="en-GB" b="1" dirty="0"/>
              <a:t>nodes connected by edges</a:t>
            </a:r>
            <a:r>
              <a:rPr lang="en-GB" dirty="0"/>
              <a:t>/arcs.</a:t>
            </a:r>
          </a:p>
          <a:p>
            <a:r>
              <a:rPr lang="en-GB" dirty="0"/>
              <a:t>These edges can be one way or two way but in an </a:t>
            </a:r>
            <a:r>
              <a:rPr lang="en-GB" b="1" dirty="0"/>
              <a:t>undirected graph </a:t>
            </a:r>
            <a:r>
              <a:rPr lang="en-GB" dirty="0"/>
              <a:t>they are all </a:t>
            </a:r>
            <a:r>
              <a:rPr lang="en-GB" b="1" dirty="0"/>
              <a:t>bidirectional</a:t>
            </a:r>
            <a:r>
              <a:rPr lang="en-GB" dirty="0"/>
              <a:t>, and in a </a:t>
            </a:r>
            <a:r>
              <a:rPr lang="en-GB" b="1" dirty="0"/>
              <a:t>directed graph </a:t>
            </a:r>
            <a:r>
              <a:rPr lang="en-GB" dirty="0"/>
              <a:t>they are </a:t>
            </a:r>
            <a:r>
              <a:rPr lang="en-GB" b="1" dirty="0"/>
              <a:t>directional.</a:t>
            </a:r>
          </a:p>
          <a:p>
            <a:endParaRPr lang="en-GB" dirty="0"/>
          </a:p>
          <a:p>
            <a:r>
              <a:rPr lang="en-GB" dirty="0"/>
              <a:t>Edges can </a:t>
            </a:r>
            <a:r>
              <a:rPr lang="en-GB" b="1" dirty="0"/>
              <a:t>be weighted </a:t>
            </a:r>
            <a:r>
              <a:rPr lang="en-GB" dirty="0"/>
              <a:t>to show there is a cost to travel between nodes e.g. distance.</a:t>
            </a:r>
          </a:p>
          <a:p>
            <a:r>
              <a:rPr lang="en-GB" dirty="0"/>
              <a:t>Graphs can be used to represent </a:t>
            </a:r>
            <a:r>
              <a:rPr lang="en-GB" b="1" dirty="0"/>
              <a:t>computer networks, roads, web pages</a:t>
            </a:r>
            <a:r>
              <a:rPr lang="en-GB" dirty="0"/>
              <a:t> and links, tasks in a project etc.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8BB6D7-6DEE-F52B-46DA-968808111F14}"/>
              </a:ext>
            </a:extLst>
          </p:cNvPr>
          <p:cNvSpPr txBox="1"/>
          <p:nvPr/>
        </p:nvSpPr>
        <p:spPr>
          <a:xfrm>
            <a:off x="5185813" y="3395918"/>
            <a:ext cx="70710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Graphs can be implemented by either an </a:t>
            </a:r>
            <a:r>
              <a:rPr lang="en-GB" b="1" dirty="0"/>
              <a:t>adjacency matrix </a:t>
            </a:r>
            <a:r>
              <a:rPr lang="en-GB" dirty="0"/>
              <a:t>(2d array) or </a:t>
            </a:r>
            <a:r>
              <a:rPr lang="en-GB" b="1" dirty="0"/>
              <a:t>adjacency list</a:t>
            </a:r>
          </a:p>
          <a:p>
            <a:endParaRPr lang="en-GB" dirty="0"/>
          </a:p>
          <a:p>
            <a:r>
              <a:rPr lang="en-GB" dirty="0"/>
              <a:t>Matrix: Each node is represented by a row and collum with the </a:t>
            </a:r>
            <a:r>
              <a:rPr lang="en-GB" b="1" dirty="0"/>
              <a:t>“weigh</a:t>
            </a:r>
            <a:r>
              <a:rPr lang="en-GB" dirty="0"/>
              <a:t>t” between two nodes being the </a:t>
            </a:r>
            <a:r>
              <a:rPr lang="en-GB" b="1" dirty="0"/>
              <a:t>value stored in the cell</a:t>
            </a:r>
            <a:r>
              <a:rPr lang="en-GB" dirty="0"/>
              <a:t>. </a:t>
            </a:r>
          </a:p>
          <a:p>
            <a:endParaRPr lang="en-GB" dirty="0"/>
          </a:p>
          <a:p>
            <a:r>
              <a:rPr lang="en-GB" dirty="0"/>
              <a:t>They are very convenient due to </a:t>
            </a:r>
            <a:r>
              <a:rPr lang="en-GB" b="1" dirty="0"/>
              <a:t>quick access times </a:t>
            </a:r>
            <a:r>
              <a:rPr lang="en-GB" dirty="0"/>
              <a:t>and it’s </a:t>
            </a:r>
            <a:r>
              <a:rPr lang="en-GB" b="1" dirty="0"/>
              <a:t>easy to add nodes.</a:t>
            </a:r>
          </a:p>
          <a:p>
            <a:endParaRPr lang="en-GB" dirty="0"/>
          </a:p>
          <a:p>
            <a:r>
              <a:rPr lang="en-GB" dirty="0"/>
              <a:t>List: </a:t>
            </a:r>
            <a:r>
              <a:rPr lang="en-GB" b="1" dirty="0"/>
              <a:t>List of dictionaries </a:t>
            </a:r>
            <a:r>
              <a:rPr lang="en-GB" dirty="0"/>
              <a:t>with all the nodes being the key. Each node has a </a:t>
            </a:r>
            <a:r>
              <a:rPr lang="en-GB" b="1" dirty="0"/>
              <a:t>list of all nodes and weights it is linked to</a:t>
            </a:r>
            <a:r>
              <a:rPr lang="en-GB" dirty="0"/>
              <a:t>. This is </a:t>
            </a:r>
            <a:r>
              <a:rPr lang="en-GB" b="1" dirty="0"/>
              <a:t>very space efficient</a:t>
            </a:r>
            <a:r>
              <a:rPr lang="en-GB" dirty="0"/>
              <a:t> and is better </a:t>
            </a:r>
            <a:r>
              <a:rPr lang="en-GB" b="1" dirty="0"/>
              <a:t>for larger, sparse networks.</a:t>
            </a:r>
          </a:p>
        </p:txBody>
      </p:sp>
      <p:pic>
        <p:nvPicPr>
          <p:cNvPr id="1028" name="Picture 4" descr="Representing Graphs - COMPUTER SCIENCE BYTESCOMPUTER SCIENCE BYTES">
            <a:extLst>
              <a:ext uri="{FF2B5EF4-FFF2-40B4-BE49-F238E27FC236}">
                <a16:creationId xmlns:a16="http://schemas.microsoft.com/office/drawing/2014/main" id="{7C68356F-E227-914D-918B-562C51DB0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50" y="5049329"/>
            <a:ext cx="4627263" cy="1770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3208F3-991D-026C-A48D-90F88EC1564F}"/>
              </a:ext>
            </a:extLst>
          </p:cNvPr>
          <p:cNvSpPr txBox="1"/>
          <p:nvPr/>
        </p:nvSpPr>
        <p:spPr>
          <a:xfrm>
            <a:off x="5701768" y="364550"/>
            <a:ext cx="186251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Traversal of a graph: </a:t>
            </a:r>
            <a:r>
              <a:rPr lang="en-GB" b="1" dirty="0"/>
              <a:t>Breadth first</a:t>
            </a:r>
            <a:r>
              <a:rPr lang="en-GB" dirty="0"/>
              <a:t> – where we </a:t>
            </a:r>
            <a:r>
              <a:rPr lang="en-GB" b="1" dirty="0"/>
              <a:t>visit all neighbours </a:t>
            </a:r>
            <a:r>
              <a:rPr lang="en-GB" dirty="0"/>
              <a:t>of the starting node and then all the neighbours of the second node and so 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B79C0-1C49-F526-3AD7-75E2A7A19449}"/>
              </a:ext>
            </a:extLst>
          </p:cNvPr>
          <p:cNvSpPr txBox="1"/>
          <p:nvPr/>
        </p:nvSpPr>
        <p:spPr>
          <a:xfrm>
            <a:off x="7717536" y="45762"/>
            <a:ext cx="22677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Depth first </a:t>
            </a:r>
            <a:r>
              <a:rPr lang="en-GB" dirty="0"/>
              <a:t>– </a:t>
            </a:r>
            <a:r>
              <a:rPr lang="en-GB" b="1" dirty="0"/>
              <a:t>Go as far down one route </a:t>
            </a:r>
            <a:r>
              <a:rPr lang="en-GB" dirty="0"/>
              <a:t>before backtracking and taking the next route.</a:t>
            </a:r>
          </a:p>
        </p:txBody>
      </p:sp>
      <p:pic>
        <p:nvPicPr>
          <p:cNvPr id="1030" name="Picture 6" descr="Depth &amp; Breadth First Search in Go | by Israel Miles | Level Up Coding">
            <a:extLst>
              <a:ext uri="{FF2B5EF4-FFF2-40B4-BE49-F238E27FC236}">
                <a16:creationId xmlns:a16="http://schemas.microsoft.com/office/drawing/2014/main" id="{DAF51FA6-97CB-FD69-6871-40490A651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362" y="1164940"/>
            <a:ext cx="1838142" cy="183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FD78B156-12B4-DD0E-BDA9-03B4E1003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5009" y="1473787"/>
            <a:ext cx="1838141" cy="1838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F7ECAC5-8BD8-D5AA-96FD-CB4CCB9F782E}"/>
              </a:ext>
            </a:extLst>
          </p:cNvPr>
          <p:cNvSpPr/>
          <p:nvPr/>
        </p:nvSpPr>
        <p:spPr>
          <a:xfrm>
            <a:off x="18287" y="514350"/>
            <a:ext cx="5580507" cy="2872583"/>
          </a:xfrm>
          <a:prstGeom prst="rect">
            <a:avLst/>
          </a:prstGeom>
          <a:noFill/>
          <a:ln>
            <a:solidFill>
              <a:srgbClr val="AAD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719BFF-6759-A2E9-DF95-2D6BE67420E9}"/>
              </a:ext>
            </a:extLst>
          </p:cNvPr>
          <p:cNvSpPr/>
          <p:nvPr/>
        </p:nvSpPr>
        <p:spPr>
          <a:xfrm>
            <a:off x="5726907" y="364550"/>
            <a:ext cx="1837373" cy="2947378"/>
          </a:xfrm>
          <a:prstGeom prst="rect">
            <a:avLst/>
          </a:prstGeom>
          <a:noFill/>
          <a:ln>
            <a:solidFill>
              <a:srgbClr val="AAD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CB49F7-0CBC-679A-04B2-39C8E9DCC8C7}"/>
              </a:ext>
            </a:extLst>
          </p:cNvPr>
          <p:cNvSpPr/>
          <p:nvPr/>
        </p:nvSpPr>
        <p:spPr>
          <a:xfrm>
            <a:off x="7774797" y="58386"/>
            <a:ext cx="2148832" cy="1464704"/>
          </a:xfrm>
          <a:prstGeom prst="rect">
            <a:avLst/>
          </a:prstGeom>
          <a:noFill/>
          <a:ln>
            <a:solidFill>
              <a:srgbClr val="AAD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5B70E2C-F02A-2568-56DD-D3FDC6468C09}"/>
              </a:ext>
            </a:extLst>
          </p:cNvPr>
          <p:cNvSpPr/>
          <p:nvPr/>
        </p:nvSpPr>
        <p:spPr>
          <a:xfrm>
            <a:off x="5185812" y="3429000"/>
            <a:ext cx="6893412" cy="3390581"/>
          </a:xfrm>
          <a:prstGeom prst="rect">
            <a:avLst/>
          </a:prstGeom>
          <a:noFill/>
          <a:ln>
            <a:solidFill>
              <a:srgbClr val="AAD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183316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D5D8B-3739-804D-2AD5-CCF715F0C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34DA6B9-4BC1-C71C-11A1-1A0BC8D755E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B9E9775-3135-3B2F-19F4-00CA85F2437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EFE356-1ED3-7E5E-64A2-6A0E68BCABA7}"/>
              </a:ext>
            </a:extLst>
          </p:cNvPr>
          <p:cNvSpPr txBox="1"/>
          <p:nvPr/>
        </p:nvSpPr>
        <p:spPr>
          <a:xfrm>
            <a:off x="457203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TREES</a:t>
            </a:r>
          </a:p>
        </p:txBody>
      </p:sp>
      <p:sp>
        <p:nvSpPr>
          <p:cNvPr id="5" name="Action Button: Go Forward or Next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6F49C08A-2C9A-7C79-F1E5-B0B100831555}"/>
              </a:ext>
            </a:extLst>
          </p:cNvPr>
          <p:cNvSpPr/>
          <p:nvPr/>
        </p:nvSpPr>
        <p:spPr>
          <a:xfrm>
            <a:off x="1269665" y="1590303"/>
            <a:ext cx="1351615" cy="964676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ction Button: Go Forward or Next 5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AE6BA8F-8664-EE9A-07B8-BE7F1020BEE8}"/>
              </a:ext>
            </a:extLst>
          </p:cNvPr>
          <p:cNvSpPr/>
          <p:nvPr/>
        </p:nvSpPr>
        <p:spPr>
          <a:xfrm>
            <a:off x="1269664" y="4262139"/>
            <a:ext cx="1351616" cy="964675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4A914-7906-2EEE-3F2C-7F9245A6732D}"/>
              </a:ext>
            </a:extLst>
          </p:cNvPr>
          <p:cNvSpPr txBox="1"/>
          <p:nvPr/>
        </p:nvSpPr>
        <p:spPr>
          <a:xfrm>
            <a:off x="3065491" y="1795552"/>
            <a:ext cx="3977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TREE DESCRIPTION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E4A018-3F60-A47B-1C86-176E0A554372}"/>
              </a:ext>
            </a:extLst>
          </p:cNvPr>
          <p:cNvSpPr txBox="1"/>
          <p:nvPr/>
        </p:nvSpPr>
        <p:spPr>
          <a:xfrm>
            <a:off x="3065491" y="4649986"/>
            <a:ext cx="3672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TREE TRAVERSAL</a:t>
            </a:r>
          </a:p>
        </p:txBody>
      </p:sp>
    </p:spTree>
    <p:extLst>
      <p:ext uri="{BB962C8B-B14F-4D97-AF65-F5344CB8AC3E}">
        <p14:creationId xmlns:p14="http://schemas.microsoft.com/office/powerpoint/2010/main" val="147887874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0B044-8085-8402-347D-52712BA00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D2DD466-EF23-5417-4EC8-B1129799DB4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09659F6-526B-0E96-F84E-CF35AF42CC6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010230-42C6-389C-6736-DA56E499BD36}"/>
              </a:ext>
            </a:extLst>
          </p:cNvPr>
          <p:cNvSpPr txBox="1"/>
          <p:nvPr/>
        </p:nvSpPr>
        <p:spPr>
          <a:xfrm>
            <a:off x="339090" y="252740"/>
            <a:ext cx="61036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TREE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2C49F-B78F-DD95-E852-11915427C784}"/>
              </a:ext>
            </a:extLst>
          </p:cNvPr>
          <p:cNvSpPr txBox="1"/>
          <p:nvPr/>
        </p:nvSpPr>
        <p:spPr>
          <a:xfrm>
            <a:off x="339368" y="1270000"/>
            <a:ext cx="3568144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Trees are </a:t>
            </a:r>
            <a:r>
              <a:rPr lang="en-GB" b="1" dirty="0"/>
              <a:t>data structures</a:t>
            </a:r>
            <a:r>
              <a:rPr lang="en-GB" dirty="0"/>
              <a:t>. A </a:t>
            </a:r>
            <a:r>
              <a:rPr lang="en-GB" b="1" dirty="0"/>
              <a:t>rooted </a:t>
            </a:r>
            <a:r>
              <a:rPr lang="en-GB" dirty="0"/>
              <a:t>tree has a </a:t>
            </a:r>
            <a:r>
              <a:rPr lang="en-GB" b="1" dirty="0"/>
              <a:t>root </a:t>
            </a:r>
            <a:r>
              <a:rPr lang="en-GB" dirty="0"/>
              <a:t>which is the node with </a:t>
            </a:r>
            <a:r>
              <a:rPr lang="en-GB" b="1" dirty="0"/>
              <a:t>no incoming </a:t>
            </a:r>
            <a:r>
              <a:rPr lang="en-GB" b="1"/>
              <a:t>edges.</a:t>
            </a:r>
          </a:p>
          <a:p>
            <a:endParaRPr lang="en-GB" dirty="0"/>
          </a:p>
          <a:p>
            <a:r>
              <a:rPr lang="en-GB"/>
              <a:t>Like</a:t>
            </a:r>
            <a:r>
              <a:rPr lang="en-GB" dirty="0"/>
              <a:t> graphs, there are nodes and edges but differently there are </a:t>
            </a:r>
            <a:r>
              <a:rPr lang="en-GB" b="1" dirty="0"/>
              <a:t>parents, children and leaf </a:t>
            </a:r>
            <a:r>
              <a:rPr lang="en-GB" dirty="0"/>
              <a:t>nodes with a leaf node </a:t>
            </a:r>
            <a:r>
              <a:rPr lang="en-GB"/>
              <a:t>meaning the </a:t>
            </a:r>
            <a:r>
              <a:rPr lang="en-GB" b="1"/>
              <a:t>node has no children.</a:t>
            </a:r>
            <a:endParaRPr lang="en-GB" b="1" dirty="0"/>
          </a:p>
          <a:p>
            <a:endParaRPr lang="en-GB" dirty="0"/>
          </a:p>
          <a:p>
            <a:r>
              <a:rPr lang="en-GB" dirty="0"/>
              <a:t>Trees are used for </a:t>
            </a:r>
            <a:r>
              <a:rPr lang="en-GB" b="1" dirty="0"/>
              <a:t>manipulating </a:t>
            </a:r>
            <a:r>
              <a:rPr lang="en-GB" b="1"/>
              <a:t>hierarchal</a:t>
            </a:r>
            <a:r>
              <a:rPr lang="en-GB" b="1" dirty="0"/>
              <a:t> data</a:t>
            </a:r>
            <a:r>
              <a:rPr lang="en-GB" dirty="0"/>
              <a:t> (such as folder structures), making information easy to </a:t>
            </a:r>
            <a:r>
              <a:rPr lang="en-GB" b="1" dirty="0"/>
              <a:t>search</a:t>
            </a:r>
            <a:r>
              <a:rPr lang="en-GB" dirty="0"/>
              <a:t> or </a:t>
            </a:r>
            <a:r>
              <a:rPr lang="en-GB" b="1" dirty="0"/>
              <a:t>manipulating sorted lists </a:t>
            </a:r>
            <a:r>
              <a:rPr lang="en-GB" dirty="0"/>
              <a:t>of data.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88DB74-DF3D-5FC4-98A5-B16966F4B5AF}"/>
              </a:ext>
            </a:extLst>
          </p:cNvPr>
          <p:cNvSpPr txBox="1"/>
          <p:nvPr/>
        </p:nvSpPr>
        <p:spPr>
          <a:xfrm>
            <a:off x="8003850" y="1370113"/>
            <a:ext cx="377952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A binary tree is a rooted tree with </a:t>
            </a:r>
            <a:r>
              <a:rPr lang="en-GB" b="1" dirty="0"/>
              <a:t>each node having a max of two </a:t>
            </a:r>
            <a:r>
              <a:rPr lang="en-GB" b="1"/>
              <a:t>children </a:t>
            </a:r>
            <a:r>
              <a:rPr lang="en-GB"/>
              <a:t>– this allows binary trees to be </a:t>
            </a:r>
            <a:r>
              <a:rPr lang="en-GB" b="1"/>
              <a:t>searched easily and quickly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3E858-BA18-84D8-2627-D6B8C6D69257}"/>
              </a:ext>
            </a:extLst>
          </p:cNvPr>
          <p:cNvSpPr txBox="1"/>
          <p:nvPr/>
        </p:nvSpPr>
        <p:spPr>
          <a:xfrm>
            <a:off x="4483038" y="3174380"/>
            <a:ext cx="499872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/>
              <a:t>A binary tree can be implemented using an</a:t>
            </a:r>
            <a:r>
              <a:rPr lang="en-GB" b="1" dirty="0"/>
              <a:t> array of records</a:t>
            </a:r>
            <a:r>
              <a:rPr lang="en-GB" dirty="0"/>
              <a:t> with each node </a:t>
            </a:r>
            <a:r>
              <a:rPr lang="en-GB"/>
              <a:t>consisting of </a:t>
            </a:r>
            <a:r>
              <a:rPr lang="en-GB" b="1"/>
              <a:t>left </a:t>
            </a:r>
            <a:r>
              <a:rPr lang="en-GB" b="1" dirty="0"/>
              <a:t>pointer, data item, right pointer.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30D5033-E87E-481F-6C4D-8400B5E5B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330120"/>
              </p:ext>
            </p:extLst>
          </p:nvPr>
        </p:nvGraphicFramePr>
        <p:xfrm>
          <a:off x="4334852" y="4402279"/>
          <a:ext cx="40233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40318083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226508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83574664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4995102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solidFill>
                      <a:srgbClr val="F165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Left</a:t>
                      </a:r>
                    </a:p>
                  </a:txBody>
                  <a:tcPr>
                    <a:solidFill>
                      <a:srgbClr val="F165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Data</a:t>
                      </a:r>
                    </a:p>
                  </a:txBody>
                  <a:tcPr>
                    <a:solidFill>
                      <a:srgbClr val="F165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Right</a:t>
                      </a:r>
                    </a:p>
                  </a:txBody>
                  <a:tcPr>
                    <a:solidFill>
                      <a:srgbClr val="F165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68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Tree[0]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444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Tree[1]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614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Tree[2]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559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Tree[3]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68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Tree[4]</a:t>
                      </a:r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7434"/>
                  </a:ext>
                </a:extLst>
              </a:tr>
            </a:tbl>
          </a:graphicData>
        </a:graphic>
      </p:graphicFrame>
      <p:sp>
        <p:nvSpPr>
          <p:cNvPr id="19" name="Oval 18">
            <a:extLst>
              <a:ext uri="{FF2B5EF4-FFF2-40B4-BE49-F238E27FC236}">
                <a16:creationId xmlns:a16="http://schemas.microsoft.com/office/drawing/2014/main" id="{072CB17C-384E-C3DE-634B-2E1F20485905}"/>
              </a:ext>
            </a:extLst>
          </p:cNvPr>
          <p:cNvSpPr/>
          <p:nvPr/>
        </p:nvSpPr>
        <p:spPr>
          <a:xfrm>
            <a:off x="10145379" y="4312920"/>
            <a:ext cx="726812" cy="65333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18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98ED987-C8AE-23E0-47FD-437602C00601}"/>
              </a:ext>
            </a:extLst>
          </p:cNvPr>
          <p:cNvSpPr/>
          <p:nvPr/>
        </p:nvSpPr>
        <p:spPr>
          <a:xfrm>
            <a:off x="9281160" y="5056335"/>
            <a:ext cx="773276" cy="616167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12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E2874DC-4849-D914-1D95-EE78039DA170}"/>
              </a:ext>
            </a:extLst>
          </p:cNvPr>
          <p:cNvSpPr/>
          <p:nvPr/>
        </p:nvSpPr>
        <p:spPr>
          <a:xfrm>
            <a:off x="8463403" y="5743994"/>
            <a:ext cx="819740" cy="62545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5</a:t>
            </a:r>
            <a:endParaRPr lang="en-GB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5AD349F-0551-4412-F12B-4AFFF3A8388C}"/>
              </a:ext>
            </a:extLst>
          </p:cNvPr>
          <p:cNvSpPr/>
          <p:nvPr/>
        </p:nvSpPr>
        <p:spPr>
          <a:xfrm>
            <a:off x="10145378" y="5743994"/>
            <a:ext cx="726813" cy="625459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14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7BE6EE8-43E2-5EBC-C323-022D942C2313}"/>
              </a:ext>
            </a:extLst>
          </p:cNvPr>
          <p:cNvSpPr/>
          <p:nvPr/>
        </p:nvSpPr>
        <p:spPr>
          <a:xfrm>
            <a:off x="11241915" y="5139969"/>
            <a:ext cx="633886" cy="644044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GB"/>
              <a:t>22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D1E067-25C6-1592-90F1-E8393A04A6E7}"/>
              </a:ext>
            </a:extLst>
          </p:cNvPr>
          <p:cNvCxnSpPr/>
          <p:nvPr/>
        </p:nvCxnSpPr>
        <p:spPr>
          <a:xfrm flipH="1">
            <a:off x="9969314" y="4962169"/>
            <a:ext cx="508000" cy="18288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9792E12-9F9D-1575-EA30-EE42CBD5103F}"/>
              </a:ext>
            </a:extLst>
          </p:cNvPr>
          <p:cNvCxnSpPr>
            <a:cxnSpLocks/>
          </p:cNvCxnSpPr>
          <p:nvPr/>
        </p:nvCxnSpPr>
        <p:spPr>
          <a:xfrm flipH="1" flipV="1">
            <a:off x="10638387" y="4968488"/>
            <a:ext cx="591634" cy="346803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243CDC6-DCD4-6E00-8755-980017FCB4C7}"/>
              </a:ext>
            </a:extLst>
          </p:cNvPr>
          <p:cNvCxnSpPr>
            <a:cxnSpLocks/>
          </p:cNvCxnSpPr>
          <p:nvPr/>
        </p:nvCxnSpPr>
        <p:spPr>
          <a:xfrm flipH="1">
            <a:off x="8993582" y="5649827"/>
            <a:ext cx="508000" cy="18288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7CB52E0-1F6E-E7AF-C9B4-A25B60A08C7F}"/>
              </a:ext>
            </a:extLst>
          </p:cNvPr>
          <p:cNvCxnSpPr>
            <a:cxnSpLocks/>
          </p:cNvCxnSpPr>
          <p:nvPr/>
        </p:nvCxnSpPr>
        <p:spPr>
          <a:xfrm flipH="1" flipV="1">
            <a:off x="9922849" y="5609683"/>
            <a:ext cx="452245" cy="27246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Trees — Isaac Computer Science">
            <a:extLst>
              <a:ext uri="{FF2B5EF4-FFF2-40B4-BE49-F238E27FC236}">
                <a16:creationId xmlns:a16="http://schemas.microsoft.com/office/drawing/2014/main" id="{7DF76557-FFC4-29EB-CB8E-45D3E4C0B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4620" y="-286016"/>
            <a:ext cx="2640980" cy="345276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CE895BD-3186-176A-89F8-D9923B4991EE}"/>
              </a:ext>
            </a:extLst>
          </p:cNvPr>
          <p:cNvSpPr txBox="1"/>
          <p:nvPr/>
        </p:nvSpPr>
        <p:spPr>
          <a:xfrm>
            <a:off x="5689600" y="-50799"/>
            <a:ext cx="11379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Root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AC6A9F-E4E0-7086-E596-EF88CAA8DD66}"/>
              </a:ext>
            </a:extLst>
          </p:cNvPr>
          <p:cNvSpPr txBox="1"/>
          <p:nvPr/>
        </p:nvSpPr>
        <p:spPr>
          <a:xfrm>
            <a:off x="5029819" y="2495396"/>
            <a:ext cx="11379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/>
              <a:t>Leaves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D9A8820-F44F-7DF4-86BE-F3832140C3DF}"/>
              </a:ext>
            </a:extLst>
          </p:cNvPr>
          <p:cNvSpPr/>
          <p:nvPr/>
        </p:nvSpPr>
        <p:spPr>
          <a:xfrm>
            <a:off x="182880" y="1168400"/>
            <a:ext cx="3667760" cy="4622800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9A2418-30F7-B77A-DAFC-94FC40315E27}"/>
              </a:ext>
            </a:extLst>
          </p:cNvPr>
          <p:cNvSpPr/>
          <p:nvPr/>
        </p:nvSpPr>
        <p:spPr>
          <a:xfrm>
            <a:off x="4476099" y="3073399"/>
            <a:ext cx="5005906" cy="1026532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968390-2B16-D31A-2EFA-B6BD9456A4E8}"/>
              </a:ext>
            </a:extLst>
          </p:cNvPr>
          <p:cNvSpPr/>
          <p:nvPr/>
        </p:nvSpPr>
        <p:spPr>
          <a:xfrm>
            <a:off x="7895806" y="1270618"/>
            <a:ext cx="4113808" cy="1416826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511757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3AB5F-2125-9803-9133-14CAF3FFD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D0923BC-A84F-8A8B-E45D-903B4F5ECFD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62EB7E-7C0F-9519-26E9-9950685262CD}"/>
              </a:ext>
            </a:extLst>
          </p:cNvPr>
          <p:cNvSpPr txBox="1"/>
          <p:nvPr/>
        </p:nvSpPr>
        <p:spPr>
          <a:xfrm>
            <a:off x="112906" y="98579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TREE TRAVERSAL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8724B3A-CB65-3683-5828-C43EEB60232C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Binary Search Trees">
            <a:extLst>
              <a:ext uri="{FF2B5EF4-FFF2-40B4-BE49-F238E27FC236}">
                <a16:creationId xmlns:a16="http://schemas.microsoft.com/office/drawing/2014/main" id="{94E3F5DF-9D97-3C1B-AB00-BAD16717C4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16" y="1601845"/>
            <a:ext cx="4415882" cy="2975943"/>
          </a:xfrm>
          <a:prstGeom prst="rect">
            <a:avLst/>
          </a:prstGeom>
        </p:spPr>
      </p:pic>
      <p:pic>
        <p:nvPicPr>
          <p:cNvPr id="7" name="Picture 6" descr="Binary Search Trees">
            <a:extLst>
              <a:ext uri="{FF2B5EF4-FFF2-40B4-BE49-F238E27FC236}">
                <a16:creationId xmlns:a16="http://schemas.microsoft.com/office/drawing/2014/main" id="{9C1F70A6-CDC9-3BEB-E04F-DA2028840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778" y="-184855"/>
            <a:ext cx="4415882" cy="2975943"/>
          </a:xfrm>
          <a:prstGeom prst="rect">
            <a:avLst/>
          </a:prstGeom>
        </p:spPr>
      </p:pic>
      <p:pic>
        <p:nvPicPr>
          <p:cNvPr id="8" name="Picture 7" descr="Binary Search Trees">
            <a:extLst>
              <a:ext uri="{FF2B5EF4-FFF2-40B4-BE49-F238E27FC236}">
                <a16:creationId xmlns:a16="http://schemas.microsoft.com/office/drawing/2014/main" id="{4CDD02BA-C826-AC5C-F1A8-00FA49610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5601" y="2008121"/>
            <a:ext cx="4415882" cy="29759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AE01319-0F1C-6194-DFB2-C4A0BD9E48EE}"/>
                  </a:ext>
                </a:extLst>
              </p14:cNvPr>
              <p14:cNvContentPartPr/>
              <p14:nvPr/>
            </p14:nvContentPartPr>
            <p14:xfrm>
              <a:off x="202141" y="1736384"/>
              <a:ext cx="4187578" cy="2767518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AE01319-0F1C-6194-DFB2-C4A0BD9E48E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84142" y="1718747"/>
                <a:ext cx="4223215" cy="280315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B7CA04D-F8CD-99E7-6E38-57A5A5467344}"/>
                  </a:ext>
                </a:extLst>
              </p14:cNvPr>
              <p14:cNvContentPartPr/>
              <p14:nvPr/>
            </p14:nvContentPartPr>
            <p14:xfrm>
              <a:off x="1838760" y="2062480"/>
              <a:ext cx="232608" cy="194624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B7CA04D-F8CD-99E7-6E38-57A5A546734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20784" y="2044526"/>
                <a:ext cx="268200" cy="2301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7B16F26-B6BE-ABBD-2205-E00DA5669B38}"/>
                  </a:ext>
                </a:extLst>
              </p14:cNvPr>
              <p14:cNvContentPartPr/>
              <p14:nvPr/>
            </p14:nvContentPartPr>
            <p14:xfrm>
              <a:off x="3590820" y="2212615"/>
              <a:ext cx="157139" cy="144504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7B16F26-B6BE-ABBD-2205-E00DA5669B3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573200" y="2194642"/>
                <a:ext cx="192738" cy="180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B296C73-6DD5-E362-9073-0E126672796F}"/>
                  </a:ext>
                </a:extLst>
              </p14:cNvPr>
              <p14:cNvContentPartPr/>
              <p14:nvPr/>
            </p14:nvContentPartPr>
            <p14:xfrm>
              <a:off x="2082800" y="2367279"/>
              <a:ext cx="185648" cy="27373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B296C73-6DD5-E362-9073-0E126672796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65205" y="2349653"/>
                <a:ext cx="221198" cy="3093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E85B9C7-5005-FBF2-658D-D7340EC6A289}"/>
                  </a:ext>
                </a:extLst>
              </p14:cNvPr>
              <p14:cNvContentPartPr/>
              <p14:nvPr/>
            </p14:nvContentPartPr>
            <p14:xfrm>
              <a:off x="2245676" y="1829325"/>
              <a:ext cx="92566" cy="123901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E85B9C7-5005-FBF2-658D-D7340EC6A28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28096" y="1811727"/>
                <a:ext cx="128086" cy="1594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CA831D4-7042-9C42-AB4B-1AD69C919C81}"/>
                  </a:ext>
                </a:extLst>
              </p14:cNvPr>
              <p14:cNvContentPartPr/>
              <p14:nvPr/>
            </p14:nvContentPartPr>
            <p14:xfrm>
              <a:off x="1064710" y="2557034"/>
              <a:ext cx="156121" cy="14740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CA831D4-7042-9C42-AB4B-1AD69C919C8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46765" y="2539417"/>
                <a:ext cx="191652" cy="1829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01082D3-9260-07B3-6061-669152D5EEBC}"/>
                  </a:ext>
                </a:extLst>
              </p14:cNvPr>
              <p14:cNvContentPartPr/>
              <p14:nvPr/>
            </p14:nvContentPartPr>
            <p14:xfrm>
              <a:off x="394148" y="3299300"/>
              <a:ext cx="123658" cy="136413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01082D3-9260-07B3-6061-669152D5EEB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6174" y="3281710"/>
                <a:ext cx="159246" cy="1719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B121BB4-8A26-C3CC-7216-5A19FBA13DC1}"/>
                  </a:ext>
                </a:extLst>
              </p14:cNvPr>
              <p14:cNvContentPartPr/>
              <p14:nvPr/>
            </p14:nvContentPartPr>
            <p14:xfrm>
              <a:off x="119767" y="4162269"/>
              <a:ext cx="135504" cy="13771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B121BB4-8A26-C3CC-7216-5A19FBA13DC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2155" y="4144338"/>
                <a:ext cx="171087" cy="1732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D6F6FBD-EDD7-2D85-F8FD-8D54F97E61A6}"/>
                  </a:ext>
                </a:extLst>
              </p14:cNvPr>
              <p14:cNvContentPartPr/>
              <p14:nvPr/>
            </p14:nvContentPartPr>
            <p14:xfrm>
              <a:off x="842019" y="4149710"/>
              <a:ext cx="104672" cy="153927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D6F6FBD-EDD7-2D85-F8FD-8D54F97E61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4454" y="4132129"/>
                <a:ext cx="140160" cy="1894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85CE734-4566-C307-3935-47BD5AD04847}"/>
                  </a:ext>
                </a:extLst>
              </p14:cNvPr>
              <p14:cNvContentPartPr/>
              <p14:nvPr/>
            </p14:nvContentPartPr>
            <p14:xfrm>
              <a:off x="1671242" y="3396372"/>
              <a:ext cx="87916" cy="99721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85CE734-4566-C307-3935-47BD5AD04847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53659" y="3378795"/>
                <a:ext cx="123441" cy="135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150FEE2-0D09-695F-FF73-5A0297E9DE57}"/>
                  </a:ext>
                </a:extLst>
              </p14:cNvPr>
              <p14:cNvContentPartPr/>
              <p14:nvPr/>
            </p14:nvContentPartPr>
            <p14:xfrm>
              <a:off x="1483359" y="4072331"/>
              <a:ext cx="93303" cy="114662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150FEE2-0D09-695F-FF73-5A0297E9DE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65775" y="4054415"/>
                <a:ext cx="128830" cy="1501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532173D-AC58-158A-0D4D-53888EBE8141}"/>
                  </a:ext>
                </a:extLst>
              </p14:cNvPr>
              <p14:cNvContentPartPr/>
              <p14:nvPr/>
            </p14:nvContentPartPr>
            <p14:xfrm>
              <a:off x="3202739" y="2731065"/>
              <a:ext cx="92566" cy="104915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532173D-AC58-158A-0D4D-53888EBE814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184800" y="2713100"/>
                <a:ext cx="128086" cy="1404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E7B405F-9B67-31B7-EB70-AEBC1E9A8A08}"/>
                  </a:ext>
                </a:extLst>
              </p14:cNvPr>
              <p14:cNvContentPartPr/>
              <p14:nvPr/>
            </p14:nvContentPartPr>
            <p14:xfrm>
              <a:off x="2876747" y="3391065"/>
              <a:ext cx="108047" cy="93228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E7B405F-9B67-31B7-EB70-AEBC1E9A8A08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858799" y="3373495"/>
                <a:ext cx="143584" cy="1287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1FDD2AE-1508-9475-7B79-8961F45D2FD1}"/>
                  </a:ext>
                </a:extLst>
              </p14:cNvPr>
              <p14:cNvContentPartPr/>
              <p14:nvPr/>
            </p14:nvContentPartPr>
            <p14:xfrm>
              <a:off x="3119930" y="4343478"/>
              <a:ext cx="65569" cy="65899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1FDD2AE-1508-9475-7B79-8961F45D2FD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102373" y="4325571"/>
                <a:ext cx="101041" cy="1013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D93F261-73E0-EA0C-0C82-43D87CBD6833}"/>
                  </a:ext>
                </a:extLst>
              </p14:cNvPr>
              <p14:cNvContentPartPr/>
              <p14:nvPr/>
            </p14:nvContentPartPr>
            <p14:xfrm>
              <a:off x="3895628" y="3426813"/>
              <a:ext cx="113666" cy="159666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D93F261-73E0-EA0C-0C82-43D87CBD6833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878058" y="3408873"/>
                <a:ext cx="149164" cy="1951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0863233-88E7-E8AB-D039-1A50066D681D}"/>
                  </a:ext>
                </a:extLst>
              </p14:cNvPr>
              <p14:cNvContentPartPr/>
              <p14:nvPr/>
            </p14:nvContentPartPr>
            <p14:xfrm>
              <a:off x="4337675" y="8215"/>
              <a:ext cx="4339978" cy="2858958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0863233-88E7-E8AB-D039-1A50066D681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319676" y="-9784"/>
                <a:ext cx="4375617" cy="2894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4AC87A0-A2D9-E2A2-994E-2E13D3DDCFDB}"/>
                  </a:ext>
                </a:extLst>
              </p14:cNvPr>
              <p14:cNvContentPartPr/>
              <p14:nvPr/>
            </p14:nvContentPartPr>
            <p14:xfrm>
              <a:off x="7833779" y="2132836"/>
              <a:ext cx="4187578" cy="2767518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4AC87A0-A2D9-E2A2-994E-2E13D3DDCFD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815780" y="2114837"/>
                <a:ext cx="4223215" cy="28031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0E9088E-3337-272C-41FF-ECC0AD65B9A1}"/>
                  </a:ext>
                </a:extLst>
              </p14:cNvPr>
              <p14:cNvContentPartPr/>
              <p14:nvPr/>
            </p14:nvContentPartPr>
            <p14:xfrm>
              <a:off x="5859330" y="321477"/>
              <a:ext cx="176911" cy="254229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0E9088E-3337-272C-41FF-ECC0AD65B9A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41388" y="303498"/>
                <a:ext cx="212437" cy="2898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E4564A2-154B-C8D5-89AA-396A4DFE3BE6}"/>
                  </a:ext>
                </a:extLst>
              </p14:cNvPr>
              <p14:cNvContentPartPr/>
              <p14:nvPr/>
            </p14:nvContentPartPr>
            <p14:xfrm>
              <a:off x="7417607" y="268670"/>
              <a:ext cx="255798" cy="256007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E4564A2-154B-C8D5-89AA-396A4DFE3BE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399644" y="250717"/>
                <a:ext cx="291365" cy="2915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100B141-CD21-C12D-8446-C72DA2E4A1D2}"/>
                  </a:ext>
                </a:extLst>
              </p14:cNvPr>
              <p14:cNvContentPartPr/>
              <p14:nvPr/>
            </p14:nvContentPartPr>
            <p14:xfrm>
              <a:off x="6636802" y="490173"/>
              <a:ext cx="10160" cy="101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100B141-CD21-C12D-8446-C72DA2E4A1D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28802" y="447840"/>
                <a:ext cx="1016000" cy="93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1A75F93-3C9B-0604-5DBD-AF516799DE47}"/>
                  </a:ext>
                </a:extLst>
              </p14:cNvPr>
              <p14:cNvContentPartPr/>
              <p14:nvPr/>
            </p14:nvContentPartPr>
            <p14:xfrm>
              <a:off x="6228786" y="666918"/>
              <a:ext cx="213222" cy="217234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1A75F93-3C9B-0604-5DBD-AF516799DE4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210838" y="648935"/>
                <a:ext cx="248759" cy="25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B42FBE7-F691-8E48-9DD5-F1B536C80552}"/>
                  </a:ext>
                </a:extLst>
              </p14:cNvPr>
              <p14:cNvContentPartPr/>
              <p14:nvPr/>
            </p14:nvContentPartPr>
            <p14:xfrm rot="-360000">
              <a:off x="9502405" y="2335990"/>
              <a:ext cx="316053" cy="285501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B42FBE7-F691-8E48-9DD5-F1B536C8055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 rot="-360000">
                <a:off x="9484427" y="2318011"/>
                <a:ext cx="351649" cy="321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24A7AAA-75F9-140C-48D1-27DFF75A820B}"/>
                  </a:ext>
                </a:extLst>
              </p14:cNvPr>
              <p14:cNvContentPartPr/>
              <p14:nvPr/>
            </p14:nvContentPartPr>
            <p14:xfrm rot="9420000">
              <a:off x="10832037" y="2428526"/>
              <a:ext cx="173953" cy="142607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24A7AAA-75F9-140C-48D1-27DFF75A820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 rot="9420000">
                <a:off x="10814067" y="2410565"/>
                <a:ext cx="209534" cy="178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428F943-F573-2651-9541-7A93D6CEAF78}"/>
                  </a:ext>
                </a:extLst>
              </p14:cNvPr>
              <p14:cNvContentPartPr/>
              <p14:nvPr/>
            </p14:nvContentPartPr>
            <p14:xfrm>
              <a:off x="9765238" y="2702772"/>
              <a:ext cx="10160" cy="101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428F943-F573-2651-9541-7A93D6CEAF7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257238" y="2194772"/>
                <a:ext cx="1016000" cy="10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6D6BE50F-1AC8-B946-B3EE-1192167A2BA2}"/>
                  </a:ext>
                </a:extLst>
              </p14:cNvPr>
              <p14:cNvContentPartPr/>
              <p14:nvPr/>
            </p14:nvContentPartPr>
            <p14:xfrm>
              <a:off x="9612837" y="2834851"/>
              <a:ext cx="295607" cy="248967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6D6BE50F-1AC8-B946-B3EE-1192167A2BA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594856" y="2816888"/>
                <a:ext cx="331209" cy="2845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D846CAD-C27A-8B87-043F-2424733E2447}"/>
                  </a:ext>
                </a:extLst>
              </p14:cNvPr>
              <p14:cNvContentPartPr/>
              <p14:nvPr/>
            </p14:nvContentPartPr>
            <p14:xfrm>
              <a:off x="4523657" y="2545877"/>
              <a:ext cx="123839" cy="251364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D846CAD-C27A-8B87-043F-2424733E244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4505709" y="2527897"/>
                <a:ext cx="159375" cy="2869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BB5A67B-5490-F09B-1058-6FEBFCDC23FF}"/>
                  </a:ext>
                </a:extLst>
              </p14:cNvPr>
              <p14:cNvContentPartPr/>
              <p14:nvPr/>
            </p14:nvContentPartPr>
            <p14:xfrm>
              <a:off x="4921515" y="1868029"/>
              <a:ext cx="100498" cy="96619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BB5A67B-5490-F09B-1058-6FEBFCDC23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903569" y="1850137"/>
                <a:ext cx="136031" cy="132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67B3951-6070-BFDC-139A-90857C7CCB5D}"/>
                  </a:ext>
                </a:extLst>
              </p14:cNvPr>
              <p14:cNvContentPartPr/>
              <p14:nvPr/>
            </p14:nvContentPartPr>
            <p14:xfrm>
              <a:off x="5202470" y="2585047"/>
              <a:ext cx="104979" cy="206041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67B3951-6070-BFDC-139A-90857C7CCB5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5184494" y="2567068"/>
                <a:ext cx="140571" cy="2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391C8B6-4D9F-7D2E-A2B6-952DCB5EB583}"/>
                  </a:ext>
                </a:extLst>
              </p14:cNvPr>
              <p14:cNvContentPartPr/>
              <p14:nvPr/>
            </p14:nvContentPartPr>
            <p14:xfrm>
              <a:off x="5495659" y="1103674"/>
              <a:ext cx="124908" cy="123642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391C8B6-4D9F-7D2E-A2B6-952DCB5EB58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477712" y="1085755"/>
                <a:ext cx="160442" cy="1591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5C52FE69-BCCE-9533-6BAA-14161C037C36}"/>
                  </a:ext>
                </a:extLst>
              </p14:cNvPr>
              <p14:cNvContentPartPr/>
              <p14:nvPr/>
            </p14:nvContentPartPr>
            <p14:xfrm>
              <a:off x="5799413" y="2585047"/>
              <a:ext cx="93643" cy="103583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5C52FE69-BCCE-9533-6BAA-14161C037C36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781474" y="2567126"/>
                <a:ext cx="129163" cy="139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5C89F32-95D2-55F6-9382-30CFE164D14C}"/>
                  </a:ext>
                </a:extLst>
              </p14:cNvPr>
              <p14:cNvContentPartPr/>
              <p14:nvPr/>
            </p14:nvContentPartPr>
            <p14:xfrm>
              <a:off x="6197880" y="1860357"/>
              <a:ext cx="72970" cy="90424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5C89F32-95D2-55F6-9382-30CFE164D14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6179995" y="1842416"/>
                <a:ext cx="108382" cy="1259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A1E8D5C-C123-2921-B167-0B43E6ED6353}"/>
                  </a:ext>
                </a:extLst>
              </p14:cNvPr>
              <p14:cNvContentPartPr/>
              <p14:nvPr/>
            </p14:nvContentPartPr>
            <p14:xfrm>
              <a:off x="6646210" y="339469"/>
              <a:ext cx="161428" cy="75825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A1E8D5C-C123-2921-B167-0B43E6ED635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628234" y="321501"/>
                <a:ext cx="197021" cy="1114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585AF012-E1A7-581E-2130-7D9E857ABB29}"/>
                  </a:ext>
                </a:extLst>
              </p14:cNvPr>
              <p14:cNvContentPartPr/>
              <p14:nvPr/>
            </p14:nvContentPartPr>
            <p14:xfrm>
              <a:off x="7353067" y="1891275"/>
              <a:ext cx="187299" cy="139524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585AF012-E1A7-581E-2130-7D9E857ABB2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335092" y="1873341"/>
                <a:ext cx="222889" cy="1750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BC96269-B5F4-91C3-F567-5AFEAA2F12EA}"/>
                  </a:ext>
                </a:extLst>
              </p14:cNvPr>
              <p14:cNvContentPartPr/>
              <p14:nvPr/>
            </p14:nvContentPartPr>
            <p14:xfrm>
              <a:off x="7739283" y="2557034"/>
              <a:ext cx="87855" cy="94662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BC96269-B5F4-91C3-F567-5AFEAA2F12EA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721353" y="2539106"/>
                <a:ext cx="123356" cy="1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FE7827C-B2A7-8201-415A-C6F6C88B0920}"/>
                  </a:ext>
                </a:extLst>
              </p14:cNvPr>
              <p14:cNvContentPartPr/>
              <p14:nvPr/>
            </p14:nvContentPartPr>
            <p14:xfrm>
              <a:off x="7878692" y="1097451"/>
              <a:ext cx="53613" cy="68044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FE7827C-B2A7-8201-415A-C6F6C88B0920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860821" y="1079545"/>
                <a:ext cx="88998" cy="1034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CF374254-3D9A-0BC6-CCC1-A2A5AB3D0DD0}"/>
                  </a:ext>
                </a:extLst>
              </p14:cNvPr>
              <p14:cNvContentPartPr/>
              <p14:nvPr/>
            </p14:nvContentPartPr>
            <p14:xfrm>
              <a:off x="8435530" y="1788080"/>
              <a:ext cx="64875" cy="15555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CF374254-3D9A-0BC6-CCC1-A2A5AB3D0DD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417609" y="1770118"/>
                <a:ext cx="100359" cy="1911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A5D4C10-AB51-29CC-4E4E-0DEA0E2902ED}"/>
                  </a:ext>
                </a:extLst>
              </p14:cNvPr>
              <p14:cNvContentPartPr/>
              <p14:nvPr/>
            </p14:nvContentPartPr>
            <p14:xfrm>
              <a:off x="8180278" y="4510329"/>
              <a:ext cx="143722" cy="102522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A5D4C10-AB51-29CC-4E4E-0DEA0E2902ED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8162313" y="4492343"/>
                <a:ext cx="179293" cy="1381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A790D33-D577-7F60-1353-44ACA9D35C86}"/>
                  </a:ext>
                </a:extLst>
              </p14:cNvPr>
              <p14:cNvContentPartPr/>
              <p14:nvPr/>
            </p14:nvContentPartPr>
            <p14:xfrm>
              <a:off x="8787790" y="4388529"/>
              <a:ext cx="131098" cy="183682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A790D33-D577-7F60-1353-44ACA9D35C8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769880" y="4370556"/>
                <a:ext cx="166559" cy="2192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57F75A4-9298-A02C-8B0F-70214B7531EA}"/>
                  </a:ext>
                </a:extLst>
              </p14:cNvPr>
              <p14:cNvContentPartPr/>
              <p14:nvPr/>
            </p14:nvContentPartPr>
            <p14:xfrm>
              <a:off x="8565645" y="3700508"/>
              <a:ext cx="84203" cy="140183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57F75A4-9298-A02C-8B0F-70214B7531EA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8547729" y="3682582"/>
                <a:ext cx="119676" cy="1756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7B8AE58-4635-D419-375E-1873C6D91EE1}"/>
                  </a:ext>
                </a:extLst>
              </p14:cNvPr>
              <p14:cNvContentPartPr/>
              <p14:nvPr/>
            </p14:nvContentPartPr>
            <p14:xfrm>
              <a:off x="9491654" y="4554317"/>
              <a:ext cx="71872" cy="69442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7B8AE58-4635-D419-375E-1873C6D91EE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473775" y="4536420"/>
                <a:ext cx="107272" cy="1048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4E90464-D0AD-6FCE-902C-1AD3621D96D9}"/>
                  </a:ext>
                </a:extLst>
              </p14:cNvPr>
              <p14:cNvContentPartPr/>
              <p14:nvPr/>
            </p14:nvContentPartPr>
            <p14:xfrm>
              <a:off x="9813988" y="3770943"/>
              <a:ext cx="196703" cy="140868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4E90464-D0AD-6FCE-902C-1AD3621D96D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9796008" y="3752975"/>
                <a:ext cx="232304" cy="176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C6DB7250-53AD-99AF-648F-4B9CF5169350}"/>
                  </a:ext>
                </a:extLst>
              </p14:cNvPr>
              <p14:cNvContentPartPr/>
              <p14:nvPr/>
            </p14:nvContentPartPr>
            <p14:xfrm>
              <a:off x="9194147" y="2961215"/>
              <a:ext cx="104819" cy="249556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C6DB7250-53AD-99AF-648F-4B9CF5169350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9176199" y="2943235"/>
                <a:ext cx="140357" cy="285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0495F34-CDCE-9671-1574-96BD0A5CC8C0}"/>
                  </a:ext>
                </a:extLst>
              </p14:cNvPr>
              <p14:cNvContentPartPr/>
              <p14:nvPr/>
            </p14:nvContentPartPr>
            <p14:xfrm>
              <a:off x="11431986" y="4386368"/>
              <a:ext cx="71747" cy="155363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0495F34-CDCE-9671-1574-96BD0A5CC8C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414138" y="4368386"/>
                <a:ext cx="107085" cy="190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2E1B0EE4-9EDA-C2EC-26B3-8CBF781AC606}"/>
                  </a:ext>
                </a:extLst>
              </p14:cNvPr>
              <p14:cNvContentPartPr/>
              <p14:nvPr/>
            </p14:nvContentPartPr>
            <p14:xfrm>
              <a:off x="11042913" y="3693395"/>
              <a:ext cx="219536" cy="263065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2E1B0EE4-9EDA-C2EC-26B3-8CBF781AC60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024948" y="3675401"/>
                <a:ext cx="255107" cy="2986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8B6F79D-03CF-0E17-CEFC-AFE6AD0895C8}"/>
                  </a:ext>
                </a:extLst>
              </p14:cNvPr>
              <p14:cNvContentPartPr/>
              <p14:nvPr/>
            </p14:nvContentPartPr>
            <p14:xfrm>
              <a:off x="12027998" y="3705430"/>
              <a:ext cx="125570" cy="198601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8B6F79D-03CF-0E17-CEFC-AFE6AD0895C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2010059" y="3687473"/>
                <a:ext cx="161088" cy="2341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7176318-2120-A5B2-688F-0DB98250FF90}"/>
                  </a:ext>
                </a:extLst>
              </p14:cNvPr>
              <p14:cNvContentPartPr/>
              <p14:nvPr/>
            </p14:nvContentPartPr>
            <p14:xfrm>
              <a:off x="11514160" y="2959334"/>
              <a:ext cx="94559" cy="187117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7176318-2120-A5B2-688F-0DB98250FF9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496183" y="2941377"/>
                <a:ext cx="130153" cy="222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D5D571A7-737F-455A-0ED8-A41CD0880298}"/>
                  </a:ext>
                </a:extLst>
              </p14:cNvPr>
              <p14:cNvContentPartPr/>
              <p14:nvPr/>
            </p14:nvContentPartPr>
            <p14:xfrm>
              <a:off x="10375111" y="2148157"/>
              <a:ext cx="123734" cy="176315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D5D571A7-737F-455A-0ED8-A41CD088029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357179" y="2130166"/>
                <a:ext cx="159240" cy="211938"/>
              </a:xfrm>
              <a:prstGeom prst="rect">
                <a:avLst/>
              </a:prstGeom>
            </p:spPr>
          </p:pic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2E3352E3-E932-C4C0-39C8-6420E7703202}"/>
              </a:ext>
            </a:extLst>
          </p:cNvPr>
          <p:cNvSpPr txBox="1"/>
          <p:nvPr/>
        </p:nvSpPr>
        <p:spPr>
          <a:xfrm>
            <a:off x="153067" y="976029"/>
            <a:ext cx="244855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PRE-ORDER, </a:t>
            </a:r>
            <a:r>
              <a:rPr lang="en-GB" dirty="0"/>
              <a:t>as you pass the left of the node, output data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23E749-705E-1D26-5B28-FE9FF7B080CA}"/>
              </a:ext>
            </a:extLst>
          </p:cNvPr>
          <p:cNvSpPr txBox="1"/>
          <p:nvPr/>
        </p:nvSpPr>
        <p:spPr>
          <a:xfrm>
            <a:off x="3072798" y="132213"/>
            <a:ext cx="1691226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</a:rPr>
              <a:t>IN-ORDER, </a:t>
            </a:r>
            <a:r>
              <a:rPr lang="en-GB" dirty="0"/>
              <a:t>as you pass underneath the node, output data 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752775-9E7B-A248-FB8B-A415EF936191}"/>
              </a:ext>
            </a:extLst>
          </p:cNvPr>
          <p:cNvSpPr txBox="1"/>
          <p:nvPr/>
        </p:nvSpPr>
        <p:spPr>
          <a:xfrm>
            <a:off x="9871420" y="1092970"/>
            <a:ext cx="238393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 dirty="0">
                <a:solidFill>
                  <a:schemeClr val="accent6"/>
                </a:solidFill>
              </a:rPr>
              <a:t>POST-ORDER, </a:t>
            </a:r>
            <a:r>
              <a:rPr lang="en-GB" dirty="0"/>
              <a:t>as you pass the right of the node, output data 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3FB7EA-99B7-AAD9-B2F4-E2F47DBA0772}"/>
              </a:ext>
            </a:extLst>
          </p:cNvPr>
          <p:cNvSpPr/>
          <p:nvPr/>
        </p:nvSpPr>
        <p:spPr>
          <a:xfrm>
            <a:off x="187519" y="884152"/>
            <a:ext cx="2074583" cy="9744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41535EF-D6FE-C3E9-3F91-E2C5E985533F}"/>
              </a:ext>
            </a:extLst>
          </p:cNvPr>
          <p:cNvSpPr/>
          <p:nvPr/>
        </p:nvSpPr>
        <p:spPr>
          <a:xfrm>
            <a:off x="3052367" y="121405"/>
            <a:ext cx="1595130" cy="1538894"/>
          </a:xfrm>
          <a:prstGeom prst="rect">
            <a:avLst/>
          </a:prstGeom>
          <a:noFill/>
          <a:ln>
            <a:solidFill>
              <a:srgbClr val="F1652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63E9805-063A-51EA-EF65-E15004A9335D}"/>
              </a:ext>
            </a:extLst>
          </p:cNvPr>
          <p:cNvSpPr/>
          <p:nvPr/>
        </p:nvSpPr>
        <p:spPr>
          <a:xfrm>
            <a:off x="9885892" y="1103673"/>
            <a:ext cx="2267676" cy="95512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0A766021-A703-E23E-498D-81B101970A7A}"/>
              </a:ext>
            </a:extLst>
          </p:cNvPr>
          <p:cNvPicPr>
            <a:picLocks noChangeAspect="1"/>
          </p:cNvPicPr>
          <p:nvPr/>
        </p:nvPicPr>
        <p:blipFill>
          <a:blip r:embed="rId98"/>
          <a:srcRect t="3431" r="25106" b="4446"/>
          <a:stretch>
            <a:fillRect/>
          </a:stretch>
        </p:blipFill>
        <p:spPr>
          <a:xfrm>
            <a:off x="830843" y="4619544"/>
            <a:ext cx="3053840" cy="2057330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D83315A9-A673-A339-E8B3-3EBBDB9594A1}"/>
              </a:ext>
            </a:extLst>
      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4432969" y="3133756"/>
            <a:ext cx="2874539" cy="1941937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B2910CF2-F96A-7FC0-6483-A7AF31B3A02A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7502375" y="4852756"/>
            <a:ext cx="3205422" cy="2035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5115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D3689-5643-10C6-BB93-F5DB9C229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diagram of a gear with numbers and a number&#10;&#10;AI-generated content may be incorrect.">
            <a:extLst>
              <a:ext uri="{FF2B5EF4-FFF2-40B4-BE49-F238E27FC236}">
                <a16:creationId xmlns:a16="http://schemas.microsoft.com/office/drawing/2014/main" id="{38EF49BC-C046-7956-2189-5C712938B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11792"/>
            <a:ext cx="5532119" cy="3829928"/>
          </a:xfrm>
          <a:prstGeom prst="rect">
            <a:avLst/>
          </a:prstGeom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6D4C475-6C56-E070-CB11-7F2C2E3EC4E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57D5D428-6A0F-BD08-9A18-DE2328B88DA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F39AA8-9E54-87E3-863B-3F181C8226F1}"/>
              </a:ext>
            </a:extLst>
          </p:cNvPr>
          <p:cNvSpPr txBox="1"/>
          <p:nvPr/>
        </p:nvSpPr>
        <p:spPr>
          <a:xfrm>
            <a:off x="457201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HASH TABLE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F35FD3-240E-7FEF-A63B-FC509CA5E286}"/>
              </a:ext>
            </a:extLst>
          </p:cNvPr>
          <p:cNvSpPr txBox="1"/>
          <p:nvPr/>
        </p:nvSpPr>
        <p:spPr>
          <a:xfrm>
            <a:off x="494018" y="928360"/>
            <a:ext cx="44256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</a:t>
            </a:r>
            <a:r>
              <a:rPr lang="en-GB" b="1" dirty="0"/>
              <a:t>hashing algorithm/function </a:t>
            </a:r>
            <a:r>
              <a:rPr lang="en-GB" dirty="0"/>
              <a:t>can be used to create an </a:t>
            </a:r>
            <a:r>
              <a:rPr lang="en-GB" b="1" dirty="0"/>
              <a:t>index</a:t>
            </a:r>
            <a:r>
              <a:rPr lang="en-GB" dirty="0"/>
              <a:t> by taking in data (</a:t>
            </a:r>
            <a:r>
              <a:rPr lang="en-GB" b="1" dirty="0"/>
              <a:t>key</a:t>
            </a:r>
            <a:r>
              <a:rPr lang="en-GB" dirty="0"/>
              <a:t>) to </a:t>
            </a:r>
            <a:r>
              <a:rPr lang="en-GB" b="1" dirty="0"/>
              <a:t>produce a unique output (hash</a:t>
            </a:r>
            <a:r>
              <a:rPr lang="en-GB" dirty="0"/>
              <a:t>). The hash function </a:t>
            </a:r>
            <a:r>
              <a:rPr lang="en-GB" b="1" dirty="0"/>
              <a:t>maps the key to a unique index in the hash table.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11DE3-20F0-A61C-5927-2D261404D6D8}"/>
              </a:ext>
            </a:extLst>
          </p:cNvPr>
          <p:cNvSpPr txBox="1"/>
          <p:nvPr/>
        </p:nvSpPr>
        <p:spPr>
          <a:xfrm>
            <a:off x="9996111" y="1133587"/>
            <a:ext cx="193796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Collisions</a:t>
            </a:r>
            <a:r>
              <a:rPr lang="en-GB" dirty="0"/>
              <a:t> can occur </a:t>
            </a:r>
            <a:r>
              <a:rPr lang="en-GB" b="1" dirty="0"/>
              <a:t>when two keys produce the same hashed value,</a:t>
            </a:r>
            <a:r>
              <a:rPr lang="en-GB" dirty="0"/>
              <a:t> </a:t>
            </a:r>
            <a:r>
              <a:rPr lang="en-GB" b="1" dirty="0"/>
              <a:t>rehashing</a:t>
            </a:r>
            <a:r>
              <a:rPr lang="en-GB" dirty="0"/>
              <a:t> can be done to resolve collisions.</a:t>
            </a:r>
          </a:p>
          <a:p>
            <a:endParaRPr lang="en-GB" dirty="0"/>
          </a:p>
          <a:p>
            <a:r>
              <a:rPr lang="en-GB" dirty="0"/>
              <a:t> It involves </a:t>
            </a:r>
            <a:r>
              <a:rPr lang="en-GB" b="1" dirty="0"/>
              <a:t>assigning the collided data to the next empty slot</a:t>
            </a:r>
            <a:r>
              <a:rPr lang="en-GB" dirty="0"/>
              <a:t> in the hash table.</a:t>
            </a:r>
          </a:p>
          <a:p>
            <a:endParaRPr lang="en-GB" dirty="0"/>
          </a:p>
          <a:p>
            <a:r>
              <a:rPr lang="en-GB" dirty="0"/>
              <a:t>A good hashing algorithm should have a </a:t>
            </a:r>
            <a:r>
              <a:rPr lang="en-GB" b="1" dirty="0"/>
              <a:t>low rate of collisions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5A38DB-C8F9-5F0F-4931-C24462566AB0}"/>
              </a:ext>
            </a:extLst>
          </p:cNvPr>
          <p:cNvSpPr txBox="1"/>
          <p:nvPr/>
        </p:nvSpPr>
        <p:spPr>
          <a:xfrm>
            <a:off x="5135400" y="240304"/>
            <a:ext cx="496407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Hash tables are primarily used </a:t>
            </a:r>
            <a:r>
              <a:rPr lang="en-GB" b="1" dirty="0"/>
              <a:t>for efficient lookup and encryption. </a:t>
            </a:r>
          </a:p>
          <a:p>
            <a:endParaRPr lang="en-GB" dirty="0"/>
          </a:p>
          <a:p>
            <a:r>
              <a:rPr lang="en-GB" dirty="0"/>
              <a:t>They are also used in the implementation of </a:t>
            </a:r>
            <a:r>
              <a:rPr lang="en-GB" b="1" dirty="0"/>
              <a:t>dictionaries</a:t>
            </a:r>
            <a:r>
              <a:rPr lang="en-GB" dirty="0"/>
              <a:t>.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6CB2C-228A-7670-DDEB-6079C995E49E}"/>
              </a:ext>
            </a:extLst>
          </p:cNvPr>
          <p:cNvSpPr txBox="1"/>
          <p:nvPr/>
        </p:nvSpPr>
        <p:spPr>
          <a:xfrm>
            <a:off x="4919713" y="1994630"/>
            <a:ext cx="488289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hash function can be created for strings by using the </a:t>
            </a:r>
            <a:r>
              <a:rPr lang="en-GB" b="1" dirty="0"/>
              <a:t>ASCII code </a:t>
            </a:r>
            <a:r>
              <a:rPr lang="en-GB" dirty="0"/>
              <a:t>for each character. E.G. using the hashing algorithm MOD 11, CAB = 67 + 65 + 66 = 198</a:t>
            </a:r>
          </a:p>
          <a:p>
            <a:r>
              <a:rPr lang="en-GB" dirty="0"/>
              <a:t>198 Mod 11 = 0 = hash value so CAB is stored in location 0 in the hash table if it is empty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DDD93-51EA-1837-C8F3-717A4C5299C7}"/>
              </a:ext>
            </a:extLst>
          </p:cNvPr>
          <p:cNvSpPr txBox="1"/>
          <p:nvPr/>
        </p:nvSpPr>
        <p:spPr>
          <a:xfrm>
            <a:off x="5532119" y="3949742"/>
            <a:ext cx="43474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 search for an item:</a:t>
            </a:r>
          </a:p>
          <a:p>
            <a:endParaRPr lang="en-GB" dirty="0"/>
          </a:p>
          <a:p>
            <a:r>
              <a:rPr lang="en-GB" b="1" dirty="0"/>
              <a:t>Apply hashing algorithm to the key </a:t>
            </a:r>
            <a:r>
              <a:rPr lang="en-GB" dirty="0"/>
              <a:t>field of the item</a:t>
            </a:r>
          </a:p>
          <a:p>
            <a:r>
              <a:rPr lang="en-GB" dirty="0"/>
              <a:t>Examine the resulting cells,</a:t>
            </a:r>
          </a:p>
          <a:p>
            <a:r>
              <a:rPr lang="en-GB" dirty="0"/>
              <a:t>. If item is there, </a:t>
            </a:r>
            <a:r>
              <a:rPr lang="en-GB" b="1" dirty="0"/>
              <a:t>return item</a:t>
            </a:r>
            <a:r>
              <a:rPr lang="en-GB" dirty="0"/>
              <a:t>.</a:t>
            </a:r>
          </a:p>
          <a:p>
            <a:r>
              <a:rPr lang="en-GB" dirty="0"/>
              <a:t>. If empty, </a:t>
            </a:r>
            <a:r>
              <a:rPr lang="en-GB" b="1" dirty="0"/>
              <a:t>item is not in table</a:t>
            </a:r>
            <a:r>
              <a:rPr lang="en-GB" dirty="0"/>
              <a:t>.</a:t>
            </a:r>
          </a:p>
          <a:p>
            <a:r>
              <a:rPr lang="en-GB" dirty="0"/>
              <a:t>. If there is another item in that spot, move down the hash table </a:t>
            </a:r>
            <a:r>
              <a:rPr lang="en-GB" b="1" dirty="0"/>
              <a:t>until item is found or empty cell.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68B205-0A90-9F08-5C42-A66193DF1DC3}"/>
              </a:ext>
            </a:extLst>
          </p:cNvPr>
          <p:cNvSpPr/>
          <p:nvPr/>
        </p:nvSpPr>
        <p:spPr>
          <a:xfrm>
            <a:off x="5135400" y="92101"/>
            <a:ext cx="4645024" cy="1617827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1AA340-C3D3-0C4A-D746-D3BDF11B6FF8}"/>
              </a:ext>
            </a:extLst>
          </p:cNvPr>
          <p:cNvSpPr/>
          <p:nvPr/>
        </p:nvSpPr>
        <p:spPr>
          <a:xfrm>
            <a:off x="410679" y="840137"/>
            <a:ext cx="4347411" cy="1754326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2E92D1-3942-6D23-C18F-BB7986AC5D8B}"/>
              </a:ext>
            </a:extLst>
          </p:cNvPr>
          <p:cNvSpPr/>
          <p:nvPr/>
        </p:nvSpPr>
        <p:spPr>
          <a:xfrm>
            <a:off x="4970969" y="1793122"/>
            <a:ext cx="4709642" cy="1955834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FD9A02-2715-1111-B87A-2280A7BA1E55}"/>
              </a:ext>
            </a:extLst>
          </p:cNvPr>
          <p:cNvSpPr/>
          <p:nvPr/>
        </p:nvSpPr>
        <p:spPr>
          <a:xfrm>
            <a:off x="5532119" y="3915607"/>
            <a:ext cx="4270489" cy="2850291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D8BCF0-70EA-C0E6-46CF-916D632AE737}"/>
              </a:ext>
            </a:extLst>
          </p:cNvPr>
          <p:cNvSpPr/>
          <p:nvPr/>
        </p:nvSpPr>
        <p:spPr>
          <a:xfrm>
            <a:off x="9957814" y="1028701"/>
            <a:ext cx="2065698" cy="5737198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115544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28CA868-C492-BA49-6554-93076978119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AF250F-6B94-4115-5EE3-7AEA96B4E19A}"/>
              </a:ext>
            </a:extLst>
          </p:cNvPr>
          <p:cNvSpPr txBox="1"/>
          <p:nvPr/>
        </p:nvSpPr>
        <p:spPr>
          <a:xfrm>
            <a:off x="766746" y="336962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SLR15 BOOLEAN ALGEBRA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FE02A-C3D7-21EA-E9D8-2FB44D070415}"/>
              </a:ext>
            </a:extLst>
          </p:cNvPr>
          <p:cNvSpPr txBox="1"/>
          <p:nvPr/>
        </p:nvSpPr>
        <p:spPr>
          <a:xfrm>
            <a:off x="2575563" y="1523257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LOGIC GATES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27FB2B-D1E4-8225-5E48-3DA95F23FBE7}"/>
              </a:ext>
            </a:extLst>
          </p:cNvPr>
          <p:cNvSpPr txBox="1"/>
          <p:nvPr/>
        </p:nvSpPr>
        <p:spPr>
          <a:xfrm>
            <a:off x="2625529" y="2540948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KARNAUGH MAPS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4B6D0-0A7D-74F2-1858-F2299DC1C544}"/>
              </a:ext>
            </a:extLst>
          </p:cNvPr>
          <p:cNvSpPr txBox="1"/>
          <p:nvPr/>
        </p:nvSpPr>
        <p:spPr>
          <a:xfrm>
            <a:off x="2575563" y="3557856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SIMPLIFYING BOOLEAN ALGEBRA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256A4-AA48-407D-A8A1-926981301B2B}"/>
              </a:ext>
            </a:extLst>
          </p:cNvPr>
          <p:cNvSpPr txBox="1"/>
          <p:nvPr/>
        </p:nvSpPr>
        <p:spPr>
          <a:xfrm>
            <a:off x="2625529" y="4574764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LOGIC CIRCUITS</a:t>
            </a:r>
          </a:p>
        </p:txBody>
      </p:sp>
      <p:sp>
        <p:nvSpPr>
          <p:cNvPr id="8" name="Action Button: Go Forward or Next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7DDCD54-70DF-2C89-2384-56F105A40EAE}"/>
              </a:ext>
            </a:extLst>
          </p:cNvPr>
          <p:cNvSpPr/>
          <p:nvPr/>
        </p:nvSpPr>
        <p:spPr>
          <a:xfrm>
            <a:off x="766747" y="1423056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ction Button: Go Forward or Next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1950C24-0168-A38A-80D0-B5990B2A8C78}"/>
              </a:ext>
            </a:extLst>
          </p:cNvPr>
          <p:cNvSpPr/>
          <p:nvPr/>
        </p:nvSpPr>
        <p:spPr>
          <a:xfrm>
            <a:off x="766746" y="2358355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ction Button: Go Forward or Next 9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12FCC5C-A2CE-FA84-00D5-8EDB917562CB}"/>
              </a:ext>
            </a:extLst>
          </p:cNvPr>
          <p:cNvSpPr/>
          <p:nvPr/>
        </p:nvSpPr>
        <p:spPr>
          <a:xfrm>
            <a:off x="766746" y="4448809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8A08C550-75C1-F2F4-5D98-A034CFE728EE}"/>
              </a:ext>
            </a:extLst>
          </p:cNvPr>
          <p:cNvSpPr/>
          <p:nvPr/>
        </p:nvSpPr>
        <p:spPr>
          <a:xfrm>
            <a:off x="766746" y="3403582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183720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5B6CDC3-A030-D190-2CDF-48D70342A28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1CDD0B0-F63C-F718-4299-BCA16E2DE92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EA63D-BA9D-C3C2-5E56-184FD4B4F191}"/>
              </a:ext>
            </a:extLst>
          </p:cNvPr>
          <p:cNvSpPr txBox="1"/>
          <p:nvPr/>
        </p:nvSpPr>
        <p:spPr>
          <a:xfrm>
            <a:off x="262131" y="221962"/>
            <a:ext cx="6096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/>
              <a:t>LOGIC GATES</a:t>
            </a:r>
          </a:p>
        </p:txBody>
      </p:sp>
      <p:pic>
        <p:nvPicPr>
          <p:cNvPr id="6" name="Picture 5" descr="A diagram of a circuit&#10;&#10;AI-generated content may be incorrect.">
            <a:extLst>
              <a:ext uri="{FF2B5EF4-FFF2-40B4-BE49-F238E27FC236}">
                <a16:creationId xmlns:a16="http://schemas.microsoft.com/office/drawing/2014/main" id="{01BF3540-A4BD-17FA-B13A-18ECF0C21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4616" y="0"/>
            <a:ext cx="6058746" cy="24196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E6299D-7DC9-58F7-2B72-59E224CD62F3}"/>
              </a:ext>
            </a:extLst>
          </p:cNvPr>
          <p:cNvSpPr txBox="1"/>
          <p:nvPr/>
        </p:nvSpPr>
        <p:spPr>
          <a:xfrm>
            <a:off x="588936" y="1255253"/>
            <a:ext cx="31616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</a:t>
            </a:r>
            <a:r>
              <a:rPr lang="en-GB" b="1"/>
              <a:t>truth table </a:t>
            </a:r>
            <a:r>
              <a:rPr lang="en-GB"/>
              <a:t>shows every possible </a:t>
            </a:r>
            <a:r>
              <a:rPr lang="en-GB" b="1"/>
              <a:t>permutation</a:t>
            </a:r>
            <a:r>
              <a:rPr lang="en-GB"/>
              <a:t> of inputs to a logic gate and the corresponding output.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1028A2-EB92-B2C5-77F7-F94FAC1290C0}"/>
              </a:ext>
            </a:extLst>
          </p:cNvPr>
          <p:cNvSpPr txBox="1"/>
          <p:nvPr/>
        </p:nvSpPr>
        <p:spPr>
          <a:xfrm>
            <a:off x="1136543" y="3863810"/>
            <a:ext cx="47579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Boolean </a:t>
            </a:r>
            <a:r>
              <a:rPr lang="en-GB" b="1"/>
              <a:t>equations</a:t>
            </a:r>
            <a:r>
              <a:rPr lang="en-GB"/>
              <a:t> are made by </a:t>
            </a:r>
            <a:r>
              <a:rPr lang="en-GB" b="1"/>
              <a:t>combining Boolean operators.</a:t>
            </a:r>
          </a:p>
          <a:p>
            <a:endParaRPr lang="en-GB"/>
          </a:p>
          <a:p>
            <a:r>
              <a:rPr lang="en-GB"/>
              <a:t>Sometimes a really long Boolean expression is </a:t>
            </a:r>
            <a:r>
              <a:rPr lang="en-GB" b="1"/>
              <a:t>identical</a:t>
            </a:r>
            <a:r>
              <a:rPr lang="en-GB"/>
              <a:t> to another more desirable, shorter expression</a:t>
            </a:r>
          </a:p>
        </p:txBody>
      </p:sp>
      <p:pic>
        <p:nvPicPr>
          <p:cNvPr id="1026" name="Picture 2" descr="Janmercy 2 Pcs Sleeping Cap for Men Adjustable Sleep Cap Men Buffalo Plaid  Night Hat with Ball Tassel for Winter, Black Green, Blue Green, 21.6-23.6  ...">
            <a:extLst>
              <a:ext uri="{FF2B5EF4-FFF2-40B4-BE49-F238E27FC236}">
                <a16:creationId xmlns:a16="http://schemas.microsoft.com/office/drawing/2014/main" id="{A84E1170-F856-652B-D1C3-508BE743B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8931" y="2695196"/>
            <a:ext cx="333375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0542404-E6AE-8EC4-DAEA-D17201135B9D}"/>
              </a:ext>
            </a:extLst>
          </p:cNvPr>
          <p:cNvSpPr/>
          <p:nvPr/>
        </p:nvSpPr>
        <p:spPr>
          <a:xfrm>
            <a:off x="464949" y="1239864"/>
            <a:ext cx="3161654" cy="1363851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25D0D-AF81-013A-E83C-BA2472A14CB9}"/>
              </a:ext>
            </a:extLst>
          </p:cNvPr>
          <p:cNvSpPr txBox="1"/>
          <p:nvPr/>
        </p:nvSpPr>
        <p:spPr>
          <a:xfrm>
            <a:off x="7237708" y="6028946"/>
            <a:ext cx="5129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There is not too much to know to be honest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C53378-32F9-BF3A-3393-7E7462FF0931}"/>
              </a:ext>
            </a:extLst>
          </p:cNvPr>
          <p:cNvSpPr/>
          <p:nvPr/>
        </p:nvSpPr>
        <p:spPr>
          <a:xfrm>
            <a:off x="1056486" y="3662332"/>
            <a:ext cx="4838036" cy="2103037"/>
          </a:xfrm>
          <a:prstGeom prst="rect">
            <a:avLst/>
          </a:prstGeom>
          <a:noFill/>
          <a:ln>
            <a:solidFill>
              <a:srgbClr val="0A1F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61800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4DFCB-CCD8-A848-0014-5505B2B0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581B004-30DA-7AE6-6E8B-1B2DB28ADEB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563E6891-1870-0665-698D-5265476E845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89FA7F-5940-6503-E50B-5C6E8ECBAC66}"/>
              </a:ext>
            </a:extLst>
          </p:cNvPr>
          <p:cNvSpPr txBox="1"/>
          <p:nvPr/>
        </p:nvSpPr>
        <p:spPr>
          <a:xfrm>
            <a:off x="348673" y="252740"/>
            <a:ext cx="4017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KARNAUGH MAPS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3E0F66-B44F-0DFC-8A1F-4AC77685B960}"/>
              </a:ext>
            </a:extLst>
          </p:cNvPr>
          <p:cNvSpPr txBox="1"/>
          <p:nvPr/>
        </p:nvSpPr>
        <p:spPr>
          <a:xfrm>
            <a:off x="348673" y="808730"/>
            <a:ext cx="4936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</a:t>
            </a:r>
            <a:r>
              <a:rPr lang="en-GB" b="1"/>
              <a:t>Karnaugh map </a:t>
            </a:r>
            <a:r>
              <a:rPr lang="en-GB"/>
              <a:t>can be used to </a:t>
            </a:r>
            <a:r>
              <a:rPr lang="en-GB" b="1"/>
              <a:t>simplify Boolean expressions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93E497F-F58C-620F-F3C7-A36006B86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1095" y="566633"/>
            <a:ext cx="4001058" cy="257211"/>
          </a:xfrm>
          <a:prstGeom prst="rect">
            <a:avLst/>
          </a:prstGeom>
        </p:spPr>
      </p:pic>
      <p:pic>
        <p:nvPicPr>
          <p:cNvPr id="11" name="Picture 10" descr="A screenshot of a game&#10;&#10;AI-generated content may be incorrect.">
            <a:extLst>
              <a:ext uri="{FF2B5EF4-FFF2-40B4-BE49-F238E27FC236}">
                <a16:creationId xmlns:a16="http://schemas.microsoft.com/office/drawing/2014/main" id="{67B2B5FD-3A4B-BC50-BCAA-687A884BB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749" y="2241141"/>
            <a:ext cx="1695687" cy="3648584"/>
          </a:xfrm>
          <a:prstGeom prst="rect">
            <a:avLst/>
          </a:prstGeom>
        </p:spPr>
      </p:pic>
      <p:pic>
        <p:nvPicPr>
          <p:cNvPr id="13" name="Picture 12" descr="A number and number in a row&#10;&#10;AI-generated content may be incorrect.">
            <a:extLst>
              <a:ext uri="{FF2B5EF4-FFF2-40B4-BE49-F238E27FC236}">
                <a16:creationId xmlns:a16="http://schemas.microsoft.com/office/drawing/2014/main" id="{8BA02AF7-F103-EA34-B330-80CE0ED423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635" y="1886195"/>
            <a:ext cx="4048690" cy="183858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E037445-9D3E-F67E-7757-E96AD0916213}"/>
              </a:ext>
            </a:extLst>
          </p:cNvPr>
          <p:cNvSpPr txBox="1"/>
          <p:nvPr/>
        </p:nvSpPr>
        <p:spPr>
          <a:xfrm>
            <a:off x="7964700" y="1436396"/>
            <a:ext cx="356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Corresponding Karnaugh Map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264361-7DDA-6D34-193A-9C0C4AC4B110}"/>
              </a:ext>
            </a:extLst>
          </p:cNvPr>
          <p:cNvSpPr txBox="1"/>
          <p:nvPr/>
        </p:nvSpPr>
        <p:spPr>
          <a:xfrm>
            <a:off x="7890967" y="4065433"/>
            <a:ext cx="32617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Make sure when dealing with more than 2 variables, the fields corresponding to 2+ composite variables are arranged in a form where the </a:t>
            </a:r>
            <a:r>
              <a:rPr lang="en-GB" b="1"/>
              <a:t>subsequent term reflects a change in only 1 variabl</a:t>
            </a:r>
            <a:r>
              <a:rPr lang="en-GB"/>
              <a:t>e 00 -&gt; 01 -&gt; 11 -&gt; 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96EE4E-6D96-2B14-77A5-1294E8CF0504}"/>
              </a:ext>
            </a:extLst>
          </p:cNvPr>
          <p:cNvSpPr txBox="1"/>
          <p:nvPr/>
        </p:nvSpPr>
        <p:spPr>
          <a:xfrm>
            <a:off x="4077448" y="1708556"/>
            <a:ext cx="30996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Highlight the 1s </a:t>
            </a:r>
            <a:r>
              <a:rPr lang="en-GB"/>
              <a:t>on the  Karnaugh Map using the </a:t>
            </a:r>
            <a:r>
              <a:rPr lang="en-GB" b="1"/>
              <a:t>fewest rectangles.</a:t>
            </a:r>
          </a:p>
          <a:p>
            <a:endParaRPr lang="en-GB"/>
          </a:p>
          <a:p>
            <a:r>
              <a:rPr lang="en-GB"/>
              <a:t>Rectangles can </a:t>
            </a:r>
            <a:r>
              <a:rPr lang="en-GB" b="1"/>
              <a:t>overlap</a:t>
            </a:r>
            <a:r>
              <a:rPr lang="en-GB"/>
              <a:t> and </a:t>
            </a:r>
            <a:r>
              <a:rPr lang="en-GB" b="1"/>
              <a:t>loop</a:t>
            </a:r>
            <a:r>
              <a:rPr lang="en-GB"/>
              <a:t> around the table.</a:t>
            </a:r>
          </a:p>
          <a:p>
            <a:endParaRPr lang="en-GB"/>
          </a:p>
          <a:p>
            <a:r>
              <a:rPr lang="en-GB"/>
              <a:t>Now we have two rectangles.</a:t>
            </a:r>
          </a:p>
          <a:p>
            <a:endParaRPr lang="en-GB"/>
          </a:p>
          <a:p>
            <a:r>
              <a:rPr lang="en-GB"/>
              <a:t>1 rectangle represents (¬C ^ ¬B)  (A V ¬C)</a:t>
            </a:r>
          </a:p>
          <a:p>
            <a:r>
              <a:rPr lang="en-GB"/>
              <a:t>The other vertical rectangle represents (A ^ ¬B), </a:t>
            </a:r>
            <a:r>
              <a:rPr lang="en-GB" b="1"/>
              <a:t>we join these statements</a:t>
            </a:r>
            <a:r>
              <a:rPr lang="en-GB"/>
              <a:t> with </a:t>
            </a:r>
            <a:r>
              <a:rPr lang="en-GB" b="1"/>
              <a:t>OR</a:t>
            </a:r>
            <a:r>
              <a:rPr lang="en-GB"/>
              <a:t> logic gates now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784BAD-7BDC-3F54-0209-CF74F7C2030D}"/>
              </a:ext>
            </a:extLst>
          </p:cNvPr>
          <p:cNvSpPr txBox="1"/>
          <p:nvPr/>
        </p:nvSpPr>
        <p:spPr>
          <a:xfrm>
            <a:off x="3218008" y="6373757"/>
            <a:ext cx="4001058" cy="484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3C7344A-039F-A375-1C9A-B5B38DB9EE5A}"/>
              </a:ext>
            </a:extLst>
          </p:cNvPr>
          <p:cNvSpPr txBox="1"/>
          <p:nvPr/>
        </p:nvSpPr>
        <p:spPr>
          <a:xfrm>
            <a:off x="2129248" y="2877302"/>
            <a:ext cx="16956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Corresponding </a:t>
            </a:r>
            <a:r>
              <a:rPr lang="en-GB" b="1"/>
              <a:t>truth table</a:t>
            </a:r>
          </a:p>
        </p:txBody>
      </p:sp>
      <p:pic>
        <p:nvPicPr>
          <p:cNvPr id="24" name="Picture 23" descr="A black background with a black square with a white square with a black text&#10;&#10;AI-generated content may be incorrect.">
            <a:extLst>
              <a:ext uri="{FF2B5EF4-FFF2-40B4-BE49-F238E27FC236}">
                <a16:creationId xmlns:a16="http://schemas.microsoft.com/office/drawing/2014/main" id="{F55349DE-C4AA-BF35-CF98-1F01F35B42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3591" t="966" r="-364" b="90609"/>
          <a:stretch>
            <a:fillRect/>
          </a:stretch>
        </p:blipFill>
        <p:spPr>
          <a:xfrm>
            <a:off x="4003305" y="5968200"/>
            <a:ext cx="3130930" cy="490617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0BEE345B-DFBD-E68B-FFC2-0672647C3527}"/>
              </a:ext>
            </a:extLst>
          </p:cNvPr>
          <p:cNvSpPr/>
          <p:nvPr/>
        </p:nvSpPr>
        <p:spPr>
          <a:xfrm>
            <a:off x="3999921" y="1540122"/>
            <a:ext cx="3261714" cy="5065138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6831C7-753C-A3BA-F8E0-6E23A084E20A}"/>
              </a:ext>
            </a:extLst>
          </p:cNvPr>
          <p:cNvSpPr/>
          <p:nvPr/>
        </p:nvSpPr>
        <p:spPr>
          <a:xfrm>
            <a:off x="267396" y="731231"/>
            <a:ext cx="4382096" cy="70516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414A1E4-2F82-6483-8AA5-5B0835193AD8}"/>
              </a:ext>
            </a:extLst>
          </p:cNvPr>
          <p:cNvSpPr/>
          <p:nvPr/>
        </p:nvSpPr>
        <p:spPr>
          <a:xfrm>
            <a:off x="7890967" y="4065432"/>
            <a:ext cx="3261714" cy="239338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47435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45FCE-0D29-24D5-A76A-71D2EF5EF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F06C58F-23E9-134E-4A34-B95163C63D4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2A11438-30A0-02B5-7E1F-D8676BBF6782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89670E-D9A9-6A03-305D-DA8B2E549598}"/>
              </a:ext>
            </a:extLst>
          </p:cNvPr>
          <p:cNvSpPr txBox="1"/>
          <p:nvPr/>
        </p:nvSpPr>
        <p:spPr>
          <a:xfrm>
            <a:off x="618747" y="514350"/>
            <a:ext cx="52165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SIMPLIFYING BOOLEAN ALGEBRA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38156B-4213-BDF8-C569-CFEB2A4F2A4F}"/>
              </a:ext>
            </a:extLst>
          </p:cNvPr>
          <p:cNvSpPr txBox="1"/>
          <p:nvPr/>
        </p:nvSpPr>
        <p:spPr>
          <a:xfrm>
            <a:off x="263471" y="1751308"/>
            <a:ext cx="275611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DE MORGAN’S LAWS:</a:t>
            </a:r>
          </a:p>
          <a:p>
            <a:endParaRPr lang="en-GB"/>
          </a:p>
          <a:p>
            <a:r>
              <a:rPr lang="en-GB"/>
              <a:t>This involves converting Boolean function into a function only using </a:t>
            </a:r>
            <a:r>
              <a:rPr lang="en-GB" b="1"/>
              <a:t>NAND or NOR functions</a:t>
            </a:r>
            <a:r>
              <a:rPr lang="en-GB"/>
              <a:t>. Most used when a </a:t>
            </a:r>
            <a:r>
              <a:rPr lang="en-GB" b="1"/>
              <a:t>negation applies to the whole of an operator</a:t>
            </a:r>
          </a:p>
          <a:p>
            <a:endParaRPr lang="en-GB"/>
          </a:p>
          <a:p>
            <a:r>
              <a:rPr lang="en-GB"/>
              <a:t>¬(A V B)  =   ¬A ^ ¬B</a:t>
            </a:r>
          </a:p>
          <a:p>
            <a:endParaRPr lang="en-GB"/>
          </a:p>
          <a:p>
            <a:r>
              <a:rPr lang="en-GB"/>
              <a:t>¬(A ^ B) = ¬ A V  ¬ B</a:t>
            </a:r>
          </a:p>
          <a:p>
            <a:endParaRPr lang="en-GB"/>
          </a:p>
          <a:p>
            <a:r>
              <a:rPr lang="en-GB" b="1"/>
              <a:t>Conjunction is replaced by disjunction </a:t>
            </a:r>
            <a:r>
              <a:rPr lang="en-GB"/>
              <a:t>and vice versa</a:t>
            </a:r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4F9CB5-D07A-70D8-06A3-6DFCCAA8744B}"/>
              </a:ext>
            </a:extLst>
          </p:cNvPr>
          <p:cNvSpPr txBox="1"/>
          <p:nvPr/>
        </p:nvSpPr>
        <p:spPr>
          <a:xfrm>
            <a:off x="3556145" y="1233105"/>
            <a:ext cx="27282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BASIC RULES</a:t>
            </a:r>
            <a:r>
              <a:rPr lang="en-GB">
                <a:solidFill>
                  <a:srgbClr val="C26CBA"/>
                </a:solidFill>
              </a:rPr>
              <a:t>:</a:t>
            </a:r>
          </a:p>
          <a:p>
            <a:endParaRPr lang="en-GB"/>
          </a:p>
          <a:p>
            <a:r>
              <a:rPr lang="en-GB"/>
              <a:t>X ^ 0 = 0</a:t>
            </a:r>
          </a:p>
          <a:p>
            <a:r>
              <a:rPr lang="en-GB"/>
              <a:t>X ^ 1 = X</a:t>
            </a:r>
          </a:p>
          <a:p>
            <a:r>
              <a:rPr lang="en-GB"/>
              <a:t>X ^ X = X</a:t>
            </a:r>
          </a:p>
          <a:p>
            <a:r>
              <a:rPr lang="en-GB"/>
              <a:t>X^ ¬X = 0</a:t>
            </a:r>
          </a:p>
          <a:p>
            <a:r>
              <a:rPr lang="en-GB"/>
              <a:t>X V 0 = X</a:t>
            </a:r>
          </a:p>
          <a:p>
            <a:r>
              <a:rPr lang="en-GB"/>
              <a:t>X V 1 = 1</a:t>
            </a:r>
          </a:p>
          <a:p>
            <a:r>
              <a:rPr lang="en-GB"/>
              <a:t>X V X = X</a:t>
            </a:r>
          </a:p>
          <a:p>
            <a:r>
              <a:rPr lang="en-GB"/>
              <a:t>X V ¬X =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B44CBF-7455-0894-4B35-E2DE769291CE}"/>
              </a:ext>
            </a:extLst>
          </p:cNvPr>
          <p:cNvSpPr txBox="1"/>
          <p:nvPr/>
        </p:nvSpPr>
        <p:spPr>
          <a:xfrm>
            <a:off x="6096000" y="340963"/>
            <a:ext cx="27282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Commutative rule:</a:t>
            </a:r>
          </a:p>
          <a:p>
            <a:r>
              <a:rPr lang="en-GB" b="1">
                <a:solidFill>
                  <a:srgbClr val="C26CBA"/>
                </a:solidFill>
              </a:rPr>
              <a:t> </a:t>
            </a:r>
            <a:r>
              <a:rPr lang="en-GB" b="1"/>
              <a:t>Order of literals </a:t>
            </a:r>
            <a:r>
              <a:rPr lang="en-GB"/>
              <a:t>around an operator </a:t>
            </a:r>
            <a:r>
              <a:rPr lang="en-GB" b="1"/>
              <a:t>does not matter </a:t>
            </a:r>
            <a:r>
              <a:rPr lang="en-GB"/>
              <a:t>e.g. Y V X = X V 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9263B-07B3-6E1E-2BD4-ACE4C9F13ACF}"/>
              </a:ext>
            </a:extLst>
          </p:cNvPr>
          <p:cNvSpPr txBox="1"/>
          <p:nvPr/>
        </p:nvSpPr>
        <p:spPr>
          <a:xfrm>
            <a:off x="5835324" y="2030278"/>
            <a:ext cx="38821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Double negation:</a:t>
            </a:r>
          </a:p>
          <a:p>
            <a:endParaRPr lang="en-GB"/>
          </a:p>
          <a:p>
            <a:r>
              <a:rPr lang="en-GB"/>
              <a:t>If negation happens twice, </a:t>
            </a:r>
            <a:r>
              <a:rPr lang="en-GB" b="1"/>
              <a:t>both negation can be removed.</a:t>
            </a:r>
            <a:r>
              <a:rPr lang="en-GB"/>
              <a:t> E.g. X = ¬¬X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9FBC9A-7B50-F4E6-CA2B-EB5918348CFF}"/>
              </a:ext>
            </a:extLst>
          </p:cNvPr>
          <p:cNvSpPr txBox="1"/>
          <p:nvPr/>
        </p:nvSpPr>
        <p:spPr>
          <a:xfrm>
            <a:off x="3556145" y="4711485"/>
            <a:ext cx="3712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Association:</a:t>
            </a:r>
          </a:p>
          <a:p>
            <a:r>
              <a:rPr lang="en-GB"/>
              <a:t> Addition or removal of </a:t>
            </a:r>
            <a:r>
              <a:rPr lang="en-GB" b="1"/>
              <a:t>brackets and reordering literals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(A ^ B) ^ C) = A ^ B ^ 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C305E7-A07E-08D4-8F78-6F77BE0147D8}"/>
              </a:ext>
            </a:extLst>
          </p:cNvPr>
          <p:cNvSpPr txBox="1"/>
          <p:nvPr/>
        </p:nvSpPr>
        <p:spPr>
          <a:xfrm>
            <a:off x="9872420" y="1541292"/>
            <a:ext cx="205610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Absorption rules:</a:t>
            </a:r>
          </a:p>
          <a:p>
            <a:endParaRPr lang="en-GB"/>
          </a:p>
          <a:p>
            <a:r>
              <a:rPr lang="en-GB"/>
              <a:t>Removing </a:t>
            </a:r>
            <a:r>
              <a:rPr lang="en-GB" b="1"/>
              <a:t>unnecessary expressions.</a:t>
            </a:r>
            <a:r>
              <a:rPr lang="en-GB"/>
              <a:t> </a:t>
            </a:r>
          </a:p>
          <a:p>
            <a:r>
              <a:rPr lang="en-GB"/>
              <a:t>(X ^ ( X V Y) = X</a:t>
            </a:r>
          </a:p>
          <a:p>
            <a:r>
              <a:rPr lang="en-GB"/>
              <a:t>X V (X ^ Y) = 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98CB0E-B63A-ABD9-920D-89635D903B29}"/>
              </a:ext>
            </a:extLst>
          </p:cNvPr>
          <p:cNvSpPr txBox="1"/>
          <p:nvPr/>
        </p:nvSpPr>
        <p:spPr>
          <a:xfrm>
            <a:off x="7656163" y="4510007"/>
            <a:ext cx="40605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rgbClr val="C26CBA"/>
                </a:solidFill>
              </a:rPr>
              <a:t>Distribution.</a:t>
            </a:r>
          </a:p>
          <a:p>
            <a:endParaRPr lang="en-GB"/>
          </a:p>
          <a:p>
            <a:r>
              <a:rPr lang="en-GB"/>
              <a:t>(A ^ B) ^ ( A^ C) = A ^ ( B ^ C)</a:t>
            </a:r>
          </a:p>
          <a:p>
            <a:r>
              <a:rPr lang="en-GB"/>
              <a:t>(A V B) V ( A V C) = A V (B V C)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207CD0B-D4D3-C9DD-10AF-F8C6E3441D31}"/>
              </a:ext>
            </a:extLst>
          </p:cNvPr>
          <p:cNvSpPr/>
          <p:nvPr/>
        </p:nvSpPr>
        <p:spPr>
          <a:xfrm>
            <a:off x="263471" y="1751308"/>
            <a:ext cx="2756115" cy="4773478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9114FC-D454-75E2-0E71-96BC3F725ECA}"/>
              </a:ext>
            </a:extLst>
          </p:cNvPr>
          <p:cNvSpPr/>
          <p:nvPr/>
        </p:nvSpPr>
        <p:spPr>
          <a:xfrm>
            <a:off x="3556146" y="1230522"/>
            <a:ext cx="1590220" cy="296017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937E9DA-E35F-FCD3-83FB-712640BD6039}"/>
              </a:ext>
            </a:extLst>
          </p:cNvPr>
          <p:cNvSpPr/>
          <p:nvPr/>
        </p:nvSpPr>
        <p:spPr>
          <a:xfrm>
            <a:off x="3233980" y="4657249"/>
            <a:ext cx="3882112" cy="1686402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6BC0C-027C-AA29-9B11-883011148C89}"/>
              </a:ext>
            </a:extLst>
          </p:cNvPr>
          <p:cNvSpPr/>
          <p:nvPr/>
        </p:nvSpPr>
        <p:spPr>
          <a:xfrm>
            <a:off x="7449776" y="4369790"/>
            <a:ext cx="3882112" cy="181902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4EFFE8-34FC-F168-4468-DB21B0AFC5CB}"/>
              </a:ext>
            </a:extLst>
          </p:cNvPr>
          <p:cNvSpPr/>
          <p:nvPr/>
        </p:nvSpPr>
        <p:spPr>
          <a:xfrm>
            <a:off x="5627073" y="2007843"/>
            <a:ext cx="3882113" cy="175824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D588A3-167C-8969-FDB2-BDB9FD090601}"/>
              </a:ext>
            </a:extLst>
          </p:cNvPr>
          <p:cNvSpPr/>
          <p:nvPr/>
        </p:nvSpPr>
        <p:spPr>
          <a:xfrm>
            <a:off x="9769862" y="1541292"/>
            <a:ext cx="2158668" cy="2224797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C949AA-E637-E268-578D-50DB86578EC1}"/>
              </a:ext>
            </a:extLst>
          </p:cNvPr>
          <p:cNvSpPr/>
          <p:nvPr/>
        </p:nvSpPr>
        <p:spPr>
          <a:xfrm>
            <a:off x="5937882" y="340963"/>
            <a:ext cx="3128626" cy="1364374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620810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4392C-7EB9-0798-9B63-10AE5596E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64ED019-53F6-89B7-37C3-7D4B98322C4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1B3D2E3-82FB-048B-97C6-F5BBDB65D716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A191A8-E556-A197-7BF5-79F855D3D5C0}"/>
              </a:ext>
            </a:extLst>
          </p:cNvPr>
          <p:cNvSpPr txBox="1"/>
          <p:nvPr/>
        </p:nvSpPr>
        <p:spPr>
          <a:xfrm>
            <a:off x="430969" y="331948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LOGIC CIRCUITS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C302C1-7719-B535-6800-640DC62D71EE}"/>
              </a:ext>
            </a:extLst>
          </p:cNvPr>
          <p:cNvSpPr txBox="1"/>
          <p:nvPr/>
        </p:nvSpPr>
        <p:spPr>
          <a:xfrm>
            <a:off x="430969" y="890483"/>
            <a:ext cx="46852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</a:t>
            </a:r>
            <a:r>
              <a:rPr lang="en-GB" b="1"/>
              <a:t>half adder </a:t>
            </a:r>
            <a:r>
              <a:rPr lang="en-GB"/>
              <a:t>can take an </a:t>
            </a:r>
            <a:r>
              <a:rPr lang="en-GB" b="1"/>
              <a:t>input</a:t>
            </a:r>
            <a:r>
              <a:rPr lang="en-GB"/>
              <a:t> of </a:t>
            </a:r>
            <a:r>
              <a:rPr lang="en-GB" b="1"/>
              <a:t>two bits </a:t>
            </a:r>
            <a:r>
              <a:rPr lang="en-GB"/>
              <a:t>and give a </a:t>
            </a:r>
            <a:r>
              <a:rPr lang="en-GB" b="1"/>
              <a:t>two-bit output </a:t>
            </a:r>
            <a:r>
              <a:rPr lang="en-GB"/>
              <a:t>as the correct result of an </a:t>
            </a:r>
            <a:r>
              <a:rPr lang="en-GB" b="1"/>
              <a:t>addition</a:t>
            </a:r>
            <a:r>
              <a:rPr lang="en-GB"/>
              <a:t>. </a:t>
            </a:r>
          </a:p>
          <a:p>
            <a:endParaRPr lang="en-GB"/>
          </a:p>
        </p:txBody>
      </p:sp>
      <p:pic>
        <p:nvPicPr>
          <p:cNvPr id="7" name="Picture 6" descr="A black and white diagram&#10;&#10;AI-generated content may be incorrect.">
            <a:extLst>
              <a:ext uri="{FF2B5EF4-FFF2-40B4-BE49-F238E27FC236}">
                <a16:creationId xmlns:a16="http://schemas.microsoft.com/office/drawing/2014/main" id="{C374A356-8C88-4DCF-49E5-32177F98C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9531" y="499348"/>
            <a:ext cx="2467319" cy="1238423"/>
          </a:xfrm>
          <a:prstGeom prst="rect">
            <a:avLst/>
          </a:prstGeom>
        </p:spPr>
      </p:pic>
      <p:pic>
        <p:nvPicPr>
          <p:cNvPr id="9" name="Picture 8" descr="A grid of numbers and letters&#10;&#10;AI-generated content may be incorrect.">
            <a:extLst>
              <a:ext uri="{FF2B5EF4-FFF2-40B4-BE49-F238E27FC236}">
                <a16:creationId xmlns:a16="http://schemas.microsoft.com/office/drawing/2014/main" id="{C47C61CC-B06E-08FF-CFCF-1FB3FA0A4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0759" y="0"/>
            <a:ext cx="2400635" cy="2143424"/>
          </a:xfrm>
          <a:prstGeom prst="rect">
            <a:avLst/>
          </a:prstGeom>
        </p:spPr>
      </p:pic>
      <p:pic>
        <p:nvPicPr>
          <p:cNvPr id="11" name="Picture 10" descr="A diagram of a circuit&#10;&#10;AI-generated content may be incorrect.">
            <a:extLst>
              <a:ext uri="{FF2B5EF4-FFF2-40B4-BE49-F238E27FC236}">
                <a16:creationId xmlns:a16="http://schemas.microsoft.com/office/drawing/2014/main" id="{AB3ECC19-C77D-6963-6D23-AA0822A1B9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7707" y="2064864"/>
            <a:ext cx="3486637" cy="2219635"/>
          </a:xfrm>
          <a:prstGeom prst="rect">
            <a:avLst/>
          </a:prstGeom>
        </p:spPr>
      </p:pic>
      <p:pic>
        <p:nvPicPr>
          <p:cNvPr id="13" name="Picture 12" descr="A grid of numbers and symbols&#10;&#10;AI-generated content may be incorrect.">
            <a:extLst>
              <a:ext uri="{FF2B5EF4-FFF2-40B4-BE49-F238E27FC236}">
                <a16:creationId xmlns:a16="http://schemas.microsoft.com/office/drawing/2014/main" id="{042D7A8F-77E3-8F42-0055-4F8F0130E4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313" t="4764" r="8342" b="5389"/>
          <a:stretch>
            <a:fillRect/>
          </a:stretch>
        </p:blipFill>
        <p:spPr>
          <a:xfrm>
            <a:off x="9876312" y="1211899"/>
            <a:ext cx="2226658" cy="33067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AD25C26-508A-D26C-7FBD-136A0B785D73}"/>
              </a:ext>
            </a:extLst>
          </p:cNvPr>
          <p:cNvSpPr txBox="1"/>
          <p:nvPr/>
        </p:nvSpPr>
        <p:spPr>
          <a:xfrm>
            <a:off x="314364" y="1610234"/>
            <a:ext cx="31290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  <a:p>
            <a:r>
              <a:rPr lang="en-GB"/>
              <a:t>A </a:t>
            </a:r>
            <a:r>
              <a:rPr lang="en-GB" b="1"/>
              <a:t>flip</a:t>
            </a:r>
            <a:r>
              <a:rPr lang="en-GB"/>
              <a:t> </a:t>
            </a:r>
            <a:r>
              <a:rPr lang="en-GB" b="1"/>
              <a:t>flop</a:t>
            </a:r>
            <a:r>
              <a:rPr lang="en-GB"/>
              <a:t> is an elemental </a:t>
            </a:r>
            <a:r>
              <a:rPr lang="en-GB" b="1"/>
              <a:t>sequential logic circuit </a:t>
            </a:r>
            <a:r>
              <a:rPr lang="en-GB"/>
              <a:t>that can store </a:t>
            </a:r>
            <a:r>
              <a:rPr lang="en-GB" b="1"/>
              <a:t>one bit </a:t>
            </a:r>
            <a:r>
              <a:rPr lang="en-GB"/>
              <a:t>and flip between </a:t>
            </a:r>
            <a:r>
              <a:rPr lang="en-GB" b="1"/>
              <a:t>two states.</a:t>
            </a:r>
          </a:p>
          <a:p>
            <a:endParaRPr lang="en-GB"/>
          </a:p>
          <a:p>
            <a:r>
              <a:rPr lang="en-GB"/>
              <a:t>It has a </a:t>
            </a:r>
            <a:r>
              <a:rPr lang="en-GB" b="1"/>
              <a:t>control signal </a:t>
            </a:r>
            <a:r>
              <a:rPr lang="en-GB"/>
              <a:t>input and a </a:t>
            </a:r>
            <a:r>
              <a:rPr lang="en-GB" b="1"/>
              <a:t>clock input.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3E94FC-5234-1E93-E863-0530AB33BEED}"/>
              </a:ext>
            </a:extLst>
          </p:cNvPr>
          <p:cNvSpPr txBox="1"/>
          <p:nvPr/>
        </p:nvSpPr>
        <p:spPr>
          <a:xfrm>
            <a:off x="3377978" y="1878614"/>
            <a:ext cx="29033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/>
          </a:p>
          <a:p>
            <a:r>
              <a:rPr lang="en-GB"/>
              <a:t>A </a:t>
            </a:r>
            <a:r>
              <a:rPr lang="en-GB" b="1"/>
              <a:t>full adder </a:t>
            </a:r>
            <a:r>
              <a:rPr lang="en-GB"/>
              <a:t>can take </a:t>
            </a:r>
            <a:r>
              <a:rPr lang="en-GB" b="1"/>
              <a:t>three inputs </a:t>
            </a:r>
            <a:r>
              <a:rPr lang="en-GB"/>
              <a:t>with 1 being a </a:t>
            </a:r>
            <a:r>
              <a:rPr lang="en-GB" b="1"/>
              <a:t>carry bit.</a:t>
            </a:r>
          </a:p>
          <a:p>
            <a:endParaRPr lang="en-GB"/>
          </a:p>
          <a:p>
            <a:r>
              <a:rPr lang="en-GB"/>
              <a:t>You can </a:t>
            </a:r>
            <a:r>
              <a:rPr lang="en-GB" b="1"/>
              <a:t>concatenate full adders</a:t>
            </a:r>
            <a:r>
              <a:rPr lang="en-GB"/>
              <a:t> to make adders that take more than one bit.  </a:t>
            </a:r>
          </a:p>
        </p:txBody>
      </p:sp>
      <p:pic>
        <p:nvPicPr>
          <p:cNvPr id="18" name="Picture 17" descr="A diagram of a path&#10;&#10;AI-generated content may be incorrect.">
            <a:extLst>
              <a:ext uri="{FF2B5EF4-FFF2-40B4-BE49-F238E27FC236}">
                <a16:creationId xmlns:a16="http://schemas.microsoft.com/office/drawing/2014/main" id="{C6C4D51B-7961-13CC-1FDF-143F4745933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1643" t="2905" r="9467" b="4855"/>
          <a:stretch>
            <a:fillRect/>
          </a:stretch>
        </p:blipFill>
        <p:spPr>
          <a:xfrm>
            <a:off x="123638" y="5491269"/>
            <a:ext cx="3254340" cy="12809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E46316C-F780-E44C-33B5-550FF8AAF43F}"/>
              </a:ext>
            </a:extLst>
          </p:cNvPr>
          <p:cNvSpPr txBox="1"/>
          <p:nvPr/>
        </p:nvSpPr>
        <p:spPr>
          <a:xfrm>
            <a:off x="253507" y="3918558"/>
            <a:ext cx="29033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5">
                    <a:lumMod val="75000"/>
                  </a:schemeClr>
                </a:solidFill>
              </a:rPr>
              <a:t>Clock</a:t>
            </a:r>
            <a:r>
              <a:rPr lang="en-GB"/>
              <a:t> diagram: the </a:t>
            </a:r>
            <a:r>
              <a:rPr lang="en-GB" b="1"/>
              <a:t>output</a:t>
            </a:r>
            <a:r>
              <a:rPr lang="en-GB"/>
              <a:t> of a D type flip flop can only </a:t>
            </a:r>
            <a:r>
              <a:rPr lang="en-GB" b="1"/>
              <a:t>change</a:t>
            </a:r>
            <a:r>
              <a:rPr lang="en-GB"/>
              <a:t> at a </a:t>
            </a:r>
            <a:r>
              <a:rPr lang="en-GB" b="1"/>
              <a:t>rising edge </a:t>
            </a:r>
            <a:r>
              <a:rPr lang="en-GB"/>
              <a:t>as it is a </a:t>
            </a:r>
            <a:r>
              <a:rPr lang="en-GB" b="1"/>
              <a:t>positive edge triggered </a:t>
            </a:r>
            <a:r>
              <a:rPr lang="en-GB"/>
              <a:t>flip flop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3114936-EDFD-F5FB-38D4-7980A6F57469}"/>
              </a:ext>
            </a:extLst>
          </p:cNvPr>
          <p:cNvSpPr txBox="1"/>
          <p:nvPr/>
        </p:nvSpPr>
        <p:spPr>
          <a:xfrm>
            <a:off x="3595779" y="4549676"/>
            <a:ext cx="39210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</a:t>
            </a:r>
            <a:r>
              <a:rPr lang="en-GB" b="1"/>
              <a:t>D-type flip flop</a:t>
            </a:r>
            <a:r>
              <a:rPr lang="en-GB"/>
              <a:t> uses 4 NAND gates and updates value of Q to the value of D </a:t>
            </a:r>
            <a:r>
              <a:rPr lang="en-GB" b="1"/>
              <a:t>when the clock ticks</a:t>
            </a:r>
            <a:r>
              <a:rPr lang="en-GB"/>
              <a:t>. Q is a stored value – </a:t>
            </a:r>
            <a:r>
              <a:rPr lang="en-GB" b="1"/>
              <a:t>1 bit memory.</a:t>
            </a:r>
          </a:p>
          <a:p>
            <a:endParaRPr lang="en-GB"/>
          </a:p>
          <a:p>
            <a:r>
              <a:rPr lang="en-GB" b="1"/>
              <a:t>Register</a:t>
            </a:r>
            <a:r>
              <a:rPr lang="en-GB"/>
              <a:t> memories and static RAM are </a:t>
            </a:r>
            <a:r>
              <a:rPr lang="en-GB" b="1"/>
              <a:t>constructed by connecting </a:t>
            </a:r>
            <a:r>
              <a:rPr lang="en-GB"/>
              <a:t>these flip flops in a row,</a:t>
            </a:r>
          </a:p>
        </p:txBody>
      </p:sp>
      <p:pic>
        <p:nvPicPr>
          <p:cNvPr id="22" name="Picture 21" descr="A diagram of a circuit&#10;&#10;AI-generated content may be incorrect.">
            <a:extLst>
              <a:ext uri="{FF2B5EF4-FFF2-40B4-BE49-F238E27FC236}">
                <a16:creationId xmlns:a16="http://schemas.microsoft.com/office/drawing/2014/main" id="{83F08F13-CB9F-1B75-09E3-0B42DAD607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0207" y="5108693"/>
            <a:ext cx="3620005" cy="138131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31F72D-ECD5-7C4D-0BE9-C8BA328CC098}"/>
              </a:ext>
            </a:extLst>
          </p:cNvPr>
          <p:cNvSpPr txBox="1"/>
          <p:nvPr/>
        </p:nvSpPr>
        <p:spPr>
          <a:xfrm>
            <a:off x="10633023" y="6228401"/>
            <a:ext cx="10393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/>
              <a:t>Negation of Q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BC61F3-97F3-A957-3650-E9D69B147B79}"/>
              </a:ext>
            </a:extLst>
          </p:cNvPr>
          <p:cNvSpPr txBox="1"/>
          <p:nvPr/>
        </p:nvSpPr>
        <p:spPr>
          <a:xfrm>
            <a:off x="314364" y="855168"/>
            <a:ext cx="4503199" cy="8826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0E5E905-45CA-AE8B-7163-B00FEF33F06E}"/>
              </a:ext>
            </a:extLst>
          </p:cNvPr>
          <p:cNvSpPr/>
          <p:nvPr/>
        </p:nvSpPr>
        <p:spPr>
          <a:xfrm>
            <a:off x="314364" y="855168"/>
            <a:ext cx="4503199" cy="882603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E05C773-F5A9-D17A-0E16-01B35D528A83}"/>
              </a:ext>
            </a:extLst>
          </p:cNvPr>
          <p:cNvSpPr/>
          <p:nvPr/>
        </p:nvSpPr>
        <p:spPr>
          <a:xfrm>
            <a:off x="3396466" y="2031014"/>
            <a:ext cx="3000848" cy="2150746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21473F-9A14-C50D-C63B-D36EAF833E1B}"/>
              </a:ext>
            </a:extLst>
          </p:cNvPr>
          <p:cNvSpPr/>
          <p:nvPr/>
        </p:nvSpPr>
        <p:spPr>
          <a:xfrm>
            <a:off x="171007" y="1830880"/>
            <a:ext cx="3102458" cy="3565006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85707F-80AA-2771-B2DD-5EBAF756D8F3}"/>
              </a:ext>
            </a:extLst>
          </p:cNvPr>
          <p:cNvSpPr/>
          <p:nvPr/>
        </p:nvSpPr>
        <p:spPr>
          <a:xfrm>
            <a:off x="3610831" y="4565529"/>
            <a:ext cx="4073430" cy="2276618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76047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04F8E-A1F1-04EF-01FF-6F53F47E0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DD1DE12-A058-951C-39EC-AB8A6847391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7442CB-52FF-F4EC-CBCE-C2B48BFD5D2C}"/>
              </a:ext>
            </a:extLst>
          </p:cNvPr>
          <p:cNvSpPr txBox="1"/>
          <p:nvPr/>
        </p:nvSpPr>
        <p:spPr>
          <a:xfrm>
            <a:off x="766746" y="336962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SLR16 COMPUTER RELATED LEGISLATION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5E4C3C-A438-1EC0-76E1-92E0CF96E68C}"/>
              </a:ext>
            </a:extLst>
          </p:cNvPr>
          <p:cNvSpPr txBox="1"/>
          <p:nvPr/>
        </p:nvSpPr>
        <p:spPr>
          <a:xfrm>
            <a:off x="2575563" y="1523257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DEFINITION AND EXAMPLES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5E944-4E79-B447-2A77-5E8F5C180C51}"/>
              </a:ext>
            </a:extLst>
          </p:cNvPr>
          <p:cNvSpPr txBox="1"/>
          <p:nvPr/>
        </p:nvSpPr>
        <p:spPr>
          <a:xfrm>
            <a:off x="2625529" y="2540948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DATA PROTECTION ACT 1998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3D6251-B928-94C9-28E4-FA9C7A0517A4}"/>
              </a:ext>
            </a:extLst>
          </p:cNvPr>
          <p:cNvSpPr txBox="1"/>
          <p:nvPr/>
        </p:nvSpPr>
        <p:spPr>
          <a:xfrm>
            <a:off x="2575563" y="3557856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COPYRIGHT DESIGNS AND PARENTS ACT 1988</a:t>
            </a:r>
          </a:p>
        </p:txBody>
      </p:sp>
      <p:sp>
        <p:nvSpPr>
          <p:cNvPr id="8" name="Action Button: Go Forward or Next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973392B-F8CD-C244-9357-1B29D8357D31}"/>
              </a:ext>
            </a:extLst>
          </p:cNvPr>
          <p:cNvSpPr/>
          <p:nvPr/>
        </p:nvSpPr>
        <p:spPr>
          <a:xfrm>
            <a:off x="766747" y="1423056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ction Button: Go Forward or Next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2148B057-C36B-9B22-3715-3B50823A4DBB}"/>
              </a:ext>
            </a:extLst>
          </p:cNvPr>
          <p:cNvSpPr/>
          <p:nvPr/>
        </p:nvSpPr>
        <p:spPr>
          <a:xfrm>
            <a:off x="766746" y="2358355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CE62F85-F9B6-1839-5984-BBF88D383C29}"/>
              </a:ext>
            </a:extLst>
          </p:cNvPr>
          <p:cNvSpPr/>
          <p:nvPr/>
        </p:nvSpPr>
        <p:spPr>
          <a:xfrm>
            <a:off x="766746" y="3403582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805645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5CE653D-FE77-3018-490F-C923234D75D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D532ED3-0D9E-6E2B-519D-01B20E46C73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AB0EED-F846-A160-68B3-3C3FA86042B2}"/>
              </a:ext>
            </a:extLst>
          </p:cNvPr>
          <p:cNvSpPr txBox="1"/>
          <p:nvPr/>
        </p:nvSpPr>
        <p:spPr>
          <a:xfrm>
            <a:off x="395781" y="331767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DEFINITION AND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FD4031-D3A1-B62E-1C91-4DAD6352E3ED}"/>
              </a:ext>
            </a:extLst>
          </p:cNvPr>
          <p:cNvSpPr txBox="1"/>
          <p:nvPr/>
        </p:nvSpPr>
        <p:spPr>
          <a:xfrm>
            <a:off x="241195" y="896452"/>
            <a:ext cx="10012680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dirty="0"/>
              <a:t>Legislation </a:t>
            </a:r>
            <a:r>
              <a:rPr lang="en-GB" b="1" dirty="0"/>
              <a:t>related to privacy </a:t>
            </a:r>
            <a:r>
              <a:rPr lang="en-GB" dirty="0"/>
              <a:t>can be broadly categorised into laws intended to </a:t>
            </a:r>
            <a:r>
              <a:rPr lang="en-GB" b="1" dirty="0"/>
              <a:t>protect personal privacy </a:t>
            </a:r>
            <a:r>
              <a:rPr lang="en-GB" dirty="0"/>
              <a:t>and those which have been passed in </a:t>
            </a:r>
            <a:r>
              <a:rPr lang="en-GB" b="1" dirty="0"/>
              <a:t>interests of safety, </a:t>
            </a:r>
            <a:r>
              <a:rPr lang="en-GB" dirty="0"/>
              <a:t>crime </a:t>
            </a:r>
            <a:r>
              <a:rPr lang="en-GB"/>
              <a:t>detection,</a:t>
            </a:r>
            <a:r>
              <a:rPr lang="en-GB" dirty="0"/>
              <a:t> or counter-terrorism.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B36BC-C0F9-6941-557F-6398267EF50C}"/>
              </a:ext>
            </a:extLst>
          </p:cNvPr>
          <p:cNvSpPr txBox="1"/>
          <p:nvPr/>
        </p:nvSpPr>
        <p:spPr>
          <a:xfrm>
            <a:off x="100584" y="2278916"/>
            <a:ext cx="3968496" cy="452431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 dirty="0">
                <a:solidFill>
                  <a:schemeClr val="accent2">
                    <a:lumMod val="76000"/>
                  </a:schemeClr>
                </a:solidFill>
              </a:rPr>
              <a:t>Computer Misuse Act 1990:</a:t>
            </a:r>
          </a:p>
          <a:p>
            <a:endParaRPr lang="en-GB" b="1" dirty="0">
              <a:solidFill>
                <a:schemeClr val="accent2">
                  <a:lumMod val="76000"/>
                </a:schemeClr>
              </a:solidFill>
            </a:endParaRPr>
          </a:p>
          <a:p>
            <a:r>
              <a:rPr lang="en-GB" dirty="0"/>
              <a:t>Designed to </a:t>
            </a:r>
            <a:r>
              <a:rPr lang="en-GB" b="1" dirty="0"/>
              <a:t>prevent </a:t>
            </a:r>
            <a:r>
              <a:rPr lang="en-GB" b="1"/>
              <a:t>unauthorised</a:t>
            </a:r>
            <a:r>
              <a:rPr lang="en-GB" b="1" dirty="0"/>
              <a:t> access to programs or data</a:t>
            </a:r>
            <a:r>
              <a:rPr lang="en-GB" dirty="0"/>
              <a:t> and </a:t>
            </a:r>
            <a:r>
              <a:rPr lang="en-GB" b="1" dirty="0"/>
              <a:t>malicious use</a:t>
            </a:r>
            <a:r>
              <a:rPr lang="en-GB" dirty="0"/>
              <a:t> of computers e.g. hacking.</a:t>
            </a:r>
          </a:p>
          <a:p>
            <a:endParaRPr lang="en-GB" dirty="0"/>
          </a:p>
          <a:p>
            <a:r>
              <a:rPr lang="en-GB" dirty="0"/>
              <a:t>Offences include: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b="1" dirty="0"/>
              <a:t>Unauthorised access</a:t>
            </a:r>
            <a:r>
              <a:rPr lang="en-GB" dirty="0"/>
              <a:t> to computer material</a:t>
            </a:r>
          </a:p>
          <a:p>
            <a:pPr marL="285750" indent="-285750">
              <a:buFontTx/>
              <a:buChar char="-"/>
            </a:pPr>
            <a:r>
              <a:rPr lang="en-GB" dirty="0"/>
              <a:t>Unauthorised access with </a:t>
            </a:r>
            <a:r>
              <a:rPr lang="en-GB" b="1" dirty="0"/>
              <a:t>intent to commit a crime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Unauthorised modification</a:t>
            </a:r>
            <a:r>
              <a:rPr lang="en-GB" dirty="0"/>
              <a:t> of computer material</a:t>
            </a:r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87173-44E2-2C77-E994-1872FDD97EC9}"/>
              </a:ext>
            </a:extLst>
          </p:cNvPr>
          <p:cNvSpPr txBox="1"/>
          <p:nvPr/>
        </p:nvSpPr>
        <p:spPr>
          <a:xfrm>
            <a:off x="6946065" y="1975301"/>
            <a:ext cx="4813119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 dirty="0">
                <a:solidFill>
                  <a:schemeClr val="accent2">
                    <a:lumMod val="76000"/>
                  </a:schemeClr>
                </a:solidFill>
              </a:rPr>
              <a:t>Regulation Of Investigatory Power Act 2000:</a:t>
            </a:r>
          </a:p>
          <a:p>
            <a:endParaRPr lang="en-GB" dirty="0"/>
          </a:p>
          <a:p>
            <a:r>
              <a:rPr lang="en-GB" dirty="0"/>
              <a:t>The RIPA covers </a:t>
            </a:r>
            <a:r>
              <a:rPr lang="en-GB" b="1" dirty="0"/>
              <a:t>investigation</a:t>
            </a:r>
            <a:r>
              <a:rPr lang="en-GB" dirty="0"/>
              <a:t>, surveillance and interception of </a:t>
            </a:r>
            <a:r>
              <a:rPr lang="en-GB" b="1" dirty="0"/>
              <a:t>communication by public bodies e.g. CIA</a:t>
            </a:r>
            <a:r>
              <a:rPr lang="en-GB" dirty="0"/>
              <a:t> wire-trap online conversations provided a warrant has been issued</a:t>
            </a:r>
          </a:p>
          <a:p>
            <a:endParaRPr lang="en-GB" dirty="0"/>
          </a:p>
          <a:p>
            <a:r>
              <a:rPr lang="en-GB" dirty="0"/>
              <a:t>It enables:</a:t>
            </a:r>
          </a:p>
          <a:p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/>
              <a:t>Certain public bodies to</a:t>
            </a:r>
            <a:r>
              <a:rPr lang="en-GB" b="1" dirty="0"/>
              <a:t> demand that an ISP provides access to a customer’s</a:t>
            </a:r>
            <a:r>
              <a:rPr lang="en-GB" dirty="0"/>
              <a:t> </a:t>
            </a:r>
            <a:r>
              <a:rPr lang="en-GB" b="1" dirty="0"/>
              <a:t>communication </a:t>
            </a:r>
            <a:r>
              <a:rPr lang="en-GB" dirty="0"/>
              <a:t>in secret</a:t>
            </a:r>
          </a:p>
          <a:p>
            <a:pPr marL="285750" indent="-285750">
              <a:buFontTx/>
              <a:buChar char="-"/>
            </a:pPr>
            <a:r>
              <a:rPr lang="en-GB" dirty="0"/>
              <a:t>ISPs must have </a:t>
            </a:r>
            <a:r>
              <a:rPr lang="en-GB" b="1" dirty="0"/>
              <a:t>hardware to facilitate surveillance</a:t>
            </a:r>
          </a:p>
          <a:p>
            <a:pPr marL="285750" indent="-285750">
              <a:buFontTx/>
              <a:buChar char="-"/>
            </a:pPr>
            <a:r>
              <a:rPr lang="en-GB" b="1" dirty="0"/>
              <a:t>Mass surveillance</a:t>
            </a:r>
            <a:r>
              <a:rPr lang="en-GB" dirty="0"/>
              <a:t> of communications</a:t>
            </a:r>
          </a:p>
          <a:p>
            <a:pPr marL="285750" indent="-285750">
              <a:buFontTx/>
              <a:buChar char="-"/>
            </a:pPr>
            <a:r>
              <a:rPr lang="en-GB" dirty="0"/>
              <a:t>Public bodies can</a:t>
            </a:r>
            <a:r>
              <a:rPr lang="en-GB" b="1" dirty="0"/>
              <a:t> monitor</a:t>
            </a:r>
            <a:r>
              <a:rPr lang="en-GB" dirty="0"/>
              <a:t> </a:t>
            </a:r>
            <a:r>
              <a:rPr lang="en-GB" b="1" dirty="0"/>
              <a:t>people’s internet activities</a:t>
            </a:r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pic>
        <p:nvPicPr>
          <p:cNvPr id="2050" name="Picture 2" descr="Internet Laws &amp; Internet Regulation">
            <a:extLst>
              <a:ext uri="{FF2B5EF4-FFF2-40B4-BE49-F238E27FC236}">
                <a16:creationId xmlns:a16="http://schemas.microsoft.com/office/drawing/2014/main" id="{797EB7D1-C7DB-2405-F2DF-F193A5ECAE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3002" y="3074794"/>
            <a:ext cx="2605854" cy="1466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8CABEE4-65DC-54C2-BC66-2A743540C6C6}"/>
              </a:ext>
            </a:extLst>
          </p:cNvPr>
          <p:cNvSpPr/>
          <p:nvPr/>
        </p:nvSpPr>
        <p:spPr>
          <a:xfrm>
            <a:off x="101355" y="1961677"/>
            <a:ext cx="4126919" cy="466748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390EFA5-49AE-AD71-C08D-9837015963B1}"/>
              </a:ext>
            </a:extLst>
          </p:cNvPr>
          <p:cNvSpPr/>
          <p:nvPr/>
        </p:nvSpPr>
        <p:spPr>
          <a:xfrm>
            <a:off x="6946759" y="1961676"/>
            <a:ext cx="4949585" cy="4801314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F2FA7D-BDBC-D4D7-1196-44238A3304CE}"/>
              </a:ext>
            </a:extLst>
          </p:cNvPr>
          <p:cNvSpPr/>
          <p:nvPr/>
        </p:nvSpPr>
        <p:spPr>
          <a:xfrm>
            <a:off x="239900" y="891097"/>
            <a:ext cx="9782092" cy="920459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168296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E0A23-6A76-9886-48A9-290EADA43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98DA12-0160-28D2-DAD5-6F76713A077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B25E0664-4FB0-F066-7942-6B9CDC38A6B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AB7CDB-54C2-398D-3D98-D2F803191F71}"/>
              </a:ext>
            </a:extLst>
          </p:cNvPr>
          <p:cNvSpPr txBox="1"/>
          <p:nvPr/>
        </p:nvSpPr>
        <p:spPr>
          <a:xfrm>
            <a:off x="362619" y="329684"/>
            <a:ext cx="54470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DATA PROTECTION ACT 1998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B9F787-6499-7655-31F3-23507CCBAE1A}"/>
              </a:ext>
            </a:extLst>
          </p:cNvPr>
          <p:cNvSpPr txBox="1"/>
          <p:nvPr/>
        </p:nvSpPr>
        <p:spPr>
          <a:xfrm>
            <a:off x="219456" y="1207008"/>
            <a:ext cx="581558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Data protection act 2018 </a:t>
            </a:r>
            <a:r>
              <a:rPr lang="en-GB" dirty="0"/>
              <a:t>is data protection act 1998 + </a:t>
            </a:r>
            <a:r>
              <a:rPr lang="en-GB" b="1" dirty="0"/>
              <a:t>GDPR</a:t>
            </a:r>
            <a:r>
              <a:rPr lang="en-GB" dirty="0"/>
              <a:t> (General Data Protection Act)</a:t>
            </a:r>
          </a:p>
          <a:p>
            <a:endParaRPr lang="en-GB" dirty="0"/>
          </a:p>
          <a:p>
            <a:r>
              <a:rPr lang="en-GB" dirty="0"/>
              <a:t>DPA controls how your </a:t>
            </a:r>
            <a:r>
              <a:rPr lang="en-GB" b="1" dirty="0"/>
              <a:t>personal information is used </a:t>
            </a:r>
            <a:r>
              <a:rPr lang="en-GB" dirty="0"/>
              <a:t>by companies and the UK government. </a:t>
            </a:r>
          </a:p>
          <a:p>
            <a:endParaRPr lang="en-GB" dirty="0"/>
          </a:p>
          <a:p>
            <a:r>
              <a:rPr lang="en-GB" dirty="0"/>
              <a:t>It says that anyone who stores personal details must keep them </a:t>
            </a:r>
            <a:r>
              <a:rPr lang="en-GB" b="1" dirty="0"/>
              <a:t>secure and computer systems must have sufficient security</a:t>
            </a:r>
          </a:p>
          <a:p>
            <a:endParaRPr lang="en-GB" dirty="0"/>
          </a:p>
          <a:p>
            <a:r>
              <a:rPr lang="en-GB" dirty="0"/>
              <a:t>An individual who can be identified by personal data is referred to as </a:t>
            </a:r>
            <a:r>
              <a:rPr lang="en-GB" b="1" dirty="0"/>
              <a:t>the data subject.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DCD5E-1C27-3158-E865-9E4418BB8F5C}"/>
              </a:ext>
            </a:extLst>
          </p:cNvPr>
          <p:cNvSpPr txBox="1"/>
          <p:nvPr/>
        </p:nvSpPr>
        <p:spPr>
          <a:xfrm>
            <a:off x="6156960" y="1066710"/>
            <a:ext cx="60350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8 </a:t>
            </a:r>
            <a:r>
              <a:rPr lang="en-GB" b="1" dirty="0"/>
              <a:t>PRINCIPLES</a:t>
            </a:r>
            <a:r>
              <a:rPr lang="en-GB" dirty="0"/>
              <a:t>:</a:t>
            </a:r>
          </a:p>
          <a:p>
            <a:endParaRPr lang="en-GB" dirty="0"/>
          </a:p>
          <a:p>
            <a:r>
              <a:rPr lang="en-GB" dirty="0"/>
              <a:t>Data must be </a:t>
            </a:r>
            <a:r>
              <a:rPr lang="en-GB" b="1" dirty="0"/>
              <a:t>processed fairly and lawfully</a:t>
            </a:r>
          </a:p>
          <a:p>
            <a:endParaRPr lang="en-GB" dirty="0"/>
          </a:p>
          <a:p>
            <a:r>
              <a:rPr lang="en-GB" dirty="0"/>
              <a:t>Data must be </a:t>
            </a:r>
            <a:r>
              <a:rPr lang="en-GB" b="1" dirty="0"/>
              <a:t>adequate, relevant </a:t>
            </a:r>
            <a:r>
              <a:rPr lang="en-GB" dirty="0"/>
              <a:t>and not excessive</a:t>
            </a:r>
          </a:p>
          <a:p>
            <a:endParaRPr lang="en-GB" dirty="0"/>
          </a:p>
          <a:p>
            <a:r>
              <a:rPr lang="en-GB" dirty="0"/>
              <a:t>Data must </a:t>
            </a:r>
            <a:r>
              <a:rPr lang="en-GB" b="1" dirty="0"/>
              <a:t>not be retained for longer than necessary</a:t>
            </a:r>
          </a:p>
          <a:p>
            <a:endParaRPr lang="en-GB" dirty="0"/>
          </a:p>
          <a:p>
            <a:r>
              <a:rPr lang="en-GB" dirty="0"/>
              <a:t>Data can only be </a:t>
            </a:r>
            <a:r>
              <a:rPr lang="en-GB" b="1" dirty="0"/>
              <a:t>used for the purpose </a:t>
            </a:r>
            <a:r>
              <a:rPr lang="en-GB" dirty="0"/>
              <a:t>for which it was collected</a:t>
            </a:r>
          </a:p>
          <a:p>
            <a:endParaRPr lang="en-GB" dirty="0"/>
          </a:p>
          <a:p>
            <a:r>
              <a:rPr lang="en-GB" dirty="0"/>
              <a:t>Data must be </a:t>
            </a:r>
            <a:r>
              <a:rPr lang="en-GB" b="1" dirty="0"/>
              <a:t>accurate and </a:t>
            </a:r>
          </a:p>
          <a:p>
            <a:r>
              <a:rPr lang="en-GB" b="1" dirty="0"/>
              <a:t>up to date</a:t>
            </a:r>
          </a:p>
          <a:p>
            <a:endParaRPr lang="en-GB" dirty="0"/>
          </a:p>
          <a:p>
            <a:r>
              <a:rPr lang="en-GB" dirty="0"/>
              <a:t>Data must be kept </a:t>
            </a:r>
            <a:r>
              <a:rPr lang="en-GB" b="1" dirty="0"/>
              <a:t>secure</a:t>
            </a:r>
          </a:p>
          <a:p>
            <a:endParaRPr lang="en-GB" dirty="0"/>
          </a:p>
          <a:p>
            <a:r>
              <a:rPr lang="en-GB" dirty="0"/>
              <a:t>Data must be handled in </a:t>
            </a:r>
            <a:r>
              <a:rPr lang="en-GB" b="1" dirty="0"/>
              <a:t>accordance with people’s rights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dirty="0"/>
              <a:t>Data must </a:t>
            </a:r>
            <a:r>
              <a:rPr lang="en-GB" b="1" dirty="0"/>
              <a:t>not be transferred outside the EU </a:t>
            </a:r>
            <a:r>
              <a:rPr lang="en-GB" dirty="0"/>
              <a:t>without adequate protection.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C9B9BA-B14D-7001-8C3E-1C6533788F58}"/>
              </a:ext>
            </a:extLst>
          </p:cNvPr>
          <p:cNvSpPr txBox="1"/>
          <p:nvPr/>
        </p:nvSpPr>
        <p:spPr>
          <a:xfrm>
            <a:off x="5933300" y="179955"/>
            <a:ext cx="38507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All data users must register with the </a:t>
            </a:r>
            <a:r>
              <a:rPr lang="en-GB" b="1" dirty="0"/>
              <a:t>Data Commissioner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F70AAF-B194-5CDD-3F97-425F40ED4513}"/>
              </a:ext>
            </a:extLst>
          </p:cNvPr>
          <p:cNvSpPr txBox="1"/>
          <p:nvPr/>
        </p:nvSpPr>
        <p:spPr>
          <a:xfrm>
            <a:off x="247695" y="5531834"/>
            <a:ext cx="56769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The act gives data subjects certain rights </a:t>
            </a:r>
            <a:r>
              <a:rPr lang="en-GB" dirty="0"/>
              <a:t>like the right to request a copy of data held about them and the right to prevent marketing.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EAEF3AB-F119-7111-1C73-7C724753637A}"/>
              </a:ext>
            </a:extLst>
          </p:cNvPr>
          <p:cNvSpPr/>
          <p:nvPr/>
        </p:nvSpPr>
        <p:spPr>
          <a:xfrm>
            <a:off x="219456" y="1028700"/>
            <a:ext cx="5675560" cy="389077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6D0EDC-B6BA-51F3-DB2B-01D9DB46E6C6}"/>
              </a:ext>
            </a:extLst>
          </p:cNvPr>
          <p:cNvSpPr/>
          <p:nvPr/>
        </p:nvSpPr>
        <p:spPr>
          <a:xfrm>
            <a:off x="6100743" y="1039251"/>
            <a:ext cx="6022828" cy="5652905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CE44B7-22DB-D617-4BF6-D182B2E4AE51}"/>
              </a:ext>
            </a:extLst>
          </p:cNvPr>
          <p:cNvSpPr/>
          <p:nvPr/>
        </p:nvSpPr>
        <p:spPr>
          <a:xfrm>
            <a:off x="256400" y="5321808"/>
            <a:ext cx="5676900" cy="136245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Important Data Protection Act 2018 amendment | HLB Poland">
            <a:extLst>
              <a:ext uri="{FF2B5EF4-FFF2-40B4-BE49-F238E27FC236}">
                <a16:creationId xmlns:a16="http://schemas.microsoft.com/office/drawing/2014/main" id="{8CEDDDCA-8E16-7936-1FAC-C953526A0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1397" y="3977430"/>
            <a:ext cx="2249424" cy="1499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A191377-FB9B-7194-4E74-D0F83E645776}"/>
              </a:ext>
            </a:extLst>
          </p:cNvPr>
          <p:cNvSpPr/>
          <p:nvPr/>
        </p:nvSpPr>
        <p:spPr>
          <a:xfrm>
            <a:off x="5924595" y="179955"/>
            <a:ext cx="3932637" cy="657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97023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E66A-ACFB-FF4C-D0B1-6DA1E3AD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672379A7-5B71-7158-EA4C-8D58D78CB57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4A3BFF9B-34F2-B716-289D-83AF8F79D8D3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CD5A7-79CC-E71C-B1EF-78C8A0DF548F}"/>
              </a:ext>
            </a:extLst>
          </p:cNvPr>
          <p:cNvSpPr txBox="1"/>
          <p:nvPr/>
        </p:nvSpPr>
        <p:spPr>
          <a:xfrm>
            <a:off x="432727" y="252740"/>
            <a:ext cx="81109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COPYRIGHT DESIGNS AND PARENTS ACT 1988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5FF3F-FED8-8E9A-E720-CF178682538C}"/>
              </a:ext>
            </a:extLst>
          </p:cNvPr>
          <p:cNvSpPr txBox="1"/>
          <p:nvPr/>
        </p:nvSpPr>
        <p:spPr>
          <a:xfrm>
            <a:off x="282036" y="1441417"/>
            <a:ext cx="10516397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The act is designed to </a:t>
            </a:r>
            <a:r>
              <a:rPr lang="en-US" b="1" dirty="0"/>
              <a:t>protect the creators</a:t>
            </a:r>
            <a:r>
              <a:rPr lang="en-US" dirty="0"/>
              <a:t> of books, music, video, and software from </a:t>
            </a:r>
            <a:r>
              <a:rPr lang="en-US" b="1" dirty="0"/>
              <a:t>having their work stolen/illegally copied</a:t>
            </a:r>
            <a:r>
              <a:rPr lang="en-US" dirty="0"/>
              <a:t>. However, </a:t>
            </a:r>
            <a:r>
              <a:rPr lang="en-US" b="1" dirty="0"/>
              <a:t>not everything can be copyrighted</a:t>
            </a:r>
            <a:r>
              <a:rPr lang="en-US" dirty="0"/>
              <a:t> e.g. algorithms are not eligible for copyright so new sorting algorithms for example can be used by anyone without permission.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3D3DA-E0DF-C452-044D-6325279F3715}"/>
              </a:ext>
            </a:extLst>
          </p:cNvPr>
          <p:cNvSpPr txBox="1"/>
          <p:nvPr/>
        </p:nvSpPr>
        <p:spPr>
          <a:xfrm>
            <a:off x="432109" y="3221714"/>
            <a:ext cx="5372833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It does this by </a:t>
            </a:r>
            <a:r>
              <a:rPr lang="en-US" b="1" dirty="0"/>
              <a:t>making it illegal to use, copy or distribute commercially available software</a:t>
            </a:r>
            <a:r>
              <a:rPr lang="en-US" dirty="0"/>
              <a:t> </a:t>
            </a:r>
            <a:r>
              <a:rPr lang="en-US" b="1" dirty="0"/>
              <a:t>without an appropriate license </a:t>
            </a:r>
            <a:r>
              <a:rPr lang="en-US" dirty="0"/>
              <a:t>or permission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D50B20-EF8D-94F7-8DC5-6BE99156C002}"/>
              </a:ext>
            </a:extLst>
          </p:cNvPr>
          <p:cNvSpPr txBox="1"/>
          <p:nvPr/>
        </p:nvSpPr>
        <p:spPr>
          <a:xfrm>
            <a:off x="649927" y="5063674"/>
            <a:ext cx="420830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Copyright applies automatically </a:t>
            </a:r>
            <a:r>
              <a:rPr lang="en-US" dirty="0"/>
              <a:t>if a work is original and does </a:t>
            </a:r>
            <a:r>
              <a:rPr lang="en-US" b="1" dirty="0"/>
              <a:t>not expire </a:t>
            </a:r>
            <a:r>
              <a:rPr lang="en-US" b="1"/>
              <a:t>until</a:t>
            </a:r>
            <a:r>
              <a:rPr lang="en-US" b="1" dirty="0"/>
              <a:t> 25-70 years after the death of the creato</a:t>
            </a:r>
            <a:r>
              <a:rPr lang="en-US" dirty="0"/>
              <a:t>r </a:t>
            </a:r>
            <a:r>
              <a:rPr lang="en-US"/>
              <a:t>depending on the type of work.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B84E84-C150-FD96-A6B3-DF35B3A2EAF8}"/>
              </a:ext>
            </a:extLst>
          </p:cNvPr>
          <p:cNvSpPr txBox="1"/>
          <p:nvPr/>
        </p:nvSpPr>
        <p:spPr>
          <a:xfrm>
            <a:off x="6422337" y="3028316"/>
            <a:ext cx="560779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If an individual believes that their work has been copied, it is </a:t>
            </a:r>
            <a:r>
              <a:rPr lang="en-US" b="1" dirty="0"/>
              <a:t>their responsibility to take action</a:t>
            </a:r>
            <a:r>
              <a:rPr lang="en-US" dirty="0"/>
              <a:t> under the act.</a:t>
            </a:r>
          </a:p>
        </p:txBody>
      </p:sp>
      <p:pic>
        <p:nvPicPr>
          <p:cNvPr id="12" name="Picture 11" descr="Copyright PNG, Vector, PSD, and Clipart With Transparent Background for ...">
            <a:extLst>
              <a:ext uri="{FF2B5EF4-FFF2-40B4-BE49-F238E27FC236}">
                <a16:creationId xmlns:a16="http://schemas.microsoft.com/office/drawing/2014/main" id="{B4FE65F5-084D-6CBD-B9A7-B3B65A3CE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0918" y="-240083"/>
            <a:ext cx="1461370" cy="1513562"/>
          </a:xfrm>
          <a:prstGeom prst="rect">
            <a:avLst/>
          </a:prstGeom>
        </p:spPr>
      </p:pic>
      <p:pic>
        <p:nvPicPr>
          <p:cNvPr id="13" name="Picture 12" descr="The Evolution of Mickey Mouse: 'Steamboat Willie' Version Entering ...">
            <a:extLst>
              <a:ext uri="{FF2B5EF4-FFF2-40B4-BE49-F238E27FC236}">
                <a16:creationId xmlns:a16="http://schemas.microsoft.com/office/drawing/2014/main" id="{7798B55C-5783-ADCD-A171-70DE6692AC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2479" y="4279725"/>
            <a:ext cx="2275562" cy="23277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8F9E599-9601-A106-1AD3-B81DB83D95C7}"/>
              </a:ext>
            </a:extLst>
          </p:cNvPr>
          <p:cNvSpPr txBox="1"/>
          <p:nvPr/>
        </p:nvSpPr>
        <p:spPr>
          <a:xfrm>
            <a:off x="5466818" y="5263183"/>
            <a:ext cx="2741241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E.g. Steamboat Willie is now back in the public domain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1D70BE-3C47-7AF0-4324-32FEB34D2650}"/>
              </a:ext>
            </a:extLst>
          </p:cNvPr>
          <p:cNvSpPr/>
          <p:nvPr/>
        </p:nvSpPr>
        <p:spPr>
          <a:xfrm>
            <a:off x="278027" y="1173891"/>
            <a:ext cx="10661135" cy="1527433"/>
          </a:xfrm>
          <a:prstGeom prst="rect">
            <a:avLst/>
          </a:prstGeom>
          <a:noFill/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86024D-443B-61C7-330C-122D9CF5EA2A}"/>
              </a:ext>
            </a:extLst>
          </p:cNvPr>
          <p:cNvSpPr/>
          <p:nvPr/>
        </p:nvSpPr>
        <p:spPr>
          <a:xfrm>
            <a:off x="133865" y="2958756"/>
            <a:ext cx="5622325" cy="1486244"/>
          </a:xfrm>
          <a:prstGeom prst="rect">
            <a:avLst/>
          </a:prstGeom>
          <a:noFill/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25E109-CD4D-3062-D7BD-8C81579CB2AD}"/>
              </a:ext>
            </a:extLst>
          </p:cNvPr>
          <p:cNvSpPr/>
          <p:nvPr/>
        </p:nvSpPr>
        <p:spPr>
          <a:xfrm>
            <a:off x="6250459" y="2793999"/>
            <a:ext cx="5793946" cy="1239109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1D141B6-6FDA-FA77-8A9C-5CF06C413E36}"/>
              </a:ext>
            </a:extLst>
          </p:cNvPr>
          <p:cNvSpPr/>
          <p:nvPr/>
        </p:nvSpPr>
        <p:spPr>
          <a:xfrm>
            <a:off x="545757" y="4922107"/>
            <a:ext cx="7427784" cy="160981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35769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C7D4F-7E8C-3031-8D0A-3FB14ADBC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538D96D-9635-C039-6005-4257679E386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34BBB-07D7-10F8-E71C-25E8AD0313F9}"/>
              </a:ext>
            </a:extLst>
          </p:cNvPr>
          <p:cNvSpPr txBox="1"/>
          <p:nvPr/>
        </p:nvSpPr>
        <p:spPr>
          <a:xfrm>
            <a:off x="766746" y="336962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SLR17 MORAL, SOCIAL, ETHICAL ISSUES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D0340E-6B08-EA97-C7A5-57EE85AA2394}"/>
              </a:ext>
            </a:extLst>
          </p:cNvPr>
          <p:cNvSpPr txBox="1"/>
          <p:nvPr/>
        </p:nvSpPr>
        <p:spPr>
          <a:xfrm>
            <a:off x="2575563" y="1523257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ECONOMIC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C66E31-90B6-29FF-D185-29D6E9D6DB4C}"/>
              </a:ext>
            </a:extLst>
          </p:cNvPr>
          <p:cNvSpPr txBox="1"/>
          <p:nvPr/>
        </p:nvSpPr>
        <p:spPr>
          <a:xfrm>
            <a:off x="2625529" y="2540948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ARTIFICIAL INTELLIGENCE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D20BD5-0678-4855-75CF-A3D8259A8FCC}"/>
              </a:ext>
            </a:extLst>
          </p:cNvPr>
          <p:cNvSpPr txBox="1"/>
          <p:nvPr/>
        </p:nvSpPr>
        <p:spPr>
          <a:xfrm>
            <a:off x="2575563" y="3557856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ENVIRONMENTAL EFFECTS</a:t>
            </a:r>
          </a:p>
        </p:txBody>
      </p:sp>
      <p:sp>
        <p:nvSpPr>
          <p:cNvPr id="8" name="Action Button: Go Forward or Next 7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9E7FC072-8A0B-11B6-899E-73C802173C1A}"/>
              </a:ext>
            </a:extLst>
          </p:cNvPr>
          <p:cNvSpPr/>
          <p:nvPr/>
        </p:nvSpPr>
        <p:spPr>
          <a:xfrm>
            <a:off x="766747" y="1423056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Action Button: Go Forward or Next 8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E98D4D4B-B95B-C3D1-6BE2-BF91E925DC60}"/>
              </a:ext>
            </a:extLst>
          </p:cNvPr>
          <p:cNvSpPr/>
          <p:nvPr/>
        </p:nvSpPr>
        <p:spPr>
          <a:xfrm>
            <a:off x="766746" y="2358355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ction Button: Go Forward or Next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829D7814-5499-A015-E1ED-D2D69553EB2D}"/>
              </a:ext>
            </a:extLst>
          </p:cNvPr>
          <p:cNvSpPr/>
          <p:nvPr/>
        </p:nvSpPr>
        <p:spPr>
          <a:xfrm>
            <a:off x="766746" y="3403582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FE7CCF9-4B06-8302-2937-9108CB436CA9}"/>
              </a:ext>
            </a:extLst>
          </p:cNvPr>
          <p:cNvSpPr/>
          <p:nvPr/>
        </p:nvSpPr>
        <p:spPr>
          <a:xfrm>
            <a:off x="766746" y="4448809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ction Button: Go Forward or Next 9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C99D42C5-FA17-C1C7-2531-B334EE5828F0}"/>
              </a:ext>
            </a:extLst>
          </p:cNvPr>
          <p:cNvSpPr/>
          <p:nvPr/>
        </p:nvSpPr>
        <p:spPr>
          <a:xfrm>
            <a:off x="766745" y="5494036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CB0CA-B243-0429-1C15-797AA8A8A458}"/>
              </a:ext>
            </a:extLst>
          </p:cNvPr>
          <p:cNvSpPr txBox="1"/>
          <p:nvPr/>
        </p:nvSpPr>
        <p:spPr>
          <a:xfrm>
            <a:off x="2625529" y="4574764"/>
            <a:ext cx="33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PRIVACY AND TROLLS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A1F1CF-5709-D05B-DA6A-B085018259F5}"/>
              </a:ext>
            </a:extLst>
          </p:cNvPr>
          <p:cNvSpPr txBox="1"/>
          <p:nvPr/>
        </p:nvSpPr>
        <p:spPr>
          <a:xfrm>
            <a:off x="2625529" y="5676629"/>
            <a:ext cx="3396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LAYOUTS</a:t>
            </a:r>
          </a:p>
        </p:txBody>
      </p:sp>
    </p:spTree>
    <p:extLst>
      <p:ext uri="{BB962C8B-B14F-4D97-AF65-F5344CB8AC3E}">
        <p14:creationId xmlns:p14="http://schemas.microsoft.com/office/powerpoint/2010/main" val="37455904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7E1A1-9A3D-42B8-EDE7-F35FEAC4D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E04F1E4-6A99-A4AC-8E94-073283FA493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4D3D278-B48A-B87E-91CD-B937E0F6046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39FA6-B8AE-D628-7C7D-15DBD1A11480}"/>
              </a:ext>
            </a:extLst>
          </p:cNvPr>
          <p:cNvSpPr txBox="1"/>
          <p:nvPr/>
        </p:nvSpPr>
        <p:spPr>
          <a:xfrm>
            <a:off x="405018" y="252740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ECONOMIC IMPACT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BC97B-07F0-9828-71E9-4F624E61DA4E}"/>
              </a:ext>
            </a:extLst>
          </p:cNvPr>
          <p:cNvSpPr txBox="1"/>
          <p:nvPr/>
        </p:nvSpPr>
        <p:spPr>
          <a:xfrm>
            <a:off x="3877056" y="151537"/>
            <a:ext cx="567842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4272C6"/>
                </a:solidFill>
              </a:rPr>
              <a:t>Ethics </a:t>
            </a:r>
            <a:r>
              <a:rPr lang="en-GB" dirty="0"/>
              <a:t>are concerned with our </a:t>
            </a:r>
            <a:r>
              <a:rPr lang="en-GB" b="1" dirty="0"/>
              <a:t>values as a community </a:t>
            </a:r>
            <a:r>
              <a:rPr lang="en-GB" dirty="0"/>
              <a:t>and how these will impact different groups of people in society.</a:t>
            </a:r>
          </a:p>
          <a:p>
            <a:endParaRPr lang="en-GB" dirty="0"/>
          </a:p>
          <a:p>
            <a:r>
              <a:rPr lang="en-GB" b="1" dirty="0">
                <a:solidFill>
                  <a:srgbClr val="00B050"/>
                </a:solidFill>
              </a:rPr>
              <a:t>Morals</a:t>
            </a:r>
            <a:r>
              <a:rPr lang="en-GB" dirty="0"/>
              <a:t> are to do with our </a:t>
            </a:r>
            <a:r>
              <a:rPr lang="en-GB" b="1" dirty="0"/>
              <a:t>personal code of conduct</a:t>
            </a:r>
            <a:r>
              <a:rPr lang="en-GB" dirty="0"/>
              <a:t>; encompasses behaviour and decisions we make.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CD67D-65C1-6695-8075-CECB3DF7F308}"/>
              </a:ext>
            </a:extLst>
          </p:cNvPr>
          <p:cNvSpPr txBox="1"/>
          <p:nvPr/>
        </p:nvSpPr>
        <p:spPr>
          <a:xfrm>
            <a:off x="171124" y="1272123"/>
            <a:ext cx="801265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Computers in the workplace:</a:t>
            </a:r>
          </a:p>
          <a:p>
            <a:endParaRPr lang="en-GB" dirty="0"/>
          </a:p>
          <a:p>
            <a:r>
              <a:rPr lang="en-GB" dirty="0"/>
              <a:t>Benefits:</a:t>
            </a:r>
          </a:p>
          <a:p>
            <a:r>
              <a:rPr lang="en-GB" b="1" dirty="0"/>
              <a:t>Improve efficiency </a:t>
            </a:r>
            <a:r>
              <a:rPr lang="en-GB" dirty="0"/>
              <a:t>via reduced delivery time (e.g. Amazon using drones) and </a:t>
            </a:r>
            <a:r>
              <a:rPr lang="en-GB" b="1" dirty="0"/>
              <a:t>increased manufacturing speed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Reduce strain on works </a:t>
            </a:r>
            <a:r>
              <a:rPr lang="en-GB" dirty="0"/>
              <a:t>as reduced need to work in a </a:t>
            </a:r>
            <a:r>
              <a:rPr lang="en-GB" b="1" dirty="0"/>
              <a:t>repetitive and tedious environment.</a:t>
            </a:r>
          </a:p>
          <a:p>
            <a:endParaRPr lang="en-GB" dirty="0"/>
          </a:p>
          <a:p>
            <a:r>
              <a:rPr lang="en-GB" dirty="0"/>
              <a:t>Increased </a:t>
            </a:r>
            <a:r>
              <a:rPr lang="en-GB" b="1" dirty="0"/>
              <a:t>demand for people in computer-related occupations.</a:t>
            </a:r>
          </a:p>
          <a:p>
            <a:endParaRPr lang="en-GB" dirty="0"/>
          </a:p>
          <a:p>
            <a:r>
              <a:rPr lang="en-GB" b="1" dirty="0"/>
              <a:t>Online shopping </a:t>
            </a:r>
            <a:r>
              <a:rPr lang="en-GB" dirty="0"/>
              <a:t>allows businesses to </a:t>
            </a:r>
            <a:r>
              <a:rPr lang="en-GB" b="1" dirty="0"/>
              <a:t>cut rent and labour costs.</a:t>
            </a:r>
          </a:p>
          <a:p>
            <a:endParaRPr lang="en-GB" b="1" dirty="0"/>
          </a:p>
          <a:p>
            <a:r>
              <a:rPr lang="en-GB" dirty="0"/>
              <a:t>Disadvantages:</a:t>
            </a:r>
          </a:p>
          <a:p>
            <a:r>
              <a:rPr lang="en-GB" b="1" dirty="0"/>
              <a:t>Loses jobs </a:t>
            </a:r>
            <a:r>
              <a:rPr lang="en-GB" dirty="0"/>
              <a:t>for people creating high levels </a:t>
            </a:r>
            <a:r>
              <a:rPr lang="en-GB" b="1" dirty="0"/>
              <a:t>of structural unemployment</a:t>
            </a:r>
            <a:r>
              <a:rPr lang="en-GB" dirty="0"/>
              <a:t>. Yet the effects of this could be reversed due to high consumer demand for cheaper services will create employment in other sectors. As well, the government can </a:t>
            </a:r>
            <a:r>
              <a:rPr lang="en-GB" b="1" dirty="0"/>
              <a:t>offer retraining programmes </a:t>
            </a:r>
            <a:r>
              <a:rPr lang="en-GB" dirty="0"/>
              <a:t>so people can change occupations.</a:t>
            </a:r>
          </a:p>
          <a:p>
            <a:endParaRPr lang="en-GB" dirty="0"/>
          </a:p>
          <a:p>
            <a:r>
              <a:rPr lang="en-GB" dirty="0"/>
              <a:t>Causes a </a:t>
            </a:r>
            <a:r>
              <a:rPr lang="en-GB" b="1" dirty="0"/>
              <a:t>shift towards low-income service jobs.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53C06E-5F14-2FE8-FBAC-8F8DF5EF9ED1}"/>
              </a:ext>
            </a:extLst>
          </p:cNvPr>
          <p:cNvSpPr txBox="1"/>
          <p:nvPr/>
        </p:nvSpPr>
        <p:spPr>
          <a:xfrm>
            <a:off x="8741664" y="2385623"/>
            <a:ext cx="291693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There is the argument that computers have created a </a:t>
            </a:r>
            <a:r>
              <a:rPr lang="en-GB" b="1" dirty="0"/>
              <a:t>1% economy </a:t>
            </a:r>
            <a:r>
              <a:rPr lang="en-GB" dirty="0"/>
              <a:t>in which the top Internet Companies (YouTube, Instagram, Snapchat) have </a:t>
            </a:r>
            <a:r>
              <a:rPr lang="en-GB" b="1" dirty="0"/>
              <a:t>accumulated mass wealth at the expense of lots of workers.</a:t>
            </a:r>
          </a:p>
          <a:p>
            <a:endParaRPr lang="en-GB" dirty="0"/>
          </a:p>
          <a:p>
            <a:r>
              <a:rPr lang="en-GB" dirty="0"/>
              <a:t>As well, </a:t>
            </a:r>
            <a:r>
              <a:rPr lang="en-GB" b="1" dirty="0"/>
              <a:t>user-generated content </a:t>
            </a:r>
            <a:r>
              <a:rPr lang="en-GB" dirty="0"/>
              <a:t>can damage the music, video and publishing economy from the </a:t>
            </a:r>
            <a:r>
              <a:rPr lang="en-GB" b="1" dirty="0"/>
              <a:t>monopoly</a:t>
            </a:r>
            <a:r>
              <a:rPr lang="en-GB" dirty="0"/>
              <a:t> YouTube has.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3C602D-AA19-86D4-F860-B8396ED153BF}"/>
              </a:ext>
            </a:extLst>
          </p:cNvPr>
          <p:cNvSpPr/>
          <p:nvPr/>
        </p:nvSpPr>
        <p:spPr>
          <a:xfrm>
            <a:off x="3877056" y="73152"/>
            <a:ext cx="5678424" cy="1920240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2E4189D-3C3C-F7F4-6E34-14A94CF7384F}"/>
              </a:ext>
            </a:extLst>
          </p:cNvPr>
          <p:cNvSpPr/>
          <p:nvPr/>
        </p:nvSpPr>
        <p:spPr>
          <a:xfrm>
            <a:off x="8618318" y="2340975"/>
            <a:ext cx="2990088" cy="4524315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L-Shape 10">
            <a:extLst>
              <a:ext uri="{FF2B5EF4-FFF2-40B4-BE49-F238E27FC236}">
                <a16:creationId xmlns:a16="http://schemas.microsoft.com/office/drawing/2014/main" id="{AC3B6995-0A8E-3E2E-4E93-EBD6D9AFAD34}"/>
              </a:ext>
            </a:extLst>
          </p:cNvPr>
          <p:cNvSpPr/>
          <p:nvPr/>
        </p:nvSpPr>
        <p:spPr>
          <a:xfrm>
            <a:off x="171124" y="1028700"/>
            <a:ext cx="8095052" cy="5756148"/>
          </a:xfrm>
          <a:prstGeom prst="corner">
            <a:avLst>
              <a:gd name="adj1" fmla="val 81612"/>
              <a:gd name="adj2" fmla="val 62708"/>
            </a:avLst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8" name="Picture 4" descr="Computers In The Workplace - SDC Consult">
            <a:extLst>
              <a:ext uri="{FF2B5EF4-FFF2-40B4-BE49-F238E27FC236}">
                <a16:creationId xmlns:a16="http://schemas.microsoft.com/office/drawing/2014/main" id="{49FFFE28-85A8-FFDF-EFB8-141E4BED4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0377" y="1086609"/>
            <a:ext cx="1685287" cy="119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6713549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17A48-0862-60C8-9F52-9BCE91D2F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BC24EF1-7D6F-4227-CEF7-5910AF66D49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BE633EE-4B82-D05D-FE28-D7456DA71648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6DCBC-877F-508F-17D0-D23E494FA015}"/>
              </a:ext>
            </a:extLst>
          </p:cNvPr>
          <p:cNvSpPr txBox="1"/>
          <p:nvPr/>
        </p:nvSpPr>
        <p:spPr>
          <a:xfrm>
            <a:off x="436510" y="148730"/>
            <a:ext cx="5160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ARTIFICIAL 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96DEE-C520-F93E-7CFF-EB323D6746A0}"/>
              </a:ext>
            </a:extLst>
          </p:cNvPr>
          <p:cNvSpPr txBox="1"/>
          <p:nvPr/>
        </p:nvSpPr>
        <p:spPr>
          <a:xfrm>
            <a:off x="246888" y="842154"/>
            <a:ext cx="50749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2">
                    <a:lumMod val="25000"/>
                  </a:schemeClr>
                </a:solidFill>
              </a:rPr>
              <a:t>Artificial intelligence </a:t>
            </a:r>
            <a:r>
              <a:rPr lang="en-GB" dirty="0"/>
              <a:t>is the ability of a computer to </a:t>
            </a:r>
            <a:r>
              <a:rPr lang="en-GB" b="1" dirty="0"/>
              <a:t>replicate human intelligence</a:t>
            </a:r>
            <a:r>
              <a:rPr lang="en-GB" dirty="0"/>
              <a:t>, cognitive ability, and grasp abstract concepts.</a:t>
            </a:r>
          </a:p>
          <a:p>
            <a:endParaRPr lang="en-GB" dirty="0"/>
          </a:p>
          <a:p>
            <a:r>
              <a:rPr lang="en-GB" dirty="0"/>
              <a:t>It is used in </a:t>
            </a:r>
            <a:r>
              <a:rPr lang="en-GB" b="1" dirty="0"/>
              <a:t>expert systems </a:t>
            </a:r>
            <a:r>
              <a:rPr lang="en-GB" dirty="0"/>
              <a:t>to draw connections between illnesses to form </a:t>
            </a:r>
            <a:r>
              <a:rPr lang="en-GB" b="1" dirty="0"/>
              <a:t>diagnoses</a:t>
            </a:r>
            <a:r>
              <a:rPr lang="en-GB" dirty="0"/>
              <a:t>.</a:t>
            </a:r>
          </a:p>
          <a:p>
            <a:endParaRPr lang="en-GB" dirty="0"/>
          </a:p>
          <a:p>
            <a:r>
              <a:rPr lang="en-GB" b="1" dirty="0"/>
              <a:t>Neural networks </a:t>
            </a:r>
            <a:r>
              <a:rPr lang="en-GB" dirty="0"/>
              <a:t>can be created which can be used to replicate biological neural networks and is used </a:t>
            </a:r>
            <a:r>
              <a:rPr lang="en-GB" b="1" dirty="0"/>
              <a:t>in pattern detection and picking up on financial fraud.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E7A4F5-31DB-1119-D237-D6171F04D343}"/>
              </a:ext>
            </a:extLst>
          </p:cNvPr>
          <p:cNvSpPr txBox="1"/>
          <p:nvPr/>
        </p:nvSpPr>
        <p:spPr>
          <a:xfrm>
            <a:off x="5597236" y="120997"/>
            <a:ext cx="451612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Problems arrive with </a:t>
            </a:r>
            <a:r>
              <a:rPr lang="en-GB" b="1" dirty="0"/>
              <a:t>AI generated content </a:t>
            </a:r>
            <a:r>
              <a:rPr lang="en-GB" dirty="0"/>
              <a:t>replacing artists and causing higher unemployment.</a:t>
            </a:r>
          </a:p>
          <a:p>
            <a:endParaRPr lang="en-GB" dirty="0"/>
          </a:p>
          <a:p>
            <a:r>
              <a:rPr lang="en-GB" dirty="0"/>
              <a:t>As well, AI is used in </a:t>
            </a:r>
            <a:r>
              <a:rPr lang="en-GB" b="1" dirty="0"/>
              <a:t>voice recognition systems </a:t>
            </a:r>
            <a:r>
              <a:rPr lang="en-GB" dirty="0"/>
              <a:t>which are convenient does raise questions about </a:t>
            </a:r>
            <a:r>
              <a:rPr lang="en-GB" b="1" dirty="0"/>
              <a:t>privacy </a:t>
            </a:r>
            <a:r>
              <a:rPr lang="en-GB" dirty="0"/>
              <a:t>due to needing to be switched on all the time to function</a:t>
            </a:r>
          </a:p>
          <a:p>
            <a:endParaRPr lang="en-GB" dirty="0"/>
          </a:p>
          <a:p>
            <a:r>
              <a:rPr lang="en-GB" b="1" dirty="0"/>
              <a:t>Accountability is hard to determine </a:t>
            </a:r>
            <a:r>
              <a:rPr lang="en-GB" dirty="0"/>
              <a:t>with AI and at what stage is it considered </a:t>
            </a:r>
            <a:r>
              <a:rPr lang="en-GB" b="1" dirty="0"/>
              <a:t>sentient</a:t>
            </a:r>
            <a:r>
              <a:rPr lang="en-GB" dirty="0"/>
              <a:t> and if so, what </a:t>
            </a:r>
            <a:r>
              <a:rPr lang="en-GB" b="1" dirty="0"/>
              <a:t>rights</a:t>
            </a:r>
            <a:r>
              <a:rPr lang="en-GB" dirty="0"/>
              <a:t> should it have.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37B3C-4919-B632-A9CB-BDCEAC798224}"/>
              </a:ext>
            </a:extLst>
          </p:cNvPr>
          <p:cNvSpPr txBox="1"/>
          <p:nvPr/>
        </p:nvSpPr>
        <p:spPr>
          <a:xfrm>
            <a:off x="246888" y="4151680"/>
            <a:ext cx="1169822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Automated decision making </a:t>
            </a:r>
            <a:r>
              <a:rPr lang="en-GB" dirty="0"/>
              <a:t>can be based on AI or not. They have many effects:</a:t>
            </a:r>
          </a:p>
          <a:p>
            <a:r>
              <a:rPr lang="en-GB" b="1" dirty="0"/>
              <a:t>Social media feeds</a:t>
            </a:r>
            <a:r>
              <a:rPr lang="en-GB" dirty="0"/>
              <a:t>, however, could create a </a:t>
            </a:r>
            <a:r>
              <a:rPr lang="en-GB" b="1" dirty="0"/>
              <a:t>close-minded society </a:t>
            </a:r>
            <a:r>
              <a:rPr lang="en-GB" dirty="0"/>
              <a:t>due to only showing content based on users’ interactions and inferences about interests.</a:t>
            </a:r>
          </a:p>
          <a:p>
            <a:r>
              <a:rPr lang="en-GB" dirty="0"/>
              <a:t>Used in </a:t>
            </a:r>
            <a:r>
              <a:rPr lang="en-GB" b="1" dirty="0"/>
              <a:t>various application processes </a:t>
            </a:r>
            <a:r>
              <a:rPr lang="en-GB" dirty="0"/>
              <a:t>which means people could be </a:t>
            </a:r>
            <a:r>
              <a:rPr lang="en-GB" b="1" dirty="0"/>
              <a:t>treated unfairly </a:t>
            </a:r>
            <a:r>
              <a:rPr lang="en-GB" dirty="0"/>
              <a:t>especially if there is no consideration for </a:t>
            </a:r>
            <a:r>
              <a:rPr lang="en-GB" b="1" dirty="0"/>
              <a:t>contextual factors</a:t>
            </a:r>
            <a:r>
              <a:rPr lang="en-GB" dirty="0"/>
              <a:t>. However, has made hiring more convenient.</a:t>
            </a:r>
          </a:p>
          <a:p>
            <a:r>
              <a:rPr lang="en-GB" dirty="0"/>
              <a:t>Used heavily in </a:t>
            </a:r>
            <a:r>
              <a:rPr lang="en-GB" b="1" dirty="0"/>
              <a:t>trading</a:t>
            </a:r>
            <a:r>
              <a:rPr lang="en-GB" dirty="0"/>
              <a:t> in the stock market and to </a:t>
            </a:r>
            <a:r>
              <a:rPr lang="en-GB" b="1" dirty="0"/>
              <a:t>model future changes</a:t>
            </a:r>
            <a:r>
              <a:rPr lang="en-GB" dirty="0"/>
              <a:t>.</a:t>
            </a:r>
          </a:p>
          <a:p>
            <a:r>
              <a:rPr lang="en-GB" dirty="0"/>
              <a:t>Used in </a:t>
            </a:r>
            <a:r>
              <a:rPr lang="en-GB" b="1" dirty="0"/>
              <a:t>self driving cars </a:t>
            </a:r>
            <a:r>
              <a:rPr lang="en-GB" dirty="0"/>
              <a:t>but raises the problem of </a:t>
            </a:r>
            <a:r>
              <a:rPr lang="en-GB" b="1" dirty="0"/>
              <a:t>accountability</a:t>
            </a:r>
            <a:r>
              <a:rPr lang="en-GB" dirty="0"/>
              <a:t> and the decisions an algorithm makes when there is </a:t>
            </a:r>
            <a:r>
              <a:rPr lang="en-GB" b="1" dirty="0"/>
              <a:t>unavoidable harm.</a:t>
            </a:r>
          </a:p>
          <a:p>
            <a:r>
              <a:rPr lang="en-GB" dirty="0"/>
              <a:t>These algorithms need </a:t>
            </a:r>
            <a:r>
              <a:rPr lang="en-GB" b="1" dirty="0"/>
              <a:t>thorough testing to produce software free of bias.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902BF3-4E55-494B-FE5C-EE4EECC07B93}"/>
              </a:ext>
            </a:extLst>
          </p:cNvPr>
          <p:cNvSpPr/>
          <p:nvPr/>
        </p:nvSpPr>
        <p:spPr>
          <a:xfrm>
            <a:off x="246888" y="749808"/>
            <a:ext cx="5160726" cy="3231667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5A4069-22AC-DB78-D19C-F1923D09FD6A}"/>
              </a:ext>
            </a:extLst>
          </p:cNvPr>
          <p:cNvSpPr/>
          <p:nvPr/>
        </p:nvSpPr>
        <p:spPr>
          <a:xfrm>
            <a:off x="5542188" y="120997"/>
            <a:ext cx="4433916" cy="3765203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F2B4A9-1A22-B1F4-8E8D-EA90D6B0CD55}"/>
              </a:ext>
            </a:extLst>
          </p:cNvPr>
          <p:cNvSpPr/>
          <p:nvPr/>
        </p:nvSpPr>
        <p:spPr>
          <a:xfrm>
            <a:off x="109630" y="4059332"/>
            <a:ext cx="11768426" cy="2798667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utoShape 2" descr="Connor | Detroit: Become Human Wiki | Fandom">
            <a:extLst>
              <a:ext uri="{FF2B5EF4-FFF2-40B4-BE49-F238E27FC236}">
                <a16:creationId xmlns:a16="http://schemas.microsoft.com/office/drawing/2014/main" id="{A2E6DCE6-61EA-E0DE-758A-D79A47357C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2560320"/>
            <a:ext cx="1021080" cy="102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2" name="Picture 4" descr="Detroit: Become Human | Official Site | Quantic Dream">
            <a:extLst>
              <a:ext uri="{FF2B5EF4-FFF2-40B4-BE49-F238E27FC236}">
                <a16:creationId xmlns:a16="http://schemas.microsoft.com/office/drawing/2014/main" id="{537B1CA4-6EDA-4310-763A-8C1F5EB61E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678" y="1149697"/>
            <a:ext cx="1816064" cy="1021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view - Detroit: Become Human | GameHype">
            <a:extLst>
              <a:ext uri="{FF2B5EF4-FFF2-40B4-BE49-F238E27FC236}">
                <a16:creationId xmlns:a16="http://schemas.microsoft.com/office/drawing/2014/main" id="{3039E975-669C-E0E3-69E1-245490EA8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678" y="2358341"/>
            <a:ext cx="1996120" cy="111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41058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1A1CE-75EC-4209-517B-97CA5DFBB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DD883D3B-41D7-BEB6-0106-32DDEF2669C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A800E8E-6B38-BBFC-DAD7-6C43047905C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23E830-19CA-866A-4B52-C096796AA0D0}"/>
              </a:ext>
            </a:extLst>
          </p:cNvPr>
          <p:cNvSpPr txBox="1"/>
          <p:nvPr/>
        </p:nvSpPr>
        <p:spPr>
          <a:xfrm>
            <a:off x="294181" y="2527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ENVIRONMENTAL EFFECTS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6C644-A01D-610B-563A-3FEF1029D004}"/>
              </a:ext>
            </a:extLst>
          </p:cNvPr>
          <p:cNvSpPr txBox="1"/>
          <p:nvPr/>
        </p:nvSpPr>
        <p:spPr>
          <a:xfrm>
            <a:off x="146402" y="1127886"/>
            <a:ext cx="4760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Environmental issues include the </a:t>
            </a:r>
            <a:r>
              <a:rPr lang="en-GB" b="1" dirty="0"/>
              <a:t>carbon footprint and waste products </a:t>
            </a:r>
            <a:r>
              <a:rPr lang="en-GB" dirty="0"/>
              <a:t>that result from manufacturing computer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BEB861-1716-8AB6-E231-821415F04906}"/>
              </a:ext>
            </a:extLst>
          </p:cNvPr>
          <p:cNvSpPr txBox="1"/>
          <p:nvPr/>
        </p:nvSpPr>
        <p:spPr>
          <a:xfrm>
            <a:off x="294181" y="2333685"/>
            <a:ext cx="713989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 computer systems become </a:t>
            </a:r>
            <a:r>
              <a:rPr lang="en-GB" b="1" dirty="0"/>
              <a:t>cheaper</a:t>
            </a:r>
            <a:r>
              <a:rPr lang="en-GB" dirty="0"/>
              <a:t>, </a:t>
            </a:r>
            <a:r>
              <a:rPr lang="en-GB" b="1" dirty="0"/>
              <a:t>more are bought </a:t>
            </a:r>
            <a:r>
              <a:rPr lang="en-GB" dirty="0"/>
              <a:t>and produced. The pressure of keeping up with trends means that people now throw away devices more than ever – </a:t>
            </a:r>
            <a:r>
              <a:rPr lang="en-GB" b="1" dirty="0"/>
              <a:t>throw away society.</a:t>
            </a:r>
          </a:p>
          <a:p>
            <a:endParaRPr lang="en-GB" dirty="0"/>
          </a:p>
          <a:p>
            <a:r>
              <a:rPr lang="en-GB" dirty="0"/>
              <a:t>Computer components can be built from </a:t>
            </a:r>
            <a:r>
              <a:rPr lang="en-GB" b="1" dirty="0"/>
              <a:t>toxic</a:t>
            </a:r>
            <a:r>
              <a:rPr lang="en-GB" dirty="0"/>
              <a:t> materials such as mercury or radioactive isotopes; these can </a:t>
            </a:r>
            <a:r>
              <a:rPr lang="en-GB" b="1" dirty="0"/>
              <a:t>contaminate water supplies.</a:t>
            </a:r>
          </a:p>
          <a:p>
            <a:endParaRPr lang="en-GB" dirty="0"/>
          </a:p>
          <a:p>
            <a:r>
              <a:rPr lang="en-GB" b="1" dirty="0"/>
              <a:t>E-waste</a:t>
            </a:r>
            <a:r>
              <a:rPr lang="en-GB" dirty="0"/>
              <a:t> is shipped to </a:t>
            </a:r>
            <a:r>
              <a:rPr lang="en-GB" b="1" dirty="0"/>
              <a:t>third world countries </a:t>
            </a:r>
            <a:r>
              <a:rPr lang="en-GB" dirty="0"/>
              <a:t>with </a:t>
            </a:r>
            <a:r>
              <a:rPr lang="en-GB" b="1" dirty="0"/>
              <a:t>lower environmental standards to be disposed </a:t>
            </a:r>
            <a:r>
              <a:rPr lang="en-GB" dirty="0"/>
              <a:t>– immoral and unacceptable.</a:t>
            </a:r>
          </a:p>
          <a:p>
            <a:endParaRPr lang="en-GB" dirty="0"/>
          </a:p>
          <a:p>
            <a:r>
              <a:rPr lang="en-GB" dirty="0"/>
              <a:t>More </a:t>
            </a:r>
            <a:r>
              <a:rPr lang="en-GB" b="1" dirty="0"/>
              <a:t>electricity</a:t>
            </a:r>
            <a:r>
              <a:rPr lang="en-GB" dirty="0"/>
              <a:t> is required to power computers requires more use of </a:t>
            </a:r>
            <a:r>
              <a:rPr lang="en-GB" b="1" dirty="0"/>
              <a:t>non-renewable fossil fuels</a:t>
            </a:r>
            <a:r>
              <a:rPr lang="en-GB" dirty="0"/>
              <a:t> which emit greenhouse gases – </a:t>
            </a:r>
            <a:r>
              <a:rPr lang="en-GB" b="1" dirty="0"/>
              <a:t>climate change, </a:t>
            </a:r>
            <a:r>
              <a:rPr lang="en-GB" dirty="0"/>
              <a:t>biodiversity reduced, </a:t>
            </a:r>
            <a:r>
              <a:rPr lang="en-GB" b="1" dirty="0"/>
              <a:t>future generations impacted.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0D119-85A0-A318-2DD2-279C48C3CBCC}"/>
              </a:ext>
            </a:extLst>
          </p:cNvPr>
          <p:cNvSpPr txBox="1"/>
          <p:nvPr/>
        </p:nvSpPr>
        <p:spPr>
          <a:xfrm>
            <a:off x="7706819" y="1821335"/>
            <a:ext cx="4191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However, </a:t>
            </a:r>
            <a:r>
              <a:rPr lang="en-GB" b="1" dirty="0"/>
              <a:t>renewable</a:t>
            </a:r>
            <a:r>
              <a:rPr lang="en-GB" dirty="0"/>
              <a:t> </a:t>
            </a:r>
            <a:r>
              <a:rPr lang="en-GB" b="1" dirty="0"/>
              <a:t>energy</a:t>
            </a:r>
            <a:r>
              <a:rPr lang="en-GB" dirty="0"/>
              <a:t> can counteract the use of non-renewables.</a:t>
            </a:r>
          </a:p>
          <a:p>
            <a:endParaRPr lang="en-GB" b="1" dirty="0"/>
          </a:p>
          <a:p>
            <a:r>
              <a:rPr lang="en-GB" b="1" dirty="0"/>
              <a:t>Environmentally friendly technologies </a:t>
            </a:r>
            <a:r>
              <a:rPr lang="en-GB" dirty="0"/>
              <a:t>are growing as well e.g. smart home systems that can use sensors to change temperatures accordingly.</a:t>
            </a:r>
          </a:p>
          <a:p>
            <a:endParaRPr lang="en-GB" dirty="0"/>
          </a:p>
          <a:p>
            <a:r>
              <a:rPr lang="en-GB" b="1" dirty="0"/>
              <a:t>Working at home </a:t>
            </a:r>
            <a:r>
              <a:rPr lang="en-GB" dirty="0"/>
              <a:t>can mean less need for big offices meaning </a:t>
            </a:r>
            <a:r>
              <a:rPr lang="en-GB" b="1" dirty="0"/>
              <a:t>less heating and lighting</a:t>
            </a:r>
            <a:r>
              <a:rPr lang="en-GB" dirty="0"/>
              <a:t> needed. </a:t>
            </a:r>
            <a:r>
              <a:rPr lang="en-GB" b="1" dirty="0"/>
              <a:t>Less car emissions</a:t>
            </a:r>
            <a:r>
              <a:rPr lang="en-GB" dirty="0"/>
              <a:t> as less people need to drive to work.</a:t>
            </a:r>
          </a:p>
          <a:p>
            <a:endParaRPr lang="en-GB" dirty="0"/>
          </a:p>
          <a:p>
            <a:r>
              <a:rPr lang="en-GB" b="1" dirty="0"/>
              <a:t>Computer managed engines </a:t>
            </a:r>
            <a:r>
              <a:rPr lang="en-GB" dirty="0"/>
              <a:t>can work more efficiently, using less petrol and </a:t>
            </a:r>
            <a:r>
              <a:rPr lang="en-GB" b="1" dirty="0"/>
              <a:t>creating less pollution</a:t>
            </a:r>
            <a:r>
              <a:rPr lang="en-GB" dirty="0"/>
              <a:t>.</a:t>
            </a:r>
          </a:p>
        </p:txBody>
      </p:sp>
      <p:pic>
        <p:nvPicPr>
          <p:cNvPr id="1026" name="Picture 2" descr="The Growing Environmental Risks of E-Waste – Geneva Environment Network">
            <a:extLst>
              <a:ext uri="{FF2B5EF4-FFF2-40B4-BE49-F238E27FC236}">
                <a16:creationId xmlns:a16="http://schemas.microsoft.com/office/drawing/2014/main" id="{96DE74E9-D855-764F-BAB2-F2A471E51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6275" y="104656"/>
            <a:ext cx="2337742" cy="1401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LYING WHALES | GOJIRA | LISTENABLE RECORDS">
            <a:extLst>
              <a:ext uri="{FF2B5EF4-FFF2-40B4-BE49-F238E27FC236}">
                <a16:creationId xmlns:a16="http://schemas.microsoft.com/office/drawing/2014/main" id="{BA528F03-23A2-4BC8-E9FC-872749BD2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463" y="50054"/>
            <a:ext cx="1451811" cy="1451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6D648B-C4F4-F72D-4A41-B4C84A65B6E7}"/>
              </a:ext>
            </a:extLst>
          </p:cNvPr>
          <p:cNvSpPr/>
          <p:nvPr/>
        </p:nvSpPr>
        <p:spPr>
          <a:xfrm>
            <a:off x="146402" y="1028700"/>
            <a:ext cx="4965094" cy="1147572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875844-B0CA-1621-B941-5DAFEA2EF20C}"/>
              </a:ext>
            </a:extLst>
          </p:cNvPr>
          <p:cNvSpPr/>
          <p:nvPr/>
        </p:nvSpPr>
        <p:spPr>
          <a:xfrm>
            <a:off x="189073" y="2275459"/>
            <a:ext cx="7139891" cy="4300530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44AF49-6B0F-AAC7-04BD-6C402BF97F3E}"/>
              </a:ext>
            </a:extLst>
          </p:cNvPr>
          <p:cNvSpPr/>
          <p:nvPr/>
        </p:nvSpPr>
        <p:spPr>
          <a:xfrm>
            <a:off x="7626274" y="1821334"/>
            <a:ext cx="4376653" cy="452431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52583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66C16-64CD-606B-31E7-6D8A90355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28A6C13-80CC-724D-29BC-652D08E8CF4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C23C60EE-3BE0-9BF7-6F68-DC84FFFD7A6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D51B7-6FE0-547B-3E96-ECBA7A6D6752}"/>
              </a:ext>
            </a:extLst>
          </p:cNvPr>
          <p:cNvSpPr txBox="1"/>
          <p:nvPr/>
        </p:nvSpPr>
        <p:spPr>
          <a:xfrm>
            <a:off x="519638" y="307563"/>
            <a:ext cx="38768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PRIVACY AND TROLLS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9A3EC-52F7-7912-F495-80BED92F253F}"/>
              </a:ext>
            </a:extLst>
          </p:cNvPr>
          <p:cNvSpPr txBox="1"/>
          <p:nvPr/>
        </p:nvSpPr>
        <p:spPr>
          <a:xfrm>
            <a:off x="448056" y="941832"/>
            <a:ext cx="5006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Trolls, cyberbullying</a:t>
            </a:r>
            <a:r>
              <a:rPr lang="en-GB" dirty="0"/>
              <a:t>, cyber stalking and misogyny are common occurrences on the Internet mainly due to </a:t>
            </a:r>
            <a:r>
              <a:rPr lang="en-GB" b="1" dirty="0"/>
              <a:t>the anonymous front</a:t>
            </a:r>
            <a:r>
              <a:rPr lang="en-GB" dirty="0"/>
              <a:t> it provides.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dirty="0"/>
              <a:t>Malicious Communications Act 1998 makes it a criminal offence </a:t>
            </a:r>
            <a:r>
              <a:rPr lang="en-GB" dirty="0"/>
              <a:t>to send indecent or offensive messages to anyone online.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808A88-2204-33F3-9005-9C2427634DEB}"/>
              </a:ext>
            </a:extLst>
          </p:cNvPr>
          <p:cNvSpPr txBox="1"/>
          <p:nvPr/>
        </p:nvSpPr>
        <p:spPr>
          <a:xfrm>
            <a:off x="448055" y="3429000"/>
            <a:ext cx="52468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Censorship</a:t>
            </a:r>
            <a:r>
              <a:rPr lang="en-GB" dirty="0"/>
              <a:t> is the act of </a:t>
            </a:r>
            <a:r>
              <a:rPr lang="en-GB" b="1" dirty="0"/>
              <a:t>suppressing content </a:t>
            </a:r>
            <a:r>
              <a:rPr lang="en-GB" dirty="0"/>
              <a:t>that people can view, publish and access. Some countries use it to </a:t>
            </a:r>
            <a:r>
              <a:rPr lang="en-GB" b="1" dirty="0"/>
              <a:t>block out political opinions </a:t>
            </a:r>
            <a:r>
              <a:rPr lang="en-GB" dirty="0"/>
              <a:t>or extremist beliefs.</a:t>
            </a:r>
          </a:p>
          <a:p>
            <a:endParaRPr lang="en-GB" dirty="0"/>
          </a:p>
          <a:p>
            <a:r>
              <a:rPr lang="en-GB" dirty="0"/>
              <a:t>The problem is when censorship is </a:t>
            </a:r>
            <a:r>
              <a:rPr lang="en-GB" b="1" dirty="0"/>
              <a:t>no longer for protection but to push an ideology.</a:t>
            </a:r>
          </a:p>
          <a:p>
            <a:endParaRPr lang="en-GB" dirty="0"/>
          </a:p>
          <a:p>
            <a:r>
              <a:rPr lang="en-GB" dirty="0"/>
              <a:t>Within </a:t>
            </a:r>
            <a:r>
              <a:rPr lang="en-GB" b="1" dirty="0"/>
              <a:t>schools and workplace</a:t>
            </a:r>
            <a:r>
              <a:rPr lang="en-GB" dirty="0"/>
              <a:t>, censorship may be used to </a:t>
            </a:r>
            <a:r>
              <a:rPr lang="en-GB" b="1" dirty="0"/>
              <a:t>maintain high productivity </a:t>
            </a:r>
            <a:r>
              <a:rPr lang="en-GB" dirty="0"/>
              <a:t>and prevent distractions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7E8E94-066B-126C-B932-842E7C293F77}"/>
              </a:ext>
            </a:extLst>
          </p:cNvPr>
          <p:cNvSpPr txBox="1"/>
          <p:nvPr/>
        </p:nvSpPr>
        <p:spPr>
          <a:xfrm>
            <a:off x="6373464" y="307563"/>
            <a:ext cx="28440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Monitoring is used consistently for crime prevention </a:t>
            </a:r>
            <a:r>
              <a:rPr lang="en-GB" dirty="0"/>
              <a:t>and detection however they can also be used to </a:t>
            </a:r>
            <a:r>
              <a:rPr lang="en-GB" b="1" dirty="0"/>
              <a:t>monitor employee behaviour or your own behaviour</a:t>
            </a:r>
            <a:r>
              <a:rPr lang="en-GB" dirty="0"/>
              <a:t> (smart watches.) 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E22B3-B8BC-CF90-0F15-E1BF35AA55B9}"/>
              </a:ext>
            </a:extLst>
          </p:cNvPr>
          <p:cNvSpPr txBox="1"/>
          <p:nvPr/>
        </p:nvSpPr>
        <p:spPr>
          <a:xfrm>
            <a:off x="6240379" y="2973157"/>
            <a:ext cx="57109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Analysis of personal info</a:t>
            </a:r>
            <a:r>
              <a:rPr lang="en-GB" dirty="0"/>
              <a:t> is key for companies to reveal insights about </a:t>
            </a:r>
            <a:r>
              <a:rPr lang="en-GB" b="1" dirty="0"/>
              <a:t>people + behaviours</a:t>
            </a:r>
            <a:r>
              <a:rPr lang="en-GB" dirty="0"/>
              <a:t>. Large amounts of data can be gathered via </a:t>
            </a:r>
            <a:r>
              <a:rPr lang="en-GB" b="1" dirty="0"/>
              <a:t>data mining </a:t>
            </a:r>
            <a:r>
              <a:rPr lang="en-GB" dirty="0"/>
              <a:t>so it can be used </a:t>
            </a:r>
            <a:r>
              <a:rPr lang="en-GB" b="1" dirty="0"/>
              <a:t>for targeted advertising </a:t>
            </a:r>
            <a:r>
              <a:rPr lang="en-GB" dirty="0"/>
              <a:t>or to inform personalised political propaganda for example</a:t>
            </a:r>
          </a:p>
          <a:p>
            <a:endParaRPr lang="en-GB" dirty="0"/>
          </a:p>
          <a:p>
            <a:r>
              <a:rPr lang="en-GB" dirty="0"/>
              <a:t>Data mining can have the negative effect on people such as an insurance people finding out if someone is high risk of developing a disease so they can charge more.</a:t>
            </a:r>
          </a:p>
          <a:p>
            <a:r>
              <a:rPr lang="en-GB" dirty="0"/>
              <a:t>Although it is </a:t>
            </a:r>
            <a:r>
              <a:rPr lang="en-GB" b="1" dirty="0"/>
              <a:t>legally required to state what data companies are collecting </a:t>
            </a:r>
            <a:r>
              <a:rPr lang="en-GB" dirty="0"/>
              <a:t>from you (Data Protection Act 2018), it may </a:t>
            </a:r>
            <a:r>
              <a:rPr lang="en-GB" b="1" dirty="0"/>
              <a:t>not be always transparent.</a:t>
            </a:r>
          </a:p>
        </p:txBody>
      </p:sp>
      <p:pic>
        <p:nvPicPr>
          <p:cNvPr id="2050" name="Picture 2" descr="249 Spying Someone Stock Photos - Free &amp; Royalty-Free Stock Photos from  Dreamstime">
            <a:extLst>
              <a:ext uri="{FF2B5EF4-FFF2-40B4-BE49-F238E27FC236}">
                <a16:creationId xmlns:a16="http://schemas.microsoft.com/office/drawing/2014/main" id="{CA332A57-4663-D855-78FB-14D38E646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39530" y="1108971"/>
            <a:ext cx="2111838" cy="1409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B5FC65-8B2B-B990-B5CB-40DF93551CD7}"/>
              </a:ext>
            </a:extLst>
          </p:cNvPr>
          <p:cNvSpPr/>
          <p:nvPr/>
        </p:nvSpPr>
        <p:spPr>
          <a:xfrm>
            <a:off x="338328" y="830783"/>
            <a:ext cx="5356619" cy="5844337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99C768-0EE9-11CD-8591-38EE2E1AE0C7}"/>
              </a:ext>
            </a:extLst>
          </p:cNvPr>
          <p:cNvSpPr/>
          <p:nvPr/>
        </p:nvSpPr>
        <p:spPr>
          <a:xfrm>
            <a:off x="6316958" y="227291"/>
            <a:ext cx="2858406" cy="2441555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819810-9198-C851-5BDD-08C75FC8985A}"/>
              </a:ext>
            </a:extLst>
          </p:cNvPr>
          <p:cNvSpPr/>
          <p:nvPr/>
        </p:nvSpPr>
        <p:spPr>
          <a:xfrm>
            <a:off x="6253316" y="2874598"/>
            <a:ext cx="5798475" cy="3675839"/>
          </a:xfrm>
          <a:prstGeom prst="rect">
            <a:avLst/>
          </a:prstGeom>
          <a:noFill/>
          <a:ln>
            <a:solidFill>
              <a:srgbClr val="A46E4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089956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06753-7F21-D59F-B15F-8AABF49B8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761607F-4A2B-2D4A-AD5E-A11CCC240B5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5AFC46E-7CB4-DF50-6130-42EBF7E22B5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EA9EB-39C4-9857-1052-508E8E3CBE62}"/>
              </a:ext>
            </a:extLst>
          </p:cNvPr>
          <p:cNvSpPr txBox="1"/>
          <p:nvPr/>
        </p:nvSpPr>
        <p:spPr>
          <a:xfrm>
            <a:off x="381093" y="180993"/>
            <a:ext cx="3396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LAYOUTS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20135-D072-C7D7-016E-1CD97844D058}"/>
              </a:ext>
            </a:extLst>
          </p:cNvPr>
          <p:cNvSpPr txBox="1"/>
          <p:nvPr/>
        </p:nvSpPr>
        <p:spPr>
          <a:xfrm>
            <a:off x="256032" y="786384"/>
            <a:ext cx="5111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Websites </a:t>
            </a:r>
            <a:r>
              <a:rPr lang="en-GB" b="1" dirty="0"/>
              <a:t>designed in one country are viewable all over the world</a:t>
            </a:r>
            <a:r>
              <a:rPr lang="en-GB" dirty="0"/>
              <a:t>, so if they are intended for international viewership there needs to be </a:t>
            </a:r>
            <a:r>
              <a:rPr lang="en-GB" b="1" dirty="0"/>
              <a:t>consideration for layout, colour and character sets.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E193E6-98C7-6BBB-F554-A3623DFE322E}"/>
              </a:ext>
            </a:extLst>
          </p:cNvPr>
          <p:cNvSpPr txBox="1"/>
          <p:nvPr/>
        </p:nvSpPr>
        <p:spPr>
          <a:xfrm>
            <a:off x="187371" y="2653493"/>
            <a:ext cx="51114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Layouts: </a:t>
            </a:r>
            <a:r>
              <a:rPr lang="en-GB" dirty="0"/>
              <a:t>Websites must be laid out </a:t>
            </a:r>
            <a:r>
              <a:rPr lang="en-GB" b="1" dirty="0"/>
              <a:t>so it is easy to navigate between pages.</a:t>
            </a:r>
          </a:p>
          <a:p>
            <a:endParaRPr lang="en-GB" dirty="0"/>
          </a:p>
          <a:p>
            <a:r>
              <a:rPr lang="en-GB" dirty="0"/>
              <a:t>Examples of how to make a website more </a:t>
            </a:r>
            <a:r>
              <a:rPr lang="en-GB" b="1" dirty="0"/>
              <a:t>accessible</a:t>
            </a:r>
            <a:r>
              <a:rPr lang="en-GB" dirty="0"/>
              <a:t> via a layout:</a:t>
            </a:r>
          </a:p>
          <a:p>
            <a:endParaRPr lang="en-GB" dirty="0"/>
          </a:p>
          <a:p>
            <a:r>
              <a:rPr lang="en-GB" dirty="0"/>
              <a:t>Arabic countries </a:t>
            </a:r>
            <a:r>
              <a:rPr lang="en-GB" b="1" dirty="0"/>
              <a:t>read from right to left</a:t>
            </a:r>
          </a:p>
          <a:p>
            <a:endParaRPr lang="en-GB" dirty="0"/>
          </a:p>
          <a:p>
            <a:r>
              <a:rPr lang="en-GB" dirty="0"/>
              <a:t>Needs the option to </a:t>
            </a:r>
            <a:r>
              <a:rPr lang="en-GB" b="1" dirty="0"/>
              <a:t>enlarge text for visually impaired people </a:t>
            </a:r>
            <a:r>
              <a:rPr lang="en-GB" dirty="0"/>
              <a:t>or alter the contrast.</a:t>
            </a:r>
          </a:p>
          <a:p>
            <a:endParaRPr lang="en-GB" dirty="0"/>
          </a:p>
          <a:p>
            <a:r>
              <a:rPr lang="en-GB" b="1" dirty="0"/>
              <a:t>Transcripts of audio files </a:t>
            </a:r>
            <a:r>
              <a:rPr lang="en-GB" dirty="0"/>
              <a:t>should be provided for hearing impaired people.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EBA42E-8B16-28C7-4417-2EEC301FECE3}"/>
              </a:ext>
            </a:extLst>
          </p:cNvPr>
          <p:cNvSpPr txBox="1"/>
          <p:nvPr/>
        </p:nvSpPr>
        <p:spPr>
          <a:xfrm>
            <a:off x="5367528" y="5480059"/>
            <a:ext cx="61040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/>
          </a:p>
          <a:p>
            <a:r>
              <a:rPr lang="en-GB" dirty="0"/>
              <a:t>These </a:t>
            </a:r>
            <a:r>
              <a:rPr lang="en-GB" b="1" dirty="0"/>
              <a:t>design considerations </a:t>
            </a:r>
            <a:r>
              <a:rPr lang="en-GB" dirty="0"/>
              <a:t>make website more </a:t>
            </a:r>
            <a:r>
              <a:rPr lang="en-GB" b="1" dirty="0"/>
              <a:t>accessible</a:t>
            </a:r>
            <a:r>
              <a:rPr lang="en-GB" dirty="0"/>
              <a:t> to all people, </a:t>
            </a:r>
            <a:r>
              <a:rPr lang="en-GB" b="1" dirty="0"/>
              <a:t>attract more customers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4E8592-9521-C577-DE9A-795F7FB251D3}"/>
              </a:ext>
            </a:extLst>
          </p:cNvPr>
          <p:cNvSpPr txBox="1"/>
          <p:nvPr/>
        </p:nvSpPr>
        <p:spPr>
          <a:xfrm>
            <a:off x="6096000" y="0"/>
            <a:ext cx="33965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Colour Paradigms:</a:t>
            </a:r>
          </a:p>
          <a:p>
            <a:endParaRPr lang="en-GB" dirty="0"/>
          </a:p>
          <a:p>
            <a:r>
              <a:rPr lang="en-GB" dirty="0"/>
              <a:t>Different </a:t>
            </a:r>
            <a:r>
              <a:rPr lang="en-GB" b="1" dirty="0"/>
              <a:t>colours are interpreted differently around the world with negative connotations</a:t>
            </a:r>
            <a:r>
              <a:rPr lang="en-GB" dirty="0"/>
              <a:t> being associated with colours across the world.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b="1" dirty="0"/>
              <a:t>safest colour is blue</a:t>
            </a:r>
            <a:r>
              <a:rPr lang="en-GB" dirty="0"/>
              <a:t> although it can still represent sadness.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20BCCF-2C61-694F-98EE-BFCC8409C226}"/>
              </a:ext>
            </a:extLst>
          </p:cNvPr>
          <p:cNvSpPr txBox="1"/>
          <p:nvPr/>
        </p:nvSpPr>
        <p:spPr>
          <a:xfrm>
            <a:off x="5672340" y="3523969"/>
            <a:ext cx="5744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Character Sets:</a:t>
            </a:r>
          </a:p>
          <a:p>
            <a:endParaRPr lang="en-GB" dirty="0"/>
          </a:p>
          <a:p>
            <a:r>
              <a:rPr lang="en-GB" dirty="0"/>
              <a:t>Contents of website must be </a:t>
            </a:r>
            <a:r>
              <a:rPr lang="en-GB" b="1" dirty="0"/>
              <a:t>translated into multiple languages</a:t>
            </a:r>
            <a:r>
              <a:rPr lang="en-GB" dirty="0"/>
              <a:t>. For this, </a:t>
            </a:r>
            <a:r>
              <a:rPr lang="en-GB" b="1" dirty="0"/>
              <a:t>Unicode is preferred </a:t>
            </a:r>
            <a:r>
              <a:rPr lang="en-GB" dirty="0"/>
              <a:t>as ASCII with 7 bits cannot contain all possible characters such as the Chinese language.</a:t>
            </a:r>
          </a:p>
        </p:txBody>
      </p:sp>
      <p:pic>
        <p:nvPicPr>
          <p:cNvPr id="3074" name="Picture 2" descr="What Is The Best Way To Learn Colour Wheel? - Blue Sky Graphics">
            <a:extLst>
              <a:ext uri="{FF2B5EF4-FFF2-40B4-BE49-F238E27FC236}">
                <a16:creationId xmlns:a16="http://schemas.microsoft.com/office/drawing/2014/main" id="{B9C90EAE-ABE6-6774-59E0-675761DE0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5684" y="1579705"/>
            <a:ext cx="1674674" cy="167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AutoShape 4" descr="Arabic language | Islam Wiki | Fandom">
            <a:extLst>
              <a:ext uri="{FF2B5EF4-FFF2-40B4-BE49-F238E27FC236}">
                <a16:creationId xmlns:a16="http://schemas.microsoft.com/office/drawing/2014/main" id="{2ECB1F1C-5B81-DD63-2FB3-0B218C1F4A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601971" y="345359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CBE839-F66B-4433-2F42-F868D10CC78F}"/>
              </a:ext>
            </a:extLst>
          </p:cNvPr>
          <p:cNvSpPr/>
          <p:nvPr/>
        </p:nvSpPr>
        <p:spPr>
          <a:xfrm>
            <a:off x="256032" y="786384"/>
            <a:ext cx="4919472" cy="15910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F6443E-E2D8-3F8C-5169-190AF82AC0F5}"/>
              </a:ext>
            </a:extLst>
          </p:cNvPr>
          <p:cNvSpPr/>
          <p:nvPr/>
        </p:nvSpPr>
        <p:spPr>
          <a:xfrm>
            <a:off x="118710" y="2539764"/>
            <a:ext cx="5056794" cy="3943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146114-B7DF-FA80-0396-084275DC0FC7}"/>
              </a:ext>
            </a:extLst>
          </p:cNvPr>
          <p:cNvSpPr/>
          <p:nvPr/>
        </p:nvSpPr>
        <p:spPr>
          <a:xfrm>
            <a:off x="5906771" y="0"/>
            <a:ext cx="3520693" cy="3254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A7C74C-56FF-2944-69F8-5815E5D9193D}"/>
              </a:ext>
            </a:extLst>
          </p:cNvPr>
          <p:cNvSpPr/>
          <p:nvPr/>
        </p:nvSpPr>
        <p:spPr>
          <a:xfrm>
            <a:off x="5492588" y="3453598"/>
            <a:ext cx="6104020" cy="19043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14B53F-A2A3-1E2A-FE7F-42865F45DD82}"/>
              </a:ext>
            </a:extLst>
          </p:cNvPr>
          <p:cNvSpPr/>
          <p:nvPr/>
        </p:nvSpPr>
        <p:spPr>
          <a:xfrm>
            <a:off x="5445072" y="5551850"/>
            <a:ext cx="5187949" cy="9188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066492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347FE-E467-DD04-77ED-921C7DF24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B3FEB10-C04A-E873-8D18-ADB89BF9081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19B72E-C805-9271-DC07-C249925DE152}"/>
              </a:ext>
            </a:extLst>
          </p:cNvPr>
          <p:cNvSpPr txBox="1"/>
          <p:nvPr/>
        </p:nvSpPr>
        <p:spPr>
          <a:xfrm>
            <a:off x="527397" y="252740"/>
            <a:ext cx="446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THINKING ABSTRACTLY</a:t>
            </a:r>
          </a:p>
        </p:txBody>
      </p:sp>
    </p:spTree>
    <p:extLst>
      <p:ext uri="{BB962C8B-B14F-4D97-AF65-F5344CB8AC3E}">
        <p14:creationId xmlns:p14="http://schemas.microsoft.com/office/powerpoint/2010/main" val="268752936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73A3D-7EA9-5985-5C0B-8BE477D2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70611FC-7B86-0992-2DBA-AC9F21D0D20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B1D714-CD49-8D6C-5AA9-F6E16B5B3B15}"/>
              </a:ext>
            </a:extLst>
          </p:cNvPr>
          <p:cNvSpPr txBox="1"/>
          <p:nvPr/>
        </p:nvSpPr>
        <p:spPr>
          <a:xfrm>
            <a:off x="527397" y="252740"/>
            <a:ext cx="446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THINKING AHEAD</a:t>
            </a:r>
          </a:p>
        </p:txBody>
      </p:sp>
    </p:spTree>
    <p:extLst>
      <p:ext uri="{BB962C8B-B14F-4D97-AF65-F5344CB8AC3E}">
        <p14:creationId xmlns:p14="http://schemas.microsoft.com/office/powerpoint/2010/main" val="29356827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FAE93-4E65-495A-7561-AF62E158E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25ED05B4-0630-EF7A-50AC-4B76FB1245BF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A8678F-E51F-421A-E252-2C23266A8735}"/>
              </a:ext>
            </a:extLst>
          </p:cNvPr>
          <p:cNvSpPr txBox="1"/>
          <p:nvPr/>
        </p:nvSpPr>
        <p:spPr>
          <a:xfrm>
            <a:off x="527397" y="252740"/>
            <a:ext cx="5055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THINKING PRODCEDURALLY</a:t>
            </a:r>
          </a:p>
        </p:txBody>
      </p:sp>
    </p:spTree>
    <p:extLst>
      <p:ext uri="{BB962C8B-B14F-4D97-AF65-F5344CB8AC3E}">
        <p14:creationId xmlns:p14="http://schemas.microsoft.com/office/powerpoint/2010/main" val="582973178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9801E-2E80-9F4A-0536-78DCA021C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6C005A7-F35D-C78E-011D-D8B0E04905CE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A38E4-F550-F976-E039-59C8B7FCAF0E}"/>
              </a:ext>
            </a:extLst>
          </p:cNvPr>
          <p:cNvSpPr txBox="1"/>
          <p:nvPr/>
        </p:nvSpPr>
        <p:spPr>
          <a:xfrm>
            <a:off x="527397" y="252740"/>
            <a:ext cx="446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THINKING LOGICALLY</a:t>
            </a:r>
          </a:p>
        </p:txBody>
      </p:sp>
    </p:spTree>
    <p:extLst>
      <p:ext uri="{BB962C8B-B14F-4D97-AF65-F5344CB8AC3E}">
        <p14:creationId xmlns:p14="http://schemas.microsoft.com/office/powerpoint/2010/main" val="955070475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5B560-72EB-75CD-5815-005CF8125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43C2B0C-F841-DABF-0A90-BE02F6FF9EF8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0DA1EF-629A-EC75-5AE2-8BDC1B45AB4A}"/>
              </a:ext>
            </a:extLst>
          </p:cNvPr>
          <p:cNvSpPr txBox="1"/>
          <p:nvPr/>
        </p:nvSpPr>
        <p:spPr>
          <a:xfrm>
            <a:off x="527397" y="252740"/>
            <a:ext cx="44616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THINKING CONCURRENTLY</a:t>
            </a:r>
          </a:p>
        </p:txBody>
      </p:sp>
    </p:spTree>
    <p:extLst>
      <p:ext uri="{BB962C8B-B14F-4D97-AF65-F5344CB8AC3E}">
        <p14:creationId xmlns:p14="http://schemas.microsoft.com/office/powerpoint/2010/main" val="526834231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40C7D-988C-D78A-33B2-B6DAD25D1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tion Button: Go Home 2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4417066-17E3-8333-6E82-5CFF1EFFE7D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761BFE-449B-182E-843B-20606C9A7182}"/>
              </a:ext>
            </a:extLst>
          </p:cNvPr>
          <p:cNvSpPr txBox="1"/>
          <p:nvPr/>
        </p:nvSpPr>
        <p:spPr>
          <a:xfrm>
            <a:off x="766746" y="336962"/>
            <a:ext cx="9158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SLR23 PROGRAMMING 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C83AFE-B72D-48D1-28FF-4F1090CBD11A}"/>
              </a:ext>
            </a:extLst>
          </p:cNvPr>
          <p:cNvSpPr txBox="1"/>
          <p:nvPr/>
        </p:nvSpPr>
        <p:spPr>
          <a:xfrm>
            <a:off x="2575563" y="1523257"/>
            <a:ext cx="609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MODULARITY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8F016-5FD3-AADD-2B26-9A2AF2F3197D}"/>
              </a:ext>
            </a:extLst>
          </p:cNvPr>
          <p:cNvSpPr txBox="1"/>
          <p:nvPr/>
        </p:nvSpPr>
        <p:spPr>
          <a:xfrm>
            <a:off x="2625529" y="2540948"/>
            <a:ext cx="40173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VARIABLES AND PARAMETERS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E99DE5-2961-4FA1-5B7D-905F4AE77B25}"/>
              </a:ext>
            </a:extLst>
          </p:cNvPr>
          <p:cNvSpPr txBox="1"/>
          <p:nvPr/>
        </p:nvSpPr>
        <p:spPr>
          <a:xfrm>
            <a:off x="2575563" y="3557856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B806F8-2AFE-5603-009D-B1F308408DAC}"/>
              </a:ext>
            </a:extLst>
          </p:cNvPr>
          <p:cNvSpPr txBox="1"/>
          <p:nvPr/>
        </p:nvSpPr>
        <p:spPr>
          <a:xfrm>
            <a:off x="2625529" y="4574764"/>
            <a:ext cx="5216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IDE</a:t>
            </a:r>
          </a:p>
        </p:txBody>
      </p:sp>
      <p:sp>
        <p:nvSpPr>
          <p:cNvPr id="11" name="Action Button: Go Forward or Next 10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3ED3814-06C8-309D-3467-7F6E131A939C}"/>
              </a:ext>
            </a:extLst>
          </p:cNvPr>
          <p:cNvSpPr/>
          <p:nvPr/>
        </p:nvSpPr>
        <p:spPr>
          <a:xfrm>
            <a:off x="766747" y="1423056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4ED73A3-1817-1DB7-18D3-31A88878794E}"/>
              </a:ext>
            </a:extLst>
          </p:cNvPr>
          <p:cNvSpPr/>
          <p:nvPr/>
        </p:nvSpPr>
        <p:spPr>
          <a:xfrm>
            <a:off x="766746" y="2358355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ction Button: Go Forward or Next 13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602CB9BD-D8AA-23CD-DBB7-22C4845B3F73}"/>
              </a:ext>
            </a:extLst>
          </p:cNvPr>
          <p:cNvSpPr/>
          <p:nvPr/>
        </p:nvSpPr>
        <p:spPr>
          <a:xfrm>
            <a:off x="766746" y="4448809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ction Button: Go Forward or Next 1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96463793-A6A9-B592-B582-50C064F2FE7C}"/>
              </a:ext>
            </a:extLst>
          </p:cNvPr>
          <p:cNvSpPr/>
          <p:nvPr/>
        </p:nvSpPr>
        <p:spPr>
          <a:xfrm>
            <a:off x="766746" y="3403582"/>
            <a:ext cx="974361" cy="734518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3146118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4579-280C-7E71-7B4A-A4C5AFA1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0BCCC868-DE82-E2E7-A027-85467AB5C98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21B7CD-4F06-2041-9156-22D824D64BB9}"/>
              </a:ext>
            </a:extLst>
          </p:cNvPr>
          <p:cNvSpPr txBox="1"/>
          <p:nvPr/>
        </p:nvSpPr>
        <p:spPr>
          <a:xfrm>
            <a:off x="316995" y="151657"/>
            <a:ext cx="609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MODULARITY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EA6FC6D0-40FF-87FA-EC2C-702C9D2B2897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609C17-BB4F-50F1-7326-4999C3C5D314}"/>
              </a:ext>
            </a:extLst>
          </p:cNvPr>
          <p:cNvSpPr txBox="1"/>
          <p:nvPr/>
        </p:nvSpPr>
        <p:spPr>
          <a:xfrm>
            <a:off x="160421" y="1028700"/>
            <a:ext cx="896753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Modular programming is a technique used to</a:t>
            </a:r>
            <a:r>
              <a:rPr lang="en-GB" b="1"/>
              <a:t> split large complex programs</a:t>
            </a:r>
            <a:r>
              <a:rPr lang="en-GB"/>
              <a:t> into </a:t>
            </a:r>
            <a:r>
              <a:rPr lang="en-GB" b="1"/>
              <a:t>smaller, self-contained modules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4DC76-6D6D-6343-2F92-2A576E01A479}"/>
              </a:ext>
            </a:extLst>
          </p:cNvPr>
          <p:cNvSpPr txBox="1"/>
          <p:nvPr/>
        </p:nvSpPr>
        <p:spPr>
          <a:xfrm>
            <a:off x="0" y="2028854"/>
            <a:ext cx="6529137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/>
              <a:t>Benefits include:</a:t>
            </a:r>
            <a:endParaRPr lang="en-US"/>
          </a:p>
          <a:p>
            <a:r>
              <a:rPr lang="en-GB"/>
              <a:t>.</a:t>
            </a:r>
            <a:r>
              <a:rPr lang="en-GB" b="1"/>
              <a:t> Reusability </a:t>
            </a:r>
            <a:r>
              <a:rPr lang="en-GB"/>
              <a:t>of components once a module is tested</a:t>
            </a:r>
          </a:p>
          <a:p>
            <a:r>
              <a:rPr lang="en-GB"/>
              <a:t>. Big projects can be divided between a team</a:t>
            </a:r>
          </a:p>
          <a:p>
            <a:r>
              <a:rPr lang="en-GB"/>
              <a:t>. Simplifies</a:t>
            </a:r>
            <a:r>
              <a:rPr lang="en-GB" b="1"/>
              <a:t> testing and maintenance.</a:t>
            </a:r>
          </a:p>
          <a:p>
            <a:r>
              <a:rPr lang="en-GB"/>
              <a:t>. Easier to </a:t>
            </a:r>
            <a:r>
              <a:rPr lang="en-GB" b="1"/>
              <a:t>understand and approach </a:t>
            </a:r>
            <a:r>
              <a:rPr lang="en-GB"/>
              <a:t>small modules than the whole problems.</a:t>
            </a:r>
          </a:p>
          <a:p>
            <a:r>
              <a:rPr lang="en-GB"/>
              <a:t>. Different team members with </a:t>
            </a:r>
            <a:r>
              <a:rPr lang="en-GB" b="1"/>
              <a:t>different specialties</a:t>
            </a:r>
            <a:r>
              <a:rPr lang="en-GB"/>
              <a:t> can handle </a:t>
            </a:r>
            <a:r>
              <a:rPr lang="en-GB" b="1"/>
              <a:t>different modules</a:t>
            </a:r>
            <a:r>
              <a:rPr lang="en-GB"/>
              <a:t> suited to them specifically.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2AFEF6-A3E2-1E07-AE15-55E640551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359" y="4296182"/>
            <a:ext cx="6382641" cy="24101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3D97970-F1AF-27E5-53F8-A80B9A28A0B9}"/>
              </a:ext>
            </a:extLst>
          </p:cNvPr>
          <p:cNvSpPr txBox="1"/>
          <p:nvPr/>
        </p:nvSpPr>
        <p:spPr>
          <a:xfrm>
            <a:off x="7232072" y="2022764"/>
            <a:ext cx="4779817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 technique to modularise programs is called the </a:t>
            </a:r>
            <a:r>
              <a:rPr lang="en-GB" b="1"/>
              <a:t>top-down approach, in which the problem is continually broken down into sub-problems</a:t>
            </a:r>
            <a:r>
              <a:rPr lang="en-GB"/>
              <a:t> until each can be represented as an individual, </a:t>
            </a:r>
            <a:r>
              <a:rPr lang="en-GB" b="1"/>
              <a:t>self-contained subroutine</a:t>
            </a:r>
            <a:r>
              <a:rPr lang="en-GB"/>
              <a:t> that performs a certain task. This process can also be called </a:t>
            </a:r>
            <a:r>
              <a:rPr lang="en-GB" b="1"/>
              <a:t>stepwise refinement.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F8B3588-8160-E30A-2FDC-02D311810A2E}"/>
              </a:ext>
            </a:extLst>
          </p:cNvPr>
          <p:cNvSpPr txBox="1"/>
          <p:nvPr/>
        </p:nvSpPr>
        <p:spPr>
          <a:xfrm>
            <a:off x="166254" y="4668981"/>
            <a:ext cx="497378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Modules may be referred to as</a:t>
            </a:r>
            <a:r>
              <a:rPr lang="en-GB" b="1"/>
              <a:t> subroutines, procedures (returns no value), functions (returns a value) or methods.</a:t>
            </a:r>
          </a:p>
          <a:p>
            <a:endParaRPr lang="en-GB"/>
          </a:p>
          <a:p>
            <a:r>
              <a:rPr lang="en-GB"/>
              <a:t>The first line of a subroutine specifies the </a:t>
            </a:r>
            <a:r>
              <a:rPr lang="en-GB" b="1"/>
              <a:t>interface </a:t>
            </a:r>
            <a:r>
              <a:rPr lang="en-GB"/>
              <a:t>for that subroutine for example e.g. procedure </a:t>
            </a:r>
            <a:r>
              <a:rPr lang="en-GB" b="1"/>
              <a:t>subroutine1(parameter1)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033722-566F-7A60-7B84-58FB75FC5AE2}"/>
              </a:ext>
            </a:extLst>
          </p:cNvPr>
          <p:cNvSpPr/>
          <p:nvPr/>
        </p:nvSpPr>
        <p:spPr>
          <a:xfrm>
            <a:off x="166254" y="900545"/>
            <a:ext cx="9448799" cy="81741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CDBB0C-41E7-9D6A-3617-6495B8C4C917}"/>
              </a:ext>
            </a:extLst>
          </p:cNvPr>
          <p:cNvSpPr/>
          <p:nvPr/>
        </p:nvSpPr>
        <p:spPr>
          <a:xfrm>
            <a:off x="-1" y="1925781"/>
            <a:ext cx="6414654" cy="2479963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CA7E14-8139-07D3-9593-2ECB46B71F13}"/>
              </a:ext>
            </a:extLst>
          </p:cNvPr>
          <p:cNvSpPr/>
          <p:nvPr/>
        </p:nvSpPr>
        <p:spPr>
          <a:xfrm>
            <a:off x="7121234" y="1925780"/>
            <a:ext cx="4779818" cy="2036618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78D638E-A448-DA2B-C239-FB3BD2F7F205}"/>
              </a:ext>
            </a:extLst>
          </p:cNvPr>
          <p:cNvSpPr/>
          <p:nvPr/>
        </p:nvSpPr>
        <p:spPr>
          <a:xfrm>
            <a:off x="-3" y="4405744"/>
            <a:ext cx="4973781" cy="2299854"/>
          </a:xfrm>
          <a:prstGeom prst="rect">
            <a:avLst/>
          </a:prstGeom>
          <a:noFill/>
          <a:ln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115086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2ED47-3A0B-23C3-6B34-1E526FED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DBEDD3F-2709-F035-4C10-7A1320575B30}"/>
              </a:ext>
            </a:extLst>
          </p:cNvPr>
          <p:cNvSpPr/>
          <p:nvPr/>
        </p:nvSpPr>
        <p:spPr>
          <a:xfrm>
            <a:off x="5233618" y="-3399"/>
            <a:ext cx="5995214" cy="3172690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CD5FAED-EAEA-D656-94F8-F30D5F5DC9C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3BC015-BD35-5ACD-6CE2-0836C003DF17}"/>
              </a:ext>
            </a:extLst>
          </p:cNvPr>
          <p:cNvSpPr txBox="1"/>
          <p:nvPr/>
        </p:nvSpPr>
        <p:spPr>
          <a:xfrm>
            <a:off x="440112" y="163306"/>
            <a:ext cx="46896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VARIABLES AND PARAMETERS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A6BDC9D0-ACEB-248F-EA56-9312A402DDB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9CC67E-35E5-34D0-6A2B-2B12A6A52E1A}"/>
              </a:ext>
            </a:extLst>
          </p:cNvPr>
          <p:cNvSpPr txBox="1"/>
          <p:nvPr/>
        </p:nvSpPr>
        <p:spPr>
          <a:xfrm>
            <a:off x="293077" y="1289538"/>
            <a:ext cx="494323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Variables can be defined with either global or local scope. </a:t>
            </a:r>
            <a:r>
              <a:rPr lang="en-GB" b="1" i="1"/>
              <a:t>Scope refers to the sections of code in which the variable is available. </a:t>
            </a:r>
          </a:p>
          <a:p>
            <a:endParaRPr lang="en-GB"/>
          </a:p>
          <a:p>
            <a:r>
              <a:rPr lang="en-GB" b="1"/>
              <a:t>Local variables have limited scope</a:t>
            </a:r>
            <a:r>
              <a:rPr lang="en-GB"/>
              <a:t> so can only be accessed within the block of code in which they were </a:t>
            </a:r>
            <a:r>
              <a:rPr lang="en-GB" b="1"/>
              <a:t>defined</a:t>
            </a:r>
            <a:r>
              <a:rPr lang="en-GB"/>
              <a:t>. Using local variables is good programming practice as in ensures subroutines </a:t>
            </a:r>
            <a:r>
              <a:rPr lang="en-GB" b="1"/>
              <a:t>are self-contained,</a:t>
            </a:r>
            <a:r>
              <a:rPr lang="en-GB"/>
              <a:t> with no danger of variables being affected outside of the subroutine.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869C7D-3003-B4F1-AC2E-B6B7C1B90447}"/>
              </a:ext>
            </a:extLst>
          </p:cNvPr>
          <p:cNvSpPr txBox="1"/>
          <p:nvPr/>
        </p:nvSpPr>
        <p:spPr>
          <a:xfrm>
            <a:off x="5237017" y="166254"/>
            <a:ext cx="4939832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Global variables, on the other hand, can be </a:t>
            </a:r>
            <a:r>
              <a:rPr lang="en-GB" b="1"/>
              <a:t>accessed across the whole program </a:t>
            </a:r>
            <a:r>
              <a:rPr lang="en-GB"/>
              <a:t>and is the automatic state variables are declared to be and are useful for values than need to be used by </a:t>
            </a:r>
            <a:r>
              <a:rPr lang="en-GB" b="1"/>
              <a:t>multiple parts of the program.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F1BDC4-001B-A39F-7C72-7A47EB719D23}"/>
              </a:ext>
            </a:extLst>
          </p:cNvPr>
          <p:cNvSpPr txBox="1"/>
          <p:nvPr/>
        </p:nvSpPr>
        <p:spPr>
          <a:xfrm>
            <a:off x="5250873" y="1905000"/>
            <a:ext cx="609600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800" baseline="0">
                <a:latin typeface="Aptos"/>
                <a:ea typeface="Segoe UI"/>
                <a:cs typeface="Segoe UI"/>
              </a:rPr>
              <a:t>However, </a:t>
            </a:r>
            <a:r>
              <a:rPr lang="en-GB">
                <a:latin typeface="Aptos"/>
                <a:ea typeface="Segoe UI"/>
                <a:cs typeface="Segoe UI"/>
              </a:rPr>
              <a:t>they require</a:t>
            </a:r>
            <a:r>
              <a:rPr lang="en-GB" sz="1800" baseline="0">
                <a:latin typeface="Aptos"/>
                <a:ea typeface="Segoe UI"/>
                <a:cs typeface="Segoe UI"/>
              </a:rPr>
              <a:t> </a:t>
            </a:r>
            <a:r>
              <a:rPr lang="en-GB" sz="1800" b="1" baseline="0">
                <a:latin typeface="Aptos"/>
                <a:ea typeface="Segoe UI"/>
                <a:cs typeface="Segoe UI"/>
              </a:rPr>
              <a:t>more memory</a:t>
            </a:r>
            <a:r>
              <a:rPr lang="en-GB" sz="1800" baseline="0">
                <a:latin typeface="Aptos"/>
                <a:ea typeface="Segoe UI"/>
                <a:cs typeface="Segoe UI"/>
              </a:rPr>
              <a:t> as they are not </a:t>
            </a:r>
            <a:r>
              <a:rPr lang="en-GB" b="1">
                <a:latin typeface="Aptos"/>
                <a:ea typeface="Segoe UI"/>
                <a:cs typeface="Segoe UI"/>
              </a:rPr>
              <a:t>terminated until</a:t>
            </a:r>
            <a:r>
              <a:rPr lang="en-GB" sz="1800" b="1" baseline="0">
                <a:latin typeface="Aptos"/>
                <a:ea typeface="Segoe UI"/>
                <a:cs typeface="Segoe UI"/>
              </a:rPr>
              <a:t> the program is terminated </a:t>
            </a:r>
            <a:r>
              <a:rPr lang="en-GB" sz="1800" baseline="0">
                <a:latin typeface="Aptos"/>
                <a:ea typeface="Segoe UI"/>
                <a:cs typeface="Segoe UI"/>
              </a:rPr>
              <a:t>unlike </a:t>
            </a:r>
            <a:r>
              <a:rPr lang="en-GB">
                <a:latin typeface="Aptos"/>
                <a:ea typeface="Segoe UI"/>
                <a:cs typeface="Segoe UI"/>
              </a:rPr>
              <a:t>local variables</a:t>
            </a:r>
            <a:r>
              <a:rPr lang="en-GB" sz="1800" baseline="0">
                <a:latin typeface="Aptos"/>
                <a:ea typeface="Segoe UI"/>
                <a:cs typeface="Segoe UI"/>
              </a:rPr>
              <a:t> which are </a:t>
            </a:r>
            <a:r>
              <a:rPr lang="en-GB" sz="1800" b="1" baseline="0">
                <a:latin typeface="Aptos"/>
                <a:ea typeface="Segoe UI"/>
                <a:cs typeface="Segoe UI"/>
              </a:rPr>
              <a:t>deleted at the end of </a:t>
            </a:r>
            <a:r>
              <a:rPr lang="en-GB" b="1">
                <a:latin typeface="Aptos"/>
                <a:ea typeface="Segoe UI"/>
                <a:cs typeface="Segoe UI"/>
              </a:rPr>
              <a:t>the subroutine</a:t>
            </a:r>
            <a:r>
              <a:rPr lang="en-GB" sz="1800" b="1" baseline="0">
                <a:latin typeface="Aptos"/>
                <a:ea typeface="Segoe UI"/>
                <a:cs typeface="Segoe UI"/>
              </a:rPr>
              <a:t>.</a:t>
            </a:r>
            <a:r>
              <a:rPr lang="en-GB" sz="1800" baseline="0">
                <a:latin typeface="Aptos"/>
                <a:ea typeface="Segoe UI"/>
                <a:cs typeface="Segoe UI"/>
              </a:rPr>
              <a:t> Also, global variables can </a:t>
            </a:r>
            <a:r>
              <a:rPr lang="en-GB">
                <a:latin typeface="Aptos"/>
                <a:ea typeface="Segoe UI"/>
                <a:cs typeface="Segoe UI"/>
              </a:rPr>
              <a:t>be </a:t>
            </a:r>
            <a:r>
              <a:rPr lang="en-GB" b="1">
                <a:latin typeface="Aptos"/>
                <a:ea typeface="Segoe UI"/>
                <a:cs typeface="Segoe UI"/>
              </a:rPr>
              <a:t>unintentionally</a:t>
            </a:r>
            <a:r>
              <a:rPr lang="en-GB" sz="1800" b="1" baseline="0">
                <a:latin typeface="Aptos"/>
                <a:ea typeface="Segoe UI"/>
                <a:cs typeface="Segoe UI"/>
              </a:rPr>
              <a:t> overwritten.</a:t>
            </a:r>
            <a:endParaRPr lang="en-GB" b="1"/>
          </a:p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DE4632-9A4E-AA4D-70DF-051A183538C8}"/>
              </a:ext>
            </a:extLst>
          </p:cNvPr>
          <p:cNvSpPr txBox="1"/>
          <p:nvPr/>
        </p:nvSpPr>
        <p:spPr>
          <a:xfrm>
            <a:off x="290945" y="4447308"/>
            <a:ext cx="469669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Functions typically use local variables however procedures typically use parameters.</a:t>
            </a:r>
          </a:p>
          <a:p>
            <a:endParaRPr lang="en-GB"/>
          </a:p>
          <a:p>
            <a:r>
              <a:rPr lang="en-GB"/>
              <a:t>When parameters are passed into a subroutine, they can be passed</a:t>
            </a:r>
            <a:r>
              <a:rPr lang="en-GB" b="1"/>
              <a:t> either by value or by reference.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7CF51F-E6D6-6CC1-1244-13E2D0703BB8}"/>
              </a:ext>
            </a:extLst>
          </p:cNvPr>
          <p:cNvSpPr txBox="1"/>
          <p:nvPr/>
        </p:nvSpPr>
        <p:spPr>
          <a:xfrm>
            <a:off x="5680363" y="3435927"/>
            <a:ext cx="261850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/>
              <a:t>BY VALUE:</a:t>
            </a:r>
          </a:p>
          <a:p>
            <a:endParaRPr lang="en-GB"/>
          </a:p>
          <a:p>
            <a:r>
              <a:rPr lang="en-GB"/>
              <a:t>Treated as a </a:t>
            </a:r>
            <a:r>
              <a:rPr lang="en-GB" b="1"/>
              <a:t>local variable</a:t>
            </a:r>
            <a:r>
              <a:rPr lang="en-GB"/>
              <a:t>; a copy of the value is passed to the subroutine and </a:t>
            </a:r>
            <a:r>
              <a:rPr lang="en-GB" b="1"/>
              <a:t>discarded at the end.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727039-403A-5776-38A0-0764E1005D6C}"/>
              </a:ext>
            </a:extLst>
          </p:cNvPr>
          <p:cNvSpPr txBox="1"/>
          <p:nvPr/>
        </p:nvSpPr>
        <p:spPr>
          <a:xfrm>
            <a:off x="8700654" y="3394363"/>
            <a:ext cx="2812472" cy="2400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/>
              <a:t>BY REFERENCE:</a:t>
            </a:r>
          </a:p>
          <a:p>
            <a:endParaRPr lang="en-GB"/>
          </a:p>
          <a:p>
            <a:r>
              <a:rPr lang="en-GB" b="1"/>
              <a:t>The address of the parameter is given </a:t>
            </a:r>
            <a:r>
              <a:rPr lang="en-GB"/>
              <a:t>to the subroutine, so the value of the parameter will be </a:t>
            </a:r>
            <a:r>
              <a:rPr lang="en-GB" b="1"/>
              <a:t>updated at the given address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12F48C-7BE1-6CBB-05CD-C64821B8D9B6}"/>
              </a:ext>
            </a:extLst>
          </p:cNvPr>
          <p:cNvSpPr txBox="1"/>
          <p:nvPr/>
        </p:nvSpPr>
        <p:spPr>
          <a:xfrm>
            <a:off x="5306290" y="6054436"/>
            <a:ext cx="663632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In tests, assume parameters are passed by value unless told otherwise: Format = function multiply(</a:t>
            </a:r>
            <a:r>
              <a:rPr lang="en-GB" b="1"/>
              <a:t>x:byVal, y:byRef)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A6A255-7F9A-EFCF-743E-5C98B0E28BC5}"/>
              </a:ext>
            </a:extLst>
          </p:cNvPr>
          <p:cNvSpPr/>
          <p:nvPr/>
        </p:nvSpPr>
        <p:spPr>
          <a:xfrm>
            <a:off x="290945" y="1288471"/>
            <a:ext cx="4835235" cy="2867891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EA9790-CDDC-6487-1AFB-8A10402E4221}"/>
              </a:ext>
            </a:extLst>
          </p:cNvPr>
          <p:cNvSpPr/>
          <p:nvPr/>
        </p:nvSpPr>
        <p:spPr>
          <a:xfrm>
            <a:off x="5237018" y="3335545"/>
            <a:ext cx="6650180" cy="3522453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01E21C-2945-5C28-87C2-C40B84E08575}"/>
              </a:ext>
            </a:extLst>
          </p:cNvPr>
          <p:cNvSpPr/>
          <p:nvPr/>
        </p:nvSpPr>
        <p:spPr>
          <a:xfrm>
            <a:off x="290945" y="4447307"/>
            <a:ext cx="4419599" cy="2147455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505859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F6168-692E-7F12-0D12-C6B0215AA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DD88F90-CC2A-070A-D072-CE7DBCB5589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3C48A1-70E7-3E34-BB67-9AA87F1F2A76}"/>
              </a:ext>
            </a:extLst>
          </p:cNvPr>
          <p:cNvSpPr txBox="1"/>
          <p:nvPr/>
        </p:nvSpPr>
        <p:spPr>
          <a:xfrm>
            <a:off x="472443" y="229440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RECURSION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193B0DD2-617A-5692-16C3-35E530C162C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4A5570-E3F9-6BEF-C5AC-945B01147ECB}"/>
              </a:ext>
            </a:extLst>
          </p:cNvPr>
          <p:cNvSpPr txBox="1"/>
          <p:nvPr/>
        </p:nvSpPr>
        <p:spPr>
          <a:xfrm>
            <a:off x="224590" y="1028700"/>
            <a:ext cx="66895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Recursive subroutines are a programming construct in which a subroutine </a:t>
            </a:r>
            <a:r>
              <a:rPr lang="en-GB" b="1"/>
              <a:t>calls itself during execution </a:t>
            </a:r>
            <a:r>
              <a:rPr lang="en-GB"/>
              <a:t>and it has these 3 characteristics:</a:t>
            </a:r>
          </a:p>
          <a:p>
            <a:endParaRPr lang="en-GB"/>
          </a:p>
          <a:p>
            <a:pPr marL="342900" indent="-342900">
              <a:buAutoNum type="arabicPeriod"/>
            </a:pPr>
            <a:r>
              <a:rPr lang="en-GB"/>
              <a:t>Contains a </a:t>
            </a:r>
            <a:r>
              <a:rPr lang="en-GB" b="1"/>
              <a:t>stopping condition</a:t>
            </a:r>
          </a:p>
          <a:p>
            <a:pPr marL="342900" indent="-342900">
              <a:buAutoNum type="arabicPeriod"/>
            </a:pPr>
            <a:r>
              <a:rPr lang="en-GB"/>
              <a:t>For any input value other than the stopping condition, the </a:t>
            </a:r>
            <a:r>
              <a:rPr lang="en-GB" b="1"/>
              <a:t>subroutine should call itself</a:t>
            </a:r>
          </a:p>
          <a:p>
            <a:pPr marL="342900" indent="-342900">
              <a:buAutoNum type="arabicPeriod"/>
            </a:pPr>
            <a:r>
              <a:rPr lang="en-GB"/>
              <a:t>The </a:t>
            </a:r>
            <a:r>
              <a:rPr lang="en-GB" b="1"/>
              <a:t>stopping condition should be reachable within a finite </a:t>
            </a:r>
            <a:r>
              <a:rPr lang="en-GB"/>
              <a:t>number of times.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1F9E4F-6E95-E92C-D8D6-A0D969C6394A}"/>
              </a:ext>
            </a:extLst>
          </p:cNvPr>
          <p:cNvSpPr txBox="1"/>
          <p:nvPr/>
        </p:nvSpPr>
        <p:spPr>
          <a:xfrm>
            <a:off x="6711407" y="3614023"/>
            <a:ext cx="512766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Advantages: Problems can be represented </a:t>
            </a:r>
            <a:r>
              <a:rPr lang="en-GB" b="1"/>
              <a:t>in fewer lines of code</a:t>
            </a:r>
            <a:r>
              <a:rPr lang="en-GB"/>
              <a:t>, which makes them less prone to errors</a:t>
            </a:r>
          </a:p>
          <a:p>
            <a:endParaRPr lang="en-GB"/>
          </a:p>
          <a:p>
            <a:r>
              <a:rPr lang="en-GB"/>
              <a:t>Disadvantages: </a:t>
            </a:r>
            <a:r>
              <a:rPr lang="en-GB" b="1"/>
              <a:t>Inefficient use of memory </a:t>
            </a:r>
            <a:r>
              <a:rPr lang="en-GB"/>
              <a:t>as all previous variables must be remembered in the stack, danger of </a:t>
            </a:r>
            <a:r>
              <a:rPr lang="en-GB" b="1"/>
              <a:t>a stack overflow </a:t>
            </a:r>
            <a:r>
              <a:rPr lang="en-GB"/>
              <a:t>when the call stack runs out of memory and </a:t>
            </a:r>
            <a:r>
              <a:rPr lang="en-GB" b="1"/>
              <a:t>is difficult to trace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42A037-1A8F-C71D-55FE-5398266D0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17" y="1390648"/>
            <a:ext cx="5933383" cy="19060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7DC51A-2B66-62F9-65A3-846882466058}"/>
              </a:ext>
            </a:extLst>
          </p:cNvPr>
          <p:cNvSpPr txBox="1"/>
          <p:nvPr/>
        </p:nvSpPr>
        <p:spPr>
          <a:xfrm>
            <a:off x="465222" y="3984948"/>
            <a:ext cx="563077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Each time a function calls itself, a </a:t>
            </a:r>
            <a:r>
              <a:rPr lang="en-GB" b="1"/>
              <a:t>new stack frame </a:t>
            </a:r>
            <a:r>
              <a:rPr lang="en-GB"/>
              <a:t>is created within the call stack, </a:t>
            </a:r>
            <a:r>
              <a:rPr lang="en-GB" b="1"/>
              <a:t>where parameters, local variables and return addresses are stored. </a:t>
            </a:r>
            <a:r>
              <a:rPr lang="en-GB"/>
              <a:t>This information allows the subroutine to</a:t>
            </a:r>
            <a:r>
              <a:rPr lang="en-GB" b="1"/>
              <a:t> return to that point during its execution. </a:t>
            </a:r>
          </a:p>
          <a:p>
            <a:endParaRPr lang="en-GB"/>
          </a:p>
          <a:p>
            <a:r>
              <a:rPr lang="en-GB"/>
              <a:t>When the stopping condition is reached, the subroutine unwinds and information on the </a:t>
            </a:r>
            <a:r>
              <a:rPr lang="en-GB" b="1"/>
              <a:t>call stack is popped off</a:t>
            </a:r>
            <a:r>
              <a:rPr lang="en-GB"/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5BB87-6800-C32F-A897-C280F4EFE769}"/>
              </a:ext>
            </a:extLst>
          </p:cNvPr>
          <p:cNvSpPr/>
          <p:nvPr/>
        </p:nvSpPr>
        <p:spPr>
          <a:xfrm>
            <a:off x="137160" y="1028700"/>
            <a:ext cx="6236208" cy="2692908"/>
          </a:xfrm>
          <a:prstGeom prst="rect">
            <a:avLst/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8B6510-1F89-05C4-77A4-D81DEEE28ED5}"/>
              </a:ext>
            </a:extLst>
          </p:cNvPr>
          <p:cNvSpPr/>
          <p:nvPr/>
        </p:nvSpPr>
        <p:spPr>
          <a:xfrm>
            <a:off x="289560" y="3843383"/>
            <a:ext cx="5718048" cy="2603137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7EA2A4-68EA-5BF8-F9E6-37C8AC795726}"/>
              </a:ext>
            </a:extLst>
          </p:cNvPr>
          <p:cNvSpPr/>
          <p:nvPr/>
        </p:nvSpPr>
        <p:spPr>
          <a:xfrm>
            <a:off x="6682196" y="3614023"/>
            <a:ext cx="5285214" cy="221527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5B71870-F5F0-78BD-7B0B-92BDFBFA3B2B}"/>
                  </a:ext>
                </a:extLst>
              </p14:cNvPr>
              <p14:cNvContentPartPr/>
              <p14:nvPr/>
            </p14:nvContentPartPr>
            <p14:xfrm>
              <a:off x="9267048" y="1560456"/>
              <a:ext cx="911160" cy="945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5B71870-F5F0-78BD-7B0B-92BDFBFA3B2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260928" y="1554334"/>
                <a:ext cx="923400" cy="9576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4BE2E2F-D412-5D09-0391-CDF96331C088}"/>
                  </a:ext>
                </a:extLst>
              </p14:cNvPr>
              <p14:cNvContentPartPr/>
              <p14:nvPr/>
            </p14:nvContentPartPr>
            <p14:xfrm>
              <a:off x="9061488" y="1499256"/>
              <a:ext cx="155880" cy="183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4BE2E2F-D412-5D09-0391-CDF96331C08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55382" y="1493136"/>
                <a:ext cx="168092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59457C2-71FA-E0CD-1E48-561D934EB346}"/>
                  </a:ext>
                </a:extLst>
              </p14:cNvPr>
              <p14:cNvContentPartPr/>
              <p14:nvPr/>
            </p14:nvContentPartPr>
            <p14:xfrm>
              <a:off x="9217008" y="1640016"/>
              <a:ext cx="255960" cy="42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59457C2-71FA-E0CD-1E48-561D934EB34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10888" y="1633896"/>
                <a:ext cx="268200" cy="5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B2E1DEB7-8562-5E91-DF78-6A905870B7AB}"/>
              </a:ext>
            </a:extLst>
          </p:cNvPr>
          <p:cNvGrpSpPr/>
          <p:nvPr/>
        </p:nvGrpSpPr>
        <p:grpSpPr>
          <a:xfrm>
            <a:off x="7447248" y="1762416"/>
            <a:ext cx="1896480" cy="348840"/>
            <a:chOff x="7447248" y="1762416"/>
            <a:chExt cx="1896480" cy="34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D36558C-070D-EDC2-65B8-411D3ABE8410}"/>
                    </a:ext>
                  </a:extLst>
                </p14:cNvPr>
                <p14:cNvContentPartPr/>
                <p14:nvPr/>
              </p14:nvContentPartPr>
              <p14:xfrm>
                <a:off x="7447248" y="1762416"/>
                <a:ext cx="1896480" cy="295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D36558C-070D-EDC2-65B8-411D3ABE841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41128" y="1756303"/>
                  <a:ext cx="1908720" cy="307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25DE99D-F835-DE8A-0501-B3604FCDF3F8}"/>
                    </a:ext>
                  </a:extLst>
                </p14:cNvPr>
                <p14:cNvContentPartPr/>
                <p14:nvPr/>
              </p14:nvContentPartPr>
              <p14:xfrm>
                <a:off x="8787168" y="2020536"/>
                <a:ext cx="360" cy="90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25DE99D-F835-DE8A-0501-B3604FCDF3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81048" y="2014416"/>
                  <a:ext cx="12600" cy="1029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15E02442-092E-8624-E9FC-065C4D907F20}"/>
              </a:ext>
            </a:extLst>
          </p:cNvPr>
          <p:cNvSpPr txBox="1"/>
          <p:nvPr/>
        </p:nvSpPr>
        <p:spPr>
          <a:xfrm>
            <a:off x="8359956" y="2085856"/>
            <a:ext cx="13346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>
                <a:solidFill>
                  <a:srgbClr val="FF0000"/>
                </a:solidFill>
              </a:rPr>
              <a:t>Stopping Condition</a:t>
            </a:r>
          </a:p>
        </p:txBody>
      </p:sp>
    </p:spTree>
    <p:extLst>
      <p:ext uri="{BB962C8B-B14F-4D97-AF65-F5344CB8AC3E}">
        <p14:creationId xmlns:p14="http://schemas.microsoft.com/office/powerpoint/2010/main" val="2490971454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123E-D8BC-340F-2DA9-884D002A9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DB6A061-0343-15E3-20BB-716BB6CBA37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67B88C-FEE9-1115-3AB0-A554E1A36037}"/>
              </a:ext>
            </a:extLst>
          </p:cNvPr>
          <p:cNvSpPr txBox="1"/>
          <p:nvPr/>
        </p:nvSpPr>
        <p:spPr>
          <a:xfrm>
            <a:off x="458401" y="146804"/>
            <a:ext cx="52165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IDE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FFD58196-3F54-4485-FED5-99FCCEB6D3A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Tour the Visual Studio IDE | Microsoft Learn">
            <a:extLst>
              <a:ext uri="{FF2B5EF4-FFF2-40B4-BE49-F238E27FC236}">
                <a16:creationId xmlns:a16="http://schemas.microsoft.com/office/drawing/2014/main" id="{D1E0139A-9481-3FA8-B565-F134E3A85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6166" y="0"/>
            <a:ext cx="4995593" cy="2672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D81D34-9291-6706-A137-574B209470BE}"/>
              </a:ext>
            </a:extLst>
          </p:cNvPr>
          <p:cNvSpPr txBox="1"/>
          <p:nvPr/>
        </p:nvSpPr>
        <p:spPr>
          <a:xfrm>
            <a:off x="10494124" y="1357806"/>
            <a:ext cx="13171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Visual Studio’s 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9CE690-3ED2-D1BB-FEA3-66213839622B}"/>
              </a:ext>
            </a:extLst>
          </p:cNvPr>
          <p:cNvSpPr txBox="1"/>
          <p:nvPr/>
        </p:nvSpPr>
        <p:spPr>
          <a:xfrm>
            <a:off x="116305" y="932734"/>
            <a:ext cx="46867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An Integrated Development Environment </a:t>
            </a:r>
            <a:r>
              <a:rPr lang="en-GB"/>
              <a:t>is a program which provides a set of tools to make it easier for programmers </a:t>
            </a:r>
            <a:r>
              <a:rPr lang="en-GB" b="1"/>
              <a:t>to write, develop and debug code </a:t>
            </a:r>
            <a:r>
              <a:rPr lang="en-GB"/>
              <a:t>and a comprehensive and integrated platform that </a:t>
            </a:r>
            <a:r>
              <a:rPr lang="en-GB" b="1"/>
              <a:t>compiles code </a:t>
            </a:r>
            <a:r>
              <a:rPr lang="en-GB"/>
              <a:t>as well.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003409-0242-6DED-8A21-2AA1E7CC5D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5937114"/>
              </p:ext>
            </p:extLst>
          </p:nvPr>
        </p:nvGraphicFramePr>
        <p:xfrm>
          <a:off x="45640" y="2979576"/>
          <a:ext cx="12146359" cy="3878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5323">
                  <a:extLst>
                    <a:ext uri="{9D8B030D-6E8A-4147-A177-3AD203B41FA5}">
                      <a16:colId xmlns:a16="http://schemas.microsoft.com/office/drawing/2014/main" val="861328242"/>
                    </a:ext>
                  </a:extLst>
                </a:gridCol>
                <a:gridCol w="8911036">
                  <a:extLst>
                    <a:ext uri="{9D8B030D-6E8A-4147-A177-3AD203B41FA5}">
                      <a16:colId xmlns:a16="http://schemas.microsoft.com/office/drawing/2014/main" val="3970540775"/>
                    </a:ext>
                  </a:extLst>
                </a:gridCol>
              </a:tblGrid>
              <a:tr h="545942">
                <a:tc>
                  <a:txBody>
                    <a:bodyPr/>
                    <a:lstStyle/>
                    <a:p>
                      <a:r>
                        <a:rPr lang="en-GB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EXPLANATION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596248"/>
                  </a:ext>
                </a:extLst>
              </a:tr>
              <a:tr h="545942">
                <a:tc>
                  <a:txBody>
                    <a:bodyPr/>
                    <a:lstStyle/>
                    <a:p>
                      <a:r>
                        <a:rPr lang="en-GB" b="1"/>
                        <a:t>Stepping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Monitor the effect of each individual line of </a:t>
                      </a:r>
                      <a:r>
                        <a:rPr lang="en-GB" b="1"/>
                        <a:t>code by executing a single line at a time.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450565"/>
                  </a:ext>
                </a:extLst>
              </a:tr>
              <a:tr h="696635">
                <a:tc>
                  <a:txBody>
                    <a:bodyPr/>
                    <a:lstStyle/>
                    <a:p>
                      <a:r>
                        <a:rPr lang="en-GB" b="1"/>
                        <a:t>Variable Watch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Allows developers to monitor </a:t>
                      </a:r>
                      <a:r>
                        <a:rPr lang="en-GB" b="1"/>
                        <a:t>value of variables as the program executes </a:t>
                      </a:r>
                      <a:r>
                        <a:rPr lang="en-GB"/>
                        <a:t>and can be used to diagnose logical errors and debug.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605890"/>
                  </a:ext>
                </a:extLst>
              </a:tr>
              <a:tr h="696635">
                <a:tc>
                  <a:txBody>
                    <a:bodyPr/>
                    <a:lstStyle/>
                    <a:p>
                      <a:r>
                        <a:rPr lang="en-GB" b="1"/>
                        <a:t>Source Code Editor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Autocompletion of words, indentation, </a:t>
                      </a:r>
                      <a:r>
                        <a:rPr lang="en-GB" b="1"/>
                        <a:t>syntax highlighting </a:t>
                      </a:r>
                      <a:r>
                        <a:rPr lang="en-GB"/>
                        <a:t>and automatic bracket completion makes </a:t>
                      </a:r>
                      <a:r>
                        <a:rPr lang="en-GB" b="1"/>
                        <a:t>code clearer to write and read.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731290"/>
                  </a:ext>
                </a:extLst>
              </a:tr>
              <a:tr h="696635">
                <a:tc>
                  <a:txBody>
                    <a:bodyPr/>
                    <a:lstStyle/>
                    <a:p>
                      <a:r>
                        <a:rPr lang="en-GB" b="1"/>
                        <a:t>Breakpoint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IDEs allow users to set points in the program at </a:t>
                      </a:r>
                      <a:r>
                        <a:rPr lang="en-GB" b="1"/>
                        <a:t>which the program will stop</a:t>
                      </a:r>
                      <a:r>
                        <a:rPr lang="en-GB"/>
                        <a:t>, and this can help with debugging as it can help </a:t>
                      </a:r>
                      <a:r>
                        <a:rPr lang="en-GB" b="1"/>
                        <a:t>to pinpoint where an error is occurring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0393404"/>
                  </a:ext>
                </a:extLst>
              </a:tr>
              <a:tr h="696635">
                <a:tc>
                  <a:txBody>
                    <a:bodyPr/>
                    <a:lstStyle/>
                    <a:p>
                      <a:r>
                        <a:rPr lang="en-GB" b="1"/>
                        <a:t>Debugging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/>
                        <a:t>Run time detection errors </a:t>
                      </a:r>
                      <a:r>
                        <a:rPr lang="en-GB"/>
                        <a:t>can be </a:t>
                      </a:r>
                      <a:r>
                        <a:rPr lang="en-GB" b="1"/>
                        <a:t>shown to the developer </a:t>
                      </a:r>
                      <a:r>
                        <a:rPr lang="en-GB"/>
                        <a:t>with highlighted line numbers where the problem occurred to assist with debugging.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77550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E2FB0EB7-EAE7-6BD9-ABD9-E5969BD2B03E}"/>
              </a:ext>
            </a:extLst>
          </p:cNvPr>
          <p:cNvSpPr/>
          <p:nvPr/>
        </p:nvSpPr>
        <p:spPr>
          <a:xfrm>
            <a:off x="45640" y="834731"/>
            <a:ext cx="4828112" cy="178616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837444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4B88-1C2E-1291-FD8A-F8B0949EA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BCF71C5-E547-BE79-4408-61E0EB02B7E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975E80-5D89-C5F8-59D7-B425FF0085FA}"/>
              </a:ext>
            </a:extLst>
          </p:cNvPr>
          <p:cNvSpPr txBox="1"/>
          <p:nvPr/>
        </p:nvSpPr>
        <p:spPr>
          <a:xfrm>
            <a:off x="476810" y="301011"/>
            <a:ext cx="561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SLR24 COMPUTATION METHODS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634CC3-CB2B-77CA-CEB4-48FA6B7E3C1A}"/>
              </a:ext>
            </a:extLst>
          </p:cNvPr>
          <p:cNvSpPr txBox="1"/>
          <p:nvPr/>
        </p:nvSpPr>
        <p:spPr>
          <a:xfrm>
            <a:off x="1798817" y="1257101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COMPUTABLE PROBLEMS</a:t>
            </a:r>
          </a:p>
        </p:txBody>
      </p:sp>
      <p:sp>
        <p:nvSpPr>
          <p:cNvPr id="5" name="Action Button: Go Forward or Next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A3052EB-44F8-91D1-01EE-CAC370901737}"/>
              </a:ext>
            </a:extLst>
          </p:cNvPr>
          <p:cNvSpPr/>
          <p:nvPr/>
        </p:nvSpPr>
        <p:spPr>
          <a:xfrm>
            <a:off x="539642" y="102870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ction Button: Go Forward or Nex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C7D35384-25BA-CF94-A59C-E9255E075066}"/>
              </a:ext>
            </a:extLst>
          </p:cNvPr>
          <p:cNvSpPr/>
          <p:nvPr/>
        </p:nvSpPr>
        <p:spPr>
          <a:xfrm>
            <a:off x="539642" y="2150452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ction Button: Go Forward or Next 6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F10CA9FC-57A0-8F2B-5D5E-9A386A9D51CC}"/>
              </a:ext>
            </a:extLst>
          </p:cNvPr>
          <p:cNvSpPr/>
          <p:nvPr/>
        </p:nvSpPr>
        <p:spPr>
          <a:xfrm>
            <a:off x="539642" y="327220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tion Button: Go Forward or Next 7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17677D57-F8B0-BAC6-7DDF-8E893A87CDA6}"/>
              </a:ext>
            </a:extLst>
          </p:cNvPr>
          <p:cNvSpPr/>
          <p:nvPr/>
        </p:nvSpPr>
        <p:spPr>
          <a:xfrm>
            <a:off x="539642" y="4351697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11023B-5A23-1D2A-1D40-16AC9DD6341C}"/>
              </a:ext>
            </a:extLst>
          </p:cNvPr>
          <p:cNvSpPr txBox="1"/>
          <p:nvPr/>
        </p:nvSpPr>
        <p:spPr>
          <a:xfrm>
            <a:off x="1866273" y="2340658"/>
            <a:ext cx="4029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RECOGNITION, ABSTRACTION AND DECOMPOSITION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69121D-D921-1463-7B2B-86807D09DC85}"/>
              </a:ext>
            </a:extLst>
          </p:cNvPr>
          <p:cNvSpPr txBox="1"/>
          <p:nvPr/>
        </p:nvSpPr>
        <p:spPr>
          <a:xfrm>
            <a:off x="1866273" y="3424216"/>
            <a:ext cx="41822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DIVIDE AND CONQUER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975221-C191-5A23-37DB-921ECC2182C5}"/>
              </a:ext>
            </a:extLst>
          </p:cNvPr>
          <p:cNvSpPr txBox="1"/>
          <p:nvPr/>
        </p:nvSpPr>
        <p:spPr>
          <a:xfrm>
            <a:off x="1866273" y="4497049"/>
            <a:ext cx="4616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PROBLEM SOLVING STRATEGIES</a:t>
            </a:r>
          </a:p>
        </p:txBody>
      </p:sp>
    </p:spTree>
    <p:extLst>
      <p:ext uri="{BB962C8B-B14F-4D97-AF65-F5344CB8AC3E}">
        <p14:creationId xmlns:p14="http://schemas.microsoft.com/office/powerpoint/2010/main" val="1504546641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03E3-431E-3B2B-18CC-D7FBE60A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ertale Mettaton transparent PNG - StickPNG">
            <a:extLst>
              <a:ext uri="{FF2B5EF4-FFF2-40B4-BE49-F238E27FC236}">
                <a16:creationId xmlns:a16="http://schemas.microsoft.com/office/drawing/2014/main" id="{75F08996-010D-16F7-11DD-9C6C45279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060" y="3448913"/>
            <a:ext cx="2163488" cy="145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EB43F77-38FB-D98A-37EB-5E00E9863229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DDBAAB-7635-7323-0F2C-5548402D89A7}"/>
              </a:ext>
            </a:extLst>
          </p:cNvPr>
          <p:cNvSpPr txBox="1"/>
          <p:nvPr/>
        </p:nvSpPr>
        <p:spPr>
          <a:xfrm>
            <a:off x="125465" y="252740"/>
            <a:ext cx="431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COMPUTABLE PROBLEMS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158A3-0F1E-2C00-5AFA-8DD07CFED85A}"/>
              </a:ext>
            </a:extLst>
          </p:cNvPr>
          <p:cNvSpPr txBox="1"/>
          <p:nvPr/>
        </p:nvSpPr>
        <p:spPr>
          <a:xfrm>
            <a:off x="243840" y="899160"/>
            <a:ext cx="106527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problem is considered </a:t>
            </a:r>
            <a:r>
              <a:rPr lang="en-GB" b="1"/>
              <a:t>computable if an algorithm can solve it.</a:t>
            </a:r>
          </a:p>
          <a:p>
            <a:endParaRPr lang="en-GB"/>
          </a:p>
          <a:p>
            <a:r>
              <a:rPr lang="en-GB"/>
              <a:t>Hardware and exponential complexity can </a:t>
            </a:r>
            <a:r>
              <a:rPr lang="en-GB" b="1"/>
              <a:t>pose limits on algorithms </a:t>
            </a:r>
            <a:r>
              <a:rPr lang="en-GB"/>
              <a:t>making a problem not computable even if it </a:t>
            </a:r>
            <a:r>
              <a:rPr lang="en-GB" b="1"/>
              <a:t>is technically solvable </a:t>
            </a:r>
            <a:r>
              <a:rPr lang="en-GB"/>
              <a:t>for example a problem requiring more memory than feasible – instead, heuristic methods are normally used to get an </a:t>
            </a:r>
            <a:r>
              <a:rPr lang="en-GB" b="1"/>
              <a:t>approximate solution.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27DBEA-7AF1-2C6F-1934-1DEE862F72EC}"/>
              </a:ext>
            </a:extLst>
          </p:cNvPr>
          <p:cNvSpPr txBox="1"/>
          <p:nvPr/>
        </p:nvSpPr>
        <p:spPr>
          <a:xfrm>
            <a:off x="243840" y="2453520"/>
            <a:ext cx="49037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highlight>
                  <a:srgbClr val="FFFF00"/>
                </a:highlight>
              </a:rPr>
              <a:t>Features that make a problem solvable:</a:t>
            </a:r>
          </a:p>
          <a:p>
            <a:endParaRPr lang="en-GB"/>
          </a:p>
          <a:p>
            <a:r>
              <a:rPr lang="en-GB" b="1"/>
              <a:t>Abstraction and Decomposition: </a:t>
            </a:r>
            <a:r>
              <a:rPr lang="en-GB"/>
              <a:t>The problem can be broken down and made simpler by removing unnecessary details.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2AB14A-E9F1-CA34-DDC2-70D79C810A0F}"/>
              </a:ext>
            </a:extLst>
          </p:cNvPr>
          <p:cNvSpPr txBox="1"/>
          <p:nvPr/>
        </p:nvSpPr>
        <p:spPr>
          <a:xfrm>
            <a:off x="7144923" y="3372924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Enumeration: Exhaustive search</a:t>
            </a:r>
            <a:r>
              <a:rPr lang="en-GB"/>
              <a:t>, an algorithm that attempts </a:t>
            </a:r>
            <a:r>
              <a:rPr lang="en-GB" b="1"/>
              <a:t>all possible solutions</a:t>
            </a:r>
            <a:r>
              <a:rPr lang="en-GB"/>
              <a:t>. For example, a problem like a 4-digit password can be solved through brute force.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A60EE7-9A39-91E3-5B6F-B93AA1058E2B}"/>
              </a:ext>
            </a:extLst>
          </p:cNvPr>
          <p:cNvSpPr txBox="1"/>
          <p:nvPr/>
        </p:nvSpPr>
        <p:spPr>
          <a:xfrm>
            <a:off x="5538514" y="5489555"/>
            <a:ext cx="5257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Theoretical Approach</a:t>
            </a:r>
            <a:r>
              <a:rPr lang="en-GB"/>
              <a:t>: If a problem can be boiled down to pure theory, it can be represented using </a:t>
            </a:r>
            <a:r>
              <a:rPr lang="en-GB" b="1"/>
              <a:t>maths equations</a:t>
            </a:r>
            <a:r>
              <a:rPr lang="en-GB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4895AB-018F-11C3-7ED2-9B86B4CD9CDA}"/>
              </a:ext>
            </a:extLst>
          </p:cNvPr>
          <p:cNvSpPr txBox="1"/>
          <p:nvPr/>
        </p:nvSpPr>
        <p:spPr>
          <a:xfrm>
            <a:off x="243838" y="4781759"/>
            <a:ext cx="4198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Simulation: </a:t>
            </a:r>
            <a:r>
              <a:rPr lang="en-GB"/>
              <a:t>The problem can be solved if I can be </a:t>
            </a:r>
            <a:r>
              <a:rPr lang="en-GB" b="1"/>
              <a:t>modelled in </a:t>
            </a:r>
            <a:r>
              <a:rPr lang="en-GB"/>
              <a:t>a computer.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83265B-D7D1-21F1-716F-F02DB296BDBF}"/>
              </a:ext>
            </a:extLst>
          </p:cNvPr>
          <p:cNvSpPr/>
          <p:nvPr/>
        </p:nvSpPr>
        <p:spPr>
          <a:xfrm>
            <a:off x="125465" y="2930485"/>
            <a:ext cx="4903735" cy="1200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7C751A-6163-A61C-446E-9E9D788983AE}"/>
              </a:ext>
            </a:extLst>
          </p:cNvPr>
          <p:cNvSpPr/>
          <p:nvPr/>
        </p:nvSpPr>
        <p:spPr>
          <a:xfrm>
            <a:off x="5111794" y="5489555"/>
            <a:ext cx="6040887" cy="938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38D2C7D-6DFD-A98A-C9FD-834EA64F898B}"/>
              </a:ext>
            </a:extLst>
          </p:cNvPr>
          <p:cNvSpPr/>
          <p:nvPr/>
        </p:nvSpPr>
        <p:spPr>
          <a:xfrm>
            <a:off x="6916323" y="3402420"/>
            <a:ext cx="4953000" cy="14581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816DD8-7974-E16B-F28F-5F1CC7218056}"/>
              </a:ext>
            </a:extLst>
          </p:cNvPr>
          <p:cNvSpPr/>
          <p:nvPr/>
        </p:nvSpPr>
        <p:spPr>
          <a:xfrm>
            <a:off x="243840" y="4766518"/>
            <a:ext cx="4031514" cy="7230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F7E01BE6-70D5-D2D1-EAA4-DA561DFD9049}"/>
                  </a:ext>
                </a:extLst>
              </p14:cNvPr>
              <p14:cNvContentPartPr/>
              <p14:nvPr/>
            </p14:nvContentPartPr>
            <p14:xfrm>
              <a:off x="411120" y="2590920"/>
              <a:ext cx="3536640" cy="7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F7E01BE6-70D5-D2D1-EAA4-DA561DFD904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120" y="2374920"/>
                <a:ext cx="364428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Rectangle 15">
            <a:extLst>
              <a:ext uri="{FF2B5EF4-FFF2-40B4-BE49-F238E27FC236}">
                <a16:creationId xmlns:a16="http://schemas.microsoft.com/office/drawing/2014/main" id="{930B436D-D55B-83C5-370E-82C33B42CBD6}"/>
              </a:ext>
            </a:extLst>
          </p:cNvPr>
          <p:cNvSpPr/>
          <p:nvPr/>
        </p:nvSpPr>
        <p:spPr>
          <a:xfrm>
            <a:off x="243839" y="883920"/>
            <a:ext cx="10552475" cy="14464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56DD5E3-B115-B63A-F17B-8DD3E471E370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576188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B6029-40AB-D00E-4485-FD3E35995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9529628F-9F2A-A06F-A57D-F9CCCF1FEB97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D02CAA-C4BC-4EC6-A22D-64F34C51644D}"/>
              </a:ext>
            </a:extLst>
          </p:cNvPr>
          <p:cNvSpPr txBox="1"/>
          <p:nvPr/>
        </p:nvSpPr>
        <p:spPr>
          <a:xfrm>
            <a:off x="132588" y="213098"/>
            <a:ext cx="609904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RECOGNITION, ABSTRACTION AND DECOMPOSITION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BCD239A-36F8-4768-8DE7-ADAE02B58466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57525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8A2D-1AC5-5012-50B3-FC2D91C4A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C1CFDC0-648D-E2B9-8E3E-5D8F93AE3E3D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0B6C88-F096-97F7-2D07-BCA42DE5988C}"/>
              </a:ext>
            </a:extLst>
          </p:cNvPr>
          <p:cNvSpPr txBox="1"/>
          <p:nvPr/>
        </p:nvSpPr>
        <p:spPr>
          <a:xfrm>
            <a:off x="315468" y="240530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DIVIDE AND CONQUER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224DC1B-5D49-2FD8-1D37-C038AE5E6A3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99845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C98C9-7A69-6596-3BD0-41D59860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449A9C-C4CC-8E69-1028-69FA4034F34D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E9B392-2281-88CF-C341-EEA9EE0FAD6A}"/>
              </a:ext>
            </a:extLst>
          </p:cNvPr>
          <p:cNvSpPr txBox="1"/>
          <p:nvPr/>
        </p:nvSpPr>
        <p:spPr>
          <a:xfrm>
            <a:off x="150876" y="252740"/>
            <a:ext cx="6099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/>
              <a:t>PROBLEM SOLVING STRATEGIES</a:t>
            </a:r>
          </a:p>
        </p:txBody>
      </p:sp>
      <p:sp>
        <p:nvSpPr>
          <p:cNvPr id="5" name="Action Button: Go to Beginning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6C0BBAA-9D9C-A45A-0186-FC6E0FD28EC9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5D4913-BF0C-8577-03F5-48577C6D6305}"/>
              </a:ext>
            </a:extLst>
          </p:cNvPr>
          <p:cNvSpPr txBox="1"/>
          <p:nvPr/>
        </p:nvSpPr>
        <p:spPr>
          <a:xfrm>
            <a:off x="5349268" y="129629"/>
            <a:ext cx="44434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Apart from previously stated strategies there are a few more: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DBD9B-FD66-81B2-1670-C28E1F62E2AF}"/>
              </a:ext>
            </a:extLst>
          </p:cNvPr>
          <p:cNvSpPr txBox="1"/>
          <p:nvPr/>
        </p:nvSpPr>
        <p:spPr>
          <a:xfrm>
            <a:off x="150875" y="899071"/>
            <a:ext cx="2733357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BACKTRACKING: Involves  using algorithms </a:t>
            </a:r>
            <a:r>
              <a:rPr lang="en-GB" b="1"/>
              <a:t>often recursively to methodically visiting each path</a:t>
            </a:r>
            <a:r>
              <a:rPr lang="en-GB"/>
              <a:t> and building a solution based on the paths found to be correct. If a </a:t>
            </a:r>
            <a:r>
              <a:rPr lang="en-GB" b="1"/>
              <a:t>path is invalid, it backtracks to the previous stage</a:t>
            </a:r>
            <a:r>
              <a:rPr lang="en-GB"/>
              <a:t> and visits an alternate path. E.g. </a:t>
            </a:r>
            <a:r>
              <a:rPr lang="en-GB" b="1"/>
              <a:t>Depth-first graph traversals.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1026" name="Picture 2" descr="Sample maze used in computer simulations | Download Scientific Diagram">
            <a:extLst>
              <a:ext uri="{FF2B5EF4-FFF2-40B4-BE49-F238E27FC236}">
                <a16:creationId xmlns:a16="http://schemas.microsoft.com/office/drawing/2014/main" id="{84216257-7A28-2562-15DF-E15A953B0B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76" y="4584369"/>
            <a:ext cx="2258491" cy="2262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6704FD-D0D3-CD80-74AD-405EAA77FCB4}"/>
              </a:ext>
            </a:extLst>
          </p:cNvPr>
          <p:cNvSpPr txBox="1"/>
          <p:nvPr/>
        </p:nvSpPr>
        <p:spPr>
          <a:xfrm>
            <a:off x="2953521" y="2758053"/>
            <a:ext cx="3051334" cy="397031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/>
              <a:t>DATA MINING:</a:t>
            </a:r>
          </a:p>
          <a:p>
            <a:r>
              <a:rPr lang="en-GB"/>
              <a:t>Used to </a:t>
            </a:r>
            <a:r>
              <a:rPr lang="en-GB" b="1"/>
              <a:t>identify patterns or outliers in large sets of data </a:t>
            </a:r>
            <a:r>
              <a:rPr lang="en-GB"/>
              <a:t>termed big data. Data mining is used to spot trends, identify correlations and then this data can be used to make </a:t>
            </a:r>
            <a:r>
              <a:rPr lang="en-GB" b="1"/>
              <a:t>future predictions</a:t>
            </a:r>
            <a:r>
              <a:rPr lang="en-GB"/>
              <a:t>. This is useful in marketing and business decisions however the handling of personal data must be dealt within accordance to present legislation.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98E2C6-D82B-E494-730C-1CEE33119937}"/>
              </a:ext>
            </a:extLst>
          </p:cNvPr>
          <p:cNvSpPr txBox="1"/>
          <p:nvPr/>
        </p:nvSpPr>
        <p:spPr>
          <a:xfrm>
            <a:off x="3066832" y="901076"/>
            <a:ext cx="56057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HEURISTICS:  Find </a:t>
            </a:r>
            <a:r>
              <a:rPr lang="en-GB" b="1"/>
              <a:t>an approximate solution </a:t>
            </a:r>
            <a:r>
              <a:rPr lang="en-GB"/>
              <a:t>to a problem when the standard solution is unreasonably time-consuming or resource-intensive to find. It is </a:t>
            </a:r>
            <a:r>
              <a:rPr lang="en-GB" b="1"/>
              <a:t>not perfectly accurate or complete. </a:t>
            </a:r>
            <a:r>
              <a:rPr lang="en-GB"/>
              <a:t>It is often used in machine learning and language recognition.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D9D121-4D31-F1D1-C439-09460788391E}"/>
              </a:ext>
            </a:extLst>
          </p:cNvPr>
          <p:cNvSpPr txBox="1"/>
          <p:nvPr/>
        </p:nvSpPr>
        <p:spPr>
          <a:xfrm>
            <a:off x="8935453" y="1363579"/>
            <a:ext cx="291966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PERFORMANCE MODELLING</a:t>
            </a:r>
            <a:r>
              <a:rPr lang="en-GB" b="1"/>
              <a:t>: Mathematical methods</a:t>
            </a:r>
            <a:r>
              <a:rPr lang="en-GB"/>
              <a:t> are used to test a variety loads on different operating systems. This is cheaper, less time consuming and safer than true performance testing and is used in </a:t>
            </a:r>
            <a:r>
              <a:rPr lang="en-GB" b="1"/>
              <a:t>safety-critical computer systems </a:t>
            </a:r>
            <a:r>
              <a:rPr lang="en-GB"/>
              <a:t>which cannot do trial-runs like aeroplanes. The results can </a:t>
            </a:r>
            <a:r>
              <a:rPr lang="en-GB" b="1"/>
              <a:t>help judge capabilities </a:t>
            </a:r>
            <a:r>
              <a:rPr lang="en-GB"/>
              <a:t>of a system, how it copes in different environment and assess whether it is safe to implement.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21822-590E-F586-07C1-3362707354C7}"/>
              </a:ext>
            </a:extLst>
          </p:cNvPr>
          <p:cNvSpPr txBox="1"/>
          <p:nvPr/>
        </p:nvSpPr>
        <p:spPr>
          <a:xfrm>
            <a:off x="6106032" y="2528281"/>
            <a:ext cx="273335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VISUALISATION: Data can be presented in a way that is easier to </a:t>
            </a:r>
            <a:r>
              <a:rPr lang="en-GB" b="1"/>
              <a:t>understand </a:t>
            </a:r>
            <a:r>
              <a:rPr lang="en-GB"/>
              <a:t>particularly </a:t>
            </a:r>
            <a:r>
              <a:rPr lang="en-GB" b="1"/>
              <a:t>statistical data </a:t>
            </a:r>
            <a:r>
              <a:rPr lang="en-GB"/>
              <a:t>through graphs, trees, charts and tables.</a:t>
            </a:r>
          </a:p>
        </p:txBody>
      </p:sp>
      <p:pic>
        <p:nvPicPr>
          <p:cNvPr id="1028" name="Picture 4" descr="Graphs and Charts | SkillsYouNeed">
            <a:extLst>
              <a:ext uri="{FF2B5EF4-FFF2-40B4-BE49-F238E27FC236}">
                <a16:creationId xmlns:a16="http://schemas.microsoft.com/office/drawing/2014/main" id="{5ACA7C1A-FDBE-DBE2-1521-9F97DC6D1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837892"/>
            <a:ext cx="2758870" cy="175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8D63C1F-F89A-E79E-1AB4-9EF390CE4922}"/>
              </a:ext>
            </a:extLst>
          </p:cNvPr>
          <p:cNvSpPr/>
          <p:nvPr/>
        </p:nvSpPr>
        <p:spPr>
          <a:xfrm>
            <a:off x="137597" y="774523"/>
            <a:ext cx="2666362" cy="3809846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D9E8CE-5BD0-B95A-591A-56839FD33A9E}"/>
              </a:ext>
            </a:extLst>
          </p:cNvPr>
          <p:cNvSpPr/>
          <p:nvPr/>
        </p:nvSpPr>
        <p:spPr>
          <a:xfrm>
            <a:off x="8854870" y="1241990"/>
            <a:ext cx="3239678" cy="5286825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15BF7-5A28-481E-0BF7-5D8868AEB09B}"/>
              </a:ext>
            </a:extLst>
          </p:cNvPr>
          <p:cNvSpPr/>
          <p:nvPr/>
        </p:nvSpPr>
        <p:spPr>
          <a:xfrm>
            <a:off x="3021076" y="822893"/>
            <a:ext cx="5594362" cy="1515564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905830-6CC1-C58D-2B4B-D6435BEF424D}"/>
              </a:ext>
            </a:extLst>
          </p:cNvPr>
          <p:cNvSpPr/>
          <p:nvPr/>
        </p:nvSpPr>
        <p:spPr>
          <a:xfrm>
            <a:off x="6139391" y="2416640"/>
            <a:ext cx="2624334" cy="206295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53827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448F5-9EB2-19C3-4103-6C7D02401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C87B911-0D13-9DCF-3152-53BEA5F4A37C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C769D4-38D6-E22B-A39E-B4B935B994C3}"/>
              </a:ext>
            </a:extLst>
          </p:cNvPr>
          <p:cNvSpPr txBox="1"/>
          <p:nvPr/>
        </p:nvSpPr>
        <p:spPr>
          <a:xfrm>
            <a:off x="476810" y="301011"/>
            <a:ext cx="561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SLR25 ALGORITHMS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EC5AC8-8BC5-E2E5-65CD-4C8FA8E2A97F}"/>
              </a:ext>
            </a:extLst>
          </p:cNvPr>
          <p:cNvSpPr txBox="1"/>
          <p:nvPr/>
        </p:nvSpPr>
        <p:spPr>
          <a:xfrm>
            <a:off x="1798817" y="1257101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SEARCHES</a:t>
            </a:r>
          </a:p>
        </p:txBody>
      </p:sp>
      <p:sp>
        <p:nvSpPr>
          <p:cNvPr id="5" name="Action Button: Go Forward or Next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213B4CAE-9914-F5CC-C405-796FEE532332}"/>
              </a:ext>
            </a:extLst>
          </p:cNvPr>
          <p:cNvSpPr/>
          <p:nvPr/>
        </p:nvSpPr>
        <p:spPr>
          <a:xfrm>
            <a:off x="539642" y="102870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ction Button: Go Forward or Next 5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F6515C6B-6266-6124-903C-311F1402A7AC}"/>
              </a:ext>
            </a:extLst>
          </p:cNvPr>
          <p:cNvSpPr/>
          <p:nvPr/>
        </p:nvSpPr>
        <p:spPr>
          <a:xfrm>
            <a:off x="539642" y="2150452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6F559-2917-102B-F959-043265ADBA79}"/>
              </a:ext>
            </a:extLst>
          </p:cNvPr>
          <p:cNvSpPr txBox="1"/>
          <p:nvPr/>
        </p:nvSpPr>
        <p:spPr>
          <a:xfrm>
            <a:off x="1866273" y="2340658"/>
            <a:ext cx="402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BUBBLE AND INSERTION</a:t>
            </a:r>
          </a:p>
        </p:txBody>
      </p:sp>
    </p:spTree>
    <p:extLst>
      <p:ext uri="{BB962C8B-B14F-4D97-AF65-F5344CB8AC3E}">
        <p14:creationId xmlns:p14="http://schemas.microsoft.com/office/powerpoint/2010/main" val="1563391457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B31A-59A3-E0AC-0535-36F100A85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1C201AA-0351-42CD-4CED-AE570526C5A0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Action Button: Go to Beginning 2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FA81AE6-9545-244A-544C-6FF77070EE34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55F66-80B9-A0EA-1407-DADF507BE631}"/>
              </a:ext>
            </a:extLst>
          </p:cNvPr>
          <p:cNvSpPr txBox="1"/>
          <p:nvPr/>
        </p:nvSpPr>
        <p:spPr>
          <a:xfrm>
            <a:off x="293290" y="252740"/>
            <a:ext cx="431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SEARCHES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AB3E1F-91E8-9179-FF90-57D13B31CDF9}"/>
              </a:ext>
            </a:extLst>
          </p:cNvPr>
          <p:cNvSpPr txBox="1"/>
          <p:nvPr/>
        </p:nvSpPr>
        <p:spPr>
          <a:xfrm>
            <a:off x="293290" y="849046"/>
            <a:ext cx="635548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Binary search algorithm can only be applied on </a:t>
            </a:r>
            <a:r>
              <a:rPr lang="en-GB" b="1"/>
              <a:t>sorted data </a:t>
            </a:r>
            <a:r>
              <a:rPr lang="en-GB"/>
              <a:t>and works by finding the </a:t>
            </a:r>
            <a:r>
              <a:rPr lang="en-GB" b="1"/>
              <a:t>middle element </a:t>
            </a:r>
            <a:r>
              <a:rPr lang="en-GB"/>
              <a:t>in a list of data.</a:t>
            </a:r>
          </a:p>
          <a:p>
            <a:endParaRPr lang="en-GB"/>
          </a:p>
          <a:p>
            <a:r>
              <a:rPr lang="en-GB"/>
              <a:t>The unwanted </a:t>
            </a:r>
            <a:r>
              <a:rPr lang="en-GB" b="1"/>
              <a:t>half of the data is then discarded </a:t>
            </a:r>
            <a:r>
              <a:rPr lang="en-GB"/>
              <a:t>and the process repeated until the </a:t>
            </a:r>
            <a:r>
              <a:rPr lang="en-GB" b="1"/>
              <a:t>desired element is found </a:t>
            </a:r>
            <a:r>
              <a:rPr lang="en-GB"/>
              <a:t>or the element cannot be found.</a:t>
            </a:r>
          </a:p>
          <a:p>
            <a:endParaRPr lang="en-GB"/>
          </a:p>
          <a:p>
            <a:r>
              <a:rPr lang="en-GB" b="1"/>
              <a:t>Faster than linear search</a:t>
            </a:r>
            <a:r>
              <a:rPr lang="en-GB"/>
              <a:t> on larger datasets.</a:t>
            </a:r>
          </a:p>
        </p:txBody>
      </p:sp>
      <p:pic>
        <p:nvPicPr>
          <p:cNvPr id="7" name="Picture 6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FAB9E0E7-0380-5153-E3C3-3EF62F40A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290" y="3157370"/>
            <a:ext cx="3727630" cy="3193920"/>
          </a:xfrm>
          <a:prstGeom prst="rect">
            <a:avLst/>
          </a:prstGeom>
        </p:spPr>
      </p:pic>
      <p:pic>
        <p:nvPicPr>
          <p:cNvPr id="9" name="Picture 8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FD4753B-C3B0-43C8-5E23-70C7AACE2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569602"/>
            <a:ext cx="4515480" cy="278168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D44A13-94E4-9DD8-E703-9CF319281614}"/>
              </a:ext>
            </a:extLst>
          </p:cNvPr>
          <p:cNvSpPr txBox="1"/>
          <p:nvPr/>
        </p:nvSpPr>
        <p:spPr>
          <a:xfrm>
            <a:off x="6772759" y="639812"/>
            <a:ext cx="320814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Linear search is when the list is </a:t>
            </a:r>
            <a:r>
              <a:rPr lang="en-GB" b="1"/>
              <a:t>searched sequentially </a:t>
            </a:r>
            <a:r>
              <a:rPr lang="en-GB"/>
              <a:t>until the desired item is found.</a:t>
            </a:r>
          </a:p>
          <a:p>
            <a:endParaRPr lang="en-GB"/>
          </a:p>
          <a:p>
            <a:r>
              <a:rPr lang="en-GB"/>
              <a:t>List </a:t>
            </a:r>
            <a:r>
              <a:rPr lang="en-GB" b="1"/>
              <a:t>does not need to be sorted </a:t>
            </a:r>
            <a:r>
              <a:rPr lang="en-GB"/>
              <a:t>and is easy to implement.</a:t>
            </a:r>
          </a:p>
          <a:p>
            <a:endParaRPr lang="en-GB"/>
          </a:p>
          <a:p>
            <a:r>
              <a:rPr lang="en-GB" b="1"/>
              <a:t>Very inefficient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B428A3-92F3-3D4F-709F-D272EF547D7F}"/>
              </a:ext>
            </a:extLst>
          </p:cNvPr>
          <p:cNvSpPr/>
          <p:nvPr/>
        </p:nvSpPr>
        <p:spPr>
          <a:xfrm>
            <a:off x="293290" y="849046"/>
            <a:ext cx="5997782" cy="2308324"/>
          </a:xfrm>
          <a:prstGeom prst="rect">
            <a:avLst/>
          </a:prstGeom>
          <a:noFill/>
          <a:ln>
            <a:solidFill>
              <a:srgbClr val="EE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EF6479-6D6B-070B-8068-E0DA48C8AD98}"/>
              </a:ext>
            </a:extLst>
          </p:cNvPr>
          <p:cNvSpPr/>
          <p:nvPr/>
        </p:nvSpPr>
        <p:spPr>
          <a:xfrm>
            <a:off x="6546957" y="577080"/>
            <a:ext cx="3433951" cy="27113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3374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0A5CF-80A4-700C-5865-3B9F24E1C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7409E1EF-2209-D6EE-BA19-359FD9216AC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86F35-E8B4-AEC1-9639-B1CE20812843}"/>
              </a:ext>
            </a:extLst>
          </p:cNvPr>
          <p:cNvSpPr txBox="1"/>
          <p:nvPr/>
        </p:nvSpPr>
        <p:spPr>
          <a:xfrm>
            <a:off x="277619" y="234768"/>
            <a:ext cx="4029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BUBBLE AND INSERTION</a:t>
            </a:r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B866A78-503F-E80B-7988-04530B3EDBC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 descr="A white background with red and black text&#10;&#10;AI-generated content may be incorrect.">
            <a:extLst>
              <a:ext uri="{FF2B5EF4-FFF2-40B4-BE49-F238E27FC236}">
                <a16:creationId xmlns:a16="http://schemas.microsoft.com/office/drawing/2014/main" id="{064B71C4-1238-488D-FF73-2FBAB922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788" y="3675888"/>
            <a:ext cx="4248743" cy="28007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80ACE3D-34FF-DEA1-6F77-CF7228FBA42D}"/>
              </a:ext>
            </a:extLst>
          </p:cNvPr>
          <p:cNvSpPr txBox="1"/>
          <p:nvPr/>
        </p:nvSpPr>
        <p:spPr>
          <a:xfrm>
            <a:off x="277618" y="1010412"/>
            <a:ext cx="390118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Bubble sort is when you go through a list and </a:t>
            </a:r>
            <a:r>
              <a:rPr lang="en-GB" b="1"/>
              <a:t>comparing each item </a:t>
            </a:r>
            <a:r>
              <a:rPr lang="en-GB"/>
              <a:t>with the next item, if it is </a:t>
            </a:r>
            <a:r>
              <a:rPr lang="en-GB" b="1"/>
              <a:t>greater swap. </a:t>
            </a:r>
            <a:r>
              <a:rPr lang="en-GB"/>
              <a:t>After each pass the </a:t>
            </a:r>
            <a:r>
              <a:rPr lang="en-GB" b="1"/>
              <a:t>last element </a:t>
            </a:r>
            <a:r>
              <a:rPr lang="en-GB"/>
              <a:t>of the array will be in the </a:t>
            </a:r>
            <a:r>
              <a:rPr lang="en-GB" b="1"/>
              <a:t>correct place</a:t>
            </a:r>
            <a:r>
              <a:rPr lang="en-GB"/>
              <a:t>.</a:t>
            </a:r>
          </a:p>
          <a:p>
            <a:endParaRPr lang="en-GB"/>
          </a:p>
          <a:p>
            <a:r>
              <a:rPr lang="en-GB"/>
              <a:t>Repeat either n-2 times with n being reduced by 1 each pass, or </a:t>
            </a:r>
            <a:r>
              <a:rPr lang="en-GB" b="1"/>
              <a:t>until no swaps have been made in one pass</a:t>
            </a:r>
            <a:r>
              <a:rPr lang="en-GB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36837F-EFCE-0EA6-D778-BA3B7769E6BA}"/>
              </a:ext>
            </a:extLst>
          </p:cNvPr>
          <p:cNvSpPr txBox="1"/>
          <p:nvPr/>
        </p:nvSpPr>
        <p:spPr>
          <a:xfrm>
            <a:off x="5021713" y="514350"/>
            <a:ext cx="424874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Insertion sort sorts </a:t>
            </a:r>
            <a:r>
              <a:rPr lang="en-GB" b="1"/>
              <a:t>one data item at a time</a:t>
            </a:r>
            <a:r>
              <a:rPr lang="en-GB"/>
              <a:t>. The algorithm takes one data item from the list and </a:t>
            </a:r>
            <a:r>
              <a:rPr lang="en-GB" b="1"/>
              <a:t>places it in the correct position in the sorted list.</a:t>
            </a:r>
          </a:p>
          <a:p>
            <a:endParaRPr lang="en-GB"/>
          </a:p>
          <a:p>
            <a:r>
              <a:rPr lang="en-GB" b="1"/>
              <a:t>More efficient than bubble</a:t>
            </a:r>
            <a:r>
              <a:rPr lang="en-GB"/>
              <a:t>, less efficient than merge and quick.</a:t>
            </a:r>
          </a:p>
        </p:txBody>
      </p:sp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81F00C5A-F696-B4D6-BEF4-A1D3D80D3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4963" y="3595735"/>
            <a:ext cx="4420217" cy="214342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F61D4603-13D9-FA0D-6DA2-BAFD42134A73}"/>
              </a:ext>
            </a:extLst>
          </p:cNvPr>
          <p:cNvSpPr/>
          <p:nvPr/>
        </p:nvSpPr>
        <p:spPr>
          <a:xfrm>
            <a:off x="277618" y="1010412"/>
            <a:ext cx="3901189" cy="258532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849FF7-1004-8B97-1898-D56BD66AB36A}"/>
              </a:ext>
            </a:extLst>
          </p:cNvPr>
          <p:cNvSpPr/>
          <p:nvPr/>
        </p:nvSpPr>
        <p:spPr>
          <a:xfrm>
            <a:off x="4997827" y="330708"/>
            <a:ext cx="4420217" cy="2585323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22502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DA3FB-9E3E-3E9A-F359-34E5AA92F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C15F38F1-75F4-ACEA-8E69-DEB5D0CBEFFA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32A60A-4183-AD4E-4A07-942CBBCEFD35}"/>
              </a:ext>
            </a:extLst>
          </p:cNvPr>
          <p:cNvSpPr txBox="1"/>
          <p:nvPr/>
        </p:nvSpPr>
        <p:spPr>
          <a:xfrm>
            <a:off x="476810" y="301011"/>
            <a:ext cx="5619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SLR26 ALGORITHMS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5B9718-7EA9-E359-B37F-1931D088D9E5}"/>
              </a:ext>
            </a:extLst>
          </p:cNvPr>
          <p:cNvSpPr txBox="1"/>
          <p:nvPr/>
        </p:nvSpPr>
        <p:spPr>
          <a:xfrm>
            <a:off x="1798817" y="1257101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MERGE SORT</a:t>
            </a:r>
          </a:p>
        </p:txBody>
      </p:sp>
      <p:sp>
        <p:nvSpPr>
          <p:cNvPr id="7" name="Action Button: Go Forward or Next 6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C402C64-D8D8-75B3-E78B-43B934CC3C07}"/>
              </a:ext>
            </a:extLst>
          </p:cNvPr>
          <p:cNvSpPr/>
          <p:nvPr/>
        </p:nvSpPr>
        <p:spPr>
          <a:xfrm>
            <a:off x="539642" y="1028700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ction Button: Go Forward or Next 7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144C3530-B336-8B1A-6E7E-5D4650A6CE9C}"/>
              </a:ext>
            </a:extLst>
          </p:cNvPr>
          <p:cNvSpPr/>
          <p:nvPr/>
        </p:nvSpPr>
        <p:spPr>
          <a:xfrm>
            <a:off x="539642" y="2150452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085685-E32F-24FB-3DE8-F2CA1489FCCB}"/>
              </a:ext>
            </a:extLst>
          </p:cNvPr>
          <p:cNvSpPr txBox="1"/>
          <p:nvPr/>
        </p:nvSpPr>
        <p:spPr>
          <a:xfrm>
            <a:off x="1866273" y="2340658"/>
            <a:ext cx="402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QUICK SORT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893DB8-540B-8451-D851-C4748512E707}"/>
              </a:ext>
            </a:extLst>
          </p:cNvPr>
          <p:cNvSpPr txBox="1"/>
          <p:nvPr/>
        </p:nvSpPr>
        <p:spPr>
          <a:xfrm>
            <a:off x="1798817" y="3550278"/>
            <a:ext cx="43171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DJIKSTRAS PATHFINDING</a:t>
            </a:r>
          </a:p>
        </p:txBody>
      </p:sp>
      <p:sp>
        <p:nvSpPr>
          <p:cNvPr id="11" name="Action Button: Go Forward or Next 10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34352E38-833B-0652-8E42-8175BEFD2478}"/>
              </a:ext>
            </a:extLst>
          </p:cNvPr>
          <p:cNvSpPr/>
          <p:nvPr/>
        </p:nvSpPr>
        <p:spPr>
          <a:xfrm>
            <a:off x="539642" y="3321877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ction Button: Go Forward or Next 1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20585BD0-165F-093D-932E-A863C151C914}"/>
              </a:ext>
            </a:extLst>
          </p:cNvPr>
          <p:cNvSpPr/>
          <p:nvPr/>
        </p:nvSpPr>
        <p:spPr>
          <a:xfrm>
            <a:off x="539642" y="4443629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9C44D-6258-7B61-4ED1-0425AF92C890}"/>
              </a:ext>
            </a:extLst>
          </p:cNvPr>
          <p:cNvSpPr txBox="1"/>
          <p:nvPr/>
        </p:nvSpPr>
        <p:spPr>
          <a:xfrm>
            <a:off x="1866273" y="4633835"/>
            <a:ext cx="402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 STAR PATHFINDING</a:t>
            </a:r>
          </a:p>
        </p:txBody>
      </p:sp>
      <p:sp>
        <p:nvSpPr>
          <p:cNvPr id="14" name="Action Button: Go Forward or Next 13">
            <a:hlinkClick r:id="rId6" action="ppaction://hlinksldjump" highlightClick="1"/>
            <a:extLst>
              <a:ext uri="{FF2B5EF4-FFF2-40B4-BE49-F238E27FC236}">
                <a16:creationId xmlns:a16="http://schemas.microsoft.com/office/drawing/2014/main" id="{3564BA5C-F5D3-8984-1E36-82D4DC30F71A}"/>
              </a:ext>
            </a:extLst>
          </p:cNvPr>
          <p:cNvSpPr/>
          <p:nvPr/>
        </p:nvSpPr>
        <p:spPr>
          <a:xfrm>
            <a:off x="539642" y="5696984"/>
            <a:ext cx="839450" cy="826134"/>
          </a:xfrm>
          <a:prstGeom prst="actionButtonForwardNex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FC0ADE-1698-BB90-F533-4A3D920AB5B4}"/>
              </a:ext>
            </a:extLst>
          </p:cNvPr>
          <p:cNvSpPr txBox="1"/>
          <p:nvPr/>
        </p:nvSpPr>
        <p:spPr>
          <a:xfrm>
            <a:off x="1866273" y="5887190"/>
            <a:ext cx="40297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BIG O NOTATION</a:t>
            </a:r>
          </a:p>
        </p:txBody>
      </p:sp>
    </p:spTree>
    <p:extLst>
      <p:ext uri="{BB962C8B-B14F-4D97-AF65-F5344CB8AC3E}">
        <p14:creationId xmlns:p14="http://schemas.microsoft.com/office/powerpoint/2010/main" val="124311026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66800-E5A1-9E5A-261C-3BC231F8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8E74835A-5E3D-C71E-744A-48BACE5AF7A4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69639845-CDBD-6CDC-F486-560102E9E74E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4DC8FD-A1EB-BC63-6496-B0BFBCD61E50}"/>
              </a:ext>
            </a:extLst>
          </p:cNvPr>
          <p:cNvSpPr txBox="1"/>
          <p:nvPr/>
        </p:nvSpPr>
        <p:spPr>
          <a:xfrm>
            <a:off x="422599" y="231864"/>
            <a:ext cx="431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MERGE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10AF98-7157-FD4E-F58D-28A07C29D827}"/>
              </a:ext>
            </a:extLst>
          </p:cNvPr>
          <p:cNvSpPr txBox="1"/>
          <p:nvPr/>
        </p:nvSpPr>
        <p:spPr>
          <a:xfrm>
            <a:off x="621792" y="1297091"/>
            <a:ext cx="44622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Merge sort uses a </a:t>
            </a:r>
            <a:r>
              <a:rPr lang="en-GB" b="1"/>
              <a:t>divide and conquer </a:t>
            </a:r>
            <a:r>
              <a:rPr lang="en-GB"/>
              <a:t>approach. The list is successively divided in half – forms two </a:t>
            </a:r>
            <a:r>
              <a:rPr lang="en-GB" b="1"/>
              <a:t>sub lists</a:t>
            </a:r>
            <a:r>
              <a:rPr lang="en-GB"/>
              <a:t>. This repeats until the length of one sub list is 1.</a:t>
            </a:r>
          </a:p>
          <a:p>
            <a:endParaRPr lang="en-GB"/>
          </a:p>
          <a:p>
            <a:r>
              <a:rPr lang="en-GB"/>
              <a:t>Repeatedly </a:t>
            </a:r>
            <a:r>
              <a:rPr lang="en-GB" b="1"/>
              <a:t>merge sub lists </a:t>
            </a:r>
            <a:r>
              <a:rPr lang="en-GB"/>
              <a:t>to produce new sorted lists until </a:t>
            </a:r>
            <a:r>
              <a:rPr lang="en-GB" b="1"/>
              <a:t>only one sub list </a:t>
            </a:r>
            <a:r>
              <a:rPr lang="en-GB"/>
              <a:t>remains</a:t>
            </a:r>
          </a:p>
        </p:txBody>
      </p:sp>
      <p:pic>
        <p:nvPicPr>
          <p:cNvPr id="1026" name="Picture 2" descr="Merge Sort (With Code in Python/C++/Java/C)">
            <a:extLst>
              <a:ext uri="{FF2B5EF4-FFF2-40B4-BE49-F238E27FC236}">
                <a16:creationId xmlns:a16="http://schemas.microsoft.com/office/drawing/2014/main" id="{6FFDE26D-E734-FA8A-9263-76AFA750D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728" y="1441343"/>
            <a:ext cx="4490293" cy="4564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4C04BE-7344-24AB-52D9-D488DA3AAF8E}"/>
              </a:ext>
            </a:extLst>
          </p:cNvPr>
          <p:cNvSpPr txBox="1"/>
          <p:nvPr/>
        </p:nvSpPr>
        <p:spPr>
          <a:xfrm>
            <a:off x="621792" y="5386695"/>
            <a:ext cx="4191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Implementation does not need to be known for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410F2-51D6-216B-3C8C-BEF98A57A001}"/>
              </a:ext>
            </a:extLst>
          </p:cNvPr>
          <p:cNvSpPr txBox="1"/>
          <p:nvPr/>
        </p:nvSpPr>
        <p:spPr>
          <a:xfrm>
            <a:off x="6142728" y="304075"/>
            <a:ext cx="3419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/>
              <a:t>Fastest of all sorts, </a:t>
            </a:r>
            <a:r>
              <a:rPr lang="en-GB"/>
              <a:t>hardest to implement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4447C8-939A-9E20-FE2B-881EC010EDC3}"/>
              </a:ext>
            </a:extLst>
          </p:cNvPr>
          <p:cNvSpPr/>
          <p:nvPr/>
        </p:nvSpPr>
        <p:spPr>
          <a:xfrm>
            <a:off x="422599" y="1082885"/>
            <a:ext cx="4818888" cy="2660904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6D700A-E06C-9716-0B97-342431818F1D}"/>
              </a:ext>
            </a:extLst>
          </p:cNvPr>
          <p:cNvSpPr/>
          <p:nvPr/>
        </p:nvSpPr>
        <p:spPr>
          <a:xfrm>
            <a:off x="307912" y="5074920"/>
            <a:ext cx="4675568" cy="1309452"/>
          </a:xfrm>
          <a:prstGeom prst="rect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354889-83C0-F08F-3DBC-AF68151A91E2}"/>
              </a:ext>
            </a:extLst>
          </p:cNvPr>
          <p:cNvSpPr/>
          <p:nvPr/>
        </p:nvSpPr>
        <p:spPr>
          <a:xfrm>
            <a:off x="5946648" y="171597"/>
            <a:ext cx="3517391" cy="911288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3731471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AE14C-E4F1-8B7A-38F7-A8C5229DA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8DC740-86C7-183E-F4D6-0A07ACAAC72C}"/>
              </a:ext>
            </a:extLst>
          </p:cNvPr>
          <p:cNvSpPr/>
          <p:nvPr/>
        </p:nvSpPr>
        <p:spPr>
          <a:xfrm>
            <a:off x="5025529" y="252740"/>
            <a:ext cx="6210625" cy="2974848"/>
          </a:xfrm>
          <a:prstGeom prst="rect">
            <a:avLst/>
          </a:prstGeom>
          <a:noFill/>
          <a:ln>
            <a:solidFill>
              <a:srgbClr val="FEC3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B7B23664-2B4B-5EC3-64FF-83CE9F984E15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814C7BB9-CB14-B26E-4467-928A441BB9F1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54B93-C76F-F515-9C75-6D3D586AC8D7}"/>
              </a:ext>
            </a:extLst>
          </p:cNvPr>
          <p:cNvSpPr txBox="1"/>
          <p:nvPr/>
        </p:nvSpPr>
        <p:spPr>
          <a:xfrm>
            <a:off x="222201" y="252740"/>
            <a:ext cx="4029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QUICK SORT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F2B7EE-CE16-E1F4-1553-138C748E9B4A}"/>
              </a:ext>
            </a:extLst>
          </p:cNvPr>
          <p:cNvSpPr txBox="1"/>
          <p:nvPr/>
        </p:nvSpPr>
        <p:spPr>
          <a:xfrm>
            <a:off x="631236" y="1573196"/>
            <a:ext cx="337413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Quick sort works by selecting an element (</a:t>
            </a:r>
            <a:r>
              <a:rPr lang="en-GB" b="1"/>
              <a:t>pivot) </a:t>
            </a:r>
            <a:r>
              <a:rPr lang="en-GB"/>
              <a:t>, often the central element,</a:t>
            </a:r>
            <a:r>
              <a:rPr lang="en-GB" b="1"/>
              <a:t> and dividing the input around it. </a:t>
            </a:r>
          </a:p>
          <a:p>
            <a:endParaRPr lang="en-GB"/>
          </a:p>
          <a:p>
            <a:r>
              <a:rPr lang="en-GB"/>
              <a:t>Elements smaller than the pivot are placed in a </a:t>
            </a:r>
            <a:r>
              <a:rPr lang="en-GB" b="1"/>
              <a:t>list </a:t>
            </a:r>
            <a:r>
              <a:rPr lang="en-GB"/>
              <a:t>to the left of the </a:t>
            </a:r>
            <a:r>
              <a:rPr lang="en-GB" b="1"/>
              <a:t>pivot,</a:t>
            </a:r>
            <a:r>
              <a:rPr lang="en-GB"/>
              <a:t> others are placed in a </a:t>
            </a:r>
            <a:r>
              <a:rPr lang="en-GB" b="1"/>
              <a:t>list</a:t>
            </a:r>
            <a:r>
              <a:rPr lang="en-GB"/>
              <a:t> to the right.</a:t>
            </a:r>
          </a:p>
          <a:p>
            <a:endParaRPr lang="en-GB"/>
          </a:p>
          <a:p>
            <a:r>
              <a:rPr lang="en-GB"/>
              <a:t>This process </a:t>
            </a:r>
            <a:r>
              <a:rPr lang="en-GB" b="1"/>
              <a:t>repeats recursively </a:t>
            </a:r>
            <a:r>
              <a:rPr lang="en-GB"/>
              <a:t>on each smaller list until each list has a</a:t>
            </a:r>
            <a:r>
              <a:rPr lang="en-GB" b="1"/>
              <a:t> length of 1 </a:t>
            </a:r>
            <a:r>
              <a:rPr lang="en-GB"/>
              <a:t>or</a:t>
            </a:r>
            <a:r>
              <a:rPr lang="en-GB" b="1"/>
              <a:t> </a:t>
            </a:r>
            <a:r>
              <a:rPr lang="en-GB"/>
              <a:t>each element </a:t>
            </a:r>
            <a:r>
              <a:rPr lang="en-GB" b="1"/>
              <a:t>used to be a pivot.</a:t>
            </a:r>
          </a:p>
          <a:p>
            <a:endParaRPr lang="en-GB"/>
          </a:p>
          <a:p>
            <a:endParaRPr lang="en-GB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42699E-436F-45CA-F7FD-0F29D339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1716" y="3429000"/>
            <a:ext cx="6210625" cy="277843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D1431F-D58B-034E-C08A-D3531889E0C1}"/>
              </a:ext>
            </a:extLst>
          </p:cNvPr>
          <p:cNvSpPr txBox="1"/>
          <p:nvPr/>
        </p:nvSpPr>
        <p:spPr>
          <a:xfrm>
            <a:off x="5137106" y="650562"/>
            <a:ext cx="60990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Speed is dependent on the pivot – </a:t>
            </a:r>
            <a:r>
              <a:rPr lang="en-GB" b="1"/>
              <a:t>generally fast</a:t>
            </a:r>
          </a:p>
          <a:p>
            <a:r>
              <a:rPr lang="en-GB"/>
              <a:t>It does not need additional memory.</a:t>
            </a:r>
          </a:p>
          <a:p>
            <a:endParaRPr lang="en-GB"/>
          </a:p>
          <a:p>
            <a:r>
              <a:rPr lang="en-GB"/>
              <a:t>If split points are not near the middle, division will be very uneven – inefficient. </a:t>
            </a:r>
          </a:p>
          <a:p>
            <a:endParaRPr lang="en-GB"/>
          </a:p>
          <a:p>
            <a:r>
              <a:rPr lang="en-GB"/>
              <a:t>If the </a:t>
            </a:r>
            <a:r>
              <a:rPr lang="en-GB" b="1"/>
              <a:t>list is very large </a:t>
            </a:r>
            <a:r>
              <a:rPr lang="en-GB"/>
              <a:t>and recursion continues too long, </a:t>
            </a:r>
            <a:r>
              <a:rPr lang="en-GB" b="1"/>
              <a:t>stack overflow errors </a:t>
            </a:r>
            <a:r>
              <a:rPr lang="en-GB"/>
              <a:t>could occur and program will crash.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C8269C-25A5-693E-2643-0CA7E07A5ADD}"/>
              </a:ext>
            </a:extLst>
          </p:cNvPr>
          <p:cNvSpPr/>
          <p:nvPr/>
        </p:nvSpPr>
        <p:spPr>
          <a:xfrm>
            <a:off x="393192" y="1188720"/>
            <a:ext cx="4029702" cy="5084064"/>
          </a:xfrm>
          <a:prstGeom prst="rect">
            <a:avLst/>
          </a:prstGeom>
          <a:noFill/>
          <a:ln>
            <a:solidFill>
              <a:srgbClr val="BCEB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2950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11B1E-D43B-98E5-F6EF-6F07B9F4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3A9ED53-3CE3-84E8-10EA-14A5FB6DE242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DF6489F1-C24D-61F7-CFC0-415AD0235175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9E0A45-FE8B-703D-5CAB-1F4A22824C44}"/>
              </a:ext>
            </a:extLst>
          </p:cNvPr>
          <p:cNvSpPr txBox="1"/>
          <p:nvPr/>
        </p:nvSpPr>
        <p:spPr>
          <a:xfrm>
            <a:off x="210162" y="252740"/>
            <a:ext cx="43171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DJIKSTRAS PATHFINDING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7B441C-ED94-DC38-5961-13CB6F022DEE}"/>
              </a:ext>
            </a:extLst>
          </p:cNvPr>
          <p:cNvSpPr txBox="1"/>
          <p:nvPr/>
        </p:nvSpPr>
        <p:spPr>
          <a:xfrm>
            <a:off x="4376377" y="120325"/>
            <a:ext cx="58879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We need computers to find the </a:t>
            </a:r>
            <a:r>
              <a:rPr lang="en-GB" b="1"/>
              <a:t>shortest path between two points </a:t>
            </a:r>
            <a:r>
              <a:rPr lang="en-GB"/>
              <a:t>– optimisation problem</a:t>
            </a:r>
          </a:p>
          <a:p>
            <a:r>
              <a:rPr lang="en-GB"/>
              <a:t>E.G: Circuit boards, route planning, communication networks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4B9146FD-6648-5604-55A9-8E4A00E11106}"/>
              </a:ext>
            </a:extLst>
          </p:cNvPr>
          <p:cNvSpPr txBox="1"/>
          <p:nvPr/>
        </p:nvSpPr>
        <p:spPr>
          <a:xfrm>
            <a:off x="200953" y="1265623"/>
            <a:ext cx="5742647" cy="563231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cs typeface="Segoe UI"/>
              </a:rPr>
              <a:t>Dijkstra's algorithm:</a:t>
            </a:r>
          </a:p>
          <a:p>
            <a:r>
              <a:rPr lang="en-GB">
                <a:cs typeface="Segoe UI"/>
              </a:rPr>
              <a:t>The algorithm is commonly implemented using </a:t>
            </a:r>
            <a:r>
              <a:rPr lang="en-GB" b="1">
                <a:cs typeface="Segoe UI"/>
              </a:rPr>
              <a:t>a priority queue on a weighted graph</a:t>
            </a:r>
          </a:p>
          <a:p>
            <a:endParaRPr lang="en-GB">
              <a:cs typeface="Segoe UI"/>
            </a:endParaRPr>
          </a:p>
          <a:p>
            <a:pPr marL="342900" indent="-342900">
              <a:buAutoNum type="arabicPeriod"/>
            </a:pPr>
            <a:r>
              <a:rPr lang="en-GB">
                <a:cs typeface="Segoe UI"/>
              </a:rPr>
              <a:t>Starting from the</a:t>
            </a:r>
            <a:r>
              <a:rPr lang="en-GB" b="1">
                <a:cs typeface="Segoe UI"/>
              </a:rPr>
              <a:t> root node </a:t>
            </a:r>
            <a:r>
              <a:rPr lang="en-GB">
                <a:cs typeface="Segoe UI"/>
              </a:rPr>
              <a:t>(A) add all distances to all the immediately neighbouring nodes </a:t>
            </a:r>
            <a:r>
              <a:rPr lang="en-GB" b="1">
                <a:cs typeface="Segoe UI"/>
              </a:rPr>
              <a:t>to the priority queue. </a:t>
            </a:r>
            <a:r>
              <a:rPr lang="en-GB">
                <a:cs typeface="Segoe UI"/>
              </a:rPr>
              <a:t>All remaining nodes have a distance of infinity.</a:t>
            </a:r>
          </a:p>
          <a:p>
            <a:pPr marL="342900" indent="-342900">
              <a:buAutoNum type="arabicPeriod"/>
            </a:pPr>
            <a:r>
              <a:rPr lang="en-GB">
                <a:cs typeface="Segoe UI"/>
              </a:rPr>
              <a:t>Remove the first </a:t>
            </a:r>
            <a:r>
              <a:rPr lang="en-GB" b="1">
                <a:cs typeface="Segoe UI"/>
              </a:rPr>
              <a:t>node from the front of the queue </a:t>
            </a:r>
            <a:r>
              <a:rPr lang="en-GB">
                <a:cs typeface="Segoe UI"/>
              </a:rPr>
              <a:t>– this distance is the shortest distance between root and neighbouring node as </a:t>
            </a:r>
            <a:r>
              <a:rPr lang="en-GB" b="1">
                <a:cs typeface="Segoe UI"/>
              </a:rPr>
              <a:t>priority queue is automatically ordered by size. </a:t>
            </a:r>
          </a:p>
          <a:p>
            <a:pPr marL="342900" indent="-342900">
              <a:buAutoNum type="arabicPeriod"/>
            </a:pPr>
            <a:r>
              <a:rPr lang="en-GB">
                <a:cs typeface="Segoe UI"/>
              </a:rPr>
              <a:t>Traverse all of the </a:t>
            </a:r>
            <a:r>
              <a:rPr lang="en-GB" b="1">
                <a:cs typeface="Segoe UI"/>
              </a:rPr>
              <a:t>nodes connected to removed node </a:t>
            </a:r>
            <a:r>
              <a:rPr lang="en-GB">
                <a:cs typeface="Segoe UI"/>
              </a:rPr>
              <a:t>without going over paths already taken.</a:t>
            </a:r>
          </a:p>
          <a:p>
            <a:pPr marL="342900" indent="-342900">
              <a:buAutoNum type="arabicPeriod"/>
            </a:pPr>
            <a:r>
              <a:rPr lang="en-GB">
                <a:cs typeface="Segoe UI"/>
              </a:rPr>
              <a:t>If total distance passing through the removed node to the neighbouring node </a:t>
            </a:r>
            <a:r>
              <a:rPr lang="en-GB" b="1">
                <a:cs typeface="Segoe UI"/>
              </a:rPr>
              <a:t>is smaller </a:t>
            </a:r>
            <a:r>
              <a:rPr lang="en-GB">
                <a:cs typeface="Segoe UI"/>
              </a:rPr>
              <a:t>than the distance currently stored with this node</a:t>
            </a:r>
            <a:r>
              <a:rPr lang="en-GB" b="1">
                <a:cs typeface="Segoe UI"/>
              </a:rPr>
              <a:t>, update this value </a:t>
            </a:r>
            <a:r>
              <a:rPr lang="en-GB">
                <a:cs typeface="Segoe UI"/>
              </a:rPr>
              <a:t>with the smaller value. A to C to B is 5, A to B is 7.</a:t>
            </a:r>
          </a:p>
          <a:p>
            <a:pPr marL="342900" indent="-342900">
              <a:buAutoNum type="arabicPeriod"/>
            </a:pPr>
            <a:r>
              <a:rPr lang="en-GB">
                <a:cs typeface="Segoe UI"/>
              </a:rPr>
              <a:t>If all paths of the node </a:t>
            </a:r>
            <a:r>
              <a:rPr lang="en-GB" b="1">
                <a:cs typeface="Segoe UI"/>
              </a:rPr>
              <a:t>have already been recorded, ignore 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3E253-A9D3-6D03-C3AC-CAAF1903A912}"/>
              </a:ext>
            </a:extLst>
          </p:cNvPr>
          <p:cNvSpPr txBox="1"/>
          <p:nvPr/>
        </p:nvSpPr>
        <p:spPr>
          <a:xfrm>
            <a:off x="6384362" y="5669143"/>
            <a:ext cx="5287979" cy="92333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cs typeface="Segoe UI"/>
              </a:rPr>
              <a:t>6. Continue steps 2 to 4 until </a:t>
            </a:r>
            <a:r>
              <a:rPr lang="en-GB" b="1">
                <a:cs typeface="Segoe UI"/>
              </a:rPr>
              <a:t>goal node is reached </a:t>
            </a:r>
            <a:r>
              <a:rPr lang="en-GB">
                <a:cs typeface="Segoe UI"/>
              </a:rPr>
              <a:t>then </a:t>
            </a:r>
            <a:r>
              <a:rPr lang="en-GB" b="1">
                <a:cs typeface="Segoe UI"/>
              </a:rPr>
              <a:t>trace through the table </a:t>
            </a:r>
            <a:r>
              <a:rPr lang="en-GB">
                <a:cs typeface="Segoe UI"/>
              </a:rPr>
              <a:t>to find the shortest distance which is ADE with a value of 11</a:t>
            </a:r>
          </a:p>
        </p:txBody>
      </p:sp>
      <p:pic>
        <p:nvPicPr>
          <p:cNvPr id="2050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F228741F-DCE0-5B36-3D7B-1F6287DE89D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" t="3" r="-1408" b="6287"/>
          <a:stretch>
            <a:fillRect/>
          </a:stretch>
        </p:blipFill>
        <p:spPr bwMode="auto">
          <a:xfrm>
            <a:off x="6775704" y="1225688"/>
            <a:ext cx="4562856" cy="2331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3898DE42-C362-1AF7-7ECB-0626102BDB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" t="3" r="-1408" b="28788"/>
          <a:stretch>
            <a:fillRect/>
          </a:stretch>
        </p:blipFill>
        <p:spPr bwMode="auto">
          <a:xfrm>
            <a:off x="6820075" y="3786963"/>
            <a:ext cx="4562856" cy="1771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878287B8-1BAE-46E7-4C57-D9481291A7A6}"/>
                  </a:ext>
                </a:extLst>
              </p14:cNvPr>
              <p14:cNvContentPartPr/>
              <p14:nvPr/>
            </p14:nvContentPartPr>
            <p14:xfrm>
              <a:off x="6847200" y="4553064"/>
              <a:ext cx="201600" cy="167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878287B8-1BAE-46E7-4C57-D9481291A7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41080" y="4546931"/>
                <a:ext cx="213840" cy="1800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126D2CF-C646-CD24-E62F-52175F8D1340}"/>
                  </a:ext>
                </a:extLst>
              </p14:cNvPr>
              <p14:cNvContentPartPr/>
              <p14:nvPr/>
            </p14:nvContentPartPr>
            <p14:xfrm>
              <a:off x="7976160" y="3757824"/>
              <a:ext cx="198720" cy="167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126D2CF-C646-CD24-E62F-52175F8D134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70040" y="3751704"/>
                <a:ext cx="210960" cy="18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857090B3-0599-DFA1-529C-2D8E98C75AF3}"/>
              </a:ext>
            </a:extLst>
          </p:cNvPr>
          <p:cNvGrpSpPr/>
          <p:nvPr/>
        </p:nvGrpSpPr>
        <p:grpSpPr>
          <a:xfrm>
            <a:off x="6922080" y="3008304"/>
            <a:ext cx="301680" cy="897120"/>
            <a:chOff x="6922080" y="3008304"/>
            <a:chExt cx="301680" cy="89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37A2C8-E447-1798-3091-8EA2810DFB33}"/>
                    </a:ext>
                  </a:extLst>
                </p14:cNvPr>
                <p14:cNvContentPartPr/>
                <p14:nvPr/>
              </p14:nvContentPartPr>
              <p14:xfrm>
                <a:off x="7049880" y="3008304"/>
                <a:ext cx="28080" cy="734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37A2C8-E447-1798-3091-8EA2810DFB3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043837" y="3002187"/>
                  <a:ext cx="40165" cy="7469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93294C-7A7A-53F5-0407-BDDCE3C4097C}"/>
                    </a:ext>
                  </a:extLst>
                </p14:cNvPr>
                <p14:cNvContentPartPr/>
                <p14:nvPr/>
              </p14:nvContentPartPr>
              <p14:xfrm>
                <a:off x="7077240" y="3757824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93294C-7A7A-53F5-0407-BDDCE3C409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71120" y="375170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865C211-0537-3566-8BAD-DBCB5E6E1188}"/>
                    </a:ext>
                  </a:extLst>
                </p14:cNvPr>
                <p14:cNvContentPartPr/>
                <p14:nvPr/>
              </p14:nvContentPartPr>
              <p14:xfrm>
                <a:off x="6922080" y="3611664"/>
                <a:ext cx="301680" cy="293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865C211-0537-3566-8BAD-DBCB5E6E11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15967" y="3605544"/>
                  <a:ext cx="313905" cy="30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9DF2B61-49ED-FE92-BD4F-A04ABB57A5FE}"/>
                  </a:ext>
                </a:extLst>
              </p14:cNvPr>
              <p14:cNvContentPartPr/>
              <p14:nvPr/>
            </p14:nvContentPartPr>
            <p14:xfrm>
              <a:off x="8787240" y="4869864"/>
              <a:ext cx="281160" cy="2106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9DF2B61-49ED-FE92-BD4F-A04ABB57A5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81120" y="4863754"/>
                <a:ext cx="293400" cy="222819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42050114-816A-5632-FDEC-3F9CDD1C8504}"/>
              </a:ext>
            </a:extLst>
          </p:cNvPr>
          <p:cNvGrpSpPr/>
          <p:nvPr/>
        </p:nvGrpSpPr>
        <p:grpSpPr>
          <a:xfrm>
            <a:off x="9996840" y="3738384"/>
            <a:ext cx="117000" cy="169200"/>
            <a:chOff x="9996840" y="3738384"/>
            <a:chExt cx="117000" cy="16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B6D9CC9-3D4A-10C0-C8CE-4860D8F26ED2}"/>
                    </a:ext>
                  </a:extLst>
                </p14:cNvPr>
                <p14:cNvContentPartPr/>
                <p14:nvPr/>
              </p14:nvContentPartPr>
              <p14:xfrm>
                <a:off x="10113120" y="3757824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B6D9CC9-3D4A-10C0-C8CE-4860D8F26E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107000" y="375170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50980C4-F407-A6BF-4604-52D0420ABF83}"/>
                    </a:ext>
                  </a:extLst>
                </p14:cNvPr>
                <p14:cNvContentPartPr/>
                <p14:nvPr/>
              </p14:nvContentPartPr>
              <p14:xfrm>
                <a:off x="9996840" y="3738384"/>
                <a:ext cx="117000" cy="169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50980C4-F407-A6BF-4604-52D0420ABF8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990720" y="3732264"/>
                  <a:ext cx="12924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59CA4AC-66BB-04D8-ADFB-1F4CEA00712D}"/>
              </a:ext>
            </a:extLst>
          </p:cNvPr>
          <p:cNvGrpSpPr/>
          <p:nvPr/>
        </p:nvGrpSpPr>
        <p:grpSpPr>
          <a:xfrm>
            <a:off x="11210400" y="4800384"/>
            <a:ext cx="128520" cy="243360"/>
            <a:chOff x="11210400" y="4800384"/>
            <a:chExt cx="128520" cy="24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96EF24-A80F-C2B0-22DA-E08771932900}"/>
                    </a:ext>
                  </a:extLst>
                </p14:cNvPr>
                <p14:cNvContentPartPr/>
                <p14:nvPr/>
              </p14:nvContentPartPr>
              <p14:xfrm>
                <a:off x="11210400" y="4800384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96EF24-A80F-C2B0-22DA-E087719329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204280" y="4794264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F7FD807-B658-89C7-320F-1283F8D78B9C}"/>
                    </a:ext>
                  </a:extLst>
                </p14:cNvPr>
                <p14:cNvContentPartPr/>
                <p14:nvPr/>
              </p14:nvContentPartPr>
              <p14:xfrm>
                <a:off x="11210400" y="4800384"/>
                <a:ext cx="19080" cy="212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F7FD807-B658-89C7-320F-1283F8D78B9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04280" y="4794264"/>
                  <a:ext cx="3132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2D30364-7B1D-89F1-DDCA-61B3BE17363B}"/>
                    </a:ext>
                  </a:extLst>
                </p14:cNvPr>
                <p14:cNvContentPartPr/>
                <p14:nvPr/>
              </p14:nvContentPartPr>
              <p14:xfrm>
                <a:off x="11338560" y="4800384"/>
                <a:ext cx="360" cy="243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2D30364-7B1D-89F1-DDCA-61B3BE17363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332440" y="4794264"/>
                  <a:ext cx="12600" cy="255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8ECFE3BB-6325-8353-AC29-E9ED8DE3CC03}"/>
              </a:ext>
            </a:extLst>
          </p:cNvPr>
          <p:cNvSpPr/>
          <p:nvPr/>
        </p:nvSpPr>
        <p:spPr>
          <a:xfrm>
            <a:off x="210162" y="1265622"/>
            <a:ext cx="5623998" cy="5592377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8519683-61BA-4FE0-9556-7FC99E386A75}"/>
              </a:ext>
            </a:extLst>
          </p:cNvPr>
          <p:cNvSpPr/>
          <p:nvPr/>
        </p:nvSpPr>
        <p:spPr>
          <a:xfrm>
            <a:off x="4332366" y="36832"/>
            <a:ext cx="5780754" cy="1188856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26B079-A5B5-5353-5087-88055EA79147}"/>
              </a:ext>
            </a:extLst>
          </p:cNvPr>
          <p:cNvSpPr/>
          <p:nvPr/>
        </p:nvSpPr>
        <p:spPr>
          <a:xfrm>
            <a:off x="6384361" y="5669144"/>
            <a:ext cx="5287979" cy="1068532"/>
          </a:xfrm>
          <a:prstGeom prst="rect">
            <a:avLst/>
          </a:prstGeom>
          <a:noFill/>
          <a:ln>
            <a:solidFill>
              <a:srgbClr val="DEB4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1665199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9C395-730F-59F7-9C7F-5D4394A3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E912BD6B-AE0D-9A27-7EB7-3398515CB6EB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0686BBBC-35BC-DAD9-EDC3-66E800A166EB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7724F-81F5-61B1-0169-F60EC635E068}"/>
              </a:ext>
            </a:extLst>
          </p:cNvPr>
          <p:cNvSpPr txBox="1"/>
          <p:nvPr/>
        </p:nvSpPr>
        <p:spPr>
          <a:xfrm>
            <a:off x="397691" y="348162"/>
            <a:ext cx="4029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A STAR PATHFINDING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09021-5A81-41F4-353B-8CC790A89184}"/>
              </a:ext>
            </a:extLst>
          </p:cNvPr>
          <p:cNvSpPr txBox="1"/>
          <p:nvPr/>
        </p:nvSpPr>
        <p:spPr>
          <a:xfrm>
            <a:off x="75405" y="877145"/>
            <a:ext cx="365201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A* algorithm has two cost functions:</a:t>
            </a:r>
          </a:p>
          <a:p>
            <a:endParaRPr lang="en-GB"/>
          </a:p>
          <a:p>
            <a:pPr marL="285750" indent="-285750">
              <a:buFontTx/>
              <a:buChar char="-"/>
            </a:pPr>
            <a:r>
              <a:rPr lang="en-GB" b="1"/>
              <a:t>Real cost </a:t>
            </a:r>
            <a:r>
              <a:rPr lang="en-GB"/>
              <a:t>from the source to a given node</a:t>
            </a:r>
          </a:p>
          <a:p>
            <a:pPr marL="285750" indent="-285750">
              <a:buFontTx/>
              <a:buChar char="-"/>
            </a:pPr>
            <a:r>
              <a:rPr lang="en-GB"/>
              <a:t>Approximate cost from the node to the goal node – </a:t>
            </a:r>
            <a:r>
              <a:rPr lang="en-GB" b="1"/>
              <a:t>heuristic function</a:t>
            </a:r>
          </a:p>
          <a:p>
            <a:pPr marL="285750" indent="-285750">
              <a:buFontTx/>
              <a:buChar char="-"/>
            </a:pPr>
            <a:endParaRPr lang="en-GB"/>
          </a:p>
          <a:p>
            <a:r>
              <a:rPr lang="en-GB"/>
              <a:t>For the algorithm to work, the heuristic function </a:t>
            </a:r>
            <a:r>
              <a:rPr lang="en-GB" b="1"/>
              <a:t>should never overestimate </a:t>
            </a:r>
            <a:r>
              <a:rPr lang="en-GB"/>
              <a:t>the real cost. </a:t>
            </a:r>
          </a:p>
          <a:p>
            <a:endParaRPr lang="en-GB"/>
          </a:p>
          <a:p>
            <a:r>
              <a:rPr lang="en-GB"/>
              <a:t>Whilst the Dijkstra's algorithm finds the shortest distance to each node, A* only finds the shortest distance to the goal node.</a:t>
            </a:r>
          </a:p>
          <a:p>
            <a:endParaRPr lang="en-GB"/>
          </a:p>
          <a:p>
            <a:r>
              <a:rPr lang="en-GB"/>
              <a:t>A* algorithm efficiency is </a:t>
            </a:r>
            <a:r>
              <a:rPr lang="en-GB" b="1"/>
              <a:t>dependent on the accuracy of the heuristics. </a:t>
            </a:r>
          </a:p>
        </p:txBody>
      </p:sp>
      <p:pic>
        <p:nvPicPr>
          <p:cNvPr id="10" name="Picture 9" descr="A table with a number and a number on it&#10;&#10;AI-generated content may be incorrect.">
            <a:extLst>
              <a:ext uri="{FF2B5EF4-FFF2-40B4-BE49-F238E27FC236}">
                <a16:creationId xmlns:a16="http://schemas.microsoft.com/office/drawing/2014/main" id="{98769C88-6E8A-461C-DEC5-663A0ABE8C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43" r="10250"/>
          <a:stretch>
            <a:fillRect/>
          </a:stretch>
        </p:blipFill>
        <p:spPr>
          <a:xfrm>
            <a:off x="4153355" y="18909"/>
            <a:ext cx="5694734" cy="2019582"/>
          </a:xfrm>
          <a:prstGeom prst="rect">
            <a:avLst/>
          </a:prstGeom>
        </p:spPr>
      </p:pic>
      <p:pic>
        <p:nvPicPr>
          <p:cNvPr id="12" name="Picture 11" descr="A diagram of a person's hand&#10;&#10;AI-generated content may be incorrect.">
            <a:extLst>
              <a:ext uri="{FF2B5EF4-FFF2-40B4-BE49-F238E27FC236}">
                <a16:creationId xmlns:a16="http://schemas.microsoft.com/office/drawing/2014/main" id="{77C8A22C-A150-C3A6-D124-043325E7B0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3270" y="1926341"/>
            <a:ext cx="5934903" cy="26578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30A9ECDA-A80E-EB8E-57EF-4AD6FB4FADFF}"/>
                  </a:ext>
                </a:extLst>
              </p14:cNvPr>
              <p14:cNvContentPartPr/>
              <p14:nvPr/>
            </p14:nvContentPartPr>
            <p14:xfrm>
              <a:off x="7644240" y="5449536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30A9ECDA-A80E-EB8E-57EF-4AD6FB4FADF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38120" y="5443416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27" name="Picture 26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AEA0225A-0F34-3594-9931-4B56B267BA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47506" y="4092808"/>
            <a:ext cx="3153215" cy="184810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AC64040-A076-09C2-4717-5589D6E4239E}"/>
              </a:ext>
            </a:extLst>
          </p:cNvPr>
          <p:cNvSpPr txBox="1"/>
          <p:nvPr/>
        </p:nvSpPr>
        <p:spPr>
          <a:xfrm>
            <a:off x="3686440" y="5882935"/>
            <a:ext cx="40773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Blacked out vertexes have been visited; we ignore B as we know it will have a longer path from the heuristic</a:t>
            </a:r>
          </a:p>
        </p:txBody>
      </p:sp>
      <p:pic>
        <p:nvPicPr>
          <p:cNvPr id="30" name="Picture 29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27756AD0-4A37-90D7-46A9-6A682E8A76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4880" y="4092808"/>
            <a:ext cx="3086531" cy="1724266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104DDE5-CA9B-A5A6-3403-9B87376AD087}"/>
              </a:ext>
            </a:extLst>
          </p:cNvPr>
          <p:cNvSpPr txBox="1"/>
          <p:nvPr/>
        </p:nvSpPr>
        <p:spPr>
          <a:xfrm>
            <a:off x="7836408" y="5876311"/>
            <a:ext cx="3455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We have now visited all adjacent nodes to E, so we know A C E is the shortest distance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E8DE4DE-158D-DC40-5601-9695FE8FD099}"/>
              </a:ext>
            </a:extLst>
          </p:cNvPr>
          <p:cNvSpPr/>
          <p:nvPr/>
        </p:nvSpPr>
        <p:spPr>
          <a:xfrm>
            <a:off x="75405" y="871382"/>
            <a:ext cx="3677585" cy="5909310"/>
          </a:xfrm>
          <a:prstGeom prst="rect">
            <a:avLst/>
          </a:prstGeom>
          <a:noFill/>
          <a:ln>
            <a:solidFill>
              <a:srgbClr val="E06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6637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2AF1-6727-B6DE-3880-735677E7D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tion Button: Go Home 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AFC1B626-DB77-D6A5-513D-784A808679B6}"/>
              </a:ext>
            </a:extLst>
          </p:cNvPr>
          <p:cNvSpPr/>
          <p:nvPr/>
        </p:nvSpPr>
        <p:spPr>
          <a:xfrm>
            <a:off x="11152682" y="0"/>
            <a:ext cx="1039318" cy="1028700"/>
          </a:xfrm>
          <a:prstGeom prst="actionButtonHo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Action Button: Go to Beginning 3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0236F93-FBAC-63DF-233F-8C9D8CC34BFF}"/>
              </a:ext>
            </a:extLst>
          </p:cNvPr>
          <p:cNvSpPr/>
          <p:nvPr/>
        </p:nvSpPr>
        <p:spPr>
          <a:xfrm>
            <a:off x="10113362" y="0"/>
            <a:ext cx="1039319" cy="1028700"/>
          </a:xfrm>
          <a:prstGeom prst="actionButtonBeginning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E6081C-D600-43FC-CE37-724312754153}"/>
              </a:ext>
            </a:extLst>
          </p:cNvPr>
          <p:cNvSpPr txBox="1"/>
          <p:nvPr/>
        </p:nvSpPr>
        <p:spPr>
          <a:xfrm>
            <a:off x="369982" y="382317"/>
            <a:ext cx="4029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/>
              <a:t>BIG O NOTATION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601EFC3-5952-095D-4405-906125545A5B}"/>
              </a:ext>
            </a:extLst>
          </p:cNvPr>
          <p:cNvSpPr txBox="1"/>
          <p:nvPr/>
        </p:nvSpPr>
        <p:spPr>
          <a:xfrm>
            <a:off x="8572533" y="1526079"/>
            <a:ext cx="9338235" cy="203132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cs typeface="Segoe UI"/>
              </a:rPr>
              <a:t>Linear search notation – O(n)</a:t>
            </a:r>
          </a:p>
          <a:p>
            <a:r>
              <a:rPr lang="en-GB">
                <a:cs typeface="Segoe UI"/>
              </a:rPr>
              <a:t>Binary search notation – O(logn)</a:t>
            </a:r>
          </a:p>
          <a:p>
            <a:r>
              <a:rPr lang="en-GB">
                <a:cs typeface="Segoe UI"/>
              </a:rPr>
              <a:t>Bubble sort notation – O(n^2)</a:t>
            </a:r>
          </a:p>
          <a:p>
            <a:r>
              <a:rPr lang="en-GB">
                <a:cs typeface="Segoe UI"/>
              </a:rPr>
              <a:t>Insertion sort notation – O(n^2)</a:t>
            </a:r>
          </a:p>
          <a:p>
            <a:r>
              <a:rPr lang="en-GB">
                <a:cs typeface="Segoe UI"/>
              </a:rPr>
              <a:t>Merge sort notation – O(nlogn)</a:t>
            </a:r>
          </a:p>
          <a:p>
            <a:r>
              <a:rPr lang="en-GB">
                <a:cs typeface="Segoe UI"/>
              </a:rPr>
              <a:t>Quick sort notation – O(n^2)</a:t>
            </a:r>
          </a:p>
          <a:p>
            <a:r>
              <a:rPr lang="en-GB">
                <a:cs typeface="Segoe UI"/>
              </a:rPr>
              <a:t>Hashing table notation – O(n)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BF6564-DE70-58EC-1452-C7A05856FEAE}"/>
              </a:ext>
            </a:extLst>
          </p:cNvPr>
          <p:cNvSpPr txBox="1"/>
          <p:nvPr/>
        </p:nvSpPr>
        <p:spPr>
          <a:xfrm>
            <a:off x="8402207" y="1144631"/>
            <a:ext cx="36266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Worst case time complexities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CE0865-67E7-D3D8-5961-1A7AB0D52C50}"/>
              </a:ext>
            </a:extLst>
          </p:cNvPr>
          <p:cNvSpPr txBox="1"/>
          <p:nvPr/>
        </p:nvSpPr>
        <p:spPr>
          <a:xfrm>
            <a:off x="488745" y="1183517"/>
            <a:ext cx="59387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The </a:t>
            </a:r>
            <a:r>
              <a:rPr lang="en-GB" b="1"/>
              <a:t>time complexity </a:t>
            </a:r>
            <a:r>
              <a:rPr lang="en-GB"/>
              <a:t>of an algorithm is how much </a:t>
            </a:r>
            <a:r>
              <a:rPr lang="en-GB" b="1"/>
              <a:t>time it requires to solve a particular problem </a:t>
            </a:r>
            <a:r>
              <a:rPr lang="en-GB"/>
              <a:t>– represented by Big-O notation.</a:t>
            </a:r>
          </a:p>
          <a:p>
            <a:endParaRPr lang="en-GB"/>
          </a:p>
          <a:p>
            <a:r>
              <a:rPr lang="en-GB"/>
              <a:t>It shows the </a:t>
            </a:r>
            <a:r>
              <a:rPr lang="en-GB" b="1"/>
              <a:t>upper limit of time </a:t>
            </a:r>
            <a:r>
              <a:rPr lang="en-GB"/>
              <a:t>it would take to solve relative to number of data elements.</a:t>
            </a:r>
          </a:p>
          <a:p>
            <a:endParaRPr lang="en-GB"/>
          </a:p>
          <a:p>
            <a:r>
              <a:rPr lang="en-GB"/>
              <a:t>To reduce time complexities, </a:t>
            </a:r>
            <a:r>
              <a:rPr lang="en-GB" b="1"/>
              <a:t>reduce loops </a:t>
            </a:r>
            <a:r>
              <a:rPr lang="en-GB"/>
              <a:t>and number of operations</a:t>
            </a:r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pic>
        <p:nvPicPr>
          <p:cNvPr id="3074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2D048D-F6F0-B5DF-EDB3-D1F70A556C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3575" y="3557404"/>
            <a:ext cx="4695236" cy="3078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1">
            <a:extLst>
              <a:ext uri="{FF2B5EF4-FFF2-40B4-BE49-F238E27FC236}">
                <a16:creationId xmlns:a16="http://schemas.microsoft.com/office/drawing/2014/main" id="{A425E6AD-1FF3-4DE7-FD89-BDBA3097EE11}"/>
              </a:ext>
            </a:extLst>
          </p:cNvPr>
          <p:cNvSpPr txBox="1"/>
          <p:nvPr/>
        </p:nvSpPr>
        <p:spPr>
          <a:xfrm>
            <a:off x="443032" y="3834353"/>
            <a:ext cx="6951696" cy="289310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>
                <a:cs typeface="Segoe UI"/>
              </a:rPr>
              <a:t>O(1) - Constant, </a:t>
            </a:r>
            <a:r>
              <a:rPr lang="en-GB" sz="1600" b="1">
                <a:cs typeface="Segoe UI"/>
              </a:rPr>
              <a:t>same amount of execution time </a:t>
            </a:r>
            <a:r>
              <a:rPr lang="en-GB" sz="1600">
                <a:cs typeface="Segoe UI"/>
              </a:rPr>
              <a:t>for any size of input.</a:t>
            </a:r>
          </a:p>
          <a:p>
            <a:endParaRPr lang="en-GB" sz="1600">
              <a:cs typeface="Segoe UI"/>
            </a:endParaRPr>
          </a:p>
          <a:p>
            <a:r>
              <a:rPr lang="en-GB" sz="1600">
                <a:cs typeface="Segoe UI"/>
              </a:rPr>
              <a:t>O(logn) - Logarithmic. Impact of an algorithm is </a:t>
            </a:r>
            <a:r>
              <a:rPr lang="en-GB" sz="1600" b="1">
                <a:cs typeface="Segoe UI"/>
              </a:rPr>
              <a:t>directly proportional to the logarithmic result</a:t>
            </a:r>
            <a:r>
              <a:rPr lang="en-GB" sz="1600">
                <a:cs typeface="Segoe UI"/>
              </a:rPr>
              <a:t> of the input size.</a:t>
            </a:r>
          </a:p>
          <a:p>
            <a:endParaRPr lang="en-GB" sz="1600">
              <a:cs typeface="Segoe UI"/>
            </a:endParaRPr>
          </a:p>
          <a:p>
            <a:r>
              <a:rPr lang="en-GB" sz="1600">
                <a:cs typeface="Segoe UI"/>
              </a:rPr>
              <a:t>O(n) - Linear, algorithms execution is </a:t>
            </a:r>
            <a:r>
              <a:rPr lang="en-GB" sz="1600" b="1">
                <a:cs typeface="Segoe UI"/>
              </a:rPr>
              <a:t>directly proportional </a:t>
            </a:r>
            <a:r>
              <a:rPr lang="en-GB" sz="1600">
                <a:cs typeface="Segoe UI"/>
              </a:rPr>
              <a:t>to the input size.</a:t>
            </a:r>
          </a:p>
          <a:p>
            <a:endParaRPr lang="en-GB" sz="1600">
              <a:cs typeface="Segoe UI"/>
            </a:endParaRPr>
          </a:p>
          <a:p>
            <a:r>
              <a:rPr lang="en-GB" sz="1600">
                <a:cs typeface="Segoe UI"/>
              </a:rPr>
              <a:t>O(n^2) - Polynomial, </a:t>
            </a:r>
            <a:r>
              <a:rPr lang="en-GB" sz="1600" b="1">
                <a:cs typeface="Segoe UI"/>
              </a:rPr>
              <a:t>Directly proportional to the square</a:t>
            </a:r>
            <a:r>
              <a:rPr lang="en-GB" sz="1600">
                <a:cs typeface="Segoe UI"/>
              </a:rPr>
              <a:t> of the input size.</a:t>
            </a:r>
          </a:p>
          <a:p>
            <a:endParaRPr lang="en-GB" sz="1600">
              <a:cs typeface="Segoe UI"/>
            </a:endParaRPr>
          </a:p>
          <a:p>
            <a:r>
              <a:rPr lang="en-GB" sz="1600">
                <a:cs typeface="Segoe UI"/>
              </a:rPr>
              <a:t>O(2^n) - Exponential, The time it takes will </a:t>
            </a:r>
          </a:p>
          <a:p>
            <a:r>
              <a:rPr lang="en-GB" sz="1600" b="1">
                <a:cs typeface="Segoe UI"/>
              </a:rPr>
              <a:t>double with each additional item</a:t>
            </a:r>
            <a:r>
              <a:rPr lang="en-GB" sz="1600">
                <a:cs typeface="Segoe UI"/>
              </a:rPr>
              <a:t> in the input.</a:t>
            </a:r>
            <a:endParaRPr lang="en-GB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FBE7CF-99E7-D5ED-C4F0-828C2A35FB79}"/>
              </a:ext>
            </a:extLst>
          </p:cNvPr>
          <p:cNvSpPr txBox="1"/>
          <p:nvPr/>
        </p:nvSpPr>
        <p:spPr>
          <a:xfrm>
            <a:off x="3392088" y="182262"/>
            <a:ext cx="62138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As well, space complexity is the amount of resources an algorithm requires.</a:t>
            </a:r>
          </a:p>
        </p:txBody>
      </p:sp>
      <p:pic>
        <p:nvPicPr>
          <p:cNvPr id="3076" name="Picture 4" descr="Hermle Grandfather Floor Clock ...">
            <a:extLst>
              <a:ext uri="{FF2B5EF4-FFF2-40B4-BE49-F238E27FC236}">
                <a16:creationId xmlns:a16="http://schemas.microsoft.com/office/drawing/2014/main" id="{A7589D93-507D-5E44-6C8E-F0BAC675C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8698" y="1531363"/>
            <a:ext cx="1406687" cy="1725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778B2AE-8123-B346-C364-2CC9CE058ABB}"/>
              </a:ext>
            </a:extLst>
          </p:cNvPr>
          <p:cNvSpPr/>
          <p:nvPr/>
        </p:nvSpPr>
        <p:spPr>
          <a:xfrm>
            <a:off x="443032" y="1183517"/>
            <a:ext cx="5984487" cy="2572911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C71D01-3F74-0D42-1BE4-4F4DFA2A5A8E}"/>
              </a:ext>
            </a:extLst>
          </p:cNvPr>
          <p:cNvSpPr/>
          <p:nvPr/>
        </p:nvSpPr>
        <p:spPr>
          <a:xfrm>
            <a:off x="8191893" y="1116147"/>
            <a:ext cx="3836918" cy="2572911"/>
          </a:xfrm>
          <a:prstGeom prst="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D96EBE-6353-43C8-97D6-255D411FD93E}"/>
              </a:ext>
            </a:extLst>
          </p:cNvPr>
          <p:cNvSpPr/>
          <p:nvPr/>
        </p:nvSpPr>
        <p:spPr>
          <a:xfrm>
            <a:off x="369982" y="3834353"/>
            <a:ext cx="6860377" cy="2893100"/>
          </a:xfrm>
          <a:prstGeom prst="rect">
            <a:avLst/>
          </a:prstGeom>
          <a:noFill/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10962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2D5E75-3EC1-C427-82CF-869D48B98E5C}"/>
              </a:ext>
            </a:extLst>
          </p:cNvPr>
          <p:cNvSpPr txBox="1"/>
          <p:nvPr/>
        </p:nvSpPr>
        <p:spPr>
          <a:xfrm>
            <a:off x="475488" y="155448"/>
            <a:ext cx="132222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MOCK NOTES:</a:t>
            </a:r>
          </a:p>
          <a:p>
            <a:endParaRPr lang="en-GB"/>
          </a:p>
          <a:p>
            <a:r>
              <a:rPr lang="en-GB"/>
              <a:t>NEED TO KNOW MORE ABOUT ENCRYPTION</a:t>
            </a:r>
          </a:p>
          <a:p>
            <a:endParaRPr lang="en-GB"/>
          </a:p>
          <a:p>
            <a:r>
              <a:rPr lang="en-GB"/>
              <a:t>LINKED LISTS</a:t>
            </a:r>
          </a:p>
          <a:p>
            <a:endParaRPr lang="en-GB"/>
          </a:p>
          <a:p>
            <a:r>
              <a:rPr lang="en-GB"/>
              <a:t>LONGER QUESTIONS IN GENERAL</a:t>
            </a:r>
          </a:p>
        </p:txBody>
      </p:sp>
    </p:spTree>
    <p:extLst>
      <p:ext uri="{BB962C8B-B14F-4D97-AF65-F5344CB8AC3E}">
        <p14:creationId xmlns:p14="http://schemas.microsoft.com/office/powerpoint/2010/main" val="10410150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c5cf917-a80e-46d5-bf3a-dd2192de502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E4AE73F5A9A141AFE562E8EA745709" ma:contentTypeVersion="10" ma:contentTypeDescription="Create a new document." ma:contentTypeScope="" ma:versionID="1e85d70d2dc55f6b7321dd00e664ef6a">
  <xsd:schema xmlns:xsd="http://www.w3.org/2001/XMLSchema" xmlns:xs="http://www.w3.org/2001/XMLSchema" xmlns:p="http://schemas.microsoft.com/office/2006/metadata/properties" xmlns:ns3="bc5cf917-a80e-46d5-bf3a-dd2192de5027" targetNamespace="http://schemas.microsoft.com/office/2006/metadata/properties" ma:root="true" ma:fieldsID="e96e408f09a727445219eb65e61a99c4" ns3:_="">
    <xsd:import namespace="bc5cf917-a80e-46d5-bf3a-dd2192de502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5cf917-a80e-46d5-bf3a-dd2192de502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03B147-86F7-4490-BA73-90B1926844F9}">
  <ds:schemaRefs>
    <ds:schemaRef ds:uri="http://purl.org/dc/elements/1.1/"/>
    <ds:schemaRef ds:uri="http://purl.org/dc/dcmitype/"/>
    <ds:schemaRef ds:uri="http://www.w3.org/XML/1998/namespace"/>
    <ds:schemaRef ds:uri="bc5cf917-a80e-46d5-bf3a-dd2192de5027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55ED17D-40B7-4331-B241-76D9CAC63C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E0714D-77F1-47CD-990C-B9116363C8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5cf917-a80e-46d5-bf3a-dd2192de502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17912</Words>
  <Application>Microsoft Office PowerPoint</Application>
  <PresentationFormat>Widescreen</PresentationFormat>
  <Paragraphs>1880</Paragraphs>
  <Slides>136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136</vt:i4>
      </vt:variant>
    </vt:vector>
  </HeadingPairs>
  <TitlesOfParts>
    <vt:vector size="143" baseType="lpstr">
      <vt:lpstr>ADLaM Display</vt:lpstr>
      <vt:lpstr>Aptos</vt:lpstr>
      <vt:lpstr>Aptos Display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Ashfield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Jarvis, Benjamin</dc:creator>
  <cp:lastModifiedBy>Blurton Oliver</cp:lastModifiedBy>
  <cp:revision>645</cp:revision>
  <dcterms:created xsi:type="dcterms:W3CDTF">2025-06-13T09:32:25Z</dcterms:created>
  <dcterms:modified xsi:type="dcterms:W3CDTF">2026-06-02T14:15:59Z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0x010100F0E4AE73F5A9A141AFE562E8EA745709</vt:lpwstr>
  </property>
</Properties>
</file>